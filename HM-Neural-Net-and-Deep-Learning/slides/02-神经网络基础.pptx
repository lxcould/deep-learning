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svg" ContentType="image/svg+xml"/>
  <Override PartName="/ppt/media/image3.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60" r:id="rId4"/>
    <p:sldMasterId id="2147483664" r:id="rId5"/>
    <p:sldMasterId id="2147483666" r:id="rId6"/>
    <p:sldMasterId id="2147483669" r:id="rId7"/>
    <p:sldMasterId id="2147483689" r:id="rId8"/>
    <p:sldMasterId id="2147483701" r:id="rId9"/>
    <p:sldMasterId id="2147483713" r:id="rId10"/>
    <p:sldMasterId id="2147483715" r:id="rId11"/>
    <p:sldMasterId id="2147483734" r:id="rId12"/>
  </p:sldMasterIdLst>
  <p:notesMasterIdLst>
    <p:notesMasterId r:id="rId14"/>
  </p:notesMasterIdLst>
  <p:handoutMasterIdLst>
    <p:handoutMasterId r:id="rId139"/>
  </p:handoutMasterIdLst>
  <p:sldIdLst>
    <p:sldId id="462" r:id="rId13"/>
    <p:sldId id="479" r:id="rId15"/>
    <p:sldId id="1665" r:id="rId16"/>
    <p:sldId id="1666" r:id="rId17"/>
    <p:sldId id="1667" r:id="rId18"/>
    <p:sldId id="1668" r:id="rId19"/>
    <p:sldId id="1669" r:id="rId20"/>
    <p:sldId id="1907" r:id="rId21"/>
    <p:sldId id="1908" r:id="rId22"/>
    <p:sldId id="1794" r:id="rId23"/>
    <p:sldId id="1671" r:id="rId24"/>
    <p:sldId id="1672" r:id="rId25"/>
    <p:sldId id="1673" r:id="rId26"/>
    <p:sldId id="1674" r:id="rId27"/>
    <p:sldId id="1675" r:id="rId28"/>
    <p:sldId id="1676" r:id="rId29"/>
    <p:sldId id="1677" r:id="rId30"/>
    <p:sldId id="1679" r:id="rId31"/>
    <p:sldId id="1680" r:id="rId32"/>
    <p:sldId id="1681" r:id="rId33"/>
    <p:sldId id="1682" r:id="rId34"/>
    <p:sldId id="1683" r:id="rId35"/>
    <p:sldId id="1684" r:id="rId36"/>
    <p:sldId id="1685" r:id="rId37"/>
    <p:sldId id="1686" r:id="rId38"/>
    <p:sldId id="1687" r:id="rId39"/>
    <p:sldId id="1795" r:id="rId40"/>
    <p:sldId id="1688" r:id="rId41"/>
    <p:sldId id="1689" r:id="rId42"/>
    <p:sldId id="1691" r:id="rId43"/>
    <p:sldId id="1692" r:id="rId44"/>
    <p:sldId id="1693" r:id="rId45"/>
    <p:sldId id="1694" r:id="rId46"/>
    <p:sldId id="1909" r:id="rId47"/>
    <p:sldId id="1796" r:id="rId48"/>
    <p:sldId id="1695" r:id="rId49"/>
    <p:sldId id="1797" r:id="rId50"/>
    <p:sldId id="1698" r:id="rId51"/>
    <p:sldId id="1699" r:id="rId52"/>
    <p:sldId id="1700" r:id="rId53"/>
    <p:sldId id="1798" r:id="rId54"/>
    <p:sldId id="1702" r:id="rId55"/>
    <p:sldId id="1703" r:id="rId56"/>
    <p:sldId id="1800" r:id="rId57"/>
    <p:sldId id="1799" r:id="rId58"/>
    <p:sldId id="1705" r:id="rId59"/>
    <p:sldId id="1706" r:id="rId60"/>
    <p:sldId id="1707" r:id="rId61"/>
    <p:sldId id="1801" r:id="rId62"/>
    <p:sldId id="1708" r:id="rId63"/>
    <p:sldId id="1709" r:id="rId64"/>
    <p:sldId id="1711" r:id="rId65"/>
    <p:sldId id="1714" r:id="rId66"/>
    <p:sldId id="1715" r:id="rId67"/>
    <p:sldId id="1717" r:id="rId68"/>
    <p:sldId id="1718" r:id="rId69"/>
    <p:sldId id="1719" r:id="rId70"/>
    <p:sldId id="1720" r:id="rId71"/>
    <p:sldId id="1721" r:id="rId72"/>
    <p:sldId id="1722" r:id="rId73"/>
    <p:sldId id="1603" r:id="rId74"/>
    <p:sldId id="1723" r:id="rId75"/>
    <p:sldId id="1724" r:id="rId76"/>
    <p:sldId id="1727" r:id="rId77"/>
    <p:sldId id="1728" r:id="rId78"/>
    <p:sldId id="1729" r:id="rId79"/>
    <p:sldId id="1802" r:id="rId80"/>
    <p:sldId id="1730" r:id="rId81"/>
    <p:sldId id="1731" r:id="rId82"/>
    <p:sldId id="1732" r:id="rId83"/>
    <p:sldId id="1733" r:id="rId84"/>
    <p:sldId id="1734" r:id="rId85"/>
    <p:sldId id="1735" r:id="rId86"/>
    <p:sldId id="1803" r:id="rId87"/>
    <p:sldId id="1739" r:id="rId88"/>
    <p:sldId id="1740" r:id="rId89"/>
    <p:sldId id="1741" r:id="rId90"/>
    <p:sldId id="1742" r:id="rId91"/>
    <p:sldId id="1744" r:id="rId92"/>
    <p:sldId id="1805" r:id="rId93"/>
    <p:sldId id="2042" r:id="rId94"/>
    <p:sldId id="1746" r:id="rId95"/>
    <p:sldId id="1747" r:id="rId96"/>
    <p:sldId id="1748" r:id="rId97"/>
    <p:sldId id="1749" r:id="rId98"/>
    <p:sldId id="1750" r:id="rId99"/>
    <p:sldId id="1752" r:id="rId100"/>
    <p:sldId id="1753" r:id="rId101"/>
    <p:sldId id="1754" r:id="rId102"/>
    <p:sldId id="1806" r:id="rId103"/>
    <p:sldId id="1758" r:id="rId104"/>
    <p:sldId id="1761" r:id="rId105"/>
    <p:sldId id="1762" r:id="rId106"/>
    <p:sldId id="1763" r:id="rId107"/>
    <p:sldId id="1765" r:id="rId108"/>
    <p:sldId id="1766" r:id="rId109"/>
    <p:sldId id="1767" r:id="rId110"/>
    <p:sldId id="1769" r:id="rId111"/>
    <p:sldId id="1770" r:id="rId112"/>
    <p:sldId id="1807" r:id="rId113"/>
    <p:sldId id="1771" r:id="rId114"/>
    <p:sldId id="1772" r:id="rId115"/>
    <p:sldId id="1773" r:id="rId116"/>
    <p:sldId id="1774" r:id="rId117"/>
    <p:sldId id="1775" r:id="rId118"/>
    <p:sldId id="1776" r:id="rId119"/>
    <p:sldId id="2023" r:id="rId120"/>
    <p:sldId id="1725" r:id="rId121"/>
    <p:sldId id="1778" r:id="rId122"/>
    <p:sldId id="1779" r:id="rId123"/>
    <p:sldId id="1780" r:id="rId124"/>
    <p:sldId id="1808" r:id="rId125"/>
    <p:sldId id="1809" r:id="rId126"/>
    <p:sldId id="1781" r:id="rId127"/>
    <p:sldId id="1782" r:id="rId128"/>
    <p:sldId id="1783" r:id="rId129"/>
    <p:sldId id="1784" r:id="rId130"/>
    <p:sldId id="1811" r:id="rId131"/>
    <p:sldId id="1785" r:id="rId132"/>
    <p:sldId id="1786" r:id="rId133"/>
    <p:sldId id="1812" r:id="rId134"/>
    <p:sldId id="1787" r:id="rId135"/>
    <p:sldId id="1813" r:id="rId136"/>
    <p:sldId id="1788" r:id="rId137"/>
    <p:sldId id="264" r:id="rId138"/>
  </p:sldIdLst>
  <p:sldSz cx="12192000" cy="6858000"/>
  <p:notesSz cx="6858000" cy="9144000"/>
  <p:custDataLst>
    <p:tags r:id="rId1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92" userDrawn="1">
          <p15:clr>
            <a:srgbClr val="A4A3A4"/>
          </p15:clr>
        </p15:guide>
        <p15:guide id="2" pos="371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NGJIAN" initial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1"/>
    <a:srgbClr val="FFFFFF"/>
    <a:srgbClr val="AD2A26"/>
    <a:srgbClr val="AD2B26"/>
    <a:srgbClr val="49504F"/>
    <a:srgbClr val="B60206"/>
    <a:srgbClr val="B70006"/>
    <a:srgbClr val="FFFFE4"/>
    <a:srgbClr val="919191"/>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718" autoAdjust="0"/>
    <p:restoredTop sz="95344" autoAdjust="0"/>
  </p:normalViewPr>
  <p:slideViewPr>
    <p:cSldViewPr snapToGrid="0" showGuides="1">
      <p:cViewPr varScale="1">
        <p:scale>
          <a:sx n="111" d="100"/>
          <a:sy n="111" d="100"/>
        </p:scale>
        <p:origin x="224" y="472"/>
      </p:cViewPr>
      <p:guideLst>
        <p:guide orient="horz" pos="592"/>
        <p:guide pos="3711"/>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86.xml"/><Relationship Id="rId98" Type="http://schemas.openxmlformats.org/officeDocument/2006/relationships/slide" Target="slides/slide85.xml"/><Relationship Id="rId97" Type="http://schemas.openxmlformats.org/officeDocument/2006/relationships/slide" Target="slides/slide84.xml"/><Relationship Id="rId96" Type="http://schemas.openxmlformats.org/officeDocument/2006/relationships/slide" Target="slides/slide83.xml"/><Relationship Id="rId95" Type="http://schemas.openxmlformats.org/officeDocument/2006/relationships/slide" Target="slides/slide82.xml"/><Relationship Id="rId94" Type="http://schemas.openxmlformats.org/officeDocument/2006/relationships/slide" Target="slides/slide81.xml"/><Relationship Id="rId93" Type="http://schemas.openxmlformats.org/officeDocument/2006/relationships/slide" Target="slides/slide80.xml"/><Relationship Id="rId92" Type="http://schemas.openxmlformats.org/officeDocument/2006/relationships/slide" Target="slides/slide79.xml"/><Relationship Id="rId91" Type="http://schemas.openxmlformats.org/officeDocument/2006/relationships/slide" Target="slides/slide78.xml"/><Relationship Id="rId90" Type="http://schemas.openxmlformats.org/officeDocument/2006/relationships/slide" Target="slides/slide77.xml"/><Relationship Id="rId9" Type="http://schemas.openxmlformats.org/officeDocument/2006/relationships/slideMaster" Target="slideMasters/slideMaster8.xml"/><Relationship Id="rId89" Type="http://schemas.openxmlformats.org/officeDocument/2006/relationships/slide" Target="slides/slide76.xml"/><Relationship Id="rId88" Type="http://schemas.openxmlformats.org/officeDocument/2006/relationships/slide" Target="slides/slide75.xml"/><Relationship Id="rId87" Type="http://schemas.openxmlformats.org/officeDocument/2006/relationships/slide" Target="slides/slide74.xml"/><Relationship Id="rId86" Type="http://schemas.openxmlformats.org/officeDocument/2006/relationships/slide" Target="slides/slide73.xml"/><Relationship Id="rId85" Type="http://schemas.openxmlformats.org/officeDocument/2006/relationships/slide" Target="slides/slide72.xml"/><Relationship Id="rId84" Type="http://schemas.openxmlformats.org/officeDocument/2006/relationships/slide" Target="slides/slide71.xml"/><Relationship Id="rId83" Type="http://schemas.openxmlformats.org/officeDocument/2006/relationships/slide" Target="slides/slide70.xml"/><Relationship Id="rId82" Type="http://schemas.openxmlformats.org/officeDocument/2006/relationships/slide" Target="slides/slide69.xml"/><Relationship Id="rId81" Type="http://schemas.openxmlformats.org/officeDocument/2006/relationships/slide" Target="slides/slide68.xml"/><Relationship Id="rId80" Type="http://schemas.openxmlformats.org/officeDocument/2006/relationships/slide" Target="slides/slide67.xml"/><Relationship Id="rId8" Type="http://schemas.openxmlformats.org/officeDocument/2006/relationships/slideMaster" Target="slideMasters/slideMaster7.xml"/><Relationship Id="rId79" Type="http://schemas.openxmlformats.org/officeDocument/2006/relationships/slide" Target="slides/slide66.xml"/><Relationship Id="rId78" Type="http://schemas.openxmlformats.org/officeDocument/2006/relationships/slide" Target="slides/slide65.xml"/><Relationship Id="rId77" Type="http://schemas.openxmlformats.org/officeDocument/2006/relationships/slide" Target="slides/slide64.xml"/><Relationship Id="rId76" Type="http://schemas.openxmlformats.org/officeDocument/2006/relationships/slide" Target="slides/slide63.xml"/><Relationship Id="rId75" Type="http://schemas.openxmlformats.org/officeDocument/2006/relationships/slide" Target="slides/slide62.xml"/><Relationship Id="rId74" Type="http://schemas.openxmlformats.org/officeDocument/2006/relationships/slide" Target="slides/slide61.xml"/><Relationship Id="rId73" Type="http://schemas.openxmlformats.org/officeDocument/2006/relationships/slide" Target="slides/slide60.xml"/><Relationship Id="rId72" Type="http://schemas.openxmlformats.org/officeDocument/2006/relationships/slide" Target="slides/slide59.xml"/><Relationship Id="rId71" Type="http://schemas.openxmlformats.org/officeDocument/2006/relationships/slide" Target="slides/slide58.xml"/><Relationship Id="rId70" Type="http://schemas.openxmlformats.org/officeDocument/2006/relationships/slide" Target="slides/slide57.xml"/><Relationship Id="rId7" Type="http://schemas.openxmlformats.org/officeDocument/2006/relationships/slideMaster" Target="slideMasters/slideMaster6.xml"/><Relationship Id="rId69" Type="http://schemas.openxmlformats.org/officeDocument/2006/relationships/slide" Target="slides/slide56.xml"/><Relationship Id="rId68" Type="http://schemas.openxmlformats.org/officeDocument/2006/relationships/slide" Target="slides/slide55.xml"/><Relationship Id="rId67" Type="http://schemas.openxmlformats.org/officeDocument/2006/relationships/slide" Target="slides/slide54.xml"/><Relationship Id="rId66" Type="http://schemas.openxmlformats.org/officeDocument/2006/relationships/slide" Target="slides/slide53.xml"/><Relationship Id="rId65" Type="http://schemas.openxmlformats.org/officeDocument/2006/relationships/slide" Target="slides/slide52.xml"/><Relationship Id="rId64" Type="http://schemas.openxmlformats.org/officeDocument/2006/relationships/slide" Target="slides/slide51.xml"/><Relationship Id="rId63" Type="http://schemas.openxmlformats.org/officeDocument/2006/relationships/slide" Target="slides/slide50.xml"/><Relationship Id="rId62" Type="http://schemas.openxmlformats.org/officeDocument/2006/relationships/slide" Target="slides/slide49.xml"/><Relationship Id="rId61" Type="http://schemas.openxmlformats.org/officeDocument/2006/relationships/slide" Target="slides/slide48.xml"/><Relationship Id="rId60" Type="http://schemas.openxmlformats.org/officeDocument/2006/relationships/slide" Target="slides/slide47.xml"/><Relationship Id="rId6" Type="http://schemas.openxmlformats.org/officeDocument/2006/relationships/slideMaster" Target="slideMasters/slideMaster5.xml"/><Relationship Id="rId59" Type="http://schemas.openxmlformats.org/officeDocument/2006/relationships/slide" Target="slides/slide46.xml"/><Relationship Id="rId58" Type="http://schemas.openxmlformats.org/officeDocument/2006/relationships/slide" Target="slides/slide45.xml"/><Relationship Id="rId57" Type="http://schemas.openxmlformats.org/officeDocument/2006/relationships/slide" Target="slides/slide44.xml"/><Relationship Id="rId56" Type="http://schemas.openxmlformats.org/officeDocument/2006/relationships/slide" Target="slides/slide43.xml"/><Relationship Id="rId55" Type="http://schemas.openxmlformats.org/officeDocument/2006/relationships/slide" Target="slides/slide42.xml"/><Relationship Id="rId54" Type="http://schemas.openxmlformats.org/officeDocument/2006/relationships/slide" Target="slides/slide41.xml"/><Relationship Id="rId53" Type="http://schemas.openxmlformats.org/officeDocument/2006/relationships/slide" Target="slides/slide40.xml"/><Relationship Id="rId52" Type="http://schemas.openxmlformats.org/officeDocument/2006/relationships/slide" Target="slides/slide39.xml"/><Relationship Id="rId51" Type="http://schemas.openxmlformats.org/officeDocument/2006/relationships/slide" Target="slides/slide38.xml"/><Relationship Id="rId50" Type="http://schemas.openxmlformats.org/officeDocument/2006/relationships/slide" Target="slides/slide37.xml"/><Relationship Id="rId5" Type="http://schemas.openxmlformats.org/officeDocument/2006/relationships/slideMaster" Target="slideMasters/slideMaster4.xml"/><Relationship Id="rId49" Type="http://schemas.openxmlformats.org/officeDocument/2006/relationships/slide" Target="slides/slide36.xml"/><Relationship Id="rId48" Type="http://schemas.openxmlformats.org/officeDocument/2006/relationships/slide" Target="slides/slide35.xml"/><Relationship Id="rId47" Type="http://schemas.openxmlformats.org/officeDocument/2006/relationships/slide" Target="slides/slide34.xml"/><Relationship Id="rId46" Type="http://schemas.openxmlformats.org/officeDocument/2006/relationships/slide" Target="slides/slide33.xml"/><Relationship Id="rId45" Type="http://schemas.openxmlformats.org/officeDocument/2006/relationships/slide" Target="slides/slide32.xml"/><Relationship Id="rId44" Type="http://schemas.openxmlformats.org/officeDocument/2006/relationships/slide" Target="slides/slide31.xml"/><Relationship Id="rId43" Type="http://schemas.openxmlformats.org/officeDocument/2006/relationships/slide" Target="slides/slide30.xml"/><Relationship Id="rId42" Type="http://schemas.openxmlformats.org/officeDocument/2006/relationships/slide" Target="slides/slide29.xml"/><Relationship Id="rId41" Type="http://schemas.openxmlformats.org/officeDocument/2006/relationships/slide" Target="slides/slide28.xml"/><Relationship Id="rId40" Type="http://schemas.openxmlformats.org/officeDocument/2006/relationships/slide" Target="slides/slide27.xml"/><Relationship Id="rId4" Type="http://schemas.openxmlformats.org/officeDocument/2006/relationships/slideMaster" Target="slideMasters/slideMaster3.xml"/><Relationship Id="rId39" Type="http://schemas.openxmlformats.org/officeDocument/2006/relationships/slide" Target="slides/slide26.xml"/><Relationship Id="rId38" Type="http://schemas.openxmlformats.org/officeDocument/2006/relationships/slide" Target="slides/slide25.xml"/><Relationship Id="rId37" Type="http://schemas.openxmlformats.org/officeDocument/2006/relationships/slide" Target="slides/slide24.xml"/><Relationship Id="rId36" Type="http://schemas.openxmlformats.org/officeDocument/2006/relationships/slide" Target="slides/slide23.xml"/><Relationship Id="rId35" Type="http://schemas.openxmlformats.org/officeDocument/2006/relationships/slide" Target="slides/slide22.xml"/><Relationship Id="rId34" Type="http://schemas.openxmlformats.org/officeDocument/2006/relationships/slide" Target="slides/slide21.xml"/><Relationship Id="rId33" Type="http://schemas.openxmlformats.org/officeDocument/2006/relationships/slide" Target="slides/slide20.xml"/><Relationship Id="rId32" Type="http://schemas.openxmlformats.org/officeDocument/2006/relationships/slide" Target="slides/slide19.xml"/><Relationship Id="rId31" Type="http://schemas.openxmlformats.org/officeDocument/2006/relationships/slide" Target="slides/slide18.xml"/><Relationship Id="rId30" Type="http://schemas.openxmlformats.org/officeDocument/2006/relationships/slide" Target="slides/slide17.xml"/><Relationship Id="rId3" Type="http://schemas.openxmlformats.org/officeDocument/2006/relationships/slideMaster" Target="slideMasters/slideMaster2.xml"/><Relationship Id="rId29" Type="http://schemas.openxmlformats.org/officeDocument/2006/relationships/slide" Target="slides/slide16.xml"/><Relationship Id="rId28" Type="http://schemas.openxmlformats.org/officeDocument/2006/relationships/slide" Target="slides/slide15.xml"/><Relationship Id="rId27" Type="http://schemas.openxmlformats.org/officeDocument/2006/relationships/slide" Target="slides/slide14.xml"/><Relationship Id="rId26" Type="http://schemas.openxmlformats.org/officeDocument/2006/relationships/slide" Target="slides/slide13.xml"/><Relationship Id="rId25" Type="http://schemas.openxmlformats.org/officeDocument/2006/relationships/slide" Target="slides/slide12.xml"/><Relationship Id="rId24" Type="http://schemas.openxmlformats.org/officeDocument/2006/relationships/slide" Target="slides/slide11.xml"/><Relationship Id="rId23" Type="http://schemas.openxmlformats.org/officeDocument/2006/relationships/slide" Target="slides/slide10.xml"/><Relationship Id="rId22" Type="http://schemas.openxmlformats.org/officeDocument/2006/relationships/slide" Target="slides/slide9.xml"/><Relationship Id="rId21" Type="http://schemas.openxmlformats.org/officeDocument/2006/relationships/slide" Target="slides/slide8.xml"/><Relationship Id="rId20" Type="http://schemas.openxmlformats.org/officeDocument/2006/relationships/slide" Target="slides/slide7.xml"/><Relationship Id="rId2" Type="http://schemas.openxmlformats.org/officeDocument/2006/relationships/theme" Target="theme/theme1.xml"/><Relationship Id="rId19" Type="http://schemas.openxmlformats.org/officeDocument/2006/relationships/slide" Target="slides/slide6.xml"/><Relationship Id="rId18" Type="http://schemas.openxmlformats.org/officeDocument/2006/relationships/slide" Target="slides/slide5.xml"/><Relationship Id="rId17" Type="http://schemas.openxmlformats.org/officeDocument/2006/relationships/slide" Target="slides/slide4.xml"/><Relationship Id="rId16" Type="http://schemas.openxmlformats.org/officeDocument/2006/relationships/slide" Target="slides/slide3.xml"/><Relationship Id="rId15" Type="http://schemas.openxmlformats.org/officeDocument/2006/relationships/slide" Target="slides/slide2.xml"/><Relationship Id="rId144" Type="http://schemas.openxmlformats.org/officeDocument/2006/relationships/tags" Target="tags/tag1.xml"/><Relationship Id="rId143" Type="http://schemas.openxmlformats.org/officeDocument/2006/relationships/commentAuthors" Target="commentAuthors.xml"/><Relationship Id="rId142" Type="http://schemas.openxmlformats.org/officeDocument/2006/relationships/tableStyles" Target="tableStyles.xml"/><Relationship Id="rId141" Type="http://schemas.openxmlformats.org/officeDocument/2006/relationships/viewProps" Target="viewProps.xml"/><Relationship Id="rId140" Type="http://schemas.openxmlformats.org/officeDocument/2006/relationships/presProps" Target="presProps.xml"/><Relationship Id="rId14" Type="http://schemas.openxmlformats.org/officeDocument/2006/relationships/notesMaster" Target="notesMasters/notesMaster1.xml"/><Relationship Id="rId139" Type="http://schemas.openxmlformats.org/officeDocument/2006/relationships/handoutMaster" Target="handoutMasters/handoutMaster1.xml"/><Relationship Id="rId138" Type="http://schemas.openxmlformats.org/officeDocument/2006/relationships/slide" Target="slides/slide125.xml"/><Relationship Id="rId137" Type="http://schemas.openxmlformats.org/officeDocument/2006/relationships/slide" Target="slides/slide124.xml"/><Relationship Id="rId136" Type="http://schemas.openxmlformats.org/officeDocument/2006/relationships/slide" Target="slides/slide123.xml"/><Relationship Id="rId135" Type="http://schemas.openxmlformats.org/officeDocument/2006/relationships/slide" Target="slides/slide122.xml"/><Relationship Id="rId134" Type="http://schemas.openxmlformats.org/officeDocument/2006/relationships/slide" Target="slides/slide121.xml"/><Relationship Id="rId133" Type="http://schemas.openxmlformats.org/officeDocument/2006/relationships/slide" Target="slides/slide120.xml"/><Relationship Id="rId132" Type="http://schemas.openxmlformats.org/officeDocument/2006/relationships/slide" Target="slides/slide119.xml"/><Relationship Id="rId131" Type="http://schemas.openxmlformats.org/officeDocument/2006/relationships/slide" Target="slides/slide118.xml"/><Relationship Id="rId130" Type="http://schemas.openxmlformats.org/officeDocument/2006/relationships/slide" Target="slides/slide117.xml"/><Relationship Id="rId13" Type="http://schemas.openxmlformats.org/officeDocument/2006/relationships/slide" Target="slides/slide1.xml"/><Relationship Id="rId129" Type="http://schemas.openxmlformats.org/officeDocument/2006/relationships/slide" Target="slides/slide116.xml"/><Relationship Id="rId128" Type="http://schemas.openxmlformats.org/officeDocument/2006/relationships/slide" Target="slides/slide115.xml"/><Relationship Id="rId127" Type="http://schemas.openxmlformats.org/officeDocument/2006/relationships/slide" Target="slides/slide114.xml"/><Relationship Id="rId126" Type="http://schemas.openxmlformats.org/officeDocument/2006/relationships/slide" Target="slides/slide113.xml"/><Relationship Id="rId125" Type="http://schemas.openxmlformats.org/officeDocument/2006/relationships/slide" Target="slides/slide112.xml"/><Relationship Id="rId124" Type="http://schemas.openxmlformats.org/officeDocument/2006/relationships/slide" Target="slides/slide111.xml"/><Relationship Id="rId123" Type="http://schemas.openxmlformats.org/officeDocument/2006/relationships/slide" Target="slides/slide110.xml"/><Relationship Id="rId122" Type="http://schemas.openxmlformats.org/officeDocument/2006/relationships/slide" Target="slides/slide109.xml"/><Relationship Id="rId121" Type="http://schemas.openxmlformats.org/officeDocument/2006/relationships/slide" Target="slides/slide108.xml"/><Relationship Id="rId120" Type="http://schemas.openxmlformats.org/officeDocument/2006/relationships/slide" Target="slides/slide107.xml"/><Relationship Id="rId12" Type="http://schemas.openxmlformats.org/officeDocument/2006/relationships/slideMaster" Target="slideMasters/slideMaster11.xml"/><Relationship Id="rId119" Type="http://schemas.openxmlformats.org/officeDocument/2006/relationships/slide" Target="slides/slide106.xml"/><Relationship Id="rId118" Type="http://schemas.openxmlformats.org/officeDocument/2006/relationships/slide" Target="slides/slide105.xml"/><Relationship Id="rId117" Type="http://schemas.openxmlformats.org/officeDocument/2006/relationships/slide" Target="slides/slide104.xml"/><Relationship Id="rId116" Type="http://schemas.openxmlformats.org/officeDocument/2006/relationships/slide" Target="slides/slide103.xml"/><Relationship Id="rId115" Type="http://schemas.openxmlformats.org/officeDocument/2006/relationships/slide" Target="slides/slide102.xml"/><Relationship Id="rId114" Type="http://schemas.openxmlformats.org/officeDocument/2006/relationships/slide" Target="slides/slide101.xml"/><Relationship Id="rId113" Type="http://schemas.openxmlformats.org/officeDocument/2006/relationships/slide" Target="slides/slide100.xml"/><Relationship Id="rId112" Type="http://schemas.openxmlformats.org/officeDocument/2006/relationships/slide" Target="slides/slide99.xml"/><Relationship Id="rId111" Type="http://schemas.openxmlformats.org/officeDocument/2006/relationships/slide" Target="slides/slide98.xml"/><Relationship Id="rId110" Type="http://schemas.openxmlformats.org/officeDocument/2006/relationships/slide" Target="slides/slide97.xml"/><Relationship Id="rId11" Type="http://schemas.openxmlformats.org/officeDocument/2006/relationships/slideMaster" Target="slideMasters/slideMaster10.xml"/><Relationship Id="rId109" Type="http://schemas.openxmlformats.org/officeDocument/2006/relationships/slide" Target="slides/slide96.xml"/><Relationship Id="rId108" Type="http://schemas.openxmlformats.org/officeDocument/2006/relationships/slide" Target="slides/slide95.xml"/><Relationship Id="rId107" Type="http://schemas.openxmlformats.org/officeDocument/2006/relationships/slide" Target="slides/slide94.xml"/><Relationship Id="rId106" Type="http://schemas.openxmlformats.org/officeDocument/2006/relationships/slide" Target="slides/slide93.xml"/><Relationship Id="rId105" Type="http://schemas.openxmlformats.org/officeDocument/2006/relationships/slide" Target="slides/slide92.xml"/><Relationship Id="rId104" Type="http://schemas.openxmlformats.org/officeDocument/2006/relationships/slide" Target="slides/slide91.xml"/><Relationship Id="rId103" Type="http://schemas.openxmlformats.org/officeDocument/2006/relationships/slide" Target="slides/slide90.xml"/><Relationship Id="rId102" Type="http://schemas.openxmlformats.org/officeDocument/2006/relationships/slide" Target="slides/slide89.xml"/><Relationship Id="rId101" Type="http://schemas.openxmlformats.org/officeDocument/2006/relationships/slide" Target="slides/slide88.xml"/><Relationship Id="rId100" Type="http://schemas.openxmlformats.org/officeDocument/2006/relationships/slide" Target="slides/slide87.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3DFD10-C36A-A44C-AC52-E91D9A58CF7E}"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F0B397-CD8F-1C4C-97BB-ADF18DDD1C0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E7ACF5-0677-4CC5-89ED-AE83D3F5859D}"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C63F50-FC71-46DD-9BDC-11F985EF414C}"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版式2">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838200" y="2244725"/>
            <a:ext cx="10541000" cy="1158875"/>
          </a:xfrm>
          <a:prstGeom prst="rect">
            <a:avLst/>
          </a:prstGeom>
        </p:spPr>
        <p:txBody>
          <a:bodyPr anchor="ctr"/>
          <a:lstStyle>
            <a:lvl1pPr>
              <a:defRPr sz="7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主标题</a:t>
            </a:r>
            <a:endParaRPr kumimoji="1" lang="zh-CN" altLang="en-US" dirty="0"/>
          </a:p>
        </p:txBody>
      </p:sp>
      <p:sp>
        <p:nvSpPr>
          <p:cNvPr id="3" name="文本占位符 3"/>
          <p:cNvSpPr>
            <a:spLocks noGrp="1"/>
          </p:cNvSpPr>
          <p:nvPr>
            <p:ph type="body" sz="quarter" idx="10" hasCustomPrompt="1"/>
          </p:nvPr>
        </p:nvSpPr>
        <p:spPr>
          <a:xfrm>
            <a:off x="838200" y="3454401"/>
            <a:ext cx="10540999" cy="630237"/>
          </a:xfrm>
          <a:prstGeom prst="rect">
            <a:avLst/>
          </a:prstGeom>
        </p:spPr>
        <p:txBody>
          <a:bodyPr anchor="ctr"/>
          <a:lstStyle>
            <a:lvl1pPr algn="ctr">
              <a:buNone/>
              <a:defRPr sz="24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stStyle>
          <a:p>
            <a:pPr lvl="0"/>
            <a:r>
              <a:rPr kumimoji="1" lang="zh-CN" altLang="en-US" dirty="0"/>
              <a:t>副标题内容，如若没有可以删除</a:t>
            </a:r>
            <a:endParaRPr kumimoji="1"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版式">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5019358" y="1006475"/>
            <a:ext cx="5973761" cy="4256405"/>
          </a:xfrm>
          <a:prstGeom prst="rect">
            <a:avLst/>
          </a:prstGeom>
        </p:spPr>
        <p:txBody>
          <a:bodyPr anchor="ctr"/>
          <a:lstStyle>
            <a:lvl1pPr marL="457200" marR="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marL="457200" marR="0" lvl="0" indent="-457200" algn="l" defTabSz="914400" rtl="0" eaLnBrk="0" fontAlgn="base" latinLnBrk="0" hangingPunct="0">
              <a:lnSpc>
                <a:spcPct val="200000"/>
              </a:lnSpc>
              <a:spcBef>
                <a:spcPct val="20000"/>
              </a:spcBef>
              <a:spcAft>
                <a:spcPct val="0"/>
              </a:spcAft>
              <a:buClrTx/>
              <a:buSzTx/>
              <a:buFont typeface="Wingdings" panose="05000000000000000000" pitchFamily="2" charset="2"/>
              <a:buChar char="u"/>
              <a:defRPr/>
            </a:pPr>
            <a:r>
              <a:rPr kumimoji="1" lang="zh-CN" altLang="en-US" dirty="0"/>
              <a:t>此内容上下居中对齐，可根据实际情况微调位置和字体大小</a:t>
            </a:r>
            <a:endParaRPr kumimoji="1" lang="zh-CN" altLang="en-US" dirty="0"/>
          </a:p>
          <a:p>
            <a:pPr lvl="0"/>
            <a:endParaRPr kumimoji="1"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章节页版式（一级标题）">
    <p:spTree>
      <p:nvGrpSpPr>
        <p:cNvPr id="1" name=""/>
        <p:cNvGrpSpPr/>
        <p:nvPr/>
      </p:nvGrpSpPr>
      <p:grpSpPr>
        <a:xfrm>
          <a:off x="0" y="0"/>
          <a:ext cx="0" cy="0"/>
          <a:chOff x="0" y="0"/>
          <a:chExt cx="0" cy="0"/>
        </a:xfrm>
      </p:grpSpPr>
      <p:sp>
        <p:nvSpPr>
          <p:cNvPr id="12" name="标题 11"/>
          <p:cNvSpPr>
            <a:spLocks noGrp="1"/>
          </p:cNvSpPr>
          <p:nvPr>
            <p:ph type="title" hasCustomPrompt="1"/>
          </p:nvPr>
        </p:nvSpPr>
        <p:spPr>
          <a:xfrm>
            <a:off x="5232400" y="2766218"/>
            <a:ext cx="6654800" cy="1325563"/>
          </a:xfrm>
          <a:prstGeom prst="rect">
            <a:avLst/>
          </a:prstGeom>
        </p:spPr>
        <p:txBody>
          <a:bodyPr/>
          <a:lstStyle>
            <a:lvl1pPr>
              <a:defRPr sz="32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章节标题，右侧章节数字需自行设置</a:t>
            </a:r>
            <a:endParaRPr kumimoji="1" lang="zh-CN" altLang="en-US" dirty="0"/>
          </a:p>
        </p:txBody>
      </p:sp>
      <p:sp>
        <p:nvSpPr>
          <p:cNvPr id="14" name="文本占位符 13"/>
          <p:cNvSpPr>
            <a:spLocks noGrp="1"/>
          </p:cNvSpPr>
          <p:nvPr>
            <p:ph type="body" sz="quarter" idx="10"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章节页版式（一级+二级标题）">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273040" y="2398078"/>
            <a:ext cx="6725920" cy="548322"/>
          </a:xfrm>
          <a:prstGeom prst="rect">
            <a:avLst/>
          </a:prstGeom>
        </p:spPr>
        <p:txBody>
          <a:bodyPr anchor="t">
            <a:normAutofit/>
          </a:bodyPr>
          <a:lstStyle>
            <a:lvl1pPr algn="l">
              <a:defRPr sz="3600" b="0" i="0">
                <a:solidFill>
                  <a:schemeClr val="tx1">
                    <a:lumMod val="85000"/>
                    <a:lumOff val="1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r>
              <a:rPr kumimoji="1" lang="zh-CN" altLang="en-US" dirty="0"/>
              <a:t>标题，右侧章节自行设置，如</a:t>
            </a:r>
            <a:r>
              <a:rPr kumimoji="1" lang="en-US" altLang="zh-CN" dirty="0"/>
              <a:t>01</a:t>
            </a:r>
            <a:endParaRPr kumimoji="1" lang="zh-CN" altLang="en-US" dirty="0"/>
          </a:p>
        </p:txBody>
      </p:sp>
      <p:sp>
        <p:nvSpPr>
          <p:cNvPr id="16" name="文本占位符 15"/>
          <p:cNvSpPr>
            <a:spLocks noGrp="1"/>
          </p:cNvSpPr>
          <p:nvPr>
            <p:ph type="body" idx="10" hasCustomPrompt="1"/>
          </p:nvPr>
        </p:nvSpPr>
        <p:spPr>
          <a:xfrm>
            <a:off x="5273040" y="3069272"/>
            <a:ext cx="5466080" cy="2031047"/>
          </a:xfrm>
          <a:prstGeom prst="rect">
            <a:avLst/>
          </a:prstGeom>
        </p:spPr>
        <p:txBody>
          <a:bodyPr/>
          <a:lstStyle>
            <a:lvl1pPr>
              <a:lnSpc>
                <a:spcPct val="150000"/>
              </a:lnSpc>
              <a:defRPr sz="1600" b="0" i="0">
                <a:solidFill>
                  <a:schemeClr val="tx1">
                    <a:lumMod val="65000"/>
                    <a:lumOff val="3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a:buNone/>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vl4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4pPr>
            <a:lvl5pPr>
              <a:defRPr b="0" i="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5pPr>
          </a:lstStyle>
          <a:p>
            <a:pPr lvl="0"/>
            <a:r>
              <a:rPr kumimoji="1" lang="zh-CN" altLang="en-US" dirty="0"/>
              <a:t>输入具体主讲内容</a:t>
            </a:r>
            <a:endParaRPr kumimoji="1" lang="en-US" altLang="zh-CN" dirty="0"/>
          </a:p>
          <a:p>
            <a:pPr lvl="0"/>
            <a:r>
              <a:rPr kumimoji="1" lang="zh-CN" altLang="en-US" dirty="0"/>
              <a:t>可根据标题数量调整字体大小</a:t>
            </a:r>
            <a:endParaRPr kumimoji="1" lang="zh-CN" altLang="en-US" dirty="0"/>
          </a:p>
        </p:txBody>
      </p:sp>
      <p:sp>
        <p:nvSpPr>
          <p:cNvPr id="17" name="文本占位符 13"/>
          <p:cNvSpPr>
            <a:spLocks noGrp="1"/>
          </p:cNvSpPr>
          <p:nvPr>
            <p:ph type="body" sz="quarter" idx="11" hasCustomPrompt="1"/>
          </p:nvPr>
        </p:nvSpPr>
        <p:spPr>
          <a:xfrm>
            <a:off x="3881755" y="2468880"/>
            <a:ext cx="1127125" cy="1148080"/>
          </a:xfrm>
          <a:prstGeom prst="rect">
            <a:avLst/>
          </a:prstGeom>
        </p:spPr>
        <p:txBody>
          <a:bodyPr anchor="ctr"/>
          <a:lstStyle>
            <a:lvl1pPr algn="ctr">
              <a:buNone/>
              <a:defRPr sz="4000" b="1" i="0">
                <a:solidFill>
                  <a:srgbClr val="FFFFFF"/>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vl2pPr>
              <a:buNone/>
              <a:defRPr/>
            </a:lvl2pPr>
            <a:lvl3pPr>
              <a:buNone/>
              <a:defRPr/>
            </a:lvl3pPr>
            <a:lvl4pPr>
              <a:buNone/>
              <a:defRPr/>
            </a:lvl4pPr>
            <a:lvl5pPr>
              <a:buNone/>
              <a:defRPr/>
            </a:lvl5pPr>
          </a:lstStyle>
          <a:p>
            <a:pPr lvl="0"/>
            <a:r>
              <a:rPr kumimoji="1" lang="zh-CN" altLang="en-US" dirty="0"/>
              <a:t>章</a:t>
            </a:r>
            <a:endParaRPr kumimoji="1"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3E666EC5-0109-4184-8118-DE9082C0533A}"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23B4646-813A-4832-A50F-60E1A3E629C2}" type="slidenum">
              <a:rPr lang="zh-CN" altLang="en-US" smtClean="0"/>
            </a:fld>
            <a:endParaRPr lang="zh-CN" alt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7F01626C-D819-40E4-B45D-2F58886970D3}"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FB2DCFA-08CF-4827-BDC7-221D15373368}" type="slidenum">
              <a:rPr lang="zh-CN" altLang="en-US" smtClean="0"/>
            </a:fld>
            <a:endParaRPr lang="zh-CN" altLang="en-US"/>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二级标题+正文内容（项目符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81" y="1646133"/>
            <a:ext cx="10749598"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en-US" altLang="zh-CN" sz="1600" b="0" i="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lnSpc>
                <a:spcPct val="150000"/>
              </a:lnSpc>
              <a:buFont typeface="Wingdings" panose="05000000000000000000" pitchFamily="2" charset="2"/>
              <a:buChar char="l"/>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Arial" panose="020B0604020202020204" pitchFamily="34" charset="0"/>
              <a:buChar char="•"/>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0" y="940081"/>
            <a:ext cx="10749599"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二级标题+正文内容（数字编号）">
    <p:spTree>
      <p:nvGrpSpPr>
        <p:cNvPr id="1" name=""/>
        <p:cNvGrpSpPr/>
        <p:nvPr/>
      </p:nvGrpSpPr>
      <p:grpSpPr>
        <a:xfrm>
          <a:off x="0" y="0"/>
          <a:ext cx="0" cy="0"/>
          <a:chOff x="0" y="0"/>
          <a:chExt cx="0" cy="0"/>
        </a:xfrm>
      </p:grpSpPr>
      <p:sp>
        <p:nvSpPr>
          <p:cNvPr id="4" name="文本占位符 11"/>
          <p:cNvSpPr>
            <a:spLocks noGrp="1"/>
          </p:cNvSpPr>
          <p:nvPr>
            <p:ph type="body" sz="quarter" idx="11" hasCustomPrompt="1"/>
          </p:nvPr>
        </p:nvSpPr>
        <p:spPr>
          <a:xfrm>
            <a:off x="710879" y="16461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
        <p:nvSpPr>
          <p:cNvPr id="6" name="文本占位符 9"/>
          <p:cNvSpPr>
            <a:spLocks noGrp="1"/>
          </p:cNvSpPr>
          <p:nvPr>
            <p:ph type="body" sz="quarter" idx="10" hasCustomPrompt="1"/>
          </p:nvPr>
        </p:nvSpPr>
        <p:spPr>
          <a:xfrm>
            <a:off x="710881" y="940081"/>
            <a:ext cx="10719120"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二级标题">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5" name="文本占位符 9"/>
          <p:cNvSpPr>
            <a:spLocks noGrp="1"/>
          </p:cNvSpPr>
          <p:nvPr>
            <p:ph type="body" sz="quarter" idx="10" hasCustomPrompt="1"/>
          </p:nvPr>
        </p:nvSpPr>
        <p:spPr>
          <a:xfrm>
            <a:off x="710880" y="940081"/>
            <a:ext cx="10748056" cy="517190"/>
          </a:xfrm>
          <a:prstGeom prst="rect">
            <a:avLst/>
          </a:prstGeom>
        </p:spPr>
        <p:txBody>
          <a:bodyPr anchor="ctr" anchorCtr="0"/>
          <a:lstStyle>
            <a:lvl1pPr marL="0" indent="0">
              <a:buNone/>
              <a:defRPr sz="1800" b="1">
                <a:solidFill>
                  <a:srgbClr val="404040"/>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6" name="文本占位符 11"/>
          <p:cNvSpPr>
            <a:spLocks noGrp="1"/>
          </p:cNvSpPr>
          <p:nvPr>
            <p:ph type="body" sz="quarter" idx="11" hasCustomPrompt="1"/>
          </p:nvPr>
        </p:nvSpPr>
        <p:spPr>
          <a:xfrm>
            <a:off x="710880" y="164613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正文内容（无编号）">
    <p:spTree>
      <p:nvGrpSpPr>
        <p:cNvPr id="1" name=""/>
        <p:cNvGrpSpPr/>
        <p:nvPr/>
      </p:nvGrpSpPr>
      <p:grpSpPr>
        <a:xfrm>
          <a:off x="0" y="0"/>
          <a:ext cx="0" cy="0"/>
          <a:chOff x="0" y="0"/>
          <a:chExt cx="0" cy="0"/>
        </a:xfrm>
      </p:grpSpPr>
      <p:sp>
        <p:nvSpPr>
          <p:cNvPr id="12" name="文本占位符 11"/>
          <p:cNvSpPr>
            <a:spLocks noGrp="1"/>
          </p:cNvSpPr>
          <p:nvPr>
            <p:ph type="body" sz="quarter" idx="11" hasCustomPrompt="1"/>
          </p:nvPr>
        </p:nvSpPr>
        <p:spPr>
          <a:xfrm>
            <a:off x="710880" y="940081"/>
            <a:ext cx="9845675" cy="4871439"/>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正文内容（数字符号）">
    <p:spTree>
      <p:nvGrpSpPr>
        <p:cNvPr id="1" name=""/>
        <p:cNvGrpSpPr/>
        <p:nvPr/>
      </p:nvGrpSpPr>
      <p:grpSpPr>
        <a:xfrm>
          <a:off x="0" y="0"/>
          <a:ext cx="0" cy="0"/>
          <a:chOff x="0" y="0"/>
          <a:chExt cx="0" cy="0"/>
        </a:xfrm>
      </p:grpSpPr>
      <p:sp>
        <p:nvSpPr>
          <p:cNvPr id="5"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79" y="934933"/>
            <a:ext cx="10719120" cy="4219575"/>
          </a:xfrm>
          <a:prstGeom prst="rect">
            <a:avLst/>
          </a:prstGeom>
        </p:spPr>
        <p:txBody>
          <a:bodyPr/>
          <a:lstStyle>
            <a:lvl1pPr marL="360045" indent="-360045">
              <a:lnSpc>
                <a:spcPct val="150000"/>
              </a:lnSpc>
              <a:buClr>
                <a:srgbClr val="404040"/>
              </a:buClr>
              <a:buSzPct val="85000"/>
              <a:buFont typeface="+mj-lt"/>
              <a:buAutoNum type="arabicPeriod"/>
              <a:defRPr lang="en-US" altLang="zh-CN" sz="1600"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720090" indent="-360045">
              <a:lnSpc>
                <a:spcPct val="150000"/>
              </a:lnSpc>
              <a:buFont typeface="+mj-lt"/>
              <a:buAutoNum type="arabicPeriod"/>
              <a:defRPr lang="en-US" altLang="zh-CN" sz="1400" b="0" i="0" dirty="0">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lnSpc>
                <a:spcPct val="150000"/>
              </a:lnSpc>
              <a:buFont typeface="+mj-ea"/>
              <a:buAutoNum type="circleNumDbPlain"/>
              <a:defRPr lang="zh-CN" altLang="en-US" sz="1400" b="0" i="0" dirty="0"/>
            </a:lvl3pPr>
          </a:lstStyle>
          <a:p>
            <a:pPr marL="0" lvl="0" indent="0">
              <a:lnSpc>
                <a:spcPct val="150000"/>
              </a:lnSpc>
              <a:buNone/>
            </a:pPr>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lvl="1"/>
            <a:r>
              <a:rPr lang="zh-CN" altLang="en-US" dirty="0"/>
              <a:t>技术特性</a:t>
            </a:r>
            <a:r>
              <a:rPr lang="en-US" altLang="zh-CN" dirty="0"/>
              <a:t>1</a:t>
            </a:r>
            <a:endParaRPr lang="en-US" altLang="zh-CN" dirty="0"/>
          </a:p>
          <a:p>
            <a:pPr lvl="1"/>
            <a:r>
              <a:rPr lang="zh-CN" altLang="en-US" dirty="0"/>
              <a:t>技术特性</a:t>
            </a:r>
            <a:r>
              <a:rPr lang="en-US" altLang="zh-CN" dirty="0"/>
              <a:t>2</a:t>
            </a:r>
            <a:endParaRPr lang="en-US" altLang="zh-CN" dirty="0"/>
          </a:p>
          <a:p>
            <a:pPr lvl="2"/>
            <a:r>
              <a:rPr lang="zh-CN" altLang="en-US" dirty="0"/>
              <a:t>要点</a:t>
            </a:r>
            <a:r>
              <a:rPr lang="en-US" altLang="zh-CN" dirty="0"/>
              <a:t>1</a:t>
            </a:r>
            <a:endParaRPr lang="en-US" altLang="zh-CN" dirty="0"/>
          </a:p>
          <a:p>
            <a:pPr lvl="2"/>
            <a:r>
              <a:rPr lang="zh-CN" altLang="en-US" dirty="0"/>
              <a:t>要点</a:t>
            </a:r>
            <a:r>
              <a:rPr lang="en-US" altLang="zh-CN" dirty="0"/>
              <a:t>2</a:t>
            </a:r>
            <a:endParaRPr lang="zh-CN"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正文内容+项目编号">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 name="文本占位符 11"/>
          <p:cNvSpPr>
            <a:spLocks noGrp="1"/>
          </p:cNvSpPr>
          <p:nvPr>
            <p:ph type="body" sz="quarter" idx="11" hasCustomPrompt="1"/>
          </p:nvPr>
        </p:nvSpPr>
        <p:spPr>
          <a:xfrm>
            <a:off x="710880" y="945093"/>
            <a:ext cx="10748057" cy="4219575"/>
          </a:xfrm>
          <a:prstGeom prst="rect">
            <a:avLst/>
          </a:prstGeom>
        </p:spPr>
        <p:txBody>
          <a:bodyPr/>
          <a:lstStyle>
            <a:lvl1pPr marL="360045" indent="-360045">
              <a:lnSpc>
                <a:spcPct val="150000"/>
              </a:lnSpc>
              <a:buClr>
                <a:srgbClr val="404040"/>
              </a:buClr>
              <a:buSzPct val="85000"/>
              <a:buFont typeface="Wingdings" panose="05000000000000000000" pitchFamily="2" charset="2"/>
              <a:buChar char="l"/>
              <a:defRPr lang="zh-CN" altLang="en-US" sz="16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719455" indent="-358775">
              <a:buFont typeface="Wingdings" panose="05000000000000000000" pitchFamily="2" charset="2"/>
              <a:buChar char="l"/>
              <a:defRPr lang="en-US" altLang="zh-CN"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2pPr>
            <a:lvl3pPr marL="1079500" indent="-358775">
              <a:buFont typeface="Wingdings" panose="05000000000000000000" pitchFamily="2" charset="2"/>
              <a:buChar char="l"/>
              <a:defRPr lang="zh-CN" altLang="en-US" sz="1400" b="0" i="0" kern="1200" dirty="0">
                <a:solidFill>
                  <a:schemeClr val="tx1">
                    <a:lumMod val="85000"/>
                    <a:lumOff val="1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3pPr>
          </a:lstStyle>
          <a:p>
            <a:pPr lvl="0"/>
            <a:r>
              <a:rPr lang="zh-CN" altLang="en-US" dirty="0"/>
              <a:t>此处以罗列的方式表达</a:t>
            </a:r>
            <a:r>
              <a:rPr lang="en-US" altLang="zh-CN" dirty="0"/>
              <a:t>XXX</a:t>
            </a:r>
            <a:r>
              <a:rPr lang="zh-CN" altLang="en-US" dirty="0"/>
              <a:t>技术特性</a:t>
            </a:r>
            <a:r>
              <a:rPr lang="en-US" altLang="zh-CN" dirty="0"/>
              <a:t>/</a:t>
            </a:r>
            <a:r>
              <a:rPr lang="zh-CN" altLang="en-US" dirty="0"/>
              <a:t>要点等</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1</a:t>
            </a:r>
            <a:endParaRPr lang="en-US" altLang="zh-CN" dirty="0"/>
          </a:p>
          <a:p>
            <a:pPr marL="720090" lvl="1" indent="-360045" algn="l" rtl="0" eaLnBrk="0" fontAlgn="base" hangingPunct="0">
              <a:lnSpc>
                <a:spcPct val="150000"/>
              </a:lnSpc>
              <a:spcBef>
                <a:spcPct val="20000"/>
              </a:spcBef>
              <a:spcAft>
                <a:spcPct val="0"/>
              </a:spcAft>
              <a:buClr>
                <a:srgbClr val="404040"/>
              </a:buClr>
              <a:buSzPct val="85000"/>
              <a:buFont typeface="Wingdings" panose="05000000000000000000" pitchFamily="2" charset="2"/>
              <a:buChar char="p"/>
            </a:pPr>
            <a:r>
              <a:rPr lang="zh-CN" altLang="en-US" dirty="0"/>
              <a:t>技术特性</a:t>
            </a:r>
            <a:r>
              <a:rPr lang="en-US" altLang="zh-CN" dirty="0"/>
              <a:t>2</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1</a:t>
            </a:r>
            <a:endParaRPr lang="en-US" altLang="zh-CN" dirty="0"/>
          </a:p>
          <a:p>
            <a:pPr marL="1079500" lvl="2" indent="-358775" algn="l" rtl="0" eaLnBrk="0" fontAlgn="base" hangingPunct="0">
              <a:lnSpc>
                <a:spcPct val="150000"/>
              </a:lnSpc>
              <a:spcBef>
                <a:spcPct val="20000"/>
              </a:spcBef>
              <a:spcAft>
                <a:spcPct val="0"/>
              </a:spcAft>
              <a:buClr>
                <a:srgbClr val="404040"/>
              </a:buClr>
              <a:buSzPct val="85000"/>
            </a:pPr>
            <a:r>
              <a:rPr lang="zh-CN" altLang="en-US" dirty="0"/>
              <a:t>要点</a:t>
            </a:r>
            <a:r>
              <a:rPr lang="en-US" altLang="zh-CN" dirty="0"/>
              <a:t>2</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自由发挥">
    <p:spTree>
      <p:nvGrpSpPr>
        <p:cNvPr id="1" name=""/>
        <p:cNvGrpSpPr/>
        <p:nvPr/>
      </p:nvGrpSpPr>
      <p:grpSpPr>
        <a:xfrm>
          <a:off x="0" y="0"/>
          <a:ext cx="0" cy="0"/>
          <a:chOff x="0" y="0"/>
          <a:chExt cx="0" cy="0"/>
        </a:xfrm>
      </p:grpSpPr>
      <p:sp>
        <p:nvSpPr>
          <p:cNvPr id="4"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b="1"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案例</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案例标题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步骤">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步骤</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步骤标题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此为案例内容，字体不可改，阿里巴巴普惠体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28956"/>
            <a:chOff x="852891" y="1026849"/>
            <a:chExt cx="1228476" cy="528956"/>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练习</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互动</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练习">
    <p:spTree>
      <p:nvGrpSpPr>
        <p:cNvPr id="1" name=""/>
        <p:cNvGrpSpPr/>
        <p:nvPr/>
      </p:nvGrpSpPr>
      <p:grpSpPr>
        <a:xfrm>
          <a:off x="0" y="0"/>
          <a:ext cx="0" cy="0"/>
          <a:chOff x="0" y="0"/>
          <a:chExt cx="0" cy="0"/>
        </a:xfrm>
      </p:grpSpPr>
      <p:grpSp>
        <p:nvGrpSpPr>
          <p:cNvPr id="6" name="组合 5"/>
          <p:cNvGrpSpPr/>
          <p:nvPr userDrawn="1"/>
        </p:nvGrpSpPr>
        <p:grpSpPr>
          <a:xfrm>
            <a:off x="806306" y="968974"/>
            <a:ext cx="1228476" cy="553085"/>
            <a:chOff x="852891" y="1026849"/>
            <a:chExt cx="1228476" cy="553085"/>
          </a:xfrm>
        </p:grpSpPr>
        <p:sp>
          <p:nvSpPr>
            <p:cNvPr id="7" name="矩形 6"/>
            <p:cNvSpPr/>
            <p:nvPr/>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9" name="图形 8"/>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10" name="TextBox 2"/>
            <p:cNvSpPr txBox="1">
              <a:spLocks noChangeArrowheads="1"/>
            </p:cNvSpPr>
            <p:nvPr/>
          </p:nvSpPr>
          <p:spPr bwMode="auto">
            <a:xfrm>
              <a:off x="1306172" y="1026849"/>
              <a:ext cx="775195" cy="553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rPr>
                <a:t>拓展</a:t>
              </a:r>
              <a:endParaRPr lang="zh-CN" altLang="en-US" dirty="0">
                <a:solidFill>
                  <a:srgbClr val="AD2B26"/>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grpSp>
      <p:sp>
        <p:nvSpPr>
          <p:cNvPr id="11" name="文本占位符 9"/>
          <p:cNvSpPr>
            <a:spLocks noGrp="1"/>
          </p:cNvSpPr>
          <p:nvPr>
            <p:ph type="body" sz="quarter" idx="10" hasCustomPrompt="1"/>
          </p:nvPr>
        </p:nvSpPr>
        <p:spPr>
          <a:xfrm>
            <a:off x="2195450" y="1016160"/>
            <a:ext cx="9214230" cy="517190"/>
          </a:xfrm>
          <a:prstGeom prst="rect">
            <a:avLst/>
          </a:prstGeom>
        </p:spPr>
        <p:txBody>
          <a:bodyPr anchor="ctr" anchorCtr="0"/>
          <a:lstStyle>
            <a:lvl1pPr marL="0" indent="0">
              <a:buNone/>
              <a:defRPr lang="zh-CN" altLang="en-US" sz="2400" kern="1200" dirty="0">
                <a:solidFill>
                  <a:srgbClr val="AD2B26"/>
                </a:solidFill>
                <a:latin typeface="阿里巴巴普惠体 M" panose="00020600040101010101" pitchFamily="18" charset="-122"/>
                <a:ea typeface="阿里巴巴普惠体 M" panose="00020600040101010101" pitchFamily="18" charset="-122"/>
                <a:cs typeface="阿里巴巴普惠体 M" panose="00020600040101010101" pitchFamily="18" charset="-122"/>
              </a:defRPr>
            </a:lvl1pPr>
          </a:lstStyle>
          <a:p>
            <a:pPr marL="0" lvl="0" indent="0">
              <a:buNone/>
            </a:pPr>
            <a:r>
              <a:rPr lang="zh-CN" altLang="en-US" dirty="0"/>
              <a:t>练习标题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2195450" y="1656000"/>
            <a:ext cx="921423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此为练习内容，字体不可改，阿里巴巴普惠体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思考页">
    <p:spTree>
      <p:nvGrpSpPr>
        <p:cNvPr id="1" name=""/>
        <p:cNvGrpSpPr/>
        <p:nvPr/>
      </p:nvGrpSpPr>
      <p:grpSpPr>
        <a:xfrm>
          <a:off x="0" y="0"/>
          <a:ext cx="0" cy="0"/>
          <a:chOff x="0" y="0"/>
          <a:chExt cx="0" cy="0"/>
        </a:xfrm>
      </p:grpSpPr>
      <p:sp>
        <p:nvSpPr>
          <p:cNvPr id="28" name="六边形 27"/>
          <p:cNvSpPr/>
          <p:nvPr userDrawn="1"/>
        </p:nvSpPr>
        <p:spPr>
          <a:xfrm rot="5400000">
            <a:off x="941355" y="3612018"/>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3" name="六边形 22"/>
          <p:cNvSpPr/>
          <p:nvPr userDrawn="1"/>
        </p:nvSpPr>
        <p:spPr>
          <a:xfrm rot="5400000">
            <a:off x="1484022" y="2632538"/>
            <a:ext cx="1944550" cy="1676336"/>
          </a:xfrm>
          <a:prstGeom prst="hexagon">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占位符 3"/>
          <p:cNvSpPr>
            <a:spLocks noGrp="1"/>
          </p:cNvSpPr>
          <p:nvPr>
            <p:ph type="body" sz="quarter" idx="10" hasCustomPrompt="1"/>
          </p:nvPr>
        </p:nvSpPr>
        <p:spPr>
          <a:xfrm>
            <a:off x="5126584" y="1436556"/>
            <a:ext cx="5760538" cy="4710244"/>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7" name="标题占位符 1"/>
          <p:cNvSpPr txBox="1">
            <a:spLocks noChangeArrowheads="1"/>
          </p:cNvSpPr>
          <p:nvPr userDrawn="1"/>
        </p:nvSpPr>
        <p:spPr bwMode="auto">
          <a:xfrm>
            <a:off x="1695420" y="2987770"/>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思考</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sp>
        <p:nvSpPr>
          <p:cNvPr id="20" name="标题 1"/>
          <p:cNvSpPr>
            <a:spLocks noGrp="1"/>
          </p:cNvSpPr>
          <p:nvPr userDrawn="1">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24" name="六边形 23"/>
          <p:cNvSpPr/>
          <p:nvPr userDrawn="1"/>
        </p:nvSpPr>
        <p:spPr>
          <a:xfrm rot="5400000">
            <a:off x="3294074" y="2254203"/>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六边形 24"/>
          <p:cNvSpPr/>
          <p:nvPr userDrawn="1"/>
        </p:nvSpPr>
        <p:spPr>
          <a:xfrm rot="5400000">
            <a:off x="1198356" y="4231536"/>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6" name="六边形 25"/>
          <p:cNvSpPr/>
          <p:nvPr userDrawn="1"/>
        </p:nvSpPr>
        <p:spPr>
          <a:xfrm rot="5400000">
            <a:off x="3642476" y="4490365"/>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六边形 29"/>
          <p:cNvSpPr/>
          <p:nvPr userDrawn="1"/>
        </p:nvSpPr>
        <p:spPr>
          <a:xfrm rot="5400000">
            <a:off x="1190641" y="1820150"/>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思路">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15" name="泪珠形 14"/>
          <p:cNvSpPr/>
          <p:nvPr userDrawn="1"/>
        </p:nvSpPr>
        <p:spPr>
          <a:xfrm>
            <a:off x="1013943" y="3264492"/>
            <a:ext cx="1399001" cy="1399001"/>
          </a:xfrm>
          <a:prstGeom prst="teardrop">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泪珠形 19"/>
          <p:cNvSpPr/>
          <p:nvPr userDrawn="1"/>
        </p:nvSpPr>
        <p:spPr>
          <a:xfrm>
            <a:off x="1645363" y="2434299"/>
            <a:ext cx="2017950" cy="2017950"/>
          </a:xfrm>
          <a:prstGeom prst="teardrop">
            <a:avLst/>
          </a:prstGeom>
          <a:solidFill>
            <a:schemeClr val="bg1"/>
          </a:solidFill>
          <a:ln w="114300">
            <a:solidFill>
              <a:srgbClr val="B6020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思路</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23" name="泪珠形 22"/>
          <p:cNvSpPr/>
          <p:nvPr userDrawn="1"/>
        </p:nvSpPr>
        <p:spPr>
          <a:xfrm>
            <a:off x="3663313" y="4089233"/>
            <a:ext cx="439924" cy="439924"/>
          </a:xfrm>
          <a:prstGeom prst="teardrop">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4" name="泪珠形 23"/>
          <p:cNvSpPr/>
          <p:nvPr userDrawn="1"/>
        </p:nvSpPr>
        <p:spPr>
          <a:xfrm>
            <a:off x="2152487" y="2051117"/>
            <a:ext cx="260457" cy="260457"/>
          </a:xfrm>
          <a:prstGeom prst="teardrop">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5" name="泪珠形 24"/>
          <p:cNvSpPr/>
          <p:nvPr userDrawn="1"/>
        </p:nvSpPr>
        <p:spPr>
          <a:xfrm>
            <a:off x="844996" y="3381144"/>
            <a:ext cx="562210" cy="562210"/>
          </a:xfrm>
          <a:prstGeom prst="teardrop">
            <a:avLst/>
          </a:prstGeom>
          <a:noFill/>
          <a:ln w="12700">
            <a:solidFill>
              <a:srgbClr val="DE0014"/>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今日作业">
    <p:spTree>
      <p:nvGrpSpPr>
        <p:cNvPr id="1" name=""/>
        <p:cNvGrpSpPr/>
        <p:nvPr/>
      </p:nvGrpSpPr>
      <p:grpSpPr>
        <a:xfrm>
          <a:off x="0" y="0"/>
          <a:ext cx="0" cy="0"/>
          <a:chOff x="0" y="0"/>
          <a:chExt cx="0" cy="0"/>
        </a:xfrm>
      </p:grpSpPr>
      <p:sp>
        <p:nvSpPr>
          <p:cNvPr id="43" name="矩形 42"/>
          <p:cNvSpPr/>
          <p:nvPr userDrawn="1"/>
        </p:nvSpPr>
        <p:spPr>
          <a:xfrm rot="2700000">
            <a:off x="3564412" y="3089727"/>
            <a:ext cx="936368" cy="936368"/>
          </a:xfrm>
          <a:prstGeom prst="rect">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39" name="矩形 38"/>
          <p:cNvSpPr/>
          <p:nvPr userDrawn="1"/>
        </p:nvSpPr>
        <p:spPr>
          <a:xfrm rot="2700000">
            <a:off x="3711024" y="4032814"/>
            <a:ext cx="643144" cy="643144"/>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1" name="矩形 40"/>
          <p:cNvSpPr/>
          <p:nvPr userDrawn="1"/>
        </p:nvSpPr>
        <p:spPr>
          <a:xfrm rot="2700000">
            <a:off x="1595908" y="2140629"/>
            <a:ext cx="219635" cy="2196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2" name="矩形 41"/>
          <p:cNvSpPr/>
          <p:nvPr userDrawn="1"/>
        </p:nvSpPr>
        <p:spPr>
          <a:xfrm rot="2700000">
            <a:off x="1559312" y="4247863"/>
            <a:ext cx="494750" cy="494750"/>
          </a:xfrm>
          <a:prstGeom prst="rect">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4" name="矩形 43"/>
          <p:cNvSpPr/>
          <p:nvPr userDrawn="1"/>
        </p:nvSpPr>
        <p:spPr>
          <a:xfrm rot="2700000">
            <a:off x="986540" y="2161712"/>
            <a:ext cx="361655" cy="361655"/>
          </a:xfrm>
          <a:prstGeom prst="rect">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40" name="矩形 39"/>
          <p:cNvSpPr/>
          <p:nvPr userDrawn="1"/>
        </p:nvSpPr>
        <p:spPr>
          <a:xfrm rot="2700000">
            <a:off x="1815645" y="2537749"/>
            <a:ext cx="1828800" cy="1828800"/>
          </a:xfrm>
          <a:prstGeom prst="rect">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文本占位符 3"/>
          <p:cNvSpPr>
            <a:spLocks noGrp="1"/>
          </p:cNvSpPr>
          <p:nvPr>
            <p:ph type="body" sz="quarter" idx="10" hasCustomPrompt="1"/>
          </p:nvPr>
        </p:nvSpPr>
        <p:spPr>
          <a:xfrm>
            <a:off x="5126584" y="1371600"/>
            <a:ext cx="5760538" cy="467360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
        <p:nvSpPr>
          <p:cNvPr id="33" name="标题占位符 1"/>
          <p:cNvSpPr txBox="1">
            <a:spLocks noChangeArrowheads="1"/>
          </p:cNvSpPr>
          <p:nvPr userDrawn="1"/>
        </p:nvSpPr>
        <p:spPr bwMode="auto">
          <a:xfrm>
            <a:off x="1938193" y="2679748"/>
            <a:ext cx="1567542" cy="154657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今日</a:t>
            </a:r>
            <a:endParaRPr lang="en-US" altLang="zh-CN" sz="3600" dirty="0">
              <a:latin typeface="阿里巴巴普惠体" panose="00020600040101010101" charset="-122"/>
              <a:ea typeface="阿里巴巴普惠体" panose="00020600040101010101" charset="-122"/>
              <a:cs typeface="阿里巴巴普惠体" panose="00020600040101010101" charset="-122"/>
            </a:endParaRPr>
          </a:p>
          <a:p>
            <a:pPr algn="ctr"/>
            <a:r>
              <a:rPr lang="zh-CN" altLang="en-US" sz="3600" dirty="0">
                <a:latin typeface="阿里巴巴普惠体" panose="00020600040101010101" charset="-122"/>
                <a:ea typeface="阿里巴巴普惠体" panose="00020600040101010101" charset="-122"/>
                <a:cs typeface="阿里巴巴普惠体" panose="00020600040101010101" charset="-122"/>
              </a:rPr>
              <a:t>作业</a:t>
            </a:r>
            <a:endParaRPr lang="zh-CN" altLang="en-US" sz="3600" dirty="0">
              <a:latin typeface="阿里巴巴普惠体" panose="00020600040101010101" charset="-122"/>
              <a:ea typeface="阿里巴巴普惠体" panose="00020600040101010101" charset="-122"/>
              <a:cs typeface="阿里巴巴普惠体" panose="00020600040101010101" charset="-122"/>
            </a:endParaRPr>
          </a:p>
        </p:txBody>
      </p:sp>
      <p:sp>
        <p:nvSpPr>
          <p:cNvPr id="45" name="矩形 44"/>
          <p:cNvSpPr/>
          <p:nvPr userDrawn="1"/>
        </p:nvSpPr>
        <p:spPr>
          <a:xfrm rot="2700000">
            <a:off x="4273426" y="2466440"/>
            <a:ext cx="263657" cy="263657"/>
          </a:xfrm>
          <a:prstGeom prst="rect">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学习目标">
    <p:spTree>
      <p:nvGrpSpPr>
        <p:cNvPr id="1" name=""/>
        <p:cNvGrpSpPr/>
        <p:nvPr/>
      </p:nvGrpSpPr>
      <p:grpSpPr>
        <a:xfrm>
          <a:off x="0" y="0"/>
          <a:ext cx="0" cy="0"/>
          <a:chOff x="0" y="0"/>
          <a:chExt cx="0" cy="0"/>
        </a:xfrm>
      </p:grpSpPr>
      <p:sp>
        <p:nvSpPr>
          <p:cNvPr id="8" name="文本占位符 7"/>
          <p:cNvSpPr>
            <a:spLocks noGrp="1"/>
          </p:cNvSpPr>
          <p:nvPr>
            <p:ph type="body" sz="quarter" idx="10"/>
          </p:nvPr>
        </p:nvSpPr>
        <p:spPr>
          <a:xfrm>
            <a:off x="4866958" y="1087755"/>
            <a:ext cx="6298881" cy="4855845"/>
          </a:xfrm>
          <a:prstGeom prst="rect">
            <a:avLst/>
          </a:prstGeom>
        </p:spPr>
        <p:txBody>
          <a:bodyPr anchor="ctr"/>
          <a:lstStyle>
            <a:lvl1pPr>
              <a:lnSpc>
                <a:spcPct val="200000"/>
              </a:lnSpc>
              <a:buFont typeface="+mj-lt"/>
              <a:buAutoNum type="arabicPeriod"/>
              <a:defRPr sz="1800">
                <a:solidFill>
                  <a:schemeClr val="tx1">
                    <a:lumMod val="75000"/>
                    <a:lumOff val="25000"/>
                  </a:schemeClr>
                </a:solidFill>
              </a:defRPr>
            </a:lvl1pPr>
          </a:lstStyle>
          <a:p>
            <a:pPr lvl="0"/>
            <a:r>
              <a:rPr kumimoji="1" lang="zh-CN" altLang="en-US" dirty="0"/>
              <a:t>单击此处编辑母版文本样式</a:t>
            </a:r>
            <a:endParaRPr kumimoji="1" lang="en-US" altLang="zh-CN" dirty="0"/>
          </a:p>
          <a:p>
            <a:pPr lvl="0"/>
            <a:r>
              <a:rPr kumimoji="1" lang="zh-CN" altLang="en-US" dirty="0"/>
              <a:t>根据实际内容可调整文字高低的位置</a:t>
            </a:r>
            <a:endParaRPr kumimoji="1" lang="en-US" altLang="zh-CN" dirty="0"/>
          </a:p>
          <a:p>
            <a:pPr lvl="0"/>
            <a:r>
              <a:rPr kumimoji="1" lang="zh-CN" altLang="en-US" dirty="0"/>
              <a:t>此内容上下居中对齐，可根据实际情况微调位置和字体大小</a:t>
            </a:r>
            <a:endParaRPr kumimoji="1"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二级标题+正文内容（无编号）">
    <p:spTree>
      <p:nvGrpSpPr>
        <p:cNvPr id="1" name=""/>
        <p:cNvGrpSpPr/>
        <p:nvPr/>
      </p:nvGrpSpPr>
      <p:grpSpPr>
        <a:xfrm>
          <a:off x="0" y="0"/>
          <a:ext cx="0" cy="0"/>
          <a:chOff x="0" y="0"/>
          <a:chExt cx="0" cy="0"/>
        </a:xfrm>
      </p:grpSpPr>
      <p:sp>
        <p:nvSpPr>
          <p:cNvPr id="10" name="文本占位符 9"/>
          <p:cNvSpPr>
            <a:spLocks noGrp="1"/>
          </p:cNvSpPr>
          <p:nvPr>
            <p:ph type="body" sz="quarter" idx="10" hasCustomPrompt="1"/>
          </p:nvPr>
        </p:nvSpPr>
        <p:spPr>
          <a:xfrm>
            <a:off x="710880" y="940081"/>
            <a:ext cx="10698800" cy="517190"/>
          </a:xfrm>
          <a:prstGeom prst="rect">
            <a:avLst/>
          </a:prstGeom>
        </p:spPr>
        <p:txBody>
          <a:bodyPr anchor="ctr" anchorCtr="0"/>
          <a:lstStyle>
            <a:lvl1pPr marL="0" indent="0">
              <a:buNone/>
              <a:defRPr lang="zh-CN" altLang="en-US" sz="1800" b="1" dirty="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marL="0" lvl="0" indent="0">
              <a:buNone/>
            </a:pPr>
            <a:r>
              <a:rPr lang="zh-CN" altLang="en-US" dirty="0"/>
              <a:t>正文二级标题</a:t>
            </a:r>
            <a:r>
              <a:rPr lang="en-US" altLang="zh-CN" dirty="0"/>
              <a:t>-</a:t>
            </a:r>
            <a:r>
              <a:rPr lang="zh-CN" altLang="en-US" dirty="0"/>
              <a:t>阿里巴巴普惠体</a:t>
            </a:r>
            <a:r>
              <a:rPr lang="en-US" altLang="zh-CN" dirty="0"/>
              <a:t>18</a:t>
            </a:r>
            <a:r>
              <a:rPr lang="zh-CN" altLang="en-US" dirty="0"/>
              <a:t>号</a:t>
            </a:r>
            <a:endParaRPr lang="zh-CN" altLang="en-US" dirty="0"/>
          </a:p>
        </p:txBody>
      </p:sp>
      <p:sp>
        <p:nvSpPr>
          <p:cNvPr id="12" name="文本占位符 11"/>
          <p:cNvSpPr>
            <a:spLocks noGrp="1"/>
          </p:cNvSpPr>
          <p:nvPr>
            <p:ph type="body" sz="quarter" idx="11" hasCustomPrompt="1"/>
          </p:nvPr>
        </p:nvSpPr>
        <p:spPr>
          <a:xfrm>
            <a:off x="710880" y="1656000"/>
            <a:ext cx="10698800" cy="4219575"/>
          </a:xfrm>
          <a:prstGeom prst="rect">
            <a:avLst/>
          </a:prstGeom>
        </p:spPr>
        <p:txBody>
          <a:bodyPr/>
          <a:lstStyle>
            <a:lvl1pPr marL="0" indent="0">
              <a:lnSpc>
                <a:spcPct val="150000"/>
              </a:lnSpc>
              <a:buNone/>
              <a:defRPr sz="16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stStyle>
          <a:p>
            <a:pPr lvl="0"/>
            <a:r>
              <a:rPr lang="zh-CN" altLang="en-US" dirty="0"/>
              <a:t>此为正文内容，字体不可改，阿里巴巴普惠体</a:t>
            </a:r>
            <a:r>
              <a:rPr lang="en-US" altLang="zh-CN" dirty="0"/>
              <a:t>16</a:t>
            </a:r>
            <a:r>
              <a:rPr lang="zh-CN" altLang="en-US" dirty="0"/>
              <a:t>号</a:t>
            </a:r>
            <a:endParaRPr lang="en-US" altLang="zh-CN" dirty="0"/>
          </a:p>
          <a:p>
            <a:pPr lvl="0"/>
            <a:r>
              <a:rPr lang="zh-CN" altLang="en-US" dirty="0"/>
              <a:t>建议不超过三行，以图文并茂的方式讲解知识</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总结页">
    <p:spTree>
      <p:nvGrpSpPr>
        <p:cNvPr id="1" name=""/>
        <p:cNvGrpSpPr/>
        <p:nvPr/>
      </p:nvGrpSpPr>
      <p:grpSpPr>
        <a:xfrm>
          <a:off x="0" y="0"/>
          <a:ext cx="0" cy="0"/>
          <a:chOff x="0" y="0"/>
          <a:chExt cx="0" cy="0"/>
        </a:xfrm>
      </p:grpSpPr>
      <p:sp>
        <p:nvSpPr>
          <p:cNvPr id="8" name="文本占位符 3"/>
          <p:cNvSpPr>
            <a:spLocks noGrp="1"/>
          </p:cNvSpPr>
          <p:nvPr>
            <p:ph type="body" sz="quarter" idx="10" hasCustomPrompt="1"/>
          </p:nvPr>
        </p:nvSpPr>
        <p:spPr>
          <a:xfrm>
            <a:off x="5126584" y="1463040"/>
            <a:ext cx="5760538" cy="4511040"/>
          </a:xfrm>
          <a:prstGeom prst="rect">
            <a:avLst/>
          </a:prstGeom>
        </p:spPr>
        <p:txBody>
          <a:bodyPr anchor="ctr"/>
          <a:lstStyle>
            <a:lvl1pPr marL="342900" marR="0" indent="-342900" algn="l" defTabSz="914400" rtl="0" eaLnBrk="0" fontAlgn="base" latinLnBrk="0" hangingPunct="0">
              <a:lnSpc>
                <a:spcPct val="200000"/>
              </a:lnSpc>
              <a:spcBef>
                <a:spcPct val="20000"/>
              </a:spcBef>
              <a:spcAft>
                <a:spcPct val="0"/>
              </a:spcAft>
              <a:buClrTx/>
              <a:buSzTx/>
              <a:buFont typeface="+mj-lt"/>
              <a:buAutoNum type="arabicPeriod"/>
              <a:defRPr sz="1800">
                <a:latin typeface="阿里巴巴普惠体" panose="00020600040101010101" charset="-122"/>
                <a:ea typeface="阿里巴巴普惠体" panose="00020600040101010101" charset="-122"/>
                <a:cs typeface="阿里巴巴普惠体" panose="00020600040101010101" charset="-122"/>
              </a:defRPr>
            </a:lvl1pPr>
            <a:lvl2pPr marL="609600" indent="0">
              <a:buNone/>
              <a:defRPr/>
            </a:lvl2pPr>
            <a:lvl3pPr marL="1219200" indent="0">
              <a:buNone/>
              <a:defRPr/>
            </a:lvl3pPr>
            <a:lvl4pPr marL="1828800" indent="0">
              <a:buNone/>
              <a:defRPr/>
            </a:lvl4pPr>
          </a:lstStyle>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r>
              <a:rPr lang="zh-CN" altLang="en-US" dirty="0"/>
              <a:t>请输入正文内容</a:t>
            </a:r>
            <a:endParaRPr lang="en-US" altLang="zh-CN" dirty="0"/>
          </a:p>
          <a:p>
            <a:pPr lvl="0"/>
            <a:endParaRPr lang="zh-CN" altLang="en-US" dirty="0"/>
          </a:p>
        </p:txBody>
      </p:sp>
      <p:sp>
        <p:nvSpPr>
          <p:cNvPr id="10" name="标题占位符 1"/>
          <p:cNvSpPr txBox="1">
            <a:spLocks noChangeArrowheads="1"/>
          </p:cNvSpPr>
          <p:nvPr userDrawn="1"/>
        </p:nvSpPr>
        <p:spPr bwMode="auto">
          <a:xfrm>
            <a:off x="0" y="2889250"/>
            <a:ext cx="5105400"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defRPr/>
            </a:pPr>
            <a:r>
              <a:rPr lang="zh-CN" altLang="en-US"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rPr>
              <a:t>总结</a:t>
            </a:r>
            <a:endParaRPr lang="zh-TW" altLang="zh-CN" sz="4800" kern="0" dirty="0">
              <a:solidFill>
                <a:schemeClr val="bg1"/>
              </a:solidFill>
              <a:latin typeface="阿里巴巴普惠体" panose="00020600040101010101" charset="-122"/>
              <a:ea typeface="阿里巴巴普惠体" panose="00020600040101010101" charset="-122"/>
              <a:cs typeface="阿里巴巴普惠体" panose="00020600040101010101" charset="-122"/>
            </a:endParaRPr>
          </a:p>
        </p:txBody>
      </p:sp>
      <p:grpSp>
        <p:nvGrpSpPr>
          <p:cNvPr id="9" name="组合 8"/>
          <p:cNvGrpSpPr/>
          <p:nvPr userDrawn="1"/>
        </p:nvGrpSpPr>
        <p:grpSpPr>
          <a:xfrm>
            <a:off x="710880" y="1928702"/>
            <a:ext cx="3587349" cy="3036721"/>
            <a:chOff x="864135" y="2246295"/>
            <a:chExt cx="3587349" cy="3036721"/>
          </a:xfrm>
        </p:grpSpPr>
        <p:sp>
          <p:nvSpPr>
            <p:cNvPr id="12" name="椭圆 11"/>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userDrawn="1"/>
          </p:nvSpPr>
          <p:spPr>
            <a:xfrm>
              <a:off x="2962055" y="4101828"/>
              <a:ext cx="926888" cy="926888"/>
            </a:xfrm>
            <a:prstGeom prst="ellipse">
              <a:avLst/>
            </a:prstGeom>
            <a:solidFill>
              <a:srgbClr val="515151">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userDrawn="1"/>
          </p:nvSpPr>
          <p:spPr>
            <a:xfrm>
              <a:off x="1642355" y="2871191"/>
              <a:ext cx="1924945" cy="1895739"/>
            </a:xfrm>
            <a:prstGeom prst="ellipse">
              <a:avLst/>
            </a:prstGeom>
            <a:solidFill>
              <a:schemeClr val="bg1"/>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椭圆 15"/>
            <p:cNvSpPr/>
            <p:nvPr userDrawn="1"/>
          </p:nvSpPr>
          <p:spPr>
            <a:xfrm>
              <a:off x="864135" y="2246295"/>
              <a:ext cx="804338" cy="804338"/>
            </a:xfrm>
            <a:prstGeom prst="ellipse">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userDrawn="1"/>
          </p:nvSpPr>
          <p:spPr>
            <a:xfrm>
              <a:off x="3257550" y="2352674"/>
              <a:ext cx="314325" cy="314325"/>
            </a:xfrm>
            <a:prstGeom prst="ellipse">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dirty="0">
                  <a:latin typeface="阿里巴巴普惠体" panose="00020600040101010101" charset="-122"/>
                  <a:ea typeface="阿里巴巴普惠体" panose="00020600040101010101" charset="-122"/>
                  <a:cs typeface="阿里巴巴普惠体" panose="00020600040101010101" charset="-122"/>
                </a:rPr>
                <a:t>总结</a:t>
              </a:r>
              <a:endParaRPr lang="zh-CN" altLang="en-US" sz="4000" dirty="0">
                <a:latin typeface="阿里巴巴普惠体" panose="00020600040101010101" charset="-122"/>
                <a:ea typeface="阿里巴巴普惠体" panose="00020600040101010101" charset="-122"/>
                <a:cs typeface="阿里巴巴普惠体" panose="00020600040101010101" charset="-122"/>
              </a:endParaRPr>
            </a:p>
          </p:txBody>
        </p:sp>
      </p:grpSp>
      <p:sp>
        <p:nvSpPr>
          <p:cNvPr id="21" name="标题 1"/>
          <p:cNvSpPr>
            <a:spLocks noGrp="1"/>
          </p:cNvSpPr>
          <p:nvPr>
            <p:ph type="title" hasCustomPrompt="1"/>
          </p:nvPr>
        </p:nvSpPr>
        <p:spPr>
          <a:xfrm>
            <a:off x="710880" y="234029"/>
            <a:ext cx="8771021" cy="517190"/>
          </a:xfrm>
          <a:prstGeom prst="rect">
            <a:avLst/>
          </a:prstGeom>
        </p:spPr>
        <p:txBody>
          <a:bodyPr anchor="ctr" anchorCtr="0"/>
          <a:lstStyle>
            <a:lvl1pPr>
              <a:defRPr lang="zh-CN" altLang="en-US" sz="2400" i="0" dirty="0">
                <a:solidFill>
                  <a:schemeClr val="tx1">
                    <a:lumMod val="65000"/>
                    <a:lumOff val="35000"/>
                  </a:schemeClr>
                </a:solidFill>
                <a:latin typeface="阿里巴巴普惠体 B" panose="00020600040101010101" pitchFamily="18" charset="-122"/>
                <a:ea typeface="阿里巴巴普惠体 B" panose="00020600040101010101" pitchFamily="18" charset="-122"/>
                <a:cs typeface="阿里巴巴普惠体 B" panose="00020600040101010101" pitchFamily="18" charset="-122"/>
              </a:defRPr>
            </a:lvl1pPr>
          </a:lstStyle>
          <a:p>
            <a:pPr lvl="0"/>
            <a:r>
              <a:rPr lang="zh-CN" altLang="en-US" dirty="0"/>
              <a:t>正文一级标题</a:t>
            </a:r>
            <a:r>
              <a:rPr lang="en-US" altLang="zh-CN" dirty="0"/>
              <a:t>-</a:t>
            </a:r>
            <a:r>
              <a:rPr lang="zh-CN" altLang="en-US" dirty="0"/>
              <a:t>阿里巴巴普惠体</a:t>
            </a:r>
            <a:r>
              <a:rPr lang="en-US" altLang="zh-CN" dirty="0"/>
              <a:t>24</a:t>
            </a:r>
            <a:r>
              <a:rPr lang="zh-CN" altLang="en-US" dirty="0"/>
              <a:t>号</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5.svg"/><Relationship Id="rId4" Type="http://schemas.openxmlformats.org/officeDocument/2006/relationships/image" Target="../media/image4.png"/><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25.xml"/><Relationship Id="rId8" Type="http://schemas.openxmlformats.org/officeDocument/2006/relationships/slideLayout" Target="../slideLayouts/slideLayout24.xml"/><Relationship Id="rId7" Type="http://schemas.openxmlformats.org/officeDocument/2006/relationships/slideLayout" Target="../slideLayouts/slideLayout23.xml"/><Relationship Id="rId6" Type="http://schemas.openxmlformats.org/officeDocument/2006/relationships/slideLayout" Target="../slideLayouts/slideLayout22.xml"/><Relationship Id="rId5" Type="http://schemas.openxmlformats.org/officeDocument/2006/relationships/slideLayout" Target="../slideLayouts/slideLayout21.xml"/><Relationship Id="rId4" Type="http://schemas.openxmlformats.org/officeDocument/2006/relationships/slideLayout" Target="../slideLayouts/slideLayout20.xml"/><Relationship Id="rId3" Type="http://schemas.openxmlformats.org/officeDocument/2006/relationships/slideLayout" Target="../slideLayouts/slideLayout19.xml"/><Relationship Id="rId21" Type="http://schemas.openxmlformats.org/officeDocument/2006/relationships/theme" Target="../theme/theme6.xml"/><Relationship Id="rId20" Type="http://schemas.openxmlformats.org/officeDocument/2006/relationships/image" Target="../media/image6.png"/><Relationship Id="rId2" Type="http://schemas.openxmlformats.org/officeDocument/2006/relationships/slideLayout" Target="../slideLayouts/slideLayout18.xml"/><Relationship Id="rId19" Type="http://schemas.openxmlformats.org/officeDocument/2006/relationships/slideLayout" Target="../slideLayouts/slideLayout35.xml"/><Relationship Id="rId18" Type="http://schemas.openxmlformats.org/officeDocument/2006/relationships/slideLayout" Target="../slideLayouts/slideLayout34.xml"/><Relationship Id="rId17" Type="http://schemas.openxmlformats.org/officeDocument/2006/relationships/slideLayout" Target="../slideLayouts/slideLayout33.xml"/><Relationship Id="rId16" Type="http://schemas.openxmlformats.org/officeDocument/2006/relationships/slideLayout" Target="../slideLayouts/slideLayout32.xml"/><Relationship Id="rId15" Type="http://schemas.openxmlformats.org/officeDocument/2006/relationships/slideLayout" Target="../slideLayouts/slideLayout31.xml"/><Relationship Id="rId14" Type="http://schemas.openxmlformats.org/officeDocument/2006/relationships/slideLayout" Target="../slideLayouts/slideLayout30.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1" Type="http://schemas.openxmlformats.org/officeDocument/2006/relationships/slideLayout" Target="../slideLayouts/slideLayout27.xml"/><Relationship Id="rId10" Type="http://schemas.openxmlformats.org/officeDocument/2006/relationships/slideLayout" Target="../slideLayouts/slideLayout26.xml"/><Relationship Id="rId1" Type="http://schemas.openxmlformats.org/officeDocument/2006/relationships/slideLayout" Target="../slideLayouts/slideLayout17.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44.xml"/><Relationship Id="rId8" Type="http://schemas.openxmlformats.org/officeDocument/2006/relationships/slideLayout" Target="../slideLayouts/slideLayout43.xml"/><Relationship Id="rId7" Type="http://schemas.openxmlformats.org/officeDocument/2006/relationships/slideLayout" Target="../slideLayouts/slideLayout42.xml"/><Relationship Id="rId6" Type="http://schemas.openxmlformats.org/officeDocument/2006/relationships/slideLayout" Target="../slideLayouts/slideLayout41.xml"/><Relationship Id="rId5" Type="http://schemas.openxmlformats.org/officeDocument/2006/relationships/slideLayout" Target="../slideLayouts/slideLayout40.xml"/><Relationship Id="rId4" Type="http://schemas.openxmlformats.org/officeDocument/2006/relationships/slideLayout" Target="../slideLayouts/slideLayout39.xml"/><Relationship Id="rId3" Type="http://schemas.openxmlformats.org/officeDocument/2006/relationships/slideLayout" Target="../slideLayouts/slideLayout38.xml"/><Relationship Id="rId2" Type="http://schemas.openxmlformats.org/officeDocument/2006/relationships/slideLayout" Target="../slideLayouts/slideLayout37.xml"/><Relationship Id="rId12" Type="http://schemas.openxmlformats.org/officeDocument/2006/relationships/theme" Target="../theme/theme7.xml"/><Relationship Id="rId11" Type="http://schemas.openxmlformats.org/officeDocument/2006/relationships/slideLayout" Target="../slideLayouts/slideLayout46.xml"/><Relationship Id="rId10" Type="http://schemas.openxmlformats.org/officeDocument/2006/relationships/slideLayout" Target="../slideLayouts/slideLayout45.xml"/><Relationship Id="rId1" Type="http://schemas.openxmlformats.org/officeDocument/2006/relationships/slideLayout" Target="../slideLayouts/slideLayout36.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55.xml"/><Relationship Id="rId8" Type="http://schemas.openxmlformats.org/officeDocument/2006/relationships/slideLayout" Target="../slideLayouts/slideLayout54.xml"/><Relationship Id="rId7" Type="http://schemas.openxmlformats.org/officeDocument/2006/relationships/slideLayout" Target="../slideLayouts/slideLayout53.xml"/><Relationship Id="rId6" Type="http://schemas.openxmlformats.org/officeDocument/2006/relationships/slideLayout" Target="../slideLayouts/slideLayout52.xml"/><Relationship Id="rId5" Type="http://schemas.openxmlformats.org/officeDocument/2006/relationships/slideLayout" Target="../slideLayouts/slideLayout51.xml"/><Relationship Id="rId4" Type="http://schemas.openxmlformats.org/officeDocument/2006/relationships/slideLayout" Target="../slideLayouts/slideLayout50.xml"/><Relationship Id="rId3" Type="http://schemas.openxmlformats.org/officeDocument/2006/relationships/slideLayout" Target="../slideLayouts/slideLayout49.xml"/><Relationship Id="rId2" Type="http://schemas.openxmlformats.org/officeDocument/2006/relationships/slideLayout" Target="../slideLayouts/slideLayout48.xml"/><Relationship Id="rId12" Type="http://schemas.openxmlformats.org/officeDocument/2006/relationships/theme" Target="../theme/theme8.xml"/><Relationship Id="rId11" Type="http://schemas.openxmlformats.org/officeDocument/2006/relationships/slideLayout" Target="../slideLayouts/slideLayout57.xml"/><Relationship Id="rId10" Type="http://schemas.openxmlformats.org/officeDocument/2006/relationships/slideLayout" Target="../slideLayouts/slideLayout56.xml"/><Relationship Id="rId1" Type="http://schemas.openxmlformats.org/officeDocument/2006/relationships/slideLayout" Target="../slideLayouts/slideLayout47.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image" Target="../media/image7.png"/><Relationship Id="rId1" Type="http://schemas.openxmlformats.org/officeDocument/2006/relationships/slideLayout" Target="../slideLayouts/slideLayout58.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67.xml"/><Relationship Id="rId8" Type="http://schemas.openxmlformats.org/officeDocument/2006/relationships/slideLayout" Target="../slideLayouts/slideLayout66.xml"/><Relationship Id="rId7" Type="http://schemas.openxmlformats.org/officeDocument/2006/relationships/slideLayout" Target="../slideLayouts/slideLayout65.xml"/><Relationship Id="rId6" Type="http://schemas.openxmlformats.org/officeDocument/2006/relationships/slideLayout" Target="../slideLayouts/slideLayout64.xml"/><Relationship Id="rId5" Type="http://schemas.openxmlformats.org/officeDocument/2006/relationships/slideLayout" Target="../slideLayouts/slideLayout63.xml"/><Relationship Id="rId4" Type="http://schemas.openxmlformats.org/officeDocument/2006/relationships/slideLayout" Target="../slideLayouts/slideLayout62.xml"/><Relationship Id="rId3" Type="http://schemas.openxmlformats.org/officeDocument/2006/relationships/slideLayout" Target="../slideLayouts/slideLayout61.xml"/><Relationship Id="rId20" Type="http://schemas.openxmlformats.org/officeDocument/2006/relationships/theme" Target="../theme/theme10.xml"/><Relationship Id="rId2" Type="http://schemas.openxmlformats.org/officeDocument/2006/relationships/slideLayout" Target="../slideLayouts/slideLayout60.xml"/><Relationship Id="rId19" Type="http://schemas.openxmlformats.org/officeDocument/2006/relationships/image" Target="../media/image6.png"/><Relationship Id="rId18" Type="http://schemas.openxmlformats.org/officeDocument/2006/relationships/slideLayout" Target="../slideLayouts/slideLayout76.xml"/><Relationship Id="rId17" Type="http://schemas.openxmlformats.org/officeDocument/2006/relationships/slideLayout" Target="../slideLayouts/slideLayout75.xml"/><Relationship Id="rId16" Type="http://schemas.openxmlformats.org/officeDocument/2006/relationships/slideLayout" Target="../slideLayouts/slideLayout74.xml"/><Relationship Id="rId15" Type="http://schemas.openxmlformats.org/officeDocument/2006/relationships/slideLayout" Target="../slideLayouts/slideLayout73.xml"/><Relationship Id="rId14" Type="http://schemas.openxmlformats.org/officeDocument/2006/relationships/slideLayout" Target="../slideLayouts/slideLayout72.xml"/><Relationship Id="rId13" Type="http://schemas.openxmlformats.org/officeDocument/2006/relationships/slideLayout" Target="../slideLayouts/slideLayout71.xml"/><Relationship Id="rId12" Type="http://schemas.openxmlformats.org/officeDocument/2006/relationships/slideLayout" Target="../slideLayouts/slideLayout70.xml"/><Relationship Id="rId11" Type="http://schemas.openxmlformats.org/officeDocument/2006/relationships/slideLayout" Target="../slideLayouts/slideLayout69.xml"/><Relationship Id="rId10" Type="http://schemas.openxmlformats.org/officeDocument/2006/relationships/slideLayout" Target="../slideLayouts/slideLayout68.xml"/><Relationship Id="rId1" Type="http://schemas.openxmlformats.org/officeDocument/2006/relationships/slideLayout" Target="../slideLayouts/slideLayout59.xml"/></Relationships>
</file>

<file path=ppt/slideMasters/_rels/slideMaster11.xml.rels><?xml version="1.0" encoding="UTF-8" standalone="yes"?>
<Relationships xmlns="http://schemas.openxmlformats.org/package/2006/relationships"><Relationship Id="rId7" Type="http://schemas.openxmlformats.org/officeDocument/2006/relationships/theme" Target="../theme/theme1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slideLayout" Target="../slideLayouts/slideLayout80.xml"/><Relationship Id="rId3" Type="http://schemas.openxmlformats.org/officeDocument/2006/relationships/slideLayout" Target="../slideLayouts/slideLayout79.xml"/><Relationship Id="rId2" Type="http://schemas.openxmlformats.org/officeDocument/2006/relationships/slideLayout" Target="../slideLayouts/slideLayout78.xml"/><Relationship Id="rId1"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6" name="图片 2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21677" y="5726430"/>
            <a:ext cx="2748647" cy="448662"/>
          </a:xfrm>
          <a:prstGeom prst="rect">
            <a:avLst/>
          </a:prstGeom>
        </p:spPr>
      </p:pic>
      <p:sp>
        <p:nvSpPr>
          <p:cNvPr id="30" name="六边形 29"/>
          <p:cNvSpPr/>
          <p:nvPr userDrawn="1"/>
        </p:nvSpPr>
        <p:spPr>
          <a:xfrm rot="5400000">
            <a:off x="8672366" y="-244234"/>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1" name="六边形 30"/>
          <p:cNvSpPr/>
          <p:nvPr userDrawn="1"/>
        </p:nvSpPr>
        <p:spPr>
          <a:xfrm rot="5400000">
            <a:off x="9521078" y="753888"/>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六边形 31"/>
          <p:cNvSpPr/>
          <p:nvPr userDrawn="1"/>
        </p:nvSpPr>
        <p:spPr>
          <a:xfrm rot="5400000">
            <a:off x="8027944" y="996957"/>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六边形 32"/>
          <p:cNvSpPr/>
          <p:nvPr userDrawn="1"/>
        </p:nvSpPr>
        <p:spPr>
          <a:xfrm rot="5400000">
            <a:off x="10287577" y="140894"/>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4" name="六边形 33"/>
          <p:cNvSpPr/>
          <p:nvPr userDrawn="1"/>
        </p:nvSpPr>
        <p:spPr>
          <a:xfrm rot="5400000">
            <a:off x="3684719" y="893697"/>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六边形 34"/>
          <p:cNvSpPr/>
          <p:nvPr userDrawn="1"/>
        </p:nvSpPr>
        <p:spPr>
          <a:xfrm rot="5400000">
            <a:off x="11266257" y="1225116"/>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六边形 35"/>
          <p:cNvSpPr/>
          <p:nvPr userDrawn="1"/>
        </p:nvSpPr>
        <p:spPr>
          <a:xfrm rot="5400000">
            <a:off x="918490" y="676500"/>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7" name="六边形 36"/>
          <p:cNvSpPr/>
          <p:nvPr userDrawn="1"/>
        </p:nvSpPr>
        <p:spPr>
          <a:xfrm rot="5400000">
            <a:off x="4564916" y="775592"/>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3" name="直线连接符 2"/>
          <p:cNvCxnSpPr/>
          <p:nvPr userDrawn="1"/>
        </p:nvCxnSpPr>
        <p:spPr>
          <a:xfrm>
            <a:off x="9997213" y="1131213"/>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41" name="直线连接符 40"/>
          <p:cNvCxnSpPr/>
          <p:nvPr userDrawn="1"/>
        </p:nvCxnSpPr>
        <p:spPr>
          <a:xfrm>
            <a:off x="3898416" y="466240"/>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grpSp>
        <p:nvGrpSpPr>
          <p:cNvPr id="5" name="组合 4"/>
          <p:cNvGrpSpPr/>
          <p:nvPr userDrawn="1"/>
        </p:nvGrpSpPr>
        <p:grpSpPr>
          <a:xfrm>
            <a:off x="2126595" y="2260317"/>
            <a:ext cx="2280944" cy="1168683"/>
            <a:chOff x="1984355" y="1223746"/>
            <a:chExt cx="2280944" cy="1168683"/>
          </a:xfrm>
        </p:grpSpPr>
        <p:sp>
          <p:nvSpPr>
            <p:cNvPr id="20" name="文本框 19"/>
            <p:cNvSpPr txBox="1"/>
            <p:nvPr/>
          </p:nvSpPr>
          <p:spPr>
            <a:xfrm>
              <a:off x="2549296" y="1223746"/>
              <a:ext cx="1245854"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目录</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1984355" y="1869209"/>
              <a:ext cx="1833941" cy="523220"/>
            </a:xfrm>
            <a:prstGeom prst="rect">
              <a:avLst/>
            </a:prstGeom>
            <a:noFill/>
            <a:ln>
              <a:noFill/>
            </a:ln>
          </p:spPr>
          <p:txBody>
            <a:bodyPr wrap="square" rtlCol="0">
              <a:spAutoFit/>
            </a:bodyPr>
            <a:lstStyle/>
            <a:p>
              <a:pPr algn="ctr"/>
              <a:r>
                <a:rPr lang="en-US" altLang="zh-CN" sz="28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Contents</a:t>
              </a:r>
              <a:endParaRPr lang="zh-CN" altLang="en-US" sz="28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265299" y="1300145"/>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25" name="六边形 24"/>
            <p:cNvSpPr/>
            <p:nvPr/>
          </p:nvSpPr>
          <p:spPr>
            <a:xfrm rot="5400000">
              <a:off x="2142134" y="1404577"/>
              <a:ext cx="437322" cy="377002"/>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六边形 25"/>
            <p:cNvSpPr/>
            <p:nvPr/>
          </p:nvSpPr>
          <p:spPr>
            <a:xfrm rot="5400000">
              <a:off x="2037082" y="1610051"/>
              <a:ext cx="246109" cy="212163"/>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六边形 7"/>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六边形 6"/>
          <p:cNvSpPr/>
          <p:nvPr userDrawn="1"/>
        </p:nvSpPr>
        <p:spPr>
          <a:xfrm rot="5400000">
            <a:off x="3779834" y="2429461"/>
            <a:ext cx="1318512" cy="1136649"/>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六边形 10"/>
          <p:cNvSpPr/>
          <p:nvPr userDrawn="1"/>
        </p:nvSpPr>
        <p:spPr>
          <a:xfrm rot="5400000">
            <a:off x="3567036" y="3257393"/>
            <a:ext cx="429253" cy="370046"/>
          </a:xfrm>
          <a:prstGeom prst="hexagon">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14020"/>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多一句没有，少一句不行，用最短时间，教会更实用的技术！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4982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4" name="矩形 14"/>
          <p:cNvSpPr/>
          <p:nvPr userDrawn="1"/>
        </p:nvSpPr>
        <p:spPr bwMode="auto">
          <a:xfrm>
            <a:off x="9697720" y="6582410"/>
            <a:ext cx="2494280" cy="307975"/>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755505" y="6555105"/>
            <a:ext cx="2436495" cy="337185"/>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高级数字化人才培训专家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 id="2147483687" r:id="rId18"/>
    <p:sldLayoutId id="2147483688" r:id="rId19"/>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666EC5-0109-4184-8118-DE9082C0533A}"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3B4646-813A-4832-A50F-60E1A3E629C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01626C-D819-40E4-B45D-2F58886970D3}"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B2DCFA-08CF-4827-BDC7-221D15373368}"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938713" y="2604635"/>
            <a:ext cx="2314575" cy="955968"/>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Lst>
  <p:txStyles>
    <p:titleStyle>
      <a:lvl1pPr algn="ctr" rtl="0" eaLnBrk="0" fontAlgn="base" hangingPunct="0">
        <a:spcBef>
          <a:spcPct val="0"/>
        </a:spcBef>
        <a:spcAft>
          <a:spcPct val="0"/>
        </a:spcAft>
        <a:defRPr sz="5865" kern="1200">
          <a:solidFill>
            <a:schemeClr val="tx1"/>
          </a:solidFill>
          <a:latin typeface="+mj-lt"/>
          <a:ea typeface="+mj-ea"/>
          <a:cs typeface="+mj-cs"/>
        </a:defRPr>
      </a:lvl1pPr>
      <a:lvl2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2pPr>
      <a:lvl3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3pPr>
      <a:lvl4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4pPr>
      <a:lvl5pPr algn="ctr" rtl="0" eaLnBrk="0" fontAlgn="base" hangingPunct="0">
        <a:spcBef>
          <a:spcPct val="0"/>
        </a:spcBef>
        <a:spcAft>
          <a:spcPct val="0"/>
        </a:spcAft>
        <a:defRPr sz="5865">
          <a:solidFill>
            <a:schemeClr val="tx1"/>
          </a:solidFill>
          <a:latin typeface="Calibri" panose="020F0502020204030204" pitchFamily="34" charset="0"/>
          <a:ea typeface="黑体" panose="02010609060101010101" pitchFamily="49" charset="-122"/>
        </a:defRPr>
      </a:lvl5pPr>
      <a:lvl6pPr marL="6096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6pPr>
      <a:lvl7pPr marL="12192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7pPr>
      <a:lvl8pPr marL="18288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8pPr>
      <a:lvl9pPr marL="2438400" algn="ctr" rtl="0" fontAlgn="base">
        <a:spcBef>
          <a:spcPct val="0"/>
        </a:spcBef>
        <a:spcAft>
          <a:spcPct val="0"/>
        </a:spcAft>
        <a:defRPr sz="5865">
          <a:solidFill>
            <a:schemeClr val="tx1"/>
          </a:solidFill>
          <a:latin typeface="Calibri" panose="020F050202020403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sz="3735" kern="1200">
          <a:solidFill>
            <a:schemeClr val="tx1"/>
          </a:solidFill>
          <a:latin typeface="+mn-lt"/>
          <a:ea typeface="+mn-ea"/>
          <a:cs typeface="+mn-cs"/>
        </a:defRPr>
      </a:lvl2pPr>
      <a:lvl3pPr marL="1524000" indent="-3048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 name="图片 8"/>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306083" y="162578"/>
            <a:ext cx="2031376" cy="593842"/>
          </a:xfrm>
          <a:prstGeom prst="rect">
            <a:avLst/>
          </a:prstGeom>
        </p:spPr>
      </p:pic>
      <p:sp>
        <p:nvSpPr>
          <p:cNvPr id="10" name="矩形 9"/>
          <p:cNvSpPr/>
          <p:nvPr userDrawn="1"/>
        </p:nvSpPr>
        <p:spPr>
          <a:xfrm>
            <a:off x="4504267" y="260138"/>
            <a:ext cx="7687727" cy="430887"/>
          </a:xfrm>
          <a:prstGeom prst="rect">
            <a:avLst/>
          </a:prstGeom>
        </p:spPr>
        <p:txBody>
          <a:bodyPr wrap="square">
            <a:spAutoFit/>
          </a:bodyPr>
          <a:lstStyle/>
          <a:p>
            <a:r>
              <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rPr>
              <a:t>多一句没有，少一句不行，用最短时间，教会最实用的技术！</a:t>
            </a:r>
            <a:endParaRPr lang="zh-CN" altLang="en-US" sz="2100" dirty="0">
              <a:solidFill>
                <a:srgbClr val="49504F"/>
              </a:solidFill>
              <a:latin typeface="华文楷体" panose="02010600040101010101" pitchFamily="2" charset="-122"/>
              <a:ea typeface="华文楷体" panose="02010600040101010101" pitchFamily="2" charset="-122"/>
              <a:cs typeface="阿里巴巴普惠体" panose="00020600040101010101" charset="-122"/>
            </a:endParaRPr>
          </a:p>
        </p:txBody>
      </p:sp>
      <p:sp>
        <p:nvSpPr>
          <p:cNvPr id="15" name="矩形 14"/>
          <p:cNvSpPr/>
          <p:nvPr userDrawn="1"/>
        </p:nvSpPr>
        <p:spPr>
          <a:xfrm>
            <a:off x="-52550" y="0"/>
            <a:ext cx="224790" cy="694841"/>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userDrawn="1"/>
        </p:nvSpPr>
        <p:spPr>
          <a:xfrm>
            <a:off x="-52550" y="719892"/>
            <a:ext cx="223200" cy="315311"/>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userDrawn="1"/>
        </p:nvSpPr>
        <p:spPr>
          <a:xfrm>
            <a:off x="2567066" y="719635"/>
            <a:ext cx="7023600" cy="21600"/>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1" name="矩形 20"/>
          <p:cNvSpPr/>
          <p:nvPr userDrawn="1"/>
        </p:nvSpPr>
        <p:spPr>
          <a:xfrm>
            <a:off x="9481902" y="719635"/>
            <a:ext cx="2163600" cy="216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任意形状 21"/>
          <p:cNvSpPr/>
          <p:nvPr userDrawn="1"/>
        </p:nvSpPr>
        <p:spPr>
          <a:xfrm>
            <a:off x="9612588" y="6582369"/>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68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23" name="矩形 22"/>
          <p:cNvSpPr>
            <a:spLocks noChangeArrowheads="1"/>
          </p:cNvSpPr>
          <p:nvPr userDrawn="1"/>
        </p:nvSpPr>
        <p:spPr bwMode="auto">
          <a:xfrm>
            <a:off x="-10583" y="6779344"/>
            <a:ext cx="10057936" cy="110793"/>
          </a:xfrm>
          <a:prstGeom prst="rect">
            <a:avLst/>
          </a:prstGeom>
          <a:solidFill>
            <a:srgbClr val="49504F"/>
          </a:solidFill>
          <a:ln w="9525" cap="flat" cmpd="sng" algn="ctr">
            <a:solidFill>
              <a:schemeClr val="bg1"/>
            </a:solid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dirty="0">
              <a:latin typeface="Segoe UI" panose="020B0502040204020203" pitchFamily="34" charset="0"/>
              <a:ea typeface="微软雅黑" panose="020B0503020204020204" pitchFamily="34" charset="-122"/>
            </a:endParaRPr>
          </a:p>
        </p:txBody>
      </p:sp>
      <p:sp>
        <p:nvSpPr>
          <p:cNvPr id="24" name="矩形 14"/>
          <p:cNvSpPr/>
          <p:nvPr userDrawn="1"/>
        </p:nvSpPr>
        <p:spPr bwMode="auto">
          <a:xfrm>
            <a:off x="9813037" y="6582369"/>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B60004"/>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5" name="矩形 24"/>
          <p:cNvSpPr/>
          <p:nvPr userDrawn="1"/>
        </p:nvSpPr>
        <p:spPr>
          <a:xfrm>
            <a:off x="9950236" y="6535935"/>
            <a:ext cx="2241763" cy="338554"/>
          </a:xfrm>
          <a:prstGeom prst="rect">
            <a:avLst/>
          </a:prstGeom>
        </p:spPr>
        <p:txBody>
          <a:bodyPr wrap="square">
            <a:spAutoFit/>
          </a:bodyPr>
          <a:lstStyle/>
          <a:p>
            <a:r>
              <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rPr>
              <a:t>高级软件人才培训专家</a:t>
            </a:r>
            <a:endParaRPr lang="zh-CN" altLang="en-US" sz="1600" dirty="0">
              <a:solidFill>
                <a:schemeClr val="bg1"/>
              </a:solidFill>
              <a:latin typeface="华文楷体" panose="02010600040101010101" pitchFamily="2" charset="-122"/>
              <a:ea typeface="华文楷体" panose="02010600040101010101" pitchFamily="2" charset="-122"/>
              <a:cs typeface="阿里巴巴普惠体" panose="00020600040101010101" charset="-122"/>
            </a:endParaRPr>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indent="-457200" algn="l" rtl="0" eaLnBrk="0" fontAlgn="base" hangingPunct="0">
        <a:spcBef>
          <a:spcPct val="20000"/>
        </a:spcBef>
        <a:spcAft>
          <a:spcPct val="0"/>
        </a:spcAft>
        <a:buFont typeface="Arial" panose="020B0604020202020204" pitchFamily="34" charset="0"/>
        <a:buChar char="•"/>
        <a:defRPr sz="4265" kern="1200">
          <a:solidFill>
            <a:schemeClr val="tx1"/>
          </a:solidFill>
          <a:latin typeface="+mn-lt"/>
          <a:ea typeface="+mn-ea"/>
          <a:cs typeface="+mn-cs"/>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椭圆 3"/>
          <p:cNvSpPr/>
          <p:nvPr userDrawn="1"/>
        </p:nvSpPr>
        <p:spPr>
          <a:xfrm>
            <a:off x="1285029" y="2458684"/>
            <a:ext cx="474473" cy="474473"/>
          </a:xfrm>
          <a:prstGeom prst="ellipse">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kumimoji="1" lang="zh-CN" altLang="en-US"/>
          </a:p>
        </p:txBody>
      </p:sp>
      <p:sp>
        <p:nvSpPr>
          <p:cNvPr id="11" name="矩形 10"/>
          <p:cNvSpPr/>
          <p:nvPr userDrawn="1"/>
        </p:nvSpPr>
        <p:spPr bwMode="auto">
          <a:xfrm>
            <a:off x="10890251" y="6786000"/>
            <a:ext cx="1301749" cy="72000"/>
          </a:xfrm>
          <a:prstGeom prst="rect">
            <a:avLst/>
          </a:prstGeom>
          <a:solidFill>
            <a:srgbClr val="49504F"/>
          </a:solidFill>
          <a:ln w="9525" cap="flat" cmpd="sng" algn="ctr">
            <a:noFill/>
            <a:prstDash val="solid"/>
            <a:round/>
            <a:headEnd type="none" w="med" len="med"/>
            <a:tailEnd type="none" w="med" len="med"/>
          </a:ln>
          <a:effectLst/>
        </p:spPr>
        <p:txBody>
          <a:body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22" name="矩形 22"/>
          <p:cNvSpPr>
            <a:spLocks noChangeArrowheads="1"/>
          </p:cNvSpPr>
          <p:nvPr userDrawn="1"/>
        </p:nvSpPr>
        <p:spPr bwMode="auto">
          <a:xfrm>
            <a:off x="1" y="6786000"/>
            <a:ext cx="10818284" cy="72000"/>
          </a:xfrm>
          <a:prstGeom prst="rect">
            <a:avLst/>
          </a:prstGeom>
          <a:solidFill>
            <a:srgbClr val="AD2B26"/>
          </a:solidFill>
          <a:ln>
            <a:noFill/>
          </a:ln>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defRPr/>
            </a:pPr>
            <a:endParaRPr lang="zh-CN" altLang="en-US" sz="2400" dirty="0">
              <a:latin typeface="Segoe UI" panose="020B0502040204020203" pitchFamily="34" charset="0"/>
              <a:ea typeface="微软雅黑" panose="020B0503020204020204" pitchFamily="34" charset="-122"/>
            </a:endParaRPr>
          </a:p>
        </p:txBody>
      </p:sp>
      <p:sp>
        <p:nvSpPr>
          <p:cNvPr id="20" name="文本框 19"/>
          <p:cNvSpPr txBox="1"/>
          <p:nvPr/>
        </p:nvSpPr>
        <p:spPr>
          <a:xfrm>
            <a:off x="1732839" y="2333175"/>
            <a:ext cx="2307042" cy="738664"/>
          </a:xfrm>
          <a:prstGeom prst="rect">
            <a:avLst/>
          </a:prstGeom>
          <a:noFill/>
          <a:ln>
            <a:noFill/>
          </a:ln>
        </p:spPr>
        <p:txBody>
          <a:bodyPr wrap="none" rtlCol="0">
            <a:spAutoFit/>
          </a:bodyPr>
          <a:lstStyle/>
          <a:p>
            <a:pPr algn="ctr"/>
            <a:r>
              <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rPr>
              <a:t>学习目标</a:t>
            </a:r>
            <a:endParaRPr lang="zh-CN" altLang="en-US" sz="4200" b="1" i="0" dirty="0">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21" name="文本框 20"/>
          <p:cNvSpPr txBox="1"/>
          <p:nvPr/>
        </p:nvSpPr>
        <p:spPr>
          <a:xfrm>
            <a:off x="702992" y="2983479"/>
            <a:ext cx="3873724" cy="415498"/>
          </a:xfrm>
          <a:prstGeom prst="rect">
            <a:avLst/>
          </a:prstGeom>
          <a:noFill/>
          <a:ln>
            <a:noFill/>
          </a:ln>
        </p:spPr>
        <p:txBody>
          <a:bodyPr wrap="square" rtlCol="0">
            <a:spAutoFit/>
          </a:bodyPr>
          <a:lstStyle/>
          <a:p>
            <a:pPr algn="ct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Learning</a:t>
            </a:r>
            <a:r>
              <a:rPr lang="zh-CN" altLang="en-US"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 </a:t>
            </a:r>
            <a:r>
              <a:rPr lang="en-US" altLang="zh-CN" sz="2100" dirty="0">
                <a:solidFill>
                  <a:schemeClr val="bg1">
                    <a:lumMod val="85000"/>
                  </a:schemeClr>
                </a:solidFill>
                <a:latin typeface="Verdana" panose="020B0604030504040204" pitchFamily="34" charset="0"/>
                <a:ea typeface="Verdana" panose="020B0604030504040204" pitchFamily="34" charset="0"/>
                <a:cs typeface="阿里巴巴普惠体" panose="00020600040101010101" charset="-122"/>
              </a:rPr>
              <a:t>Objectives</a:t>
            </a:r>
            <a:endParaRPr lang="zh-CN" altLang="en-US" sz="2100" dirty="0">
              <a:solidFill>
                <a:schemeClr val="bg1">
                  <a:lumMod val="85000"/>
                </a:schemeClr>
              </a:solidFill>
              <a:latin typeface="Verdana" panose="020B0604030504040204" pitchFamily="34" charset="0"/>
              <a:ea typeface="阿里巴巴普惠体" panose="00020600040101010101" charset="-122"/>
              <a:cs typeface="阿里巴巴普惠体" panose="00020600040101010101" charset="-122"/>
            </a:endParaRPr>
          </a:p>
        </p:txBody>
      </p:sp>
      <p:cxnSp>
        <p:nvCxnSpPr>
          <p:cNvPr id="23" name="直接连接符 2"/>
          <p:cNvCxnSpPr/>
          <p:nvPr/>
        </p:nvCxnSpPr>
        <p:spPr>
          <a:xfrm>
            <a:off x="4417699" y="2336716"/>
            <a:ext cx="0" cy="1062261"/>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图形 2"/>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319070" y="2491361"/>
            <a:ext cx="406390" cy="406390"/>
          </a:xfrm>
          <a:prstGeom prst="rect">
            <a:avLst/>
          </a:prstGeom>
        </p:spPr>
      </p:pic>
    </p:spTree>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Lst>
  <p:txStyles>
    <p:titleStyle>
      <a:lvl1pPr algn="l" rtl="0" eaLnBrk="0" fontAlgn="base" hangingPunct="0">
        <a:spcBef>
          <a:spcPct val="0"/>
        </a:spcBef>
        <a:spcAft>
          <a:spcPct val="0"/>
        </a:spcAft>
        <a:defRPr sz="3200" b="1" kern="12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1"/>
          </a:solidFill>
          <a:latin typeface="黑体" panose="02010609060101010101" pitchFamily="49" charset="-122"/>
          <a:ea typeface="黑体" panose="02010609060101010101" pitchFamily="49" charset="-122"/>
        </a:defRPr>
      </a:lvl5pPr>
      <a:lvl6pPr marL="6096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6pPr>
      <a:lvl7pPr marL="12192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7pPr>
      <a:lvl8pPr marL="18288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8pPr>
      <a:lvl9pPr marL="2438400" algn="l" rtl="0" fontAlgn="base">
        <a:spcBef>
          <a:spcPct val="0"/>
        </a:spcBef>
        <a:spcAft>
          <a:spcPct val="0"/>
        </a:spcAft>
        <a:defRPr sz="3200" b="1">
          <a:solidFill>
            <a:schemeClr val="tx1"/>
          </a:solidFill>
          <a:latin typeface="黑体" panose="02010609060101010101" pitchFamily="49" charset="-122"/>
          <a:ea typeface="黑体" panose="02010609060101010101" pitchFamily="49" charset="-122"/>
        </a:defRPr>
      </a:lvl9pPr>
    </p:titleStyle>
    <p:bodyStyle>
      <a:lvl1pPr marL="457200" marR="0" indent="-457200" algn="l" defTabSz="914400" rtl="0" eaLnBrk="0" fontAlgn="base" latinLnBrk="0" hangingPunct="0">
        <a:lnSpc>
          <a:spcPct val="150000"/>
        </a:lnSpc>
        <a:spcBef>
          <a:spcPct val="20000"/>
        </a:spcBef>
        <a:spcAft>
          <a:spcPct val="0"/>
        </a:spcAft>
        <a:buClrTx/>
        <a:buSzTx/>
        <a:buFont typeface="Arial" panose="020B0604020202020204" pitchFamily="34" charset="0"/>
        <a:buChar char="•"/>
        <a:defRPr sz="2400" b="0" i="0" kern="1200">
          <a:solidFill>
            <a:schemeClr val="tx1">
              <a:lumMod val="75000"/>
              <a:lumOff val="25000"/>
            </a:schemeClr>
          </a:solidFill>
          <a:latin typeface="阿里巴巴普惠体 R" panose="00020600040101010101" pitchFamily="18" charset="-122"/>
          <a:ea typeface="阿里巴巴普惠体 R" panose="00020600040101010101" pitchFamily="18" charset="-122"/>
          <a:cs typeface="阿里巴巴普惠体 R" panose="00020600040101010101" pitchFamily="18" charset="-122"/>
        </a:defRPr>
      </a:lvl1pPr>
      <a:lvl2pPr marL="609600" indent="0" algn="l" rtl="0" eaLnBrk="0" fontAlgn="base" hangingPunct="0">
        <a:spcBef>
          <a:spcPct val="20000"/>
        </a:spcBef>
        <a:spcAft>
          <a:spcPct val="0"/>
        </a:spcAft>
        <a:buFont typeface="Arial" panose="020B0604020202020204" pitchFamily="34" charset="0"/>
        <a:buNone/>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15.png"/><Relationship Id="rId1" Type="http://schemas.openxmlformats.org/officeDocument/2006/relationships/hyperlink" Target="https://playground.tensorflow.org/#activation=sigmoid&amp;batchSize=10&amp;dataset=circle&amp;regDataset=reg-plane&amp;learningRate=0.03&amp;regularizationRate=0&amp;noise=0&amp;networkShape=4,2&amp;seed=0.75397&amp;showTestData=false&amp;discretize=false&amp;percTrainData=50&amp;x=true&amp;y=true&amp;xTimesY=false&amp;xSquared=false&amp;ySquared=false&amp;cosX=false&amp;sinX=false&amp;cosY=false&amp;sinY=false&amp;collectStats=false&amp;problem=regression&amp;initZero=false&amp;hideText=false" TargetMode="Externa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1.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2.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33.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38.png"/><Relationship Id="rId1" Type="http://schemas.openxmlformats.org/officeDocument/2006/relationships/image" Target="../media/image3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0.png"/><Relationship Id="rId1" Type="http://schemas.openxmlformats.org/officeDocument/2006/relationships/image" Target="../media/image3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2.png"/><Relationship Id="rId1"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4.png"/><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2.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46.png"/><Relationship Id="rId1" Type="http://schemas.openxmlformats.org/officeDocument/2006/relationships/image" Target="../media/image4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8.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49.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0.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1.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2.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5.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58.png"/><Relationship Id="rId1" Type="http://schemas.openxmlformats.org/officeDocument/2006/relationships/image" Target="../media/image5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59.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61.png"/><Relationship Id="rId1" Type="http://schemas.openxmlformats.org/officeDocument/2006/relationships/image" Target="../media/image60.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image" Target="../media/image62.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65.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6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1.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3.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2.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3.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image" Target="../media/image75.png"/><Relationship Id="rId1" Type="http://schemas.openxmlformats.org/officeDocument/2006/relationships/image" Target="../media/image7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09.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10.svg"/><Relationship Id="rId1" Type="http://schemas.openxmlformats.org/officeDocument/2006/relationships/image" Target="../media/image3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6.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7.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7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825500" y="2158365"/>
            <a:ext cx="10541000" cy="1158875"/>
          </a:xfrm>
        </p:spPr>
        <p:txBody>
          <a:bodyPr/>
          <a:lstStyle/>
          <a:p>
            <a:r>
              <a:rPr lang="zh-CN" altLang="en-US" sz="6600" dirty="0">
                <a:solidFill>
                  <a:schemeClr val="tx1"/>
                </a:solidFill>
                <a:latin typeface="阿里巴巴普惠体" panose="00020600040101010101" charset="-122"/>
                <a:ea typeface="阿里巴巴普惠体" panose="00020600040101010101" charset="-122"/>
              </a:rPr>
              <a:t>神经网络基础</a:t>
            </a:r>
            <a:endParaRPr lang="zh-CN" altLang="en-US" sz="6600" dirty="0">
              <a:solidFill>
                <a:schemeClr val="tx1"/>
              </a:solidFill>
              <a:latin typeface="阿里巴巴普惠体" panose="00020600040101010101" charset="-122"/>
              <a:ea typeface="阿里巴巴普惠体" panose="00020600040101010101" charset="-122"/>
            </a:endParaRPr>
          </a:p>
        </p:txBody>
      </p:sp>
      <p:pic>
        <p:nvPicPr>
          <p:cNvPr id="6" name="图片 5" descr="01 (140)"/>
          <p:cNvPicPr>
            <a:picLocks noChangeAspect="1"/>
          </p:cNvPicPr>
          <p:nvPr/>
        </p:nvPicPr>
        <p:blipFill>
          <a:blip r:embed="rId1"/>
          <a:stretch>
            <a:fillRect/>
          </a:stretch>
        </p:blipFill>
        <p:spPr>
          <a:xfrm>
            <a:off x="5506720" y="4218305"/>
            <a:ext cx="1179195" cy="1179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rgbClr val="C00000"/>
                </a:solidFill>
                <a:sym typeface="+mn-ea"/>
              </a:rPr>
              <a:t>神经网络</a:t>
            </a:r>
            <a:endParaRPr kumimoji="1" lang="en-US" altLang="zh-CN" sz="1600" dirty="0">
              <a:solidFill>
                <a:srgbClr val="C00000"/>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71609" y="2190115"/>
            <a:ext cx="410210" cy="41021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3866774"/>
          </a:xfrm>
        </p:spPr>
        <p:txBody>
          <a:bodyPr/>
          <a:lstStyle/>
          <a:p>
            <a:r>
              <a:rPr lang="zh-CN" altLang="en-US" dirty="0">
                <a:solidFill>
                  <a:schemeClr val="tx1"/>
                </a:solidFill>
              </a:rPr>
              <a:t>知道什么是人工神经网络</a:t>
            </a:r>
            <a:endParaRPr lang="en-US" altLang="zh-CN" dirty="0">
              <a:solidFill>
                <a:schemeClr val="tx1"/>
              </a:solidFill>
            </a:endParaRPr>
          </a:p>
          <a:p>
            <a:r>
              <a:rPr lang="zh-CN" altLang="en-US" dirty="0">
                <a:solidFill>
                  <a:schemeClr val="tx1"/>
                </a:solidFill>
              </a:rPr>
              <a:t>知道常见的激活函数</a:t>
            </a:r>
            <a:endParaRPr lang="en-US" altLang="zh-CN" dirty="0">
              <a:solidFill>
                <a:schemeClr val="tx1"/>
              </a:solidFill>
            </a:endParaRPr>
          </a:p>
          <a:p>
            <a:r>
              <a:rPr lang="zh-CN" altLang="en-US" dirty="0">
                <a:solidFill>
                  <a:schemeClr val="tx1"/>
                </a:solidFill>
              </a:rPr>
              <a:t>了解常见的参数初始化方法</a:t>
            </a:r>
            <a:endParaRPr lang="en-US" altLang="zh-CN" dirty="0">
              <a:solidFill>
                <a:schemeClr val="tx1"/>
              </a:solidFill>
            </a:endParaRPr>
          </a:p>
          <a:p>
            <a:r>
              <a:rPr lang="zh-CN" altLang="en-US" dirty="0">
                <a:solidFill>
                  <a:schemeClr val="tx1"/>
                </a:solidFill>
              </a:rPr>
              <a:t>能够完成神经网络模型的搭建</a:t>
            </a:r>
            <a:endParaRPr lang="en-US" altLang="zh-CN" dirty="0">
              <a:solidFill>
                <a:schemeClr val="tx1"/>
              </a:solidFill>
            </a:endParaRPr>
          </a:p>
          <a:p>
            <a:r>
              <a:rPr lang="zh-CN" altLang="en-US" dirty="0">
                <a:solidFill>
                  <a:schemeClr val="tx1"/>
                </a:solidFill>
              </a:rPr>
              <a:t>知道神经网络模型参数的计算方法</a:t>
            </a:r>
            <a:endParaRPr lang="zh-CN" altLang="en-US"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什么是神经网络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r>
              <a:rPr lang="zh-CN" altLang="en-US" b="0" i="0" dirty="0">
                <a:solidFill>
                  <a:srgbClr val="333333"/>
                </a:solidFill>
                <a:effectLst/>
                <a:latin typeface="Helvetica Neue"/>
              </a:rPr>
              <a:t>人工神经网络（ </a:t>
            </a:r>
            <a:r>
              <a:rPr lang="en-US" altLang="zh-CN" b="0" i="0" dirty="0">
                <a:solidFill>
                  <a:srgbClr val="333333"/>
                </a:solidFill>
                <a:effectLst/>
                <a:latin typeface="Helvetica Neue"/>
              </a:rPr>
              <a:t>Artificial Neural Network</a:t>
            </a:r>
            <a:r>
              <a:rPr lang="zh-CN" altLang="en-US" b="0" i="0" dirty="0">
                <a:solidFill>
                  <a:srgbClr val="333333"/>
                </a:solidFill>
                <a:effectLst/>
                <a:latin typeface="Helvetica Neue"/>
              </a:rPr>
              <a:t>， 简写为</a:t>
            </a:r>
            <a:r>
              <a:rPr lang="en-US" altLang="zh-CN" b="1" i="0" dirty="0">
                <a:solidFill>
                  <a:srgbClr val="333333"/>
                </a:solidFill>
                <a:effectLst/>
                <a:latin typeface="Helvetica Neue"/>
              </a:rPr>
              <a:t>ANN</a:t>
            </a:r>
            <a:r>
              <a:rPr lang="zh-CN" altLang="en-US" b="0" i="0" dirty="0">
                <a:solidFill>
                  <a:srgbClr val="333333"/>
                </a:solidFill>
                <a:effectLst/>
                <a:latin typeface="Helvetica Neue"/>
              </a:rPr>
              <a:t>）也简称为神经网络（</a:t>
            </a:r>
            <a:r>
              <a:rPr lang="en-US" altLang="zh-CN" b="0" i="0" dirty="0">
                <a:solidFill>
                  <a:srgbClr val="333333"/>
                </a:solidFill>
                <a:effectLst/>
                <a:latin typeface="Helvetica Neue"/>
              </a:rPr>
              <a:t>NN</a:t>
            </a:r>
            <a:r>
              <a:rPr lang="zh-CN" altLang="en-US" b="0" i="0" dirty="0">
                <a:solidFill>
                  <a:srgbClr val="333333"/>
                </a:solidFill>
                <a:effectLst/>
                <a:latin typeface="Helvetica Neue"/>
              </a:rPr>
              <a:t>），是一种模仿生物神经网络结构和功能的</a:t>
            </a:r>
            <a:r>
              <a:rPr lang="zh-CN" altLang="en-US" b="1" i="0" dirty="0">
                <a:solidFill>
                  <a:srgbClr val="333333"/>
                </a:solidFill>
                <a:effectLst/>
                <a:latin typeface="Helvetica Neue"/>
              </a:rPr>
              <a:t>计算模型</a:t>
            </a:r>
            <a:r>
              <a:rPr lang="zh-CN" altLang="en-US" b="0" i="0" dirty="0">
                <a:solidFill>
                  <a:srgbClr val="333333"/>
                </a:solidFill>
                <a:effectLst/>
                <a:latin typeface="Helvetica Neue"/>
              </a:rPr>
              <a:t>。人脑可以看做是一个生物神经网络，由众多的</a:t>
            </a:r>
            <a:r>
              <a:rPr lang="zh-CN" altLang="en-US" b="1" i="0" dirty="0">
                <a:solidFill>
                  <a:srgbClr val="333333"/>
                </a:solidFill>
                <a:effectLst/>
                <a:latin typeface="Helvetica Neue"/>
              </a:rPr>
              <a:t>神经元</a:t>
            </a:r>
            <a:r>
              <a:rPr lang="zh-CN" altLang="en-US" b="0" i="0" dirty="0">
                <a:solidFill>
                  <a:srgbClr val="333333"/>
                </a:solidFill>
                <a:effectLst/>
                <a:latin typeface="Helvetica Neue"/>
              </a:rPr>
              <a:t>连接而成。各个神经元传递复杂的电信号，树突接收到</a:t>
            </a:r>
            <a:r>
              <a:rPr lang="zh-CN" altLang="en-US" b="1" i="0" dirty="0">
                <a:solidFill>
                  <a:srgbClr val="333333"/>
                </a:solidFill>
                <a:effectLst/>
                <a:latin typeface="Helvetica Neue"/>
              </a:rPr>
              <a:t>输入信号</a:t>
            </a:r>
            <a:r>
              <a:rPr lang="zh-CN" altLang="en-US" b="0" i="0" dirty="0">
                <a:solidFill>
                  <a:srgbClr val="333333"/>
                </a:solidFill>
                <a:effectLst/>
                <a:latin typeface="Helvetica Neue"/>
              </a:rPr>
              <a:t>，然后对信号进行处理，通过轴突</a:t>
            </a:r>
            <a:r>
              <a:rPr lang="zh-CN" altLang="en-US" b="1" i="0" dirty="0">
                <a:solidFill>
                  <a:srgbClr val="333333"/>
                </a:solidFill>
                <a:effectLst/>
                <a:latin typeface="Helvetica Neue"/>
              </a:rPr>
              <a:t>输出信号</a:t>
            </a:r>
            <a:r>
              <a:rPr lang="zh-CN" altLang="en-US" b="0" i="0" dirty="0">
                <a:solidFill>
                  <a:srgbClr val="333333"/>
                </a:solidFill>
                <a:effectLst/>
                <a:latin typeface="Helvetica Neue"/>
              </a:rPr>
              <a:t>。下图是生物神经元示意图：</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当电信号通过树突进入到细胞核时，会逐渐聚集电荷。达到一定的电位后，细胞就会被激活，通过轴突发出电信号。</a:t>
            </a:r>
            <a:endParaRPr lang="zh-CN" altLang="en-US" dirty="0"/>
          </a:p>
        </p:txBody>
      </p:sp>
      <p:pic>
        <p:nvPicPr>
          <p:cNvPr id="5" name="图片 4"/>
          <p:cNvPicPr>
            <a:picLocks noChangeAspect="1"/>
          </p:cNvPicPr>
          <p:nvPr/>
        </p:nvPicPr>
        <p:blipFill>
          <a:blip r:embed="rId1"/>
          <a:stretch>
            <a:fillRect/>
          </a:stretch>
        </p:blipFill>
        <p:spPr>
          <a:xfrm>
            <a:off x="3104789" y="2779034"/>
            <a:ext cx="5006774" cy="28501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r>
              <a:rPr lang="zh-CN" altLang="en-US" dirty="0">
                <a:solidFill>
                  <a:srgbClr val="333333"/>
                </a:solidFill>
                <a:latin typeface="Helvetica Neue"/>
              </a:rPr>
              <a:t>神经网络是由多个神经元组成，构建神经网络就是在构建神经元。以下是神经网络中神经元的构建说明：</a:t>
            </a:r>
            <a:endParaRPr lang="zh-CN" altLang="en-US"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这个过程就像，来源不同树突</a:t>
            </a:r>
            <a:r>
              <a:rPr lang="en-US" altLang="zh-CN" b="0" i="0" dirty="0">
                <a:solidFill>
                  <a:srgbClr val="333333"/>
                </a:solidFill>
                <a:effectLst/>
                <a:latin typeface="Helvetica Neue"/>
              </a:rPr>
              <a:t>(</a:t>
            </a:r>
            <a:r>
              <a:rPr lang="zh-CN" altLang="en-US" b="0" i="0" dirty="0">
                <a:solidFill>
                  <a:srgbClr val="333333"/>
                </a:solidFill>
                <a:effectLst/>
                <a:latin typeface="Helvetica Neue"/>
              </a:rPr>
              <a:t>树突都会有不同的权重</a:t>
            </a:r>
            <a:r>
              <a:rPr lang="en-US" altLang="zh-CN" b="0" i="0" dirty="0">
                <a:solidFill>
                  <a:srgbClr val="333333"/>
                </a:solidFill>
                <a:effectLst/>
                <a:latin typeface="Helvetica Neue"/>
              </a:rPr>
              <a:t>)</a:t>
            </a:r>
            <a:r>
              <a:rPr lang="zh-CN" altLang="en-US" b="0" i="0" dirty="0">
                <a:solidFill>
                  <a:srgbClr val="333333"/>
                </a:solidFill>
                <a:effectLst/>
                <a:latin typeface="Helvetica Neue"/>
              </a:rPr>
              <a:t>的信息</a:t>
            </a:r>
            <a:r>
              <a:rPr lang="en-US" altLang="zh-CN" b="0" i="0" dirty="0">
                <a:solidFill>
                  <a:srgbClr val="333333"/>
                </a:solidFill>
                <a:effectLst/>
                <a:latin typeface="Helvetica Neue"/>
              </a:rPr>
              <a:t>, </a:t>
            </a:r>
            <a:r>
              <a:rPr lang="zh-CN" altLang="en-US" b="0" i="0" dirty="0">
                <a:solidFill>
                  <a:srgbClr val="333333"/>
                </a:solidFill>
                <a:effectLst/>
                <a:latin typeface="Helvetica Neue"/>
              </a:rPr>
              <a:t>进行的加权计算</a:t>
            </a:r>
            <a:r>
              <a:rPr lang="en-US" altLang="zh-CN" b="0" i="0" dirty="0">
                <a:solidFill>
                  <a:srgbClr val="333333"/>
                </a:solidFill>
                <a:effectLst/>
                <a:latin typeface="Helvetica Neue"/>
              </a:rPr>
              <a:t>, </a:t>
            </a:r>
            <a:r>
              <a:rPr lang="zh-CN" altLang="en-US" b="0" i="0" dirty="0">
                <a:solidFill>
                  <a:srgbClr val="333333"/>
                </a:solidFill>
                <a:effectLst/>
                <a:latin typeface="Helvetica Neue"/>
              </a:rPr>
              <a:t>输入到细胞中做加和，再通过激活函数输出细胞值。</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6" name="图片 5"/>
          <p:cNvPicPr>
            <a:picLocks noChangeAspect="1"/>
          </p:cNvPicPr>
          <p:nvPr/>
        </p:nvPicPr>
        <p:blipFill>
          <a:blip r:embed="rId1"/>
          <a:stretch>
            <a:fillRect/>
          </a:stretch>
        </p:blipFill>
        <p:spPr>
          <a:xfrm>
            <a:off x="3649768" y="1934268"/>
            <a:ext cx="4315137" cy="376974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pPr algn="l"/>
            <a:r>
              <a:rPr lang="zh-CN" altLang="en-US" b="0" i="0" dirty="0">
                <a:solidFill>
                  <a:srgbClr val="333333"/>
                </a:solidFill>
                <a:effectLst/>
                <a:latin typeface="Helvetica Neue"/>
              </a:rPr>
              <a:t>接下来，我们使用多个神经元来构建神经网络，相邻层之间的神经元相互连接，并给每一个连接分配一个强度，如下图所示：</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310704" y="2550935"/>
            <a:ext cx="7063163" cy="348891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如何构建神经网络</a:t>
            </a:r>
            <a:endParaRPr lang="zh-CN" altLang="en-US" dirty="0"/>
          </a:p>
        </p:txBody>
      </p:sp>
      <p:sp>
        <p:nvSpPr>
          <p:cNvPr id="3" name="文本占位符 2"/>
          <p:cNvSpPr>
            <a:spLocks noGrp="1"/>
          </p:cNvSpPr>
          <p:nvPr>
            <p:ph type="body" sz="quarter" idx="11"/>
          </p:nvPr>
        </p:nvSpPr>
        <p:spPr>
          <a:xfrm>
            <a:off x="746760" y="1457325"/>
            <a:ext cx="10699115" cy="5287010"/>
          </a:xfrm>
        </p:spPr>
        <p:txBody>
          <a:bodyPr/>
          <a:lstStyle/>
          <a:p>
            <a:pPr algn="l"/>
            <a:r>
              <a:rPr lang="zh-CN" altLang="en-US" b="0" i="0" dirty="0">
                <a:solidFill>
                  <a:srgbClr val="333333"/>
                </a:solidFill>
                <a:effectLst/>
                <a:latin typeface="Helvetica Neue"/>
              </a:rPr>
              <a:t>神经网络中信息只向一个方向移动，即从输入节点向前移动，通过隐藏节点，再向输出节点移动。其中的基本部分是</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1. </a:t>
            </a:r>
            <a:r>
              <a:rPr lang="zh-CN" altLang="en-US" b="1" i="0" dirty="0">
                <a:solidFill>
                  <a:srgbClr val="333333"/>
                </a:solidFill>
                <a:effectLst/>
                <a:latin typeface="Helvetica Neue"/>
              </a:rPr>
              <a:t>输入层（</a:t>
            </a:r>
            <a:r>
              <a:rPr lang="en-US" altLang="zh-CN" b="1" i="0" dirty="0">
                <a:solidFill>
                  <a:srgbClr val="333333"/>
                </a:solidFill>
                <a:effectLst/>
                <a:latin typeface="Helvetica Neue"/>
              </a:rPr>
              <a:t>Input Layer</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即输入</a:t>
            </a:r>
            <a:r>
              <a:rPr lang="en-US" altLang="zh-CN" b="0" i="0" dirty="0">
                <a:solidFill>
                  <a:srgbClr val="333333"/>
                </a:solidFill>
                <a:effectLst/>
                <a:latin typeface="Helvetica Neue"/>
              </a:rPr>
              <a:t>x</a:t>
            </a:r>
            <a:r>
              <a:rPr lang="zh-CN" altLang="en-US" b="0" i="0" dirty="0">
                <a:solidFill>
                  <a:srgbClr val="333333"/>
                </a:solidFill>
                <a:effectLst/>
                <a:latin typeface="Helvetica Neue"/>
              </a:rPr>
              <a:t>的那一层（如图像、文本、声音等）。每个输入特征对应一个神经元。输入层将数据传递给下一层的神经元。</a:t>
            </a:r>
            <a:endParaRPr lang="zh-CN" altLang="en-US"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2. </a:t>
            </a:r>
            <a:r>
              <a:rPr lang="zh-CN" altLang="en-US" b="1" i="0" dirty="0">
                <a:solidFill>
                  <a:srgbClr val="333333"/>
                </a:solidFill>
                <a:effectLst/>
                <a:latin typeface="Helvetica Neue"/>
              </a:rPr>
              <a:t>输出层（</a:t>
            </a:r>
            <a:r>
              <a:rPr lang="en-US" altLang="zh-CN" b="1" i="0" dirty="0">
                <a:solidFill>
                  <a:srgbClr val="333333"/>
                </a:solidFill>
                <a:effectLst/>
                <a:latin typeface="Helvetica Neue"/>
              </a:rPr>
              <a:t>Output Layer</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即输出</a:t>
            </a:r>
            <a:r>
              <a:rPr lang="en-US" altLang="zh-CN" b="0" i="0" dirty="0">
                <a:solidFill>
                  <a:srgbClr val="333333"/>
                </a:solidFill>
                <a:effectLst/>
                <a:latin typeface="Helvetica Neue"/>
              </a:rPr>
              <a:t>y</a:t>
            </a:r>
            <a:r>
              <a:rPr lang="zh-CN" altLang="en-US" b="0" i="0" dirty="0">
                <a:solidFill>
                  <a:srgbClr val="333333"/>
                </a:solidFill>
                <a:effectLst/>
                <a:latin typeface="Helvetica Neue"/>
              </a:rPr>
              <a:t>的那一层。输出层的神经元根据网络的任务（回归、分类等）生成最终的预测结果。</a:t>
            </a:r>
            <a:endParaRPr lang="zh-CN" altLang="en-US" b="0" i="0" dirty="0">
              <a:solidFill>
                <a:srgbClr val="333333"/>
              </a:solidFill>
              <a:effectLst/>
              <a:latin typeface="Helvetica Neue"/>
            </a:endParaRPr>
          </a:p>
          <a:p>
            <a:pPr algn="l">
              <a:buFont typeface="+mj-lt"/>
            </a:pPr>
            <a:r>
              <a:rPr lang="en-US" altLang="zh-CN" b="0" i="0" dirty="0">
                <a:solidFill>
                  <a:srgbClr val="333333"/>
                </a:solidFill>
                <a:effectLst/>
                <a:latin typeface="Helvetica Neue"/>
              </a:rPr>
              <a:t>3. </a:t>
            </a:r>
            <a:r>
              <a:rPr lang="zh-CN" altLang="en-US" b="1" i="0" dirty="0">
                <a:solidFill>
                  <a:srgbClr val="333333"/>
                </a:solidFill>
                <a:effectLst/>
                <a:latin typeface="Helvetica Neue"/>
              </a:rPr>
              <a:t>隐藏层（</a:t>
            </a:r>
            <a:r>
              <a:rPr lang="en-US" altLang="zh-CN" b="1" i="0" dirty="0">
                <a:solidFill>
                  <a:srgbClr val="333333"/>
                </a:solidFill>
                <a:effectLst/>
                <a:latin typeface="Helvetica Neue"/>
              </a:rPr>
              <a:t>Hidden Layers</a:t>
            </a:r>
            <a:r>
              <a:rPr lang="zh-CN" altLang="en-US" b="1" i="0" dirty="0">
                <a:solidFill>
                  <a:srgbClr val="333333"/>
                </a:solidFill>
                <a:effectLst/>
                <a:latin typeface="Helvetica Neue"/>
              </a:rPr>
              <a:t>）</a:t>
            </a:r>
            <a:r>
              <a:rPr lang="en-US" altLang="zh-CN" b="0" i="0" dirty="0">
                <a:solidFill>
                  <a:srgbClr val="333333"/>
                </a:solidFill>
                <a:effectLst/>
                <a:latin typeface="Helvetica Neue"/>
              </a:rPr>
              <a:t>: </a:t>
            </a:r>
            <a:r>
              <a:rPr lang="zh-CN" altLang="en-US" b="0" i="0" dirty="0">
                <a:solidFill>
                  <a:srgbClr val="333333"/>
                </a:solidFill>
                <a:effectLst/>
                <a:latin typeface="Helvetica Neue"/>
              </a:rPr>
              <a:t>输入层和输出层之间都是隐藏层，神经网络的</a:t>
            </a:r>
            <a:r>
              <a:rPr lang="en-US" altLang="zh-CN" b="0" i="0" dirty="0">
                <a:solidFill>
                  <a:srgbClr val="333333"/>
                </a:solidFill>
                <a:effectLst/>
                <a:latin typeface="Helvetica Neue"/>
              </a:rPr>
              <a:t>“</a:t>
            </a:r>
            <a:r>
              <a:rPr lang="zh-CN" altLang="en-US" b="0" i="0" dirty="0">
                <a:solidFill>
                  <a:srgbClr val="333333"/>
                </a:solidFill>
                <a:effectLst/>
                <a:latin typeface="Helvetica Neue"/>
              </a:rPr>
              <a:t>深度</a:t>
            </a:r>
            <a:r>
              <a:rPr lang="en-US" altLang="zh-CN" b="0" i="0" dirty="0">
                <a:solidFill>
                  <a:srgbClr val="333333"/>
                </a:solidFill>
                <a:effectLst/>
                <a:latin typeface="Helvetica Neue"/>
              </a:rPr>
              <a:t>”</a:t>
            </a:r>
            <a:r>
              <a:rPr lang="zh-CN" altLang="en-US" b="0" i="0" dirty="0">
                <a:solidFill>
                  <a:srgbClr val="333333"/>
                </a:solidFill>
                <a:effectLst/>
                <a:latin typeface="Helvetica Neue"/>
              </a:rPr>
              <a:t>通常由隐藏层的数量决定。隐藏层的神经元通过加权和激活函数处理输入，并将结果传递到下一层。</a:t>
            </a:r>
            <a:endParaRPr lang="zh-CN" altLang="en-US" b="0" i="0" dirty="0">
              <a:solidFill>
                <a:srgbClr val="333333"/>
              </a:solidFill>
              <a:effectLst/>
              <a:latin typeface="Helvetica Neue"/>
            </a:endParaRPr>
          </a:p>
          <a:p>
            <a:pPr algn="l">
              <a:buFont typeface="+mj-lt"/>
            </a:pPr>
            <a:r>
              <a:rPr lang="zh-CN" altLang="en-US" b="0" i="0" dirty="0">
                <a:solidFill>
                  <a:srgbClr val="333333"/>
                </a:solidFill>
                <a:effectLst/>
                <a:latin typeface="Helvetica Neue"/>
              </a:rPr>
              <a:t>特点是：</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同一层的神经元之间没有连接</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第 </a:t>
            </a:r>
            <a:r>
              <a:rPr lang="en-US" altLang="zh-CN" b="0" i="0" dirty="0">
                <a:solidFill>
                  <a:srgbClr val="333333"/>
                </a:solidFill>
                <a:effectLst/>
                <a:latin typeface="Helvetica Neue"/>
              </a:rPr>
              <a:t>N </a:t>
            </a:r>
            <a:r>
              <a:rPr lang="zh-CN" altLang="en-US" b="0" i="0" dirty="0">
                <a:solidFill>
                  <a:srgbClr val="333333"/>
                </a:solidFill>
                <a:effectLst/>
                <a:latin typeface="Helvetica Neue"/>
              </a:rPr>
              <a:t>层的每个神经元和第 </a:t>
            </a:r>
            <a:r>
              <a:rPr lang="en-US" altLang="zh-CN" b="0" i="0" dirty="0">
                <a:solidFill>
                  <a:srgbClr val="333333"/>
                </a:solidFill>
                <a:effectLst/>
                <a:latin typeface="Helvetica Neue"/>
              </a:rPr>
              <a:t>N-1</a:t>
            </a:r>
            <a:r>
              <a:rPr lang="zh-CN" altLang="en-US" b="0" i="0" dirty="0">
                <a:solidFill>
                  <a:srgbClr val="333333"/>
                </a:solidFill>
                <a:effectLst/>
                <a:latin typeface="Helvetica Neue"/>
              </a:rPr>
              <a:t>层 的所有神经元相连（这就是</a:t>
            </a:r>
            <a:r>
              <a:rPr lang="en-US" altLang="zh-CN" b="0" i="0" dirty="0">
                <a:solidFill>
                  <a:srgbClr val="333333"/>
                </a:solidFill>
                <a:effectLst/>
                <a:latin typeface="Helvetica Neue"/>
              </a:rPr>
              <a:t>full connected</a:t>
            </a:r>
            <a:r>
              <a:rPr lang="zh-CN" altLang="en-US" b="0" i="0" dirty="0">
                <a:solidFill>
                  <a:srgbClr val="333333"/>
                </a:solidFill>
                <a:effectLst/>
                <a:latin typeface="Helvetica Neue"/>
              </a:rPr>
              <a:t>的含义</a:t>
            </a:r>
            <a:r>
              <a:rPr lang="en-US" altLang="zh-CN" b="0" i="0" dirty="0">
                <a:solidFill>
                  <a:srgbClr val="333333"/>
                </a:solidFill>
                <a:effectLst/>
                <a:latin typeface="Helvetica Neue"/>
              </a:rPr>
              <a:t>)</a:t>
            </a:r>
            <a:r>
              <a:rPr lang="zh-CN" altLang="en-US" b="0" i="0" dirty="0">
                <a:solidFill>
                  <a:srgbClr val="333333"/>
                </a:solidFill>
                <a:effectLst/>
                <a:latin typeface="Helvetica Neue"/>
              </a:rPr>
              <a:t>，这就是全连接神经网络</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全连接神经网络接收的样本数据是二维的，数据在每一层之间需要以二维的形式传递</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第</a:t>
            </a:r>
            <a:r>
              <a:rPr lang="en-US" altLang="zh-CN" b="0" i="0" dirty="0">
                <a:solidFill>
                  <a:srgbClr val="333333"/>
                </a:solidFill>
                <a:effectLst/>
                <a:latin typeface="Helvetica Neue"/>
              </a:rPr>
              <a:t>N-1</a:t>
            </a:r>
            <a:r>
              <a:rPr lang="zh-CN" altLang="en-US" b="0" i="0" dirty="0">
                <a:solidFill>
                  <a:srgbClr val="333333"/>
                </a:solidFill>
                <a:effectLst/>
                <a:latin typeface="Helvetica Neue"/>
              </a:rPr>
              <a:t>层神经元的输出就是第</a:t>
            </a:r>
            <a:r>
              <a:rPr lang="en-US" altLang="zh-CN" b="0" i="0" dirty="0">
                <a:solidFill>
                  <a:srgbClr val="333333"/>
                </a:solidFill>
                <a:effectLst/>
                <a:latin typeface="Helvetica Neue"/>
              </a:rPr>
              <a:t>N</a:t>
            </a:r>
            <a:r>
              <a:rPr lang="zh-CN" altLang="en-US" b="0" i="0" dirty="0">
                <a:solidFill>
                  <a:srgbClr val="333333"/>
                </a:solidFill>
                <a:effectLst/>
                <a:latin typeface="Helvetica Neue"/>
              </a:rPr>
              <a:t>层神经元的输入</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每个连接都有一个权重值（</a:t>
            </a:r>
            <a:r>
              <a:rPr lang="en-US" altLang="zh-CN" b="0" i="0" dirty="0">
                <a:solidFill>
                  <a:srgbClr val="333333"/>
                </a:solidFill>
                <a:effectLst/>
                <a:latin typeface="Helvetica Neue"/>
              </a:rPr>
              <a:t>w</a:t>
            </a:r>
            <a:r>
              <a:rPr lang="zh-CN" altLang="en-US" b="0" i="0" dirty="0">
                <a:solidFill>
                  <a:srgbClr val="333333"/>
                </a:solidFill>
                <a:effectLst/>
                <a:latin typeface="Helvetica Neue"/>
              </a:rPr>
              <a:t>系数和</a:t>
            </a:r>
            <a:r>
              <a:rPr lang="en-US" altLang="zh-CN" b="0" i="0" dirty="0">
                <a:solidFill>
                  <a:srgbClr val="333333"/>
                </a:solidFill>
                <a:effectLst/>
                <a:latin typeface="Helvetica Neue"/>
              </a:rPr>
              <a:t>b</a:t>
            </a:r>
            <a:r>
              <a:rPr lang="zh-CN" altLang="en-US" b="0" i="0" dirty="0">
                <a:solidFill>
                  <a:srgbClr val="333333"/>
                </a:solidFill>
                <a:effectLst/>
                <a:latin typeface="Helvetica Neue"/>
              </a:rPr>
              <a:t>系数）</a:t>
            </a:r>
            <a:endParaRPr lang="zh-CN" altLang="en-US"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神经网络内部状态值和激活值</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4" name="图片 3"/>
          <p:cNvPicPr>
            <a:picLocks noChangeAspect="1"/>
          </p:cNvPicPr>
          <p:nvPr/>
        </p:nvPicPr>
        <p:blipFill>
          <a:blip r:embed="rId1"/>
          <a:stretch>
            <a:fillRect/>
          </a:stretch>
        </p:blipFill>
        <p:spPr>
          <a:xfrm>
            <a:off x="1095375" y="1457325"/>
            <a:ext cx="7216775" cy="46285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神经网络内部状态值和激活值</a:t>
            </a:r>
            <a:endParaRPr lang="zh-CN" altLang="en-US" dirty="0"/>
          </a:p>
        </p:txBody>
      </p:sp>
      <p:sp>
        <p:nvSpPr>
          <p:cNvPr id="3" name="文本占位符 2"/>
          <p:cNvSpPr>
            <a:spLocks noGrp="1"/>
          </p:cNvSpPr>
          <p:nvPr>
            <p:ph type="body" sz="quarter" idx="11"/>
          </p:nvPr>
        </p:nvSpPr>
        <p:spPr>
          <a:xfrm>
            <a:off x="746600" y="1457271"/>
            <a:ext cx="10698800" cy="4956845"/>
          </a:xfrm>
        </p:spPr>
        <p:txBody>
          <a:bodyPr/>
          <a:lstStyle/>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
        <p:nvSpPr>
          <p:cNvPr id="5" name="文本占位符 2"/>
          <p:cNvSpPr>
            <a:spLocks noGrp="1"/>
          </p:cNvSpPr>
          <p:nvPr/>
        </p:nvSpPr>
        <p:spPr>
          <a:xfrm>
            <a:off x="873760" y="1477645"/>
            <a:ext cx="11170920" cy="538035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r>
              <a:rPr lang="zh-CN" altLang="en-US" dirty="0">
                <a:solidFill>
                  <a:srgbClr val="333333"/>
                </a:solidFill>
                <a:latin typeface="Helvetica Neue"/>
              </a:rPr>
              <a:t>每一个神经元工作时，前向传播会产生两个值，</a:t>
            </a:r>
            <a:r>
              <a:rPr lang="zh-CN" altLang="en-US" b="1" dirty="0">
                <a:solidFill>
                  <a:srgbClr val="333333"/>
                </a:solidFill>
                <a:latin typeface="Helvetica Neue"/>
              </a:rPr>
              <a:t>内部状态值（加权求和值）</a:t>
            </a:r>
            <a:r>
              <a:rPr lang="zh-CN" altLang="en-US" dirty="0">
                <a:solidFill>
                  <a:srgbClr val="333333"/>
                </a:solidFill>
                <a:latin typeface="Helvetica Neue"/>
              </a:rPr>
              <a:t>和</a:t>
            </a:r>
            <a:r>
              <a:rPr lang="zh-CN" altLang="en-US" b="1" dirty="0">
                <a:solidFill>
                  <a:srgbClr val="333333"/>
                </a:solidFill>
                <a:latin typeface="Helvetica Neue"/>
              </a:rPr>
              <a:t>激活值</a:t>
            </a:r>
            <a:r>
              <a:rPr lang="zh-CN" altLang="en-US" dirty="0">
                <a:solidFill>
                  <a:srgbClr val="333333"/>
                </a:solidFill>
                <a:latin typeface="Helvetica Neue"/>
              </a:rPr>
              <a:t>；反向传播时会产生激活值梯度和内部状态值梯度。</a:t>
            </a:r>
            <a:endParaRPr lang="en-US" altLang="zh-CN" dirty="0">
              <a:solidFill>
                <a:srgbClr val="333333"/>
              </a:solidFill>
              <a:latin typeface="Helvetica Neue"/>
            </a:endParaRPr>
          </a:p>
          <a:p>
            <a:r>
              <a:rPr lang="zh-CN" altLang="en-US" b="1" dirty="0">
                <a:solidFill>
                  <a:srgbClr val="333333"/>
                </a:solidFill>
                <a:latin typeface="Helvetica Neue"/>
              </a:rPr>
              <a:t>内部状态值</a:t>
            </a:r>
            <a:endParaRPr lang="en-US" altLang="zh-CN" b="1" dirty="0">
              <a:solidFill>
                <a:srgbClr val="333333"/>
              </a:solidFill>
              <a:latin typeface="Helvetica Neue"/>
            </a:endParaRPr>
          </a:p>
          <a:p>
            <a:r>
              <a:rPr lang="zh-CN" altLang="en-US" dirty="0">
                <a:solidFill>
                  <a:srgbClr val="333333"/>
                </a:solidFill>
                <a:latin typeface="Helvetica Neue"/>
              </a:rPr>
              <a:t>神经元或隐藏单元的内部存储值，它反映了当前神经元接收到的输入、历史信息以及网络内部的权重计算结果。</a:t>
            </a:r>
            <a:endParaRPr lang="en-US" altLang="zh-CN" dirty="0">
              <a:solidFill>
                <a:srgbClr val="333333"/>
              </a:solidFill>
              <a:latin typeface="Helvetica Neue"/>
            </a:endParaRPr>
          </a:p>
          <a:p>
            <a:r>
              <a:rPr lang="en-US" altLang="zh-CN" b="1" dirty="0">
                <a:solidFill>
                  <a:srgbClr val="333333"/>
                </a:solidFill>
                <a:latin typeface="Helvetica Neue"/>
              </a:rPr>
              <a:t>z=W⋅x+b</a:t>
            </a:r>
            <a:endParaRPr lang="en-US" altLang="zh-CN" b="1" dirty="0">
              <a:solidFill>
                <a:srgbClr val="333333"/>
              </a:solidFill>
              <a:latin typeface="Helvetica Neue"/>
            </a:endParaRPr>
          </a:p>
          <a:p>
            <a:r>
              <a:rPr lang="en-US" altLang="zh-CN" dirty="0">
                <a:solidFill>
                  <a:srgbClr val="333333"/>
                </a:solidFill>
                <a:latin typeface="Helvetica Neue"/>
              </a:rPr>
              <a:t>W</a:t>
            </a:r>
            <a:r>
              <a:rPr lang="zh-CN" altLang="en-US" dirty="0">
                <a:solidFill>
                  <a:srgbClr val="333333"/>
                </a:solidFill>
                <a:latin typeface="Helvetica Neue"/>
              </a:rPr>
              <a:t>：权重矩阵</a:t>
            </a:r>
            <a:endParaRPr lang="en-US" altLang="zh-CN" dirty="0">
              <a:solidFill>
                <a:srgbClr val="333333"/>
              </a:solidFill>
              <a:latin typeface="Helvetica Neue"/>
            </a:endParaRPr>
          </a:p>
          <a:p>
            <a:r>
              <a:rPr lang="en-US" altLang="zh-CN" dirty="0">
                <a:solidFill>
                  <a:srgbClr val="333333"/>
                </a:solidFill>
                <a:latin typeface="Helvetica Neue"/>
              </a:rPr>
              <a:t>x</a:t>
            </a:r>
            <a:r>
              <a:rPr lang="zh-CN" altLang="en-US" dirty="0">
                <a:solidFill>
                  <a:srgbClr val="333333"/>
                </a:solidFill>
                <a:latin typeface="Helvetica Neue"/>
              </a:rPr>
              <a:t>：输入值</a:t>
            </a:r>
            <a:endParaRPr lang="zh-CN" altLang="en-US" dirty="0">
              <a:solidFill>
                <a:srgbClr val="333333"/>
              </a:solidFill>
              <a:latin typeface="Helvetica Neue"/>
            </a:endParaRPr>
          </a:p>
          <a:p>
            <a:r>
              <a:rPr lang="en-US" altLang="zh-CN" dirty="0">
                <a:solidFill>
                  <a:srgbClr val="333333"/>
                </a:solidFill>
                <a:latin typeface="Helvetica Neue"/>
              </a:rPr>
              <a:t>b</a:t>
            </a:r>
            <a:r>
              <a:rPr lang="zh-CN" altLang="en-US" dirty="0">
                <a:solidFill>
                  <a:srgbClr val="333333"/>
                </a:solidFill>
                <a:latin typeface="Helvetica Neue"/>
              </a:rPr>
              <a:t>：偏置</a:t>
            </a:r>
            <a:endParaRPr lang="en-US" altLang="zh-CN" dirty="0">
              <a:solidFill>
                <a:srgbClr val="333333"/>
              </a:solidFill>
              <a:latin typeface="Helvetica Neue"/>
            </a:endParaRPr>
          </a:p>
          <a:p>
            <a:r>
              <a:rPr lang="zh-CN" altLang="en-US" b="1" dirty="0">
                <a:solidFill>
                  <a:srgbClr val="333333"/>
                </a:solidFill>
                <a:latin typeface="Helvetica Neue"/>
              </a:rPr>
              <a:t>激活值</a:t>
            </a:r>
            <a:endParaRPr lang="zh-CN" altLang="en-US" b="1" dirty="0">
              <a:solidFill>
                <a:srgbClr val="333333"/>
              </a:solidFill>
              <a:latin typeface="Helvetica Neue"/>
            </a:endParaRPr>
          </a:p>
          <a:p>
            <a:r>
              <a:rPr lang="zh-CN" altLang="en-US" dirty="0">
                <a:solidFill>
                  <a:srgbClr val="333333"/>
                </a:solidFill>
                <a:latin typeface="Helvetica Neue"/>
              </a:rPr>
              <a:t>通过激活函数（如</a:t>
            </a:r>
            <a:r>
              <a:rPr lang="en-US" altLang="zh-CN" dirty="0">
                <a:solidFill>
                  <a:srgbClr val="333333"/>
                </a:solidFill>
                <a:latin typeface="Helvetica Neue"/>
              </a:rPr>
              <a:t> ReLU</a:t>
            </a:r>
            <a:r>
              <a:rPr lang="zh-CN" altLang="en-US" dirty="0">
                <a:solidFill>
                  <a:srgbClr val="333333"/>
                </a:solidFill>
                <a:latin typeface="Helvetica Neue"/>
              </a:rPr>
              <a:t>、</a:t>
            </a:r>
            <a:r>
              <a:rPr lang="en-US" altLang="zh-CN" dirty="0">
                <a:solidFill>
                  <a:srgbClr val="333333"/>
                </a:solidFill>
                <a:latin typeface="Helvetica Neue"/>
              </a:rPr>
              <a:t>Sigmoid</a:t>
            </a:r>
            <a:r>
              <a:rPr lang="zh-CN" altLang="en-US" dirty="0">
                <a:solidFill>
                  <a:srgbClr val="333333"/>
                </a:solidFill>
                <a:latin typeface="Helvetica Neue"/>
              </a:rPr>
              <a:t>、</a:t>
            </a:r>
            <a:r>
              <a:rPr lang="en-US" altLang="zh-CN" dirty="0">
                <a:solidFill>
                  <a:srgbClr val="333333"/>
                </a:solidFill>
                <a:latin typeface="Helvetica Neue"/>
              </a:rPr>
              <a:t>Tanh</a:t>
            </a:r>
            <a:r>
              <a:rPr lang="zh-CN" altLang="en-US" dirty="0">
                <a:solidFill>
                  <a:srgbClr val="333333"/>
                </a:solidFill>
                <a:latin typeface="Helvetica Neue"/>
              </a:rPr>
              <a:t>）对内部状态值进行非线性变换后得到的结果。激活值决定了当前神经元的输出。</a:t>
            </a:r>
            <a:endParaRPr lang="zh-CN" altLang="en-US" dirty="0">
              <a:solidFill>
                <a:srgbClr val="333333"/>
              </a:solidFill>
              <a:latin typeface="Helvetica Neue"/>
            </a:endParaRPr>
          </a:p>
          <a:p>
            <a:r>
              <a:rPr lang="en-US" altLang="zh-CN" b="1" dirty="0">
                <a:solidFill>
                  <a:srgbClr val="333333"/>
                </a:solidFill>
                <a:latin typeface="Helvetica Neue"/>
              </a:rPr>
              <a:t>a=f(z)</a:t>
            </a:r>
            <a:endParaRPr lang="en-US" altLang="zh-CN" b="1" dirty="0">
              <a:solidFill>
                <a:srgbClr val="333333"/>
              </a:solidFill>
              <a:latin typeface="Helvetica Neue"/>
            </a:endParaRPr>
          </a:p>
          <a:p>
            <a:r>
              <a:rPr lang="en-US" altLang="zh-CN" dirty="0">
                <a:solidFill>
                  <a:srgbClr val="333333"/>
                </a:solidFill>
                <a:latin typeface="Helvetica Neue"/>
              </a:rPr>
              <a:t>f</a:t>
            </a:r>
            <a:r>
              <a:rPr lang="zh-CN" altLang="en-US" dirty="0">
                <a:solidFill>
                  <a:srgbClr val="333333"/>
                </a:solidFill>
                <a:latin typeface="Helvetica Neue"/>
              </a:rPr>
              <a:t>：激活函数</a:t>
            </a:r>
            <a:endParaRPr lang="zh-CN" altLang="en-US" dirty="0">
              <a:solidFill>
                <a:srgbClr val="333333"/>
              </a:solidFill>
              <a:latin typeface="Helvetica Neue"/>
            </a:endParaRPr>
          </a:p>
          <a:p>
            <a:r>
              <a:rPr lang="en-US" altLang="zh-CN" dirty="0">
                <a:solidFill>
                  <a:srgbClr val="333333"/>
                </a:solidFill>
                <a:latin typeface="Helvetica Neue"/>
              </a:rPr>
              <a:t>z</a:t>
            </a:r>
            <a:r>
              <a:rPr lang="zh-CN" altLang="en-US" dirty="0">
                <a:solidFill>
                  <a:srgbClr val="333333"/>
                </a:solidFill>
                <a:latin typeface="Helvetica Neue"/>
              </a:rPr>
              <a:t>：内部状态值</a:t>
            </a:r>
            <a:endParaRPr lang="zh-CN" altLang="en-US"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a:xfrm>
            <a:off x="4834255" y="831215"/>
            <a:ext cx="6459220" cy="5195570"/>
          </a:xfrm>
        </p:spPr>
        <p:txBody>
          <a:bodyPr/>
          <a:lstStyle/>
          <a:p>
            <a:pPr marL="0" indent="0">
              <a:buNone/>
            </a:pPr>
            <a:r>
              <a:rPr lang="en-US" altLang="zh-CN" dirty="0"/>
              <a:t>1.</a:t>
            </a:r>
            <a:r>
              <a:rPr lang="zh-CN" altLang="en-US" dirty="0"/>
              <a:t>知道神经⽹络是什么</a:t>
            </a:r>
            <a:endParaRPr lang="en-US" altLang="zh-CN" dirty="0"/>
          </a:p>
          <a:p>
            <a:pPr marL="0" indent="0">
              <a:buNone/>
            </a:pPr>
            <a:r>
              <a:rPr lang="zh-CN" altLang="en-US" dirty="0"/>
              <a:t>⼀种模仿⽣物神经⽹络结构和功能的计算模型，由神经元构成（加权和</a:t>
            </a:r>
            <a:r>
              <a:rPr lang="en-US" altLang="zh-CN" dirty="0"/>
              <a:t>+</a:t>
            </a:r>
            <a:r>
              <a:rPr lang="zh-CN" altLang="en-US" dirty="0"/>
              <a:t>激活函数）</a:t>
            </a:r>
            <a:endParaRPr lang="en-US" altLang="zh-CN" dirty="0"/>
          </a:p>
          <a:p>
            <a:pPr marL="0" indent="0">
              <a:buNone/>
            </a:pPr>
            <a:r>
              <a:rPr lang="en-US" altLang="zh-CN" dirty="0"/>
              <a:t>2.</a:t>
            </a:r>
            <a:r>
              <a:rPr lang="zh-CN" altLang="en-US" dirty="0"/>
              <a:t>神经网络的构成</a:t>
            </a:r>
            <a:endParaRPr lang="en-US" altLang="zh-CN" dirty="0"/>
          </a:p>
          <a:p>
            <a:pPr marL="0" indent="0">
              <a:buNone/>
            </a:pPr>
            <a:r>
              <a:rPr lang="zh-CN" altLang="en-US" dirty="0"/>
              <a:t>输入层，隐藏层和输出层</a:t>
            </a:r>
            <a:endParaRPr lang="zh-CN" altLang="en-US" dirty="0"/>
          </a:p>
          <a:p>
            <a:pPr marL="0" indent="0">
              <a:buNone/>
            </a:pPr>
            <a:r>
              <a:rPr lang="en-US" altLang="zh-CN" dirty="0"/>
              <a:t>3.</a:t>
            </a:r>
            <a:r>
              <a:rPr lang="zh-CN" altLang="en-US" dirty="0"/>
              <a:t>知道什么是内部状态和激活值</a:t>
            </a:r>
            <a:endParaRPr lang="zh-CN" altLang="en-US" dirty="0"/>
          </a:p>
          <a:p>
            <a:pPr marL="0" indent="0">
              <a:buNone/>
            </a:pPr>
            <a:r>
              <a:rPr lang="zh-CN" altLang="en-US" dirty="0"/>
              <a:t>内部状态值</a:t>
            </a:r>
            <a:r>
              <a:rPr lang="en-US" altLang="zh-CN" dirty="0"/>
              <a:t>:</a:t>
            </a:r>
            <a:r>
              <a:rPr lang="zh-CN" altLang="en-US"/>
              <a:t>神经元接收到的输入、历史信息以及网络内部的权重计算结果</a:t>
            </a:r>
            <a:endParaRPr lang="zh-CN" altLang="en-US"/>
          </a:p>
          <a:p>
            <a:pPr marL="0" indent="0">
              <a:buNone/>
            </a:pPr>
            <a:r>
              <a:rPr lang="zh-CN" altLang="en-US" dirty="0"/>
              <a:t>激活值</a:t>
            </a:r>
            <a:r>
              <a:rPr lang="en-US" altLang="zh-CN" dirty="0"/>
              <a:t>:</a:t>
            </a:r>
            <a:r>
              <a:rPr lang="zh-CN" altLang="en-US"/>
              <a:t>激活函数对内部状态值进行非线性变换后得到的结果</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zh-CN" altLang="en-US" sz="1800" b="1" i="0" dirty="0">
                <a:solidFill>
                  <a:srgbClr val="333333"/>
                </a:solidFill>
                <a:effectLst/>
                <a:latin typeface="Alibaba PuHuiTi" pitchFamily="18" charset="-122"/>
                <a:ea typeface="Alibaba PuHuiTi" pitchFamily="18" charset="-122"/>
                <a:cs typeface="Alibaba PuHuiTi" pitchFamily="18" charset="-122"/>
              </a:rPr>
              <a:t>激活函数</a:t>
            </a:r>
            <a:r>
              <a:rPr lang="zh-CN" altLang="en-US" sz="1800" b="0" i="0" dirty="0">
                <a:solidFill>
                  <a:srgbClr val="333333"/>
                </a:solidFill>
                <a:effectLst/>
                <a:latin typeface="Alibaba PuHuiTi" pitchFamily="18" charset="-122"/>
                <a:ea typeface="Alibaba PuHuiTi" pitchFamily="18" charset="-122"/>
                <a:cs typeface="Alibaba PuHuiTi" pitchFamily="18" charset="-122"/>
              </a:rPr>
              <a:t>用于对每层的</a:t>
            </a:r>
            <a:r>
              <a:rPr lang="zh-CN" altLang="en-US" sz="1800" b="1" i="0" dirty="0">
                <a:solidFill>
                  <a:srgbClr val="333333"/>
                </a:solidFill>
                <a:effectLst/>
                <a:latin typeface="Alibaba PuHuiTi" pitchFamily="18" charset="-122"/>
                <a:ea typeface="Alibaba PuHuiTi" pitchFamily="18" charset="-122"/>
                <a:cs typeface="Alibaba PuHuiTi" pitchFamily="18" charset="-122"/>
              </a:rPr>
              <a:t>输出数据进行变换</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进而为整个网络注入了</a:t>
            </a:r>
            <a:r>
              <a:rPr lang="zh-CN" altLang="en-US" sz="1800" b="1" i="0" dirty="0">
                <a:solidFill>
                  <a:srgbClr val="333333"/>
                </a:solidFill>
                <a:effectLst/>
                <a:latin typeface="Alibaba PuHuiTi" pitchFamily="18" charset="-122"/>
                <a:ea typeface="Alibaba PuHuiTi" pitchFamily="18" charset="-122"/>
                <a:cs typeface="Alibaba PuHuiTi" pitchFamily="18" charset="-122"/>
              </a:rPr>
              <a:t>非线性因素</a:t>
            </a:r>
            <a:r>
              <a:rPr lang="zh-CN" altLang="en-US" sz="1800" b="0" i="0" dirty="0">
                <a:solidFill>
                  <a:srgbClr val="333333"/>
                </a:solidFill>
                <a:effectLst/>
                <a:latin typeface="Alibaba PuHuiTi" pitchFamily="18" charset="-122"/>
                <a:ea typeface="Alibaba PuHuiTi" pitchFamily="18" charset="-122"/>
                <a:cs typeface="Alibaba PuHuiTi" pitchFamily="18" charset="-122"/>
              </a:rPr>
              <a:t>。此时</a:t>
            </a:r>
            <a:r>
              <a:rPr lang="en-US" altLang="zh-CN" sz="1800" b="0" i="0" dirty="0">
                <a:solidFill>
                  <a:srgbClr val="333333"/>
                </a:solidFill>
                <a:effectLst/>
                <a:latin typeface="Alibaba PuHuiTi" pitchFamily="18" charset="-122"/>
                <a:ea typeface="Alibaba PuHuiTi" pitchFamily="18" charset="-122"/>
                <a:cs typeface="Alibaba PuHuiTi" pitchFamily="18" charset="-122"/>
              </a:rPr>
              <a:t>, </a:t>
            </a:r>
            <a:r>
              <a:rPr lang="zh-CN" altLang="en-US" sz="1800" b="0" i="0" dirty="0">
                <a:solidFill>
                  <a:srgbClr val="333333"/>
                </a:solidFill>
                <a:effectLst/>
                <a:latin typeface="Alibaba PuHuiTi" pitchFamily="18" charset="-122"/>
                <a:ea typeface="Alibaba PuHuiTi" pitchFamily="18" charset="-122"/>
                <a:cs typeface="Alibaba PuHuiTi" pitchFamily="18" charset="-122"/>
              </a:rPr>
              <a:t>神经网络就可以拟合各种曲线。</a:t>
            </a:r>
            <a:endParaRPr lang="en-US" altLang="zh-CN" sz="18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sz="1800" dirty="0">
              <a:solidFill>
                <a:srgbClr val="333333"/>
              </a:solidFill>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chemeClr val="tx1"/>
                </a:solidFill>
                <a:effectLst/>
                <a:latin typeface="Alibaba PuHuiTi" pitchFamily="18" charset="-122"/>
                <a:ea typeface="Alibaba PuHuiTi" pitchFamily="18" charset="-122"/>
                <a:cs typeface="Alibaba PuHuiTi" pitchFamily="18" charset="-122"/>
              </a:rPr>
              <a:t>没有引入非线性因素的网络等价于使用一个线性模型来拟合</a:t>
            </a:r>
            <a:endParaRPr lang="en-US" altLang="zh-CN" sz="1800" b="0" i="0" dirty="0">
              <a:solidFill>
                <a:schemeClr val="tx1"/>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sz="1800" b="0" i="0" dirty="0">
                <a:solidFill>
                  <a:schemeClr val="tx1"/>
                </a:solidFill>
                <a:effectLst/>
                <a:latin typeface="Alibaba PuHuiTi" pitchFamily="18" charset="-122"/>
                <a:ea typeface="Alibaba PuHuiTi" pitchFamily="18" charset="-122"/>
                <a:cs typeface="Alibaba PuHuiTi" pitchFamily="18" charset="-122"/>
              </a:rPr>
              <a:t>通过给网络输出增加激活函数</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实现引入非线性因素</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使得网络模型可以逼近任意函数</a:t>
            </a:r>
            <a:r>
              <a:rPr lang="en-US" altLang="zh-CN" sz="1800" b="0" i="0" dirty="0">
                <a:solidFill>
                  <a:schemeClr val="tx1"/>
                </a:solidFill>
                <a:effectLst/>
                <a:latin typeface="Alibaba PuHuiTi" pitchFamily="18" charset="-122"/>
                <a:ea typeface="Alibaba PuHuiTi" pitchFamily="18" charset="-122"/>
                <a:cs typeface="Alibaba PuHuiTi" pitchFamily="18" charset="-122"/>
              </a:rPr>
              <a:t>, </a:t>
            </a:r>
            <a:r>
              <a:rPr lang="zh-CN" altLang="en-US" sz="1800" b="0" i="0" dirty="0">
                <a:solidFill>
                  <a:schemeClr val="tx1"/>
                </a:solidFill>
                <a:effectLst/>
                <a:latin typeface="Alibaba PuHuiTi" pitchFamily="18" charset="-122"/>
                <a:ea typeface="Alibaba PuHuiTi" pitchFamily="18" charset="-122"/>
                <a:cs typeface="Alibaba PuHuiTi" pitchFamily="18" charset="-122"/>
              </a:rPr>
              <a:t>提升网络对复杂问题的拟合能力</a:t>
            </a:r>
            <a:r>
              <a:rPr lang="en-US" altLang="zh-CN" sz="1800" b="0" i="0" dirty="0">
                <a:solidFill>
                  <a:schemeClr val="tx1"/>
                </a:solidFill>
                <a:effectLst/>
                <a:latin typeface="Alibaba PuHuiTi" pitchFamily="18" charset="-122"/>
                <a:ea typeface="Alibaba PuHuiTi" pitchFamily="18" charset="-122"/>
                <a:cs typeface="Alibaba PuHuiTi" pitchFamily="18" charset="-122"/>
              </a:rPr>
              <a:t>.</a:t>
            </a:r>
            <a:endParaRPr lang="en-US" altLang="zh-CN" sz="1800" b="0" i="0" dirty="0">
              <a:solidFill>
                <a:schemeClr val="tx1"/>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3412903"/>
          </a:xfrm>
        </p:spPr>
        <p:txBody>
          <a:bodyPr/>
          <a:lstStyle/>
          <a:p>
            <a:r>
              <a:rPr lang="zh-CN" altLang="en-US" b="0" i="0" dirty="0">
                <a:solidFill>
                  <a:srgbClr val="333333"/>
                </a:solidFill>
                <a:effectLst/>
                <a:latin typeface="Helvetica Neue"/>
              </a:rPr>
              <a:t>如果不使用激活函数，整个网络虽然看起来复杂，其本质还相当于一种</a:t>
            </a:r>
            <a:r>
              <a:rPr lang="zh-CN" altLang="en-US" b="1" i="0" dirty="0">
                <a:solidFill>
                  <a:srgbClr val="333333"/>
                </a:solidFill>
                <a:effectLst/>
                <a:latin typeface="Helvetica Neue"/>
              </a:rPr>
              <a:t>线性模型</a:t>
            </a:r>
            <a:r>
              <a:rPr lang="zh-CN" altLang="en-US" b="0" i="0" dirty="0">
                <a:solidFill>
                  <a:srgbClr val="333333"/>
                </a:solidFill>
                <a:effectLst/>
                <a:latin typeface="Helvetica Neue"/>
              </a:rPr>
              <a:t>，如下公式所示</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endParaRPr lang="en-US" altLang="zh-CN" dirty="0">
              <a:solidFill>
                <a:srgbClr val="333333"/>
              </a:solidFill>
              <a:latin typeface="Alibaba PuHuiTi" pitchFamily="18" charset="-122"/>
              <a:ea typeface="Alibaba PuHuiTi" pitchFamily="18" charset="-122"/>
              <a:cs typeface="Alibaba PuHuiTi" pitchFamily="18" charset="-122"/>
              <a:hlinkClick r:id="rId1"/>
            </a:endParaRPr>
          </a:p>
          <a:p>
            <a:r>
              <a:rPr lang="zh-CN" altLang="en-US" dirty="0">
                <a:solidFill>
                  <a:srgbClr val="333333"/>
                </a:solidFill>
                <a:latin typeface="Alibaba PuHuiTi" pitchFamily="18" charset="-122"/>
                <a:ea typeface="Alibaba PuHuiTi" pitchFamily="18" charset="-122"/>
                <a:cs typeface="Alibaba PuHuiTi" pitchFamily="18" charset="-122"/>
                <a:hlinkClick r:id="rId1"/>
              </a:rPr>
              <a:t>神经网络演示</a:t>
            </a:r>
            <a:endParaRPr lang="en-US" altLang="zh-CN" dirty="0">
              <a:solidFill>
                <a:srgbClr val="333333"/>
              </a:solidFill>
              <a:latin typeface="Alibaba PuHuiTi" pitchFamily="18" charset="-122"/>
              <a:ea typeface="Alibaba PuHuiTi" pitchFamily="18" charset="-122"/>
              <a:cs typeface="Alibaba PuHuiTi" pitchFamily="18" charset="-122"/>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2"/>
          <a:stretch>
            <a:fillRect/>
          </a:stretch>
        </p:blipFill>
        <p:spPr>
          <a:xfrm>
            <a:off x="2068466" y="1878494"/>
            <a:ext cx="5956041" cy="405930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zh-CN" altLang="en-US" b="0" i="0" dirty="0">
                <a:solidFill>
                  <a:srgbClr val="333333"/>
                </a:solidFill>
                <a:effectLst/>
                <a:latin typeface="Helvetica Neue"/>
              </a:rPr>
              <a:t>激活函数公式：</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激活函数求导公式：</a:t>
            </a:r>
            <a:endParaRPr lang="en-US" altLang="zh-CN" dirty="0">
              <a:solidFill>
                <a:srgbClr val="333333"/>
              </a:solidFill>
              <a:latin typeface="Helvetica Neue"/>
            </a:endParaRPr>
          </a:p>
          <a:p>
            <a:endParaRPr lang="en-US" altLang="zh-CN" b="0" i="0" dirty="0">
              <a:solidFill>
                <a:srgbClr val="333333"/>
              </a:solidFill>
              <a:effectLst/>
              <a:latin typeface="Helvetica Neue"/>
            </a:endParaRPr>
          </a:p>
          <a:p>
            <a:r>
              <a:rPr lang="en-US" altLang="zh-CN" b="0" i="0" dirty="0">
                <a:solidFill>
                  <a:srgbClr val="333333"/>
                </a:solidFill>
                <a:effectLst/>
                <a:latin typeface="Helvetica Neue"/>
              </a:rPr>
              <a:t>sigmoid </a:t>
            </a:r>
            <a:r>
              <a:rPr lang="zh-CN" altLang="en-US" b="0" i="0" dirty="0">
                <a:solidFill>
                  <a:srgbClr val="333333"/>
                </a:solidFill>
                <a:effectLst/>
                <a:latin typeface="Helvetica Neue"/>
              </a:rPr>
              <a:t>激活函数的函数图像如下</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383520" y="1616509"/>
            <a:ext cx="1399556" cy="558408"/>
          </a:xfrm>
          <a:prstGeom prst="rect">
            <a:avLst/>
          </a:prstGeom>
        </p:spPr>
      </p:pic>
      <p:pic>
        <p:nvPicPr>
          <p:cNvPr id="8" name="图片 7"/>
          <p:cNvPicPr>
            <a:picLocks noChangeAspect="1"/>
          </p:cNvPicPr>
          <p:nvPr/>
        </p:nvPicPr>
        <p:blipFill>
          <a:blip r:embed="rId2"/>
          <a:stretch>
            <a:fillRect/>
          </a:stretch>
        </p:blipFill>
        <p:spPr>
          <a:xfrm>
            <a:off x="2668579" y="2598308"/>
            <a:ext cx="5577424" cy="486000"/>
          </a:xfrm>
          <a:prstGeom prst="rect">
            <a:avLst/>
          </a:prstGeom>
        </p:spPr>
      </p:pic>
      <p:pic>
        <p:nvPicPr>
          <p:cNvPr id="10" name="图片 9"/>
          <p:cNvPicPr>
            <a:picLocks noChangeAspect="1"/>
          </p:cNvPicPr>
          <p:nvPr/>
        </p:nvPicPr>
        <p:blipFill>
          <a:blip r:embed="rId3"/>
          <a:stretch>
            <a:fillRect/>
          </a:stretch>
        </p:blipFill>
        <p:spPr>
          <a:xfrm>
            <a:off x="3083298" y="3705525"/>
            <a:ext cx="5382603" cy="307193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pPr marL="285750" indent="-285750" algn="l">
              <a:buFont typeface="Wingdings" panose="05000000000000000000" pitchFamily="2" charset="2"/>
              <a:buChar char="l"/>
            </a:pPr>
            <a:r>
              <a:rPr lang="en-US" altLang="zh-CN" b="0" i="0" dirty="0">
                <a:solidFill>
                  <a:srgbClr val="333333"/>
                </a:solidFill>
                <a:effectLst/>
                <a:latin typeface="Helvetica Neue"/>
              </a:rPr>
              <a:t>sigmoid </a:t>
            </a:r>
            <a:r>
              <a:rPr lang="zh-CN" altLang="en-US" b="0" i="0" dirty="0">
                <a:solidFill>
                  <a:srgbClr val="333333"/>
                </a:solidFill>
                <a:effectLst/>
                <a:latin typeface="Helvetica Neue"/>
              </a:rPr>
              <a:t>函数可以将</a:t>
            </a:r>
            <a:r>
              <a:rPr lang="zh-CN" altLang="en-US" b="1" i="0" dirty="0">
                <a:solidFill>
                  <a:srgbClr val="333333"/>
                </a:solidFill>
                <a:effectLst/>
                <a:latin typeface="Helvetica Neue"/>
              </a:rPr>
              <a:t>任意的输入</a:t>
            </a:r>
            <a:r>
              <a:rPr lang="zh-CN" altLang="en-US" b="0" i="0" dirty="0">
                <a:solidFill>
                  <a:srgbClr val="333333"/>
                </a:solidFill>
                <a:effectLst/>
                <a:latin typeface="Helvetica Neue"/>
              </a:rPr>
              <a:t>映射到 </a:t>
            </a:r>
            <a:r>
              <a:rPr lang="en-US" altLang="zh-CN" b="1" i="0" dirty="0">
                <a:solidFill>
                  <a:srgbClr val="333333"/>
                </a:solidFill>
                <a:effectLst/>
                <a:latin typeface="Helvetica Neue"/>
              </a:rPr>
              <a:t>(0, 1)</a:t>
            </a:r>
            <a:r>
              <a:rPr lang="zh-CN" altLang="en-US" b="0" i="0" dirty="0">
                <a:solidFill>
                  <a:srgbClr val="333333"/>
                </a:solidFill>
                <a:effectLst/>
                <a:latin typeface="Helvetica Neue"/>
              </a:rPr>
              <a:t> 之间，当输入的值大致在 </a:t>
            </a:r>
            <a:r>
              <a:rPr lang="en-US" altLang="zh-CN" b="1" i="0" dirty="0">
                <a:solidFill>
                  <a:srgbClr val="333333"/>
                </a:solidFill>
                <a:effectLst/>
                <a:latin typeface="Helvetica Neue"/>
              </a:rPr>
              <a:t>&lt;-6 </a:t>
            </a:r>
            <a:r>
              <a:rPr lang="zh-CN" altLang="en-US" b="1" i="0" dirty="0">
                <a:solidFill>
                  <a:srgbClr val="333333"/>
                </a:solidFill>
                <a:effectLst/>
                <a:latin typeface="Helvetica Neue"/>
              </a:rPr>
              <a:t>或者 </a:t>
            </a:r>
            <a:r>
              <a:rPr lang="en-US" altLang="zh-CN" b="1" i="0" dirty="0">
                <a:solidFill>
                  <a:srgbClr val="333333"/>
                </a:solidFill>
                <a:effectLst/>
                <a:latin typeface="Helvetica Neue"/>
              </a:rPr>
              <a:t>&gt;6</a:t>
            </a:r>
            <a:r>
              <a:rPr lang="zh-CN" altLang="en-US" b="0" i="0" dirty="0">
                <a:solidFill>
                  <a:srgbClr val="333333"/>
                </a:solidFill>
                <a:effectLst/>
                <a:latin typeface="Helvetica Neue"/>
              </a:rPr>
              <a:t> 时，意味着输入任何值得到的激活值都是差不多的，这样会丢失部分的信息。比如：输入 </a:t>
            </a:r>
            <a:r>
              <a:rPr lang="en-US" altLang="zh-CN" b="0" i="0" dirty="0">
                <a:solidFill>
                  <a:srgbClr val="333333"/>
                </a:solidFill>
                <a:effectLst/>
                <a:latin typeface="Helvetica Neue"/>
              </a:rPr>
              <a:t>100 </a:t>
            </a:r>
            <a:r>
              <a:rPr lang="zh-CN" altLang="en-US" b="0" i="0" dirty="0">
                <a:solidFill>
                  <a:srgbClr val="333333"/>
                </a:solidFill>
                <a:effectLst/>
                <a:latin typeface="Helvetica Neue"/>
              </a:rPr>
              <a:t>和输出 </a:t>
            </a:r>
            <a:r>
              <a:rPr lang="en-US" altLang="zh-CN" b="0" i="0" dirty="0">
                <a:solidFill>
                  <a:srgbClr val="333333"/>
                </a:solidFill>
                <a:effectLst/>
                <a:latin typeface="Helvetica Neue"/>
              </a:rPr>
              <a:t>10000 </a:t>
            </a:r>
            <a:r>
              <a:rPr lang="zh-CN" altLang="en-US" b="0" i="0" dirty="0">
                <a:solidFill>
                  <a:srgbClr val="333333"/>
                </a:solidFill>
                <a:effectLst/>
                <a:latin typeface="Helvetica Neue"/>
              </a:rPr>
              <a:t>经过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的激活值几乎都是等于 </a:t>
            </a:r>
            <a:r>
              <a:rPr lang="en-US" altLang="zh-CN" b="0" i="0" dirty="0">
                <a:solidFill>
                  <a:srgbClr val="333333"/>
                </a:solidFill>
                <a:effectLst/>
                <a:latin typeface="Helvetica Neue"/>
              </a:rPr>
              <a:t>1 </a:t>
            </a:r>
            <a:r>
              <a:rPr lang="zh-CN" altLang="en-US" b="0" i="0" dirty="0">
                <a:solidFill>
                  <a:srgbClr val="333333"/>
                </a:solidFill>
                <a:effectLst/>
                <a:latin typeface="Helvetica Neue"/>
              </a:rPr>
              <a:t>的，但是输入的数据之间相差 </a:t>
            </a:r>
            <a:r>
              <a:rPr lang="en-US" altLang="zh-CN" b="0" i="0" dirty="0">
                <a:solidFill>
                  <a:srgbClr val="333333"/>
                </a:solidFill>
                <a:effectLst/>
                <a:latin typeface="Helvetica Neue"/>
              </a:rPr>
              <a:t>100 </a:t>
            </a:r>
            <a:r>
              <a:rPr lang="zh-CN" altLang="en-US" b="0" i="0" dirty="0">
                <a:solidFill>
                  <a:srgbClr val="333333"/>
                </a:solidFill>
                <a:effectLst/>
                <a:latin typeface="Helvetica Neue"/>
              </a:rPr>
              <a:t>倍的信息就丢失了。</a:t>
            </a:r>
            <a:endParaRPr lang="en-US" altLang="zh-CN" b="0"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对于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函数而言，输入值在 </a:t>
            </a:r>
            <a:r>
              <a:rPr lang="en-US" altLang="zh-CN" b="1" i="0" dirty="0">
                <a:solidFill>
                  <a:srgbClr val="333333"/>
                </a:solidFill>
                <a:effectLst/>
                <a:latin typeface="Helvetica Neue"/>
              </a:rPr>
              <a:t>[-6, 6]</a:t>
            </a:r>
            <a:r>
              <a:rPr lang="zh-CN" altLang="en-US" b="0" i="0" dirty="0">
                <a:solidFill>
                  <a:srgbClr val="333333"/>
                </a:solidFill>
                <a:effectLst/>
                <a:latin typeface="Helvetica Neue"/>
              </a:rPr>
              <a:t> 之间输出值才会</a:t>
            </a:r>
            <a:r>
              <a:rPr lang="zh-CN" altLang="en-US" b="1" i="0" dirty="0">
                <a:solidFill>
                  <a:srgbClr val="333333"/>
                </a:solidFill>
                <a:effectLst/>
                <a:latin typeface="Helvetica Neue"/>
              </a:rPr>
              <a:t>有明显差异</a:t>
            </a:r>
            <a:r>
              <a:rPr lang="zh-CN" altLang="en-US" b="0" i="0" dirty="0">
                <a:solidFill>
                  <a:srgbClr val="333333"/>
                </a:solidFill>
                <a:effectLst/>
                <a:latin typeface="Helvetica Neue"/>
              </a:rPr>
              <a:t>，输入值在 </a:t>
            </a:r>
            <a:r>
              <a:rPr lang="en-US" altLang="zh-CN" b="1" i="0" dirty="0">
                <a:solidFill>
                  <a:srgbClr val="333333"/>
                </a:solidFill>
                <a:effectLst/>
                <a:latin typeface="Helvetica Neue"/>
              </a:rPr>
              <a:t>[-3, 3]</a:t>
            </a:r>
            <a:r>
              <a:rPr lang="zh-CN" altLang="en-US" b="0" i="0" dirty="0">
                <a:solidFill>
                  <a:srgbClr val="333333"/>
                </a:solidFill>
                <a:effectLst/>
                <a:latin typeface="Helvetica Neue"/>
              </a:rPr>
              <a:t> 之间才会</a:t>
            </a:r>
            <a:r>
              <a:rPr lang="zh-CN" altLang="en-US" b="1" i="0" dirty="0">
                <a:solidFill>
                  <a:srgbClr val="333333"/>
                </a:solidFill>
                <a:effectLst/>
                <a:latin typeface="Helvetica Neue"/>
              </a:rPr>
              <a:t>有比较好的效果</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通过上述导数图像，我们发现</a:t>
            </a:r>
            <a:r>
              <a:rPr lang="zh-CN" altLang="en-US" b="1" i="0" dirty="0">
                <a:solidFill>
                  <a:srgbClr val="333333"/>
                </a:solidFill>
                <a:effectLst/>
                <a:latin typeface="Helvetica Neue"/>
              </a:rPr>
              <a:t>导数数值范围是 </a:t>
            </a:r>
            <a:r>
              <a:rPr lang="en-US" altLang="zh-CN" b="1" i="0" dirty="0">
                <a:solidFill>
                  <a:srgbClr val="333333"/>
                </a:solidFill>
                <a:effectLst/>
                <a:latin typeface="Helvetica Neue"/>
              </a:rPr>
              <a:t>(0, 0.25)</a:t>
            </a:r>
            <a:r>
              <a:rPr lang="zh-CN" altLang="en-US" b="0" i="0" dirty="0">
                <a:solidFill>
                  <a:srgbClr val="333333"/>
                </a:solidFill>
                <a:effectLst/>
                <a:latin typeface="Helvetica Neue"/>
              </a:rPr>
              <a:t>，当输入 </a:t>
            </a:r>
            <a:r>
              <a:rPr lang="en-US" altLang="zh-CN" b="0" i="0" dirty="0">
                <a:solidFill>
                  <a:srgbClr val="333333"/>
                </a:solidFill>
                <a:effectLst/>
                <a:latin typeface="Helvetica Neue"/>
              </a:rPr>
              <a:t>&lt;-6 </a:t>
            </a:r>
            <a:r>
              <a:rPr lang="zh-CN" altLang="en-US" b="0" i="0" dirty="0">
                <a:solidFill>
                  <a:srgbClr val="333333"/>
                </a:solidFill>
                <a:effectLst/>
                <a:latin typeface="Helvetica Neue"/>
              </a:rPr>
              <a:t>或者 </a:t>
            </a:r>
            <a:r>
              <a:rPr lang="en-US" altLang="zh-CN" b="0" i="0" dirty="0">
                <a:solidFill>
                  <a:srgbClr val="333333"/>
                </a:solidFill>
                <a:effectLst/>
                <a:latin typeface="Helvetica Neue"/>
              </a:rPr>
              <a:t>&gt;6 </a:t>
            </a:r>
            <a:r>
              <a:rPr lang="zh-CN" altLang="en-US" b="0" i="0" dirty="0">
                <a:solidFill>
                  <a:srgbClr val="333333"/>
                </a:solidFill>
                <a:effectLst/>
                <a:latin typeface="Helvetica Neue"/>
              </a:rPr>
              <a:t>时，</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激活函数图像的</a:t>
            </a:r>
            <a:r>
              <a:rPr lang="zh-CN" altLang="en-US" b="1" i="0" dirty="0">
                <a:solidFill>
                  <a:srgbClr val="333333"/>
                </a:solidFill>
                <a:effectLst/>
                <a:latin typeface="Helvetica Neue"/>
              </a:rPr>
              <a:t>导数接近为 </a:t>
            </a:r>
            <a:r>
              <a:rPr lang="en-US" altLang="zh-CN" b="1" i="0" dirty="0">
                <a:solidFill>
                  <a:srgbClr val="333333"/>
                </a:solidFill>
                <a:effectLst/>
                <a:latin typeface="Helvetica Neue"/>
              </a:rPr>
              <a:t>0</a:t>
            </a:r>
            <a:r>
              <a:rPr lang="zh-CN" altLang="en-US" b="0" i="0" dirty="0">
                <a:solidFill>
                  <a:srgbClr val="333333"/>
                </a:solidFill>
                <a:effectLst/>
                <a:latin typeface="Helvetica Neue"/>
              </a:rPr>
              <a:t>，此时</a:t>
            </a:r>
            <a:r>
              <a:rPr lang="zh-CN" altLang="en-US" b="1" i="0" dirty="0">
                <a:solidFill>
                  <a:srgbClr val="333333"/>
                </a:solidFill>
                <a:effectLst/>
                <a:latin typeface="Helvetica Neue"/>
              </a:rPr>
              <a:t>网络参数将更新极其缓慢，或者无法更新。</a:t>
            </a:r>
            <a:endParaRPr lang="en-US" altLang="zh-CN" b="1" i="0" dirty="0">
              <a:solidFill>
                <a:srgbClr val="333333"/>
              </a:solidFill>
              <a:effectLst/>
              <a:latin typeface="Helvetica Neue"/>
            </a:endParaRPr>
          </a:p>
          <a:p>
            <a:pPr marL="285750" indent="-285750" algn="l">
              <a:buFont typeface="Wingdings" panose="05000000000000000000" pitchFamily="2" charset="2"/>
              <a:buChar char="l"/>
            </a:pP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一般来说， </a:t>
            </a:r>
            <a:r>
              <a:rPr lang="en-US" altLang="zh-CN" b="0" i="0" dirty="0">
                <a:solidFill>
                  <a:srgbClr val="333333"/>
                </a:solidFill>
                <a:effectLst/>
                <a:latin typeface="Helvetica Neue"/>
              </a:rPr>
              <a:t>sigmoid </a:t>
            </a:r>
            <a:r>
              <a:rPr lang="zh-CN" altLang="en-US" b="0" i="0" dirty="0">
                <a:solidFill>
                  <a:srgbClr val="333333"/>
                </a:solidFill>
                <a:effectLst/>
                <a:latin typeface="Helvetica Neue"/>
              </a:rPr>
              <a:t>网络在 </a:t>
            </a:r>
            <a:r>
              <a:rPr lang="en-US" altLang="zh-CN" b="1" i="0" dirty="0">
                <a:solidFill>
                  <a:srgbClr val="333333"/>
                </a:solidFill>
                <a:effectLst/>
                <a:latin typeface="Helvetica Neue"/>
              </a:rPr>
              <a:t>5 </a:t>
            </a:r>
            <a:r>
              <a:rPr lang="zh-CN" altLang="en-US" b="1" i="0" dirty="0">
                <a:solidFill>
                  <a:srgbClr val="333333"/>
                </a:solidFill>
                <a:effectLst/>
                <a:latin typeface="Helvetica Neue"/>
              </a:rPr>
              <a:t>层之内</a:t>
            </a:r>
            <a:r>
              <a:rPr lang="zh-CN" altLang="en-US" b="0" i="0" dirty="0">
                <a:solidFill>
                  <a:srgbClr val="333333"/>
                </a:solidFill>
                <a:effectLst/>
                <a:latin typeface="Helvetica Neue"/>
              </a:rPr>
              <a:t>就会产生</a:t>
            </a:r>
            <a:r>
              <a:rPr lang="zh-CN" altLang="en-US" b="1" i="0" dirty="0">
                <a:solidFill>
                  <a:srgbClr val="333333"/>
                </a:solidFill>
                <a:effectLst/>
                <a:latin typeface="Helvetica Neue"/>
              </a:rPr>
              <a:t>梯度消失</a:t>
            </a:r>
            <a:r>
              <a:rPr lang="zh-CN" altLang="en-US" b="0" i="0" dirty="0">
                <a:solidFill>
                  <a:srgbClr val="333333"/>
                </a:solidFill>
                <a:effectLst/>
                <a:latin typeface="Helvetica Neue"/>
              </a:rPr>
              <a:t>现象。而且，该激活函数并不是以 </a:t>
            </a:r>
            <a:r>
              <a:rPr lang="en-US" altLang="zh-CN" b="0" i="0" dirty="0">
                <a:solidFill>
                  <a:srgbClr val="333333"/>
                </a:solidFill>
                <a:effectLst/>
                <a:latin typeface="Helvetica Neue"/>
              </a:rPr>
              <a:t>0 </a:t>
            </a:r>
            <a:r>
              <a:rPr lang="zh-CN" altLang="en-US" b="0" i="0" dirty="0">
                <a:solidFill>
                  <a:srgbClr val="333333"/>
                </a:solidFill>
                <a:effectLst/>
                <a:latin typeface="Helvetica Neue"/>
              </a:rPr>
              <a:t>为中心的，所以在实践中这种激活函数使用的很少。</a:t>
            </a:r>
            <a:r>
              <a:rPr lang="en-US" altLang="zh-CN" b="1" i="0" dirty="0">
                <a:solidFill>
                  <a:srgbClr val="333333"/>
                </a:solidFill>
                <a:effectLst/>
                <a:latin typeface="Helvetica Neue"/>
              </a:rPr>
              <a:t>sigmoid</a:t>
            </a:r>
            <a:r>
              <a:rPr lang="zh-CN" altLang="en-US" b="1" i="0" dirty="0">
                <a:solidFill>
                  <a:srgbClr val="333333"/>
                </a:solidFill>
                <a:effectLst/>
                <a:latin typeface="Helvetica Neue"/>
              </a:rPr>
              <a:t>函数一般只用于二分类的输出层</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endParaRPr lang="en-US" altLang="zh-CN" dirty="0">
              <a:solidFill>
                <a:srgbClr val="333333"/>
              </a:solidFill>
              <a:latin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911017" y="2392875"/>
            <a:ext cx="6186860" cy="402161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matplotlib.pyplot</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plt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函数图像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输入值</a:t>
            </a:r>
            <a:r>
              <a:rPr lang="en-US" altLang="zh-CN" sz="1400" dirty="0">
                <a:solidFill>
                  <a:srgbClr val="00B050"/>
                </a:solidFill>
                <a:latin typeface="宋体" panose="02010600030101010101" pitchFamily="2" charset="-122"/>
                <a:ea typeface="阿里巴巴普惠体" panose="00020600040101010101"/>
              </a:rPr>
              <a:t>x</a:t>
            </a:r>
            <a:r>
              <a:rPr lang="zh-CN" altLang="en-US" sz="1400" dirty="0">
                <a:solidFill>
                  <a:srgbClr val="00B050"/>
                </a:solidFill>
                <a:latin typeface="宋体" panose="02010600030101010101" pitchFamily="2" charset="-122"/>
                <a:ea typeface="阿里巴巴普惠体" panose="00020600040101010101"/>
              </a:rPr>
              <a:t>通过</a:t>
            </a:r>
            <a:r>
              <a:rPr lang="en-US" altLang="zh-CN" sz="1400" dirty="0">
                <a:solidFill>
                  <a:srgbClr val="00B050"/>
                </a:solidFill>
                <a:latin typeface="宋体" panose="02010600030101010101" pitchFamily="2" charset="-122"/>
                <a:ea typeface="阿里巴巴普惠体" panose="00020600040101010101"/>
              </a:rPr>
              <a:t>sigmoid</a:t>
            </a:r>
            <a:r>
              <a:rPr lang="zh-CN" altLang="en-US" sz="1400" dirty="0">
                <a:solidFill>
                  <a:srgbClr val="00B050"/>
                </a:solidFill>
                <a:latin typeface="宋体" panose="02010600030101010101" pitchFamily="2" charset="-122"/>
                <a:ea typeface="阿里巴巴普惠体" panose="00020600040101010101"/>
              </a:rPr>
              <a:t>函数转换成激活值</a:t>
            </a:r>
            <a:r>
              <a:rPr lang="en-US" altLang="zh-CN" sz="1400" dirty="0">
                <a:solidFill>
                  <a:srgbClr val="00B050"/>
                </a:solidFill>
                <a:latin typeface="宋体" panose="02010600030101010101" pitchFamily="2" charset="-122"/>
                <a:ea typeface="阿里巴巴普惠体" panose="00020600040101010101"/>
              </a:rPr>
              <a:t>y</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y = </a:t>
            </a:r>
            <a:r>
              <a:rPr lang="en-GB" altLang="zh-CN" sz="1400" b="1" dirty="0" err="1">
                <a:solidFill>
                  <a:srgbClr val="0000FF"/>
                </a:solidFill>
                <a:latin typeface="宋体" panose="02010600030101010101" pitchFamily="2" charset="-122"/>
                <a:ea typeface="阿里巴巴普惠体" panose="00020600040101010101"/>
              </a:rPr>
              <a:t>torch.sigmoid</a:t>
            </a:r>
            <a:r>
              <a:rPr lang="en-GB" altLang="zh-CN" sz="1400" b="1" dirty="0">
                <a:solidFill>
                  <a:srgbClr val="0000FF"/>
                </a:solidFill>
                <a:latin typeface="宋体" panose="02010600030101010101" pitchFamily="2" charset="-122"/>
                <a:ea typeface="阿里巴巴普惠体" panose="00020600040101010101"/>
              </a:rPr>
              <a:t>(x) </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axes[0].plot(x, y)</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axes[0].grid() </a:t>
            </a:r>
            <a:endParaRPr lang="en-GB"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GB" altLang="zh-CN" sz="1400" b="1" dirty="0">
                <a:solidFill>
                  <a:srgbClr val="0000FF"/>
                </a:solidFill>
                <a:latin typeface="宋体" panose="02010600030101010101" pitchFamily="2" charset="-122"/>
                <a:ea typeface="阿里巴巴普惠体" panose="00020600040101010101"/>
              </a:rPr>
              <a:t>axes[0].</a:t>
            </a:r>
            <a:r>
              <a:rPr lang="en-GB" altLang="zh-CN" sz="1400" b="1" dirty="0" err="1">
                <a:solidFill>
                  <a:srgbClr val="0000FF"/>
                </a:solidFill>
                <a:latin typeface="宋体" panose="02010600030101010101" pitchFamily="2" charset="-122"/>
                <a:ea typeface="阿里巴巴普惠体" panose="00020600040101010101"/>
              </a:rPr>
              <a:t>set_title</a:t>
            </a:r>
            <a:r>
              <a:rPr lang="en-GB" altLang="zh-CN" sz="1400" b="1" dirty="0">
                <a:solidFill>
                  <a:srgbClr val="0000FF"/>
                </a:solidFill>
                <a:latin typeface="宋体" panose="02010600030101010101" pitchFamily="2" charset="-122"/>
                <a:ea typeface="阿里巴巴普惠体" panose="00020600040101010101"/>
              </a:rPr>
              <a:t>('Sigmoid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r>
              <a:rPr lang="zh-CN" altLang="en-US" sz="1400" b="1" dirty="0">
                <a:solidFill>
                  <a:srgbClr val="0000FF"/>
                </a:solidFill>
                <a:latin typeface="宋体" panose="02010600030101010101" pitchFamily="2" charset="-122"/>
                <a:ea typeface="阿里巴巴普惠体" panose="00020600040101010101"/>
              </a:rPr>
              <a:t> </a:t>
            </a:r>
            <a:br>
              <a:rPr lang="zh-CN" altLang="en-US" sz="1400" b="1" dirty="0">
                <a:solidFill>
                  <a:srgbClr val="0000FF"/>
                </a:solidFill>
                <a:latin typeface="宋体" panose="02010600030101010101" pitchFamily="2" charset="-122"/>
                <a:ea typeface="阿里巴巴普惠体" panose="00020600040101010101"/>
              </a:rPr>
            </a:br>
            <a:endParaRPr lang="en-US" altLang="zh-CN" sz="1400" b="1" dirty="0">
              <a:solidFill>
                <a:srgbClr val="0000FF"/>
              </a:solidFill>
              <a:latin typeface="宋体" panose="02010600030101010101" pitchFamily="2" charset="-122"/>
              <a:ea typeface="阿里巴巴普惠体" panose="00020600040101010101"/>
            </a:endParaRPr>
          </a:p>
        </p:txBody>
      </p:sp>
      <p:sp>
        <p:nvSpPr>
          <p:cNvPr id="3" name="文本占位符 2"/>
          <p:cNvSpPr>
            <a:spLocks noGrp="1"/>
          </p:cNvSpPr>
          <p:nvPr/>
        </p:nvSpPr>
        <p:spPr>
          <a:xfrm>
            <a:off x="746600" y="1457271"/>
            <a:ext cx="10698800" cy="4956845"/>
          </a:xfrm>
          <a:prstGeom prst="rect">
            <a:avLst/>
          </a:prstGeom>
        </p:spPr>
        <p:txBody>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endParaRPr lang="en-US" altLang="zh-CN" dirty="0">
              <a:solidFill>
                <a:srgbClr val="333333"/>
              </a:solidFill>
              <a:latin typeface="Helvetica Neue"/>
            </a:endParaRPr>
          </a:p>
        </p:txBody>
      </p:sp>
      <p:sp>
        <p:nvSpPr>
          <p:cNvPr id="5" name="文本框 4"/>
          <p:cNvSpPr txBox="1"/>
          <p:nvPr/>
        </p:nvSpPr>
        <p:spPr>
          <a:xfrm>
            <a:off x="839470" y="1457325"/>
            <a:ext cx="8489950" cy="829945"/>
          </a:xfrm>
          <a:prstGeom prst="rect">
            <a:avLst/>
          </a:prstGeom>
          <a:noFill/>
        </p:spPr>
        <p:txBody>
          <a:bodyPr wrap="square" anchor="t">
            <a:spAutoFit/>
          </a:bodyPr>
          <a:p>
            <a:pPr fontAlgn="auto">
              <a:lnSpc>
                <a:spcPct val="100000"/>
              </a:lnSpc>
              <a:spcBef>
                <a:spcPts val="0"/>
              </a:spcBef>
              <a:spcAft>
                <a:spcPts val="0"/>
              </a:spcAft>
            </a:pP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绘制激活函数图像时出现以下提示，需要将</a:t>
            </a:r>
            <a:r>
              <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anaconda3/Lib/site-packages/torch/lib</a:t>
            </a: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目录下的</a:t>
            </a:r>
            <a:r>
              <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libiomp5md.dll</a:t>
            </a:r>
            <a:r>
              <a:rPr lang="zh-CN" altLang="en-US"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rPr>
              <a:t>文件删除</a:t>
            </a:r>
            <a:endParaRPr lang="en-US" altLang="zh-CN" sz="1600" dirty="0">
              <a:solidFill>
                <a:schemeClr val="tx1">
                  <a:lumMod val="65000"/>
                  <a:lumOff val="35000"/>
                </a:schemeClr>
              </a:solidFill>
              <a:latin typeface="阿里巴巴普惠体 2.0 45 Light" panose="00020600040101010101" charset="-122"/>
              <a:ea typeface="阿里巴巴普惠体 2.0 45 Light" panose="00020600040101010101" charset="-122"/>
              <a:cs typeface="阿里巴巴普惠体 2.0 45 Light" panose="00020600040101010101" charset="-122"/>
            </a:endParaRPr>
          </a:p>
          <a:p>
            <a:pPr fontAlgn="auto">
              <a:lnSpc>
                <a:spcPct val="100000"/>
              </a:lnSpc>
              <a:spcBef>
                <a:spcPts val="0"/>
              </a:spcBef>
              <a:spcAft>
                <a:spcPts val="0"/>
              </a:spcAft>
            </a:pPr>
            <a:r>
              <a:rPr lang="en-US" altLang="zh-CN" sz="1600" dirty="0">
                <a:solidFill>
                  <a:srgbClr val="FF0000"/>
                </a:solidFill>
                <a:latin typeface="阿里巴巴普惠体 2.0 45 Light" panose="00020600040101010101" charset="-122"/>
                <a:ea typeface="阿里巴巴普惠体 2.0 45 Light" panose="00020600040101010101" charset="-122"/>
                <a:cs typeface="阿里巴巴普惠体 2.0 45 Light" panose="00020600040101010101" charset="-122"/>
              </a:rPr>
              <a:t>OMP: Error #15: Initializing libiomp5md.dll, but found libiomp5md.dll already initialized.</a:t>
            </a:r>
            <a:endParaRPr lang="en-US" altLang="zh-CN" sz="1600" dirty="0">
              <a:solidFill>
                <a:srgbClr val="FF0000"/>
              </a:solidFill>
              <a:latin typeface="阿里巴巴普惠体 2.0 45 Light" panose="00020600040101010101" charset="-122"/>
              <a:ea typeface="阿里巴巴普惠体 2.0 45 Light" panose="00020600040101010101" charset="-122"/>
              <a:cs typeface="阿里巴巴普惠体 2.0 45 Light"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-sigmoid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938092" y="2002968"/>
            <a:ext cx="6186860" cy="285206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导数图像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torch.sigmoid</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dirty="0" err="1">
                <a:solidFill>
                  <a:srgbClr val="00B050"/>
                </a:solidFill>
                <a:latin typeface="宋体" panose="02010600030101010101" pitchFamily="2" charset="-122"/>
                <a:ea typeface="阿里巴巴普惠体" panose="00020600040101010101"/>
              </a:rPr>
              <a:t>x.detach</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输入值</a:t>
            </a:r>
            <a:r>
              <a:rPr lang="en-US" altLang="zh-CN" sz="1400" dirty="0">
                <a:solidFill>
                  <a:srgbClr val="00B050"/>
                </a:solidFill>
                <a:latin typeface="宋体" panose="02010600030101010101" pitchFamily="2" charset="-122"/>
                <a:ea typeface="阿里巴巴普惠体" panose="00020600040101010101"/>
              </a:rPr>
              <a:t>x</a:t>
            </a:r>
            <a:r>
              <a:rPr lang="zh-CN" altLang="en-US" sz="1400" dirty="0">
                <a:solidFill>
                  <a:srgbClr val="00B050"/>
                </a:solidFill>
                <a:latin typeface="宋体" panose="02010600030101010101" pitchFamily="2" charset="-122"/>
                <a:ea typeface="阿里巴巴普惠体" panose="00020600040101010101"/>
              </a:rPr>
              <a:t>的数值</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dirty="0" err="1">
                <a:solidFill>
                  <a:srgbClr val="00B050"/>
                </a:solidFill>
                <a:latin typeface="宋体" panose="02010600030101010101" pitchFamily="2" charset="-122"/>
                <a:ea typeface="阿里巴巴普惠体" panose="00020600040101010101"/>
              </a:rPr>
              <a:t>x.grad</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计算梯度，求导</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('Sigmoid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en-US" altLang="zh-CN" b="0" i="0" dirty="0">
                <a:solidFill>
                  <a:srgbClr val="333333"/>
                </a:solidFill>
                <a:effectLst/>
                <a:latin typeface="Helvetica Neue"/>
              </a:rPr>
              <a:t>Tanh </a:t>
            </a:r>
            <a:r>
              <a:rPr lang="zh-CN" altLang="en-US" b="0" i="0" dirty="0">
                <a:solidFill>
                  <a:srgbClr val="333333"/>
                </a:solidFill>
                <a:effectLst/>
                <a:latin typeface="Helvetica Neue"/>
              </a:rPr>
              <a:t>的公式如下：</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激活函数求导公式</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Tanh </a:t>
            </a:r>
            <a:r>
              <a:rPr lang="zh-CN" altLang="en-US" b="0" i="0" dirty="0">
                <a:solidFill>
                  <a:srgbClr val="333333"/>
                </a:solidFill>
                <a:effectLst/>
                <a:latin typeface="Helvetica Neue"/>
              </a:rPr>
              <a:t>的函数图像、导数图像如下：</a:t>
            </a:r>
            <a:endParaRPr lang="en-US" altLang="zh-CN" dirty="0">
              <a:solidFill>
                <a:srgbClr val="333333"/>
              </a:solidFill>
              <a:latin typeface="Helvetica Neue"/>
            </a:endParaRPr>
          </a:p>
        </p:txBody>
      </p:sp>
      <p:pic>
        <p:nvPicPr>
          <p:cNvPr id="5" name="图片 4"/>
          <p:cNvPicPr>
            <a:picLocks noChangeAspect="1"/>
          </p:cNvPicPr>
          <p:nvPr/>
        </p:nvPicPr>
        <p:blipFill>
          <a:blip r:embed="rId1"/>
          <a:stretch>
            <a:fillRect/>
          </a:stretch>
        </p:blipFill>
        <p:spPr>
          <a:xfrm>
            <a:off x="2829360" y="1536384"/>
            <a:ext cx="1569856" cy="563929"/>
          </a:xfrm>
          <a:prstGeom prst="rect">
            <a:avLst/>
          </a:prstGeom>
        </p:spPr>
      </p:pic>
      <p:pic>
        <p:nvPicPr>
          <p:cNvPr id="7" name="图片 6"/>
          <p:cNvPicPr>
            <a:picLocks noChangeAspect="1"/>
          </p:cNvPicPr>
          <p:nvPr/>
        </p:nvPicPr>
        <p:blipFill>
          <a:blip r:embed="rId2"/>
          <a:stretch>
            <a:fillRect/>
          </a:stretch>
        </p:blipFill>
        <p:spPr>
          <a:xfrm>
            <a:off x="2578318" y="2358908"/>
            <a:ext cx="3033023" cy="396274"/>
          </a:xfrm>
          <a:prstGeom prst="rect">
            <a:avLst/>
          </a:prstGeom>
        </p:spPr>
      </p:pic>
      <p:pic>
        <p:nvPicPr>
          <p:cNvPr id="11" name="图片 10"/>
          <p:cNvPicPr>
            <a:picLocks noChangeAspect="1"/>
          </p:cNvPicPr>
          <p:nvPr/>
        </p:nvPicPr>
        <p:blipFill>
          <a:blip r:embed="rId3"/>
          <a:stretch>
            <a:fillRect/>
          </a:stretch>
        </p:blipFill>
        <p:spPr>
          <a:xfrm>
            <a:off x="4371507" y="2822278"/>
            <a:ext cx="5288032" cy="397643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pPr marL="285750" indent="-285750" algn="l">
              <a:buFont typeface="Wingdings" panose="05000000000000000000" pitchFamily="2" charset="2"/>
              <a:buChar char="l"/>
            </a:pPr>
            <a:r>
              <a:rPr lang="en-US" altLang="zh-CN" sz="2000" b="0" i="0" dirty="0">
                <a:solidFill>
                  <a:srgbClr val="333333"/>
                </a:solidFill>
                <a:effectLst/>
                <a:latin typeface="Alibaba PuHuiTi" pitchFamily="18" charset="-122"/>
                <a:ea typeface="Alibaba PuHuiTi" pitchFamily="18" charset="-122"/>
                <a:cs typeface="Alibaba PuHuiTi" pitchFamily="18" charset="-122"/>
              </a:rPr>
              <a:t>Tanh </a:t>
            </a:r>
            <a:r>
              <a:rPr lang="zh-CN" altLang="en-US" sz="2000" b="0" i="0" dirty="0">
                <a:solidFill>
                  <a:srgbClr val="333333"/>
                </a:solidFill>
                <a:effectLst/>
                <a:latin typeface="Alibaba PuHuiTi" pitchFamily="18" charset="-122"/>
                <a:ea typeface="Alibaba PuHuiTi" pitchFamily="18" charset="-122"/>
                <a:cs typeface="Alibaba PuHuiTi" pitchFamily="18" charset="-122"/>
              </a:rPr>
              <a:t>函数将</a:t>
            </a:r>
            <a:r>
              <a:rPr lang="zh-CN" altLang="en-US" sz="2000" b="1" i="0" dirty="0">
                <a:solidFill>
                  <a:srgbClr val="333333"/>
                </a:solidFill>
                <a:effectLst/>
                <a:latin typeface="Alibaba PuHuiTi" pitchFamily="18" charset="-122"/>
                <a:ea typeface="Alibaba PuHuiTi" pitchFamily="18" charset="-122"/>
                <a:cs typeface="Alibaba PuHuiTi" pitchFamily="18" charset="-122"/>
              </a:rPr>
              <a:t>输入映射到 </a:t>
            </a:r>
            <a:r>
              <a:rPr lang="en-US" altLang="zh-CN" sz="2000" b="1" i="0" dirty="0">
                <a:solidFill>
                  <a:srgbClr val="333333"/>
                </a:solidFill>
                <a:effectLst/>
                <a:latin typeface="Alibaba PuHuiTi" pitchFamily="18" charset="-122"/>
                <a:ea typeface="Alibaba PuHuiTi" pitchFamily="18" charset="-122"/>
                <a:cs typeface="Alibaba PuHuiTi" pitchFamily="18" charset="-122"/>
              </a:rPr>
              <a:t>(-1, 1) </a:t>
            </a:r>
            <a:r>
              <a:rPr lang="zh-CN" altLang="en-US" sz="2000" b="1" i="0" dirty="0">
                <a:solidFill>
                  <a:srgbClr val="333333"/>
                </a:solidFill>
                <a:effectLst/>
                <a:latin typeface="Alibaba PuHuiTi" pitchFamily="18" charset="-122"/>
                <a:ea typeface="Alibaba PuHuiTi" pitchFamily="18" charset="-122"/>
                <a:cs typeface="Alibaba PuHuiTi" pitchFamily="18" charset="-122"/>
              </a:rPr>
              <a:t>之间</a:t>
            </a:r>
            <a:r>
              <a:rPr lang="zh-CN" altLang="en-US" sz="2000" b="0" i="0" dirty="0">
                <a:solidFill>
                  <a:srgbClr val="333333"/>
                </a:solidFill>
                <a:effectLst/>
                <a:latin typeface="Alibaba PuHuiTi" pitchFamily="18" charset="-122"/>
                <a:ea typeface="Alibaba PuHuiTi" pitchFamily="18" charset="-122"/>
                <a:cs typeface="Alibaba PuHuiTi" pitchFamily="18" charset="-122"/>
              </a:rPr>
              <a:t>，图像以 </a:t>
            </a:r>
            <a:r>
              <a:rPr lang="en-US" altLang="zh-CN" sz="2000" b="0" i="0" dirty="0">
                <a:solidFill>
                  <a:srgbClr val="333333"/>
                </a:solidFill>
                <a:effectLst/>
                <a:latin typeface="Alibaba PuHuiTi" pitchFamily="18" charset="-122"/>
                <a:ea typeface="Alibaba PuHuiTi" pitchFamily="18" charset="-122"/>
                <a:cs typeface="Alibaba PuHuiTi" pitchFamily="18" charset="-122"/>
              </a:rPr>
              <a:t>0 </a:t>
            </a:r>
            <a:r>
              <a:rPr lang="zh-CN" altLang="en-US" sz="2000" b="0" i="0" dirty="0">
                <a:solidFill>
                  <a:srgbClr val="333333"/>
                </a:solidFill>
                <a:effectLst/>
                <a:latin typeface="Alibaba PuHuiTi" pitchFamily="18" charset="-122"/>
                <a:ea typeface="Alibaba PuHuiTi" pitchFamily="18" charset="-122"/>
                <a:cs typeface="Alibaba PuHuiTi" pitchFamily="18" charset="-122"/>
              </a:rPr>
              <a:t>为中心，在 </a:t>
            </a:r>
            <a:r>
              <a:rPr lang="en-US" altLang="zh-CN" sz="2000" b="0" i="0" dirty="0">
                <a:solidFill>
                  <a:srgbClr val="333333"/>
                </a:solidFill>
                <a:effectLst/>
                <a:latin typeface="Alibaba PuHuiTi" pitchFamily="18" charset="-122"/>
                <a:ea typeface="Alibaba PuHuiTi" pitchFamily="18" charset="-122"/>
                <a:cs typeface="Alibaba PuHuiTi" pitchFamily="18" charset="-122"/>
              </a:rPr>
              <a:t>0 </a:t>
            </a:r>
            <a:r>
              <a:rPr lang="zh-CN" altLang="en-US" sz="2000" b="0" i="0" dirty="0">
                <a:solidFill>
                  <a:srgbClr val="333333"/>
                </a:solidFill>
                <a:effectLst/>
                <a:latin typeface="Alibaba PuHuiTi" pitchFamily="18" charset="-122"/>
                <a:ea typeface="Alibaba PuHuiTi" pitchFamily="18" charset="-122"/>
                <a:cs typeface="Alibaba PuHuiTi" pitchFamily="18" charset="-122"/>
              </a:rPr>
              <a:t>点对称，当输入 大概</a:t>
            </a:r>
            <a:r>
              <a:rPr lang="en-US" altLang="zh-CN" sz="2000" b="0" i="0" dirty="0">
                <a:solidFill>
                  <a:srgbClr val="333333"/>
                </a:solidFill>
                <a:effectLst/>
                <a:latin typeface="Alibaba PuHuiTi" pitchFamily="18" charset="-122"/>
                <a:ea typeface="Alibaba PuHuiTi" pitchFamily="18" charset="-122"/>
                <a:cs typeface="Alibaba PuHuiTi" pitchFamily="18" charset="-122"/>
              </a:rPr>
              <a:t>&lt;-3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&gt;3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时将被映射为 </a:t>
            </a:r>
            <a:r>
              <a:rPr lang="en-US" altLang="zh-CN" sz="2000" b="0" i="0" dirty="0">
                <a:solidFill>
                  <a:srgbClr val="333333"/>
                </a:solidFill>
                <a:effectLst/>
                <a:latin typeface="Alibaba PuHuiTi" pitchFamily="18" charset="-122"/>
                <a:ea typeface="Alibaba PuHuiTi" pitchFamily="18" charset="-122"/>
                <a:cs typeface="Alibaba PuHuiTi" pitchFamily="18" charset="-122"/>
              </a:rPr>
              <a:t>-1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1</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r>
              <a:rPr lang="zh-CN" altLang="en-US" sz="2000" b="1" i="0" dirty="0">
                <a:solidFill>
                  <a:srgbClr val="333333"/>
                </a:solidFill>
                <a:effectLst/>
                <a:latin typeface="Alibaba PuHuiTi" pitchFamily="18" charset="-122"/>
                <a:ea typeface="Alibaba PuHuiTi" pitchFamily="18" charset="-122"/>
                <a:cs typeface="Alibaba PuHuiTi" pitchFamily="18" charset="-122"/>
              </a:rPr>
              <a:t>其导数值范围 </a:t>
            </a:r>
            <a:r>
              <a:rPr lang="en-US" altLang="zh-CN" sz="2000" b="1" i="0" dirty="0">
                <a:solidFill>
                  <a:srgbClr val="333333"/>
                </a:solidFill>
                <a:effectLst/>
                <a:latin typeface="Alibaba PuHuiTi" pitchFamily="18" charset="-122"/>
                <a:ea typeface="Alibaba PuHuiTi" pitchFamily="18" charset="-122"/>
                <a:cs typeface="Alibaba PuHuiTi" pitchFamily="18" charset="-122"/>
              </a:rPr>
              <a:t>(0, 1)</a:t>
            </a:r>
            <a:r>
              <a:rPr lang="zh-CN" altLang="en-US" sz="2000" b="0" i="0" dirty="0">
                <a:solidFill>
                  <a:srgbClr val="333333"/>
                </a:solidFill>
                <a:effectLst/>
                <a:latin typeface="Alibaba PuHuiTi" pitchFamily="18" charset="-122"/>
                <a:ea typeface="Alibaba PuHuiTi" pitchFamily="18" charset="-122"/>
                <a:cs typeface="Alibaba PuHuiTi" pitchFamily="18" charset="-122"/>
              </a:rPr>
              <a:t>，当输入的值大概 </a:t>
            </a:r>
            <a:r>
              <a:rPr lang="en-US" altLang="zh-CN" sz="2000" b="0" i="0" dirty="0">
                <a:solidFill>
                  <a:srgbClr val="333333"/>
                </a:solidFill>
                <a:effectLst/>
                <a:latin typeface="Alibaba PuHuiTi" pitchFamily="18" charset="-122"/>
                <a:ea typeface="Alibaba PuHuiTi" pitchFamily="18" charset="-122"/>
                <a:cs typeface="Alibaba PuHuiTi" pitchFamily="18" charset="-122"/>
              </a:rPr>
              <a:t>&lt;-3 </a:t>
            </a:r>
            <a:r>
              <a:rPr lang="zh-CN" altLang="en-US" sz="2000" b="0" i="0" dirty="0">
                <a:solidFill>
                  <a:srgbClr val="333333"/>
                </a:solidFill>
                <a:effectLst/>
                <a:latin typeface="Alibaba PuHuiTi" pitchFamily="18" charset="-122"/>
                <a:ea typeface="Alibaba PuHuiTi" pitchFamily="18" charset="-122"/>
                <a:cs typeface="Alibaba PuHuiTi" pitchFamily="18" charset="-122"/>
              </a:rPr>
              <a:t>或者 </a:t>
            </a:r>
            <a:r>
              <a:rPr lang="en-US" altLang="zh-CN" sz="2000" b="0" i="0" dirty="0">
                <a:solidFill>
                  <a:srgbClr val="333333"/>
                </a:solidFill>
                <a:effectLst/>
                <a:latin typeface="Alibaba PuHuiTi" pitchFamily="18" charset="-122"/>
                <a:ea typeface="Alibaba PuHuiTi" pitchFamily="18" charset="-122"/>
                <a:cs typeface="Alibaba PuHuiTi" pitchFamily="18" charset="-122"/>
              </a:rPr>
              <a:t>&gt; 3 </a:t>
            </a:r>
            <a:r>
              <a:rPr lang="zh-CN" altLang="en-US" sz="2000" b="0" i="0" dirty="0">
                <a:solidFill>
                  <a:srgbClr val="333333"/>
                </a:solidFill>
                <a:effectLst/>
                <a:latin typeface="Alibaba PuHuiTi" pitchFamily="18" charset="-122"/>
                <a:ea typeface="Alibaba PuHuiTi" pitchFamily="18" charset="-122"/>
                <a:cs typeface="Alibaba PuHuiTi" pitchFamily="18" charset="-122"/>
              </a:rPr>
              <a:t>时，其导数近似 </a:t>
            </a:r>
            <a:r>
              <a:rPr lang="en-US" altLang="zh-CN" sz="2000" b="0" i="0" dirty="0">
                <a:solidFill>
                  <a:srgbClr val="333333"/>
                </a:solidFill>
                <a:effectLst/>
                <a:latin typeface="Alibaba PuHuiTi" pitchFamily="18" charset="-122"/>
                <a:ea typeface="Alibaba PuHuiTi" pitchFamily="18" charset="-122"/>
                <a:cs typeface="Alibaba PuHuiTi" pitchFamily="18" charset="-122"/>
              </a:rPr>
              <a:t>0</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sz="2000" b="0" i="0" dirty="0">
                <a:solidFill>
                  <a:srgbClr val="333333"/>
                </a:solidFill>
                <a:effectLst/>
                <a:latin typeface="Alibaba PuHuiTi" pitchFamily="18" charset="-122"/>
                <a:ea typeface="Alibaba PuHuiTi" pitchFamily="18" charset="-122"/>
                <a:cs typeface="Alibaba PuHuiTi" pitchFamily="18" charset="-122"/>
              </a:rPr>
              <a:t>与 </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 </a:t>
            </a:r>
            <a:r>
              <a:rPr lang="zh-CN" altLang="en-US" sz="2000" b="0" i="0" dirty="0">
                <a:solidFill>
                  <a:srgbClr val="333333"/>
                </a:solidFill>
                <a:effectLst/>
                <a:latin typeface="Alibaba PuHuiTi" pitchFamily="18" charset="-122"/>
                <a:ea typeface="Alibaba PuHuiTi" pitchFamily="18" charset="-122"/>
                <a:cs typeface="Alibaba PuHuiTi" pitchFamily="18" charset="-122"/>
              </a:rPr>
              <a:t>相比，它是</a:t>
            </a:r>
            <a:r>
              <a:rPr lang="zh-CN" altLang="en-US" sz="2000" b="1" i="0" dirty="0">
                <a:solidFill>
                  <a:srgbClr val="333333"/>
                </a:solidFill>
                <a:effectLst/>
                <a:latin typeface="Alibaba PuHuiTi" pitchFamily="18" charset="-122"/>
                <a:ea typeface="Alibaba PuHuiTi" pitchFamily="18" charset="-122"/>
                <a:cs typeface="Alibaba PuHuiTi" pitchFamily="18" charset="-122"/>
              </a:rPr>
              <a:t>以 </a:t>
            </a:r>
            <a:r>
              <a:rPr lang="en-US" altLang="zh-CN" sz="2000" b="1" i="0" dirty="0">
                <a:solidFill>
                  <a:srgbClr val="333333"/>
                </a:solidFill>
                <a:effectLst/>
                <a:latin typeface="Alibaba PuHuiTi" pitchFamily="18" charset="-122"/>
                <a:ea typeface="Alibaba PuHuiTi" pitchFamily="18" charset="-122"/>
                <a:cs typeface="Alibaba PuHuiTi" pitchFamily="18" charset="-122"/>
              </a:rPr>
              <a:t>0 </a:t>
            </a:r>
            <a:r>
              <a:rPr lang="zh-CN" altLang="en-US" sz="2000" b="1" i="0" dirty="0">
                <a:solidFill>
                  <a:srgbClr val="333333"/>
                </a:solidFill>
                <a:effectLst/>
                <a:latin typeface="Alibaba PuHuiTi" pitchFamily="18" charset="-122"/>
                <a:ea typeface="Alibaba PuHuiTi" pitchFamily="18" charset="-122"/>
                <a:cs typeface="Alibaba PuHuiTi" pitchFamily="18" charset="-122"/>
              </a:rPr>
              <a:t>为中心的</a:t>
            </a:r>
            <a:r>
              <a:rPr lang="zh-CN" altLang="en-US" sz="2000" b="0" i="0" dirty="0">
                <a:solidFill>
                  <a:srgbClr val="333333"/>
                </a:solidFill>
                <a:effectLst/>
                <a:latin typeface="Alibaba PuHuiTi" pitchFamily="18" charset="-122"/>
                <a:ea typeface="Alibaba PuHuiTi" pitchFamily="18" charset="-122"/>
                <a:cs typeface="Alibaba PuHuiTi" pitchFamily="18" charset="-122"/>
              </a:rPr>
              <a:t>，且梯度相对于</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a:t>
            </a:r>
            <a:r>
              <a:rPr lang="zh-CN" altLang="en-US" sz="2000" b="0" i="0" dirty="0">
                <a:solidFill>
                  <a:srgbClr val="333333"/>
                </a:solidFill>
                <a:effectLst/>
                <a:latin typeface="Alibaba PuHuiTi" pitchFamily="18" charset="-122"/>
                <a:ea typeface="Alibaba PuHuiTi" pitchFamily="18" charset="-122"/>
                <a:cs typeface="Alibaba PuHuiTi" pitchFamily="18" charset="-122"/>
              </a:rPr>
              <a:t>大，使得其收敛速度要比 </a:t>
            </a:r>
            <a:r>
              <a:rPr lang="en-US" altLang="zh-CN" sz="2000" b="0" i="0" dirty="0">
                <a:solidFill>
                  <a:srgbClr val="333333"/>
                </a:solidFill>
                <a:effectLst/>
                <a:latin typeface="Alibaba PuHuiTi" pitchFamily="18" charset="-122"/>
                <a:ea typeface="Alibaba PuHuiTi" pitchFamily="18" charset="-122"/>
                <a:cs typeface="Alibaba PuHuiTi" pitchFamily="18" charset="-122"/>
              </a:rPr>
              <a:t>Sigmoid </a:t>
            </a:r>
            <a:r>
              <a:rPr lang="zh-CN" altLang="en-US" sz="2000" b="0" i="0" dirty="0">
                <a:solidFill>
                  <a:srgbClr val="333333"/>
                </a:solidFill>
                <a:effectLst/>
                <a:latin typeface="Alibaba PuHuiTi" pitchFamily="18" charset="-122"/>
                <a:ea typeface="Alibaba PuHuiTi" pitchFamily="18" charset="-122"/>
                <a:cs typeface="Alibaba PuHuiTi" pitchFamily="18" charset="-122"/>
              </a:rPr>
              <a:t>快，减少迭代次数。然而，从图中可以看出，</a:t>
            </a:r>
            <a:r>
              <a:rPr lang="en-US" altLang="zh-CN" sz="2000" b="0" i="0" dirty="0">
                <a:solidFill>
                  <a:srgbClr val="333333"/>
                </a:solidFill>
                <a:effectLst/>
                <a:latin typeface="Alibaba PuHuiTi" pitchFamily="18" charset="-122"/>
                <a:ea typeface="Alibaba PuHuiTi" pitchFamily="18" charset="-122"/>
                <a:cs typeface="Alibaba PuHuiTi" pitchFamily="18" charset="-122"/>
              </a:rPr>
              <a:t>Tanh </a:t>
            </a:r>
            <a:r>
              <a:rPr lang="zh-CN" altLang="en-US" sz="2000" b="0" i="0" dirty="0">
                <a:solidFill>
                  <a:srgbClr val="333333"/>
                </a:solidFill>
                <a:effectLst/>
                <a:latin typeface="Alibaba PuHuiTi" pitchFamily="18" charset="-122"/>
                <a:ea typeface="Alibaba PuHuiTi" pitchFamily="18" charset="-122"/>
                <a:cs typeface="Alibaba PuHuiTi" pitchFamily="18" charset="-122"/>
              </a:rPr>
              <a:t>两侧的导数也为 </a:t>
            </a:r>
            <a:r>
              <a:rPr lang="en-US" altLang="zh-CN" sz="2000" b="0" i="0" dirty="0">
                <a:solidFill>
                  <a:srgbClr val="333333"/>
                </a:solidFill>
                <a:effectLst/>
                <a:latin typeface="Alibaba PuHuiTi" pitchFamily="18" charset="-122"/>
                <a:ea typeface="Alibaba PuHuiTi" pitchFamily="18" charset="-122"/>
                <a:cs typeface="Alibaba PuHuiTi" pitchFamily="18" charset="-122"/>
              </a:rPr>
              <a:t>0</a:t>
            </a:r>
            <a:r>
              <a:rPr lang="zh-CN" altLang="en-US" sz="2000" b="0" i="0" dirty="0">
                <a:solidFill>
                  <a:srgbClr val="333333"/>
                </a:solidFill>
                <a:effectLst/>
                <a:latin typeface="Alibaba PuHuiTi" pitchFamily="18" charset="-122"/>
                <a:ea typeface="Alibaba PuHuiTi" pitchFamily="18" charset="-122"/>
                <a:cs typeface="Alibaba PuHuiTi" pitchFamily="18" charset="-122"/>
              </a:rPr>
              <a:t>，同样会造成梯度消失。</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sz="2000" b="0" i="0" dirty="0">
                <a:solidFill>
                  <a:srgbClr val="333333"/>
                </a:solidFill>
                <a:effectLst/>
                <a:latin typeface="Alibaba PuHuiTi" pitchFamily="18" charset="-122"/>
                <a:ea typeface="Alibaba PuHuiTi" pitchFamily="18" charset="-122"/>
                <a:cs typeface="Alibaba PuHuiTi" pitchFamily="18" charset="-122"/>
              </a:rPr>
              <a:t>若使用时可在</a:t>
            </a:r>
            <a:r>
              <a:rPr lang="zh-CN" altLang="en-US" sz="2000" b="1" i="0" dirty="0">
                <a:solidFill>
                  <a:srgbClr val="333333"/>
                </a:solidFill>
                <a:effectLst/>
                <a:latin typeface="Alibaba PuHuiTi" pitchFamily="18" charset="-122"/>
                <a:ea typeface="Alibaba PuHuiTi" pitchFamily="18" charset="-122"/>
                <a:cs typeface="Alibaba PuHuiTi" pitchFamily="18" charset="-122"/>
              </a:rPr>
              <a:t>隐藏层使用</a:t>
            </a:r>
            <a:r>
              <a:rPr lang="en-US" altLang="zh-CN" sz="2000" b="1" i="0" dirty="0">
                <a:solidFill>
                  <a:srgbClr val="333333"/>
                </a:solidFill>
                <a:effectLst/>
                <a:latin typeface="Alibaba PuHuiTi" pitchFamily="18" charset="-122"/>
                <a:ea typeface="Alibaba PuHuiTi" pitchFamily="18" charset="-122"/>
                <a:cs typeface="Alibaba PuHuiTi" pitchFamily="18" charset="-122"/>
              </a:rPr>
              <a:t>tanh</a:t>
            </a:r>
            <a:r>
              <a:rPr lang="zh-CN" altLang="en-US" sz="2000" b="1" i="0" dirty="0">
                <a:solidFill>
                  <a:srgbClr val="333333"/>
                </a:solidFill>
                <a:effectLst/>
                <a:latin typeface="Alibaba PuHuiTi" pitchFamily="18" charset="-122"/>
                <a:ea typeface="Alibaba PuHuiTi" pitchFamily="18" charset="-122"/>
                <a:cs typeface="Alibaba PuHuiTi" pitchFamily="18" charset="-122"/>
              </a:rPr>
              <a:t>函数</a:t>
            </a:r>
            <a:r>
              <a:rPr lang="zh-CN" altLang="en-US" sz="2000" b="0" i="0" dirty="0">
                <a:solidFill>
                  <a:srgbClr val="333333"/>
                </a:solidFill>
                <a:effectLst/>
                <a:latin typeface="Alibaba PuHuiTi" pitchFamily="18" charset="-122"/>
                <a:ea typeface="Alibaba PuHuiTi" pitchFamily="18" charset="-122"/>
                <a:cs typeface="Alibaba PuHuiTi" pitchFamily="18" charset="-122"/>
              </a:rPr>
              <a:t>，在</a:t>
            </a:r>
            <a:r>
              <a:rPr lang="zh-CN" altLang="en-US" sz="2000" b="1" i="0" dirty="0">
                <a:solidFill>
                  <a:srgbClr val="333333"/>
                </a:solidFill>
                <a:effectLst/>
                <a:latin typeface="Alibaba PuHuiTi" pitchFamily="18" charset="-122"/>
                <a:ea typeface="Alibaba PuHuiTi" pitchFamily="18" charset="-122"/>
                <a:cs typeface="Alibaba PuHuiTi" pitchFamily="18" charset="-122"/>
              </a:rPr>
              <a:t>输出层使用</a:t>
            </a:r>
            <a:r>
              <a:rPr lang="en-US" altLang="zh-CN" sz="2000" b="1" i="0" dirty="0">
                <a:solidFill>
                  <a:srgbClr val="333333"/>
                </a:solidFill>
                <a:effectLst/>
                <a:latin typeface="Alibaba PuHuiTi" pitchFamily="18" charset="-122"/>
                <a:ea typeface="Alibaba PuHuiTi" pitchFamily="18" charset="-122"/>
                <a:cs typeface="Alibaba PuHuiTi" pitchFamily="18" charset="-122"/>
              </a:rPr>
              <a:t>sigmoid</a:t>
            </a:r>
            <a:r>
              <a:rPr lang="zh-CN" altLang="en-US" sz="2000" b="1" i="0" dirty="0">
                <a:solidFill>
                  <a:srgbClr val="333333"/>
                </a:solidFill>
                <a:effectLst/>
                <a:latin typeface="Alibaba PuHuiTi" pitchFamily="18" charset="-122"/>
                <a:ea typeface="Alibaba PuHuiTi" pitchFamily="18" charset="-122"/>
                <a:cs typeface="Alibaba PuHuiTi" pitchFamily="18" charset="-122"/>
              </a:rPr>
              <a:t>函数</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zh-CN" altLang="en-US" sz="2000"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常见的激活函数 </a:t>
            </a:r>
            <a:r>
              <a:rPr lang="en-US" altLang="zh-CN" b="1" i="0" dirty="0">
                <a:solidFill>
                  <a:srgbClr val="333333"/>
                </a:solidFill>
                <a:effectLst/>
                <a:latin typeface="Helvetica Neue"/>
              </a:rPr>
              <a:t>-tanh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494745" y="1575223"/>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effectLst/>
                <a:latin typeface="宋体" panose="02010600030101010101" pitchFamily="2" charset="-122"/>
                <a:ea typeface="阿里巴巴普惠体" panose="00020600040101010101"/>
                <a:cs typeface="宋体" panose="02010600030101010101" pitchFamily="2" charset="-122"/>
              </a:rPr>
              <a:t># </a:t>
            </a:r>
            <a:r>
              <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rPr>
              <a:t>函数图像</a:t>
            </a:r>
            <a:endPar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y = </a:t>
            </a:r>
            <a:r>
              <a:rPr lang="en-US" altLang="zh-CN" sz="1400" b="1" dirty="0" err="1">
                <a:solidFill>
                  <a:srgbClr val="0000FF"/>
                </a:solidFill>
                <a:latin typeface="宋体" panose="02010600030101010101" pitchFamily="2" charset="-122"/>
                <a:ea typeface="阿里巴巴普惠体" panose="00020600040101010101"/>
              </a:rPr>
              <a:t>torch.tanh</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axes[0].plot(x,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('Tanh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effectLst/>
                <a:latin typeface="宋体" panose="02010600030101010101" pitchFamily="2" charset="-122"/>
                <a:ea typeface="阿里巴巴普惠体" panose="00020600040101010101"/>
                <a:cs typeface="宋体" panose="02010600030101010101" pitchFamily="2" charset="-122"/>
              </a:rPr>
              <a:t># </a:t>
            </a:r>
            <a:r>
              <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rPr>
              <a:t>导数图像</a:t>
            </a:r>
            <a:endParaRPr lang="zh-CN" altLang="en-US" sz="1400" dirty="0">
              <a:solidFill>
                <a:srgbClr val="00B050"/>
              </a:solidFill>
              <a:effectLst/>
              <a:latin typeface="宋体" panose="02010600030101010101" pitchFamily="2" charset="-122"/>
              <a:ea typeface="阿里巴巴普惠体" panose="00020600040101010101"/>
              <a:cs typeface="宋体" panose="02010600030101010101" pitchFamily="2" charset="-122"/>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torch.tanh</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('Tanh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4956845"/>
          </a:xfrm>
        </p:spPr>
        <p:txBody>
          <a:bodyPr/>
          <a:lstStyle/>
          <a:p>
            <a:r>
              <a:rPr lang="en-US" altLang="zh-CN" dirty="0" err="1">
                <a:solidFill>
                  <a:srgbClr val="333333"/>
                </a:solidFill>
                <a:latin typeface="Helvetica Neue"/>
              </a:rPr>
              <a:t>ReLU</a:t>
            </a:r>
            <a:r>
              <a:rPr lang="en-US" altLang="zh-CN" b="0" i="0" dirty="0">
                <a:solidFill>
                  <a:srgbClr val="333333"/>
                </a:solidFill>
                <a:effectLst/>
                <a:latin typeface="Helvetica Neue"/>
              </a:rPr>
              <a:t> </a:t>
            </a:r>
            <a:r>
              <a:rPr lang="zh-CN" altLang="en-US" b="0" i="0" dirty="0">
                <a:solidFill>
                  <a:srgbClr val="333333"/>
                </a:solidFill>
                <a:effectLst/>
                <a:latin typeface="Helvetica Neue"/>
              </a:rPr>
              <a:t>公式如下：</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激活函数求导公式</a:t>
            </a:r>
            <a:r>
              <a:rPr lang="en-US" altLang="zh-CN" b="0" i="0" dirty="0">
                <a:solidFill>
                  <a:srgbClr val="333333"/>
                </a:solidFill>
                <a:effectLst/>
                <a:latin typeface="Helvetica Neue"/>
              </a:rPr>
              <a:t>: </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en-US" altLang="zh-CN" b="0" i="0" dirty="0" err="1">
                <a:solidFill>
                  <a:srgbClr val="333333"/>
                </a:solidFill>
                <a:effectLst/>
                <a:latin typeface="Helvetica Neue"/>
              </a:rPr>
              <a:t>ReLU</a:t>
            </a:r>
            <a:r>
              <a:rPr lang="en-US" altLang="zh-CN" b="0" i="0" dirty="0">
                <a:solidFill>
                  <a:srgbClr val="333333"/>
                </a:solidFill>
                <a:effectLst/>
                <a:latin typeface="Helvetica Neue"/>
              </a:rPr>
              <a:t> </a:t>
            </a:r>
            <a:r>
              <a:rPr lang="zh-CN" altLang="en-US" b="0" i="0" dirty="0">
                <a:solidFill>
                  <a:srgbClr val="333333"/>
                </a:solidFill>
                <a:effectLst/>
                <a:latin typeface="Helvetica Neue"/>
              </a:rPr>
              <a:t>的函数图像如下：</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p:txBody>
      </p:sp>
      <p:pic>
        <p:nvPicPr>
          <p:cNvPr id="6" name="图片 5"/>
          <p:cNvPicPr>
            <a:picLocks noChangeAspect="1"/>
          </p:cNvPicPr>
          <p:nvPr/>
        </p:nvPicPr>
        <p:blipFill>
          <a:blip r:embed="rId1"/>
          <a:stretch>
            <a:fillRect/>
          </a:stretch>
        </p:blipFill>
        <p:spPr>
          <a:xfrm>
            <a:off x="2568068" y="1592043"/>
            <a:ext cx="1546994" cy="327688"/>
          </a:xfrm>
          <a:prstGeom prst="rect">
            <a:avLst/>
          </a:prstGeom>
        </p:spPr>
      </p:pic>
      <p:pic>
        <p:nvPicPr>
          <p:cNvPr id="9" name="图片 8"/>
          <p:cNvPicPr>
            <a:picLocks noChangeAspect="1"/>
          </p:cNvPicPr>
          <p:nvPr/>
        </p:nvPicPr>
        <p:blipFill>
          <a:blip r:embed="rId2"/>
          <a:stretch>
            <a:fillRect/>
          </a:stretch>
        </p:blipFill>
        <p:spPr>
          <a:xfrm>
            <a:off x="2568068" y="2313555"/>
            <a:ext cx="1303133" cy="327688"/>
          </a:xfrm>
          <a:prstGeom prst="rect">
            <a:avLst/>
          </a:prstGeom>
        </p:spPr>
      </p:pic>
      <p:pic>
        <p:nvPicPr>
          <p:cNvPr id="12" name="图片 11"/>
          <p:cNvPicPr>
            <a:picLocks noChangeAspect="1"/>
          </p:cNvPicPr>
          <p:nvPr/>
        </p:nvPicPr>
        <p:blipFill>
          <a:blip r:embed="rId3"/>
          <a:stretch>
            <a:fillRect/>
          </a:stretch>
        </p:blipFill>
        <p:spPr>
          <a:xfrm>
            <a:off x="746600" y="3254350"/>
            <a:ext cx="4517386" cy="3374718"/>
          </a:xfrm>
          <a:prstGeom prst="rect">
            <a:avLst/>
          </a:prstGeom>
        </p:spPr>
      </p:pic>
      <p:pic>
        <p:nvPicPr>
          <p:cNvPr id="7" name="图片 6"/>
          <p:cNvPicPr>
            <a:picLocks noChangeAspect="1"/>
          </p:cNvPicPr>
          <p:nvPr/>
        </p:nvPicPr>
        <p:blipFill>
          <a:blip r:embed="rId4"/>
          <a:stretch>
            <a:fillRect/>
          </a:stretch>
        </p:blipFill>
        <p:spPr>
          <a:xfrm>
            <a:off x="5598834" y="3260646"/>
            <a:ext cx="4517386" cy="3368173"/>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marL="342900" indent="-342900" algn="l">
              <a:buFont typeface="Arial" panose="020B0604020202020204" pitchFamily="34" charset="0"/>
              <a:buChar char="•"/>
            </a:pPr>
            <a:r>
              <a:rPr lang="en-GB" altLang="zh-CN" sz="2000" b="0" i="0" dirty="0" err="1">
                <a:effectLst/>
                <a:latin typeface="Alibaba PuHuiTi" pitchFamily="18" charset="-122"/>
                <a:ea typeface="Alibaba PuHuiTi" pitchFamily="18" charset="-122"/>
                <a:cs typeface="Alibaba PuHuiTi" pitchFamily="18" charset="-122"/>
              </a:rPr>
              <a:t>ReLU</a:t>
            </a:r>
            <a:r>
              <a:rPr lang="en-GB" altLang="zh-CN" sz="2000" b="0" i="0" dirty="0">
                <a:effectLst/>
                <a:latin typeface="Alibaba PuHuiTi" pitchFamily="18" charset="-122"/>
                <a:ea typeface="Alibaba PuHuiTi" pitchFamily="18" charset="-122"/>
                <a:cs typeface="Alibaba PuHuiTi" pitchFamily="18" charset="-122"/>
              </a:rPr>
              <a:t> </a:t>
            </a:r>
            <a:r>
              <a:rPr lang="zh-CN" altLang="en-US" sz="2000" b="0" i="0" dirty="0">
                <a:effectLst/>
                <a:latin typeface="Alibaba PuHuiTi" pitchFamily="18" charset="-122"/>
                <a:ea typeface="Alibaba PuHuiTi" pitchFamily="18" charset="-122"/>
                <a:cs typeface="Alibaba PuHuiTi" pitchFamily="18" charset="-122"/>
              </a:rPr>
              <a:t>激活函数将小于 </a:t>
            </a:r>
            <a:r>
              <a:rPr lang="en-US" altLang="zh-CN" sz="2000" b="0" i="0" dirty="0">
                <a:effectLst/>
                <a:latin typeface="Alibaba PuHuiTi" pitchFamily="18" charset="-122"/>
                <a:ea typeface="Alibaba PuHuiTi" pitchFamily="18" charset="-122"/>
                <a:cs typeface="Alibaba PuHuiTi" pitchFamily="18" charset="-122"/>
              </a:rPr>
              <a:t>0 </a:t>
            </a:r>
            <a:r>
              <a:rPr lang="zh-CN" altLang="en-US" sz="2000" b="0" i="0" dirty="0">
                <a:effectLst/>
                <a:latin typeface="Alibaba PuHuiTi" pitchFamily="18" charset="-122"/>
                <a:ea typeface="Alibaba PuHuiTi" pitchFamily="18" charset="-122"/>
                <a:cs typeface="Alibaba PuHuiTi" pitchFamily="18" charset="-122"/>
              </a:rPr>
              <a:t>的值映射为 </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，而大于 </a:t>
            </a:r>
            <a:r>
              <a:rPr lang="en-US" altLang="zh-CN" sz="2000" b="0" i="0" dirty="0">
                <a:effectLst/>
                <a:latin typeface="Alibaba PuHuiTi" pitchFamily="18" charset="-122"/>
                <a:ea typeface="Alibaba PuHuiTi" pitchFamily="18" charset="-122"/>
                <a:cs typeface="Alibaba PuHuiTi" pitchFamily="18" charset="-122"/>
              </a:rPr>
              <a:t>0 </a:t>
            </a:r>
            <a:r>
              <a:rPr lang="zh-CN" altLang="en-US" sz="2000" b="0" i="0" dirty="0">
                <a:effectLst/>
                <a:latin typeface="Alibaba PuHuiTi" pitchFamily="18" charset="-122"/>
                <a:ea typeface="Alibaba PuHuiTi" pitchFamily="18" charset="-122"/>
                <a:cs typeface="Alibaba PuHuiTi" pitchFamily="18" charset="-122"/>
              </a:rPr>
              <a:t>的值则保持不变，它更加重视正信号，而忽略负信号，这种激活函数运算更为简单，能够提高模型的训练效率。</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Arial" panose="020B0604020202020204" pitchFamily="34" charset="0"/>
              <a:buChar char="•"/>
            </a:pPr>
            <a:r>
              <a:rPr lang="zh-CN" altLang="en-US" sz="2000" b="0" i="0" dirty="0">
                <a:effectLst/>
                <a:latin typeface="Alibaba PuHuiTi" pitchFamily="18" charset="-122"/>
                <a:ea typeface="Alibaba PuHuiTi" pitchFamily="18" charset="-122"/>
                <a:cs typeface="Alibaba PuHuiTi" pitchFamily="18" charset="-122"/>
              </a:rPr>
              <a:t>当</a:t>
            </a:r>
            <a:r>
              <a:rPr lang="en-GB" altLang="zh-CN" sz="2000" b="0" i="0" dirty="0">
                <a:effectLst/>
                <a:latin typeface="Alibaba PuHuiTi" pitchFamily="18" charset="-122"/>
                <a:ea typeface="Alibaba PuHuiTi" pitchFamily="18" charset="-122"/>
                <a:cs typeface="Alibaba PuHuiTi" pitchFamily="18" charset="-122"/>
              </a:rPr>
              <a:t>x&lt;0</a:t>
            </a:r>
            <a:r>
              <a:rPr lang="zh-CN" altLang="en-US" sz="2000" b="0" i="0" dirty="0">
                <a:effectLst/>
                <a:latin typeface="Alibaba PuHuiTi" pitchFamily="18" charset="-122"/>
                <a:ea typeface="Alibaba PuHuiTi" pitchFamily="18" charset="-122"/>
                <a:cs typeface="Alibaba PuHuiTi" pitchFamily="18" charset="-122"/>
              </a:rPr>
              <a:t>时，</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导数为</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，而当</a:t>
            </a:r>
            <a:r>
              <a:rPr lang="en-GB" altLang="zh-CN" sz="2000" b="0" i="0" dirty="0">
                <a:effectLst/>
                <a:latin typeface="Alibaba PuHuiTi" pitchFamily="18" charset="-122"/>
                <a:ea typeface="Alibaba PuHuiTi" pitchFamily="18" charset="-122"/>
                <a:cs typeface="Alibaba PuHuiTi" pitchFamily="18" charset="-122"/>
              </a:rPr>
              <a:t>x&gt;0</a:t>
            </a:r>
            <a:r>
              <a:rPr lang="zh-CN" altLang="en-US" sz="2000" b="0" i="0" dirty="0">
                <a:effectLst/>
                <a:latin typeface="Alibaba PuHuiTi" pitchFamily="18" charset="-122"/>
                <a:ea typeface="Alibaba PuHuiTi" pitchFamily="18" charset="-122"/>
                <a:cs typeface="Alibaba PuHuiTi" pitchFamily="18" charset="-122"/>
              </a:rPr>
              <a:t>时，则不存在饱和问题。所以，</a:t>
            </a:r>
            <a:r>
              <a:rPr lang="en-GB" altLang="zh-CN" sz="2000" b="0" i="0" dirty="0" err="1">
                <a:effectLst/>
                <a:latin typeface="Alibaba PuHuiTi" pitchFamily="18" charset="-122"/>
                <a:ea typeface="Alibaba PuHuiTi" pitchFamily="18" charset="-122"/>
                <a:cs typeface="Alibaba PuHuiTi" pitchFamily="18" charset="-122"/>
              </a:rPr>
              <a:t>ReLU</a:t>
            </a:r>
            <a:r>
              <a:rPr lang="en-GB" altLang="zh-CN" sz="2000" b="0" i="0" dirty="0">
                <a:effectLst/>
                <a:latin typeface="Alibaba PuHuiTi" pitchFamily="18" charset="-122"/>
                <a:ea typeface="Alibaba PuHuiTi" pitchFamily="18" charset="-122"/>
                <a:cs typeface="Alibaba PuHuiTi" pitchFamily="18" charset="-122"/>
              </a:rPr>
              <a:t> </a:t>
            </a:r>
            <a:r>
              <a:rPr lang="zh-CN" altLang="en-US" sz="2000" b="0" i="0" dirty="0">
                <a:effectLst/>
                <a:latin typeface="Alibaba PuHuiTi" pitchFamily="18" charset="-122"/>
                <a:ea typeface="Alibaba PuHuiTi" pitchFamily="18" charset="-122"/>
                <a:cs typeface="Alibaba PuHuiTi" pitchFamily="18" charset="-122"/>
              </a:rPr>
              <a:t>能够在</a:t>
            </a:r>
            <a:r>
              <a:rPr lang="en-GB" altLang="zh-CN" sz="2000" b="0" i="0" dirty="0">
                <a:effectLst/>
                <a:latin typeface="Alibaba PuHuiTi" pitchFamily="18" charset="-122"/>
                <a:ea typeface="Alibaba PuHuiTi" pitchFamily="18" charset="-122"/>
                <a:cs typeface="Alibaba PuHuiTi" pitchFamily="18" charset="-122"/>
              </a:rPr>
              <a:t>x&gt;0</a:t>
            </a:r>
            <a:r>
              <a:rPr lang="zh-CN" altLang="en-US" sz="2000" b="0" i="0" dirty="0">
                <a:effectLst/>
                <a:latin typeface="Alibaba PuHuiTi" pitchFamily="18" charset="-122"/>
                <a:ea typeface="Alibaba PuHuiTi" pitchFamily="18" charset="-122"/>
                <a:cs typeface="Alibaba PuHuiTi" pitchFamily="18" charset="-122"/>
              </a:rPr>
              <a:t>时保持梯度不衰减，从而缓解梯度消失问题。然而，随着训练的推进，部分输入会落入小于</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区域，导致对应权重无法更新。这种现象被称为“神经元死亡”。</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Arial" panose="020B0604020202020204" pitchFamily="34" charset="0"/>
              <a:buChar char="•"/>
            </a:pP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是目前最常用的激活函数。与</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相比，</a:t>
            </a:r>
            <a:r>
              <a:rPr lang="en-GB" altLang="zh-CN" sz="2000" b="0" i="0" dirty="0">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的优势是：</a:t>
            </a:r>
            <a:endParaRPr lang="zh-CN" altLang="en-US" sz="2000" b="0" i="0" dirty="0">
              <a:effectLst/>
              <a:latin typeface="Alibaba PuHuiTi" pitchFamily="18" charset="-122"/>
              <a:ea typeface="Alibaba PuHuiTi" pitchFamily="18" charset="-122"/>
              <a:cs typeface="Alibaba PuHuiTi" pitchFamily="18" charset="-122"/>
            </a:endParaRPr>
          </a:p>
          <a:p>
            <a:pPr algn="l"/>
            <a:r>
              <a:rPr lang="zh-CN" altLang="en-US" sz="2000" b="0" i="0" dirty="0">
                <a:effectLst/>
                <a:latin typeface="Alibaba PuHuiTi" pitchFamily="18" charset="-122"/>
                <a:ea typeface="Alibaba PuHuiTi" pitchFamily="18" charset="-122"/>
                <a:cs typeface="Alibaba PuHuiTi" pitchFamily="18" charset="-122"/>
              </a:rPr>
              <a:t>采用</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函数，计算量大（指数运算），反向传播求误差梯度时，计算量相对大，而采用</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激活函数，整个过程的计算量节省很多。 </a:t>
            </a:r>
            <a:r>
              <a:rPr lang="en-GB" altLang="zh-CN" sz="2000" b="0" i="0" dirty="0">
                <a:effectLst/>
                <a:latin typeface="Alibaba PuHuiTi" pitchFamily="18" charset="-122"/>
                <a:ea typeface="Alibaba PuHuiTi" pitchFamily="18" charset="-122"/>
                <a:cs typeface="Alibaba PuHuiTi" pitchFamily="18" charset="-122"/>
              </a:rPr>
              <a:t>sigmoid</a:t>
            </a:r>
            <a:r>
              <a:rPr lang="zh-CN" altLang="en-US" sz="2000" b="0" i="0" dirty="0">
                <a:effectLst/>
                <a:latin typeface="Alibaba PuHuiTi" pitchFamily="18" charset="-122"/>
                <a:ea typeface="Alibaba PuHuiTi" pitchFamily="18" charset="-122"/>
                <a:cs typeface="Alibaba PuHuiTi" pitchFamily="18" charset="-122"/>
              </a:rPr>
              <a:t>函数反向传播时，很容易就会出现梯度消失的情况，从而无法完成深层网络的训练。 </a:t>
            </a:r>
            <a:r>
              <a:rPr lang="en-GB" altLang="zh-CN" sz="2000" b="0" i="0" dirty="0" err="1">
                <a:effectLst/>
                <a:latin typeface="Alibaba PuHuiTi" pitchFamily="18" charset="-122"/>
                <a:ea typeface="Alibaba PuHuiTi" pitchFamily="18" charset="-122"/>
                <a:cs typeface="Alibaba PuHuiTi" pitchFamily="18" charset="-122"/>
              </a:rPr>
              <a:t>Relu</a:t>
            </a:r>
            <a:r>
              <a:rPr lang="zh-CN" altLang="en-US" sz="2000" b="0" i="0" dirty="0">
                <a:effectLst/>
                <a:latin typeface="Alibaba PuHuiTi" pitchFamily="18" charset="-122"/>
                <a:ea typeface="Alibaba PuHuiTi" pitchFamily="18" charset="-122"/>
                <a:cs typeface="Alibaba PuHuiTi" pitchFamily="18" charset="-122"/>
              </a:rPr>
              <a:t>会使一部分神经元的输出为</a:t>
            </a:r>
            <a:r>
              <a:rPr lang="en-US" altLang="zh-CN" sz="2000" b="0" i="0" dirty="0">
                <a:effectLst/>
                <a:latin typeface="Alibaba PuHuiTi" pitchFamily="18" charset="-122"/>
                <a:ea typeface="Alibaba PuHuiTi" pitchFamily="18" charset="-122"/>
                <a:cs typeface="Alibaba PuHuiTi" pitchFamily="18" charset="-122"/>
              </a:rPr>
              <a:t>0</a:t>
            </a:r>
            <a:r>
              <a:rPr lang="zh-CN" altLang="en-US" sz="2000" b="0" i="0" dirty="0">
                <a:effectLst/>
                <a:latin typeface="Alibaba PuHuiTi" pitchFamily="18" charset="-122"/>
                <a:ea typeface="Alibaba PuHuiTi" pitchFamily="18" charset="-122"/>
                <a:cs typeface="Alibaba PuHuiTi" pitchFamily="18" charset="-122"/>
              </a:rPr>
              <a:t>，这样就造成了网络的稀疏性，并且减少了参数的相互依存关系，缓解了过拟合问题的发生。</a:t>
            </a:r>
            <a:endParaRPr lang="zh-CN" altLang="en-US" sz="2000" b="0" i="0" dirty="0">
              <a:effectLst/>
              <a:latin typeface="Alibaba PuHuiTi" pitchFamily="18" charset="-122"/>
              <a:ea typeface="Alibaba PuHuiTi" pitchFamily="18" charset="-122"/>
              <a:cs typeface="Alibaba PuHuiTi" pitchFamily="18" charset="-122"/>
            </a:endParaRPr>
          </a:p>
          <a:p>
            <a:br>
              <a:rPr lang="zh-CN" altLang="en-US" dirty="0"/>
            </a:br>
            <a:endParaRPr lang="en-US" altLang="zh-CN" b="0" i="0" dirty="0">
              <a:solidFill>
                <a:srgbClr val="333333"/>
              </a:solidFill>
              <a:effectLst/>
              <a:latin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a:t>
            </a:r>
            <a:r>
              <a:rPr lang="en-US" altLang="zh-CN" b="1" i="0" dirty="0" err="1">
                <a:solidFill>
                  <a:srgbClr val="333333"/>
                </a:solidFill>
                <a:effectLst/>
                <a:latin typeface="Helvetica Neue"/>
              </a:rPr>
              <a:t>ReLU</a:t>
            </a:r>
            <a:r>
              <a:rPr lang="en-US" altLang="zh-CN" b="1" i="0" dirty="0">
                <a:solidFill>
                  <a:srgbClr val="333333"/>
                </a:solidFill>
                <a:effectLst/>
                <a:latin typeface="Helvetica Neue"/>
              </a:rPr>
              <a:t>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4" name="文本框 3"/>
          <p:cNvSpPr txBox="1"/>
          <p:nvPr/>
        </p:nvSpPr>
        <p:spPr>
          <a:xfrm>
            <a:off x="1827254" y="1457271"/>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创建画布和坐标轴</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_, axes = </a:t>
            </a:r>
            <a:r>
              <a:rPr lang="en-US" altLang="zh-CN" sz="1400" b="1" dirty="0" err="1">
                <a:solidFill>
                  <a:srgbClr val="0000FF"/>
                </a:solidFill>
                <a:latin typeface="宋体" panose="02010600030101010101" pitchFamily="2" charset="-122"/>
                <a:ea typeface="阿里巴巴普惠体" panose="00020600040101010101"/>
              </a:rPr>
              <a:t>plt.subplots</a:t>
            </a:r>
            <a:r>
              <a:rPr lang="en-US" altLang="zh-CN" sz="1400" b="1" dirty="0">
                <a:solidFill>
                  <a:srgbClr val="0000FF"/>
                </a:solidFill>
                <a:latin typeface="宋体" panose="02010600030101010101" pitchFamily="2" charset="-122"/>
                <a:ea typeface="阿里巴巴普惠体" panose="00020600040101010101"/>
              </a:rPr>
              <a:t>(1, 2)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函数图像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y = </a:t>
            </a: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axes[0].plot(x,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axes[0].</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ReLU</a:t>
            </a:r>
            <a:r>
              <a:rPr lang="en-US" altLang="zh-CN" sz="1400" b="1" dirty="0">
                <a:solidFill>
                  <a:srgbClr val="0000FF"/>
                </a:solidFill>
                <a:latin typeface="宋体" panose="02010600030101010101" pitchFamily="2" charset="-122"/>
                <a:ea typeface="阿里巴巴普惠体" panose="00020600040101010101"/>
              </a:rPr>
              <a:t> </a:t>
            </a:r>
            <a:r>
              <a:rPr lang="zh-CN" altLang="en-US" sz="1400" b="1" dirty="0">
                <a:solidFill>
                  <a:srgbClr val="0000FF"/>
                </a:solidFill>
                <a:latin typeface="宋体" panose="02010600030101010101" pitchFamily="2" charset="-122"/>
                <a:ea typeface="阿里巴巴普惠体" panose="00020600040101010101"/>
              </a:rPr>
              <a:t>函数图像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导数图像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torch.linspace</a:t>
            </a:r>
            <a:r>
              <a:rPr lang="en-US" altLang="zh-CN" sz="1400" b="1" dirty="0">
                <a:solidFill>
                  <a:srgbClr val="0000FF"/>
                </a:solidFill>
                <a:latin typeface="宋体" panose="02010600030101010101" pitchFamily="2" charset="-122"/>
                <a:ea typeface="阿里巴巴普惠体" panose="00020600040101010101"/>
              </a:rPr>
              <a:t>(-20, 20, 1000,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(x).sum().backward()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axes[1].plot(</a:t>
            </a:r>
            <a:r>
              <a:rPr lang="en-US" altLang="zh-CN" sz="1400" b="1" dirty="0" err="1">
                <a:solidFill>
                  <a:srgbClr val="0000FF"/>
                </a:solidFill>
                <a:latin typeface="宋体" panose="02010600030101010101" pitchFamily="2" charset="-122"/>
                <a:ea typeface="阿里巴巴普惠体" panose="00020600040101010101"/>
              </a:rPr>
              <a:t>x.detach</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x.grad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axes[1].grid()</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axes[1].</a:t>
            </a:r>
            <a:r>
              <a:rPr lang="en-US" altLang="zh-CN" sz="1400" b="1" dirty="0" err="1">
                <a:solidFill>
                  <a:srgbClr val="0000FF"/>
                </a:solidFill>
                <a:latin typeface="宋体" panose="02010600030101010101" pitchFamily="2" charset="-122"/>
                <a:ea typeface="阿里巴巴普惠体" panose="00020600040101010101"/>
              </a:rPr>
              <a:t>set_title</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ReLU</a:t>
            </a:r>
            <a:r>
              <a:rPr lang="en-US" altLang="zh-CN" sz="1400" b="1" dirty="0">
                <a:solidFill>
                  <a:srgbClr val="0000FF"/>
                </a:solidFill>
                <a:latin typeface="宋体" panose="02010600030101010101" pitchFamily="2" charset="-122"/>
                <a:ea typeface="阿里巴巴普惠体" panose="00020600040101010101"/>
              </a:rPr>
              <a:t> </a:t>
            </a:r>
            <a:r>
              <a:rPr lang="zh-CN" altLang="en-US" sz="1400" b="1" dirty="0">
                <a:solidFill>
                  <a:srgbClr val="0000FF"/>
                </a:solidFill>
                <a:latin typeface="宋体" panose="02010600030101010101" pitchFamily="2" charset="-122"/>
                <a:ea typeface="阿里巴巴普惠体" panose="00020600040101010101"/>
              </a:rPr>
              <a:t>导数图像</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-SoftMax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用于</a:t>
            </a:r>
            <a:r>
              <a:rPr lang="zh-CN" altLang="en-US" b="1" i="0" dirty="0">
                <a:solidFill>
                  <a:srgbClr val="333333"/>
                </a:solidFill>
                <a:effectLst/>
                <a:latin typeface="Helvetica Neue"/>
              </a:rPr>
              <a:t>多分类</a:t>
            </a:r>
            <a:r>
              <a:rPr lang="zh-CN" altLang="en-US" b="0" i="0" dirty="0">
                <a:solidFill>
                  <a:srgbClr val="333333"/>
                </a:solidFill>
                <a:effectLst/>
                <a:latin typeface="Helvetica Neue"/>
              </a:rPr>
              <a:t>过程中，它是二分类函数</a:t>
            </a:r>
            <a:r>
              <a:rPr lang="en-US" altLang="zh-CN" b="0" i="0" dirty="0">
                <a:solidFill>
                  <a:srgbClr val="333333"/>
                </a:solidFill>
                <a:effectLst/>
                <a:latin typeface="Helvetica Neue"/>
              </a:rPr>
              <a:t>sigmoid</a:t>
            </a:r>
            <a:r>
              <a:rPr lang="zh-CN" altLang="en-US" b="0" i="0" dirty="0">
                <a:solidFill>
                  <a:srgbClr val="333333"/>
                </a:solidFill>
                <a:effectLst/>
                <a:latin typeface="Helvetica Neue"/>
              </a:rPr>
              <a:t>在多分类上的推广，目的是</a:t>
            </a:r>
            <a:r>
              <a:rPr lang="zh-CN" altLang="en-US" b="1" i="0" dirty="0">
                <a:solidFill>
                  <a:srgbClr val="333333"/>
                </a:solidFill>
                <a:effectLst/>
                <a:latin typeface="Helvetica Neue"/>
              </a:rPr>
              <a:t>将多分类的结果以概率的形式展现出来</a:t>
            </a:r>
            <a:r>
              <a:rPr lang="zh-CN" altLang="en-US" b="0" i="0" dirty="0">
                <a:solidFill>
                  <a:srgbClr val="333333"/>
                </a:solidFill>
                <a:effectLst/>
                <a:latin typeface="Helvetica Neue"/>
              </a:rPr>
              <a:t>。计算方法如下图所示：</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658527" y="2390096"/>
            <a:ext cx="5997460" cy="365029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常见的</a:t>
            </a:r>
            <a:r>
              <a:rPr lang="zh-CN" altLang="en-US" b="1" i="0" dirty="0">
                <a:solidFill>
                  <a:srgbClr val="333333"/>
                </a:solidFill>
                <a:effectLst/>
                <a:latin typeface="Helvetica Neue"/>
              </a:rPr>
              <a:t>激活函数</a:t>
            </a:r>
            <a:r>
              <a:rPr lang="en-US" altLang="zh-CN" b="1" i="0" dirty="0">
                <a:solidFill>
                  <a:srgbClr val="333333"/>
                </a:solidFill>
                <a:effectLst/>
                <a:latin typeface="Helvetica Neue"/>
              </a:rPr>
              <a:t>-SoftMax </a:t>
            </a:r>
            <a:r>
              <a:rPr lang="zh-CN" altLang="en-US" b="1" i="0" dirty="0">
                <a:solidFill>
                  <a:srgbClr val="333333"/>
                </a:solidFill>
                <a:effectLst/>
                <a:latin typeface="Helvetica Neue"/>
              </a:rPr>
              <a:t>激活函数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en-US" altLang="zh-CN" sz="2000" b="0" i="0" dirty="0" err="1">
                <a:solidFill>
                  <a:srgbClr val="333333"/>
                </a:solidFill>
                <a:effectLst/>
                <a:latin typeface="Alibaba PuHuiTi" pitchFamily="18" charset="-122"/>
                <a:ea typeface="Alibaba PuHuiTi" pitchFamily="18" charset="-122"/>
                <a:cs typeface="Alibaba PuHuiTi" pitchFamily="18" charset="-122"/>
              </a:rPr>
              <a:t>Softmax</a:t>
            </a:r>
            <a:r>
              <a:rPr lang="en-US" altLang="zh-CN" sz="2000" b="0" i="0" dirty="0">
                <a:solidFill>
                  <a:srgbClr val="333333"/>
                </a:solidFill>
                <a:effectLst/>
                <a:latin typeface="Alibaba PuHuiTi" pitchFamily="18" charset="-122"/>
                <a:ea typeface="Alibaba PuHuiTi" pitchFamily="18" charset="-122"/>
                <a:cs typeface="Alibaba PuHuiTi" pitchFamily="18" charset="-122"/>
              </a:rPr>
              <a:t> </a:t>
            </a:r>
            <a:r>
              <a:rPr lang="zh-CN" altLang="en-US" sz="2000" b="0" i="0" dirty="0">
                <a:solidFill>
                  <a:srgbClr val="333333"/>
                </a:solidFill>
                <a:effectLst/>
                <a:latin typeface="Alibaba PuHuiTi" pitchFamily="18" charset="-122"/>
                <a:ea typeface="Alibaba PuHuiTi" pitchFamily="18" charset="-122"/>
                <a:cs typeface="Alibaba PuHuiTi" pitchFamily="18" charset="-122"/>
              </a:rPr>
              <a:t>就是将网络输出的 </a:t>
            </a:r>
            <a:r>
              <a:rPr lang="en-US" altLang="zh-CN" sz="2000" b="0" i="0" dirty="0">
                <a:solidFill>
                  <a:srgbClr val="333333"/>
                </a:solidFill>
                <a:effectLst/>
                <a:latin typeface="Alibaba PuHuiTi" pitchFamily="18" charset="-122"/>
                <a:ea typeface="Alibaba PuHuiTi" pitchFamily="18" charset="-122"/>
                <a:cs typeface="Alibaba PuHuiTi" pitchFamily="18" charset="-122"/>
              </a:rPr>
              <a:t>logits </a:t>
            </a:r>
            <a:r>
              <a:rPr lang="zh-CN" altLang="en-US" sz="2000" b="0" i="0" dirty="0">
                <a:solidFill>
                  <a:srgbClr val="333333"/>
                </a:solidFill>
                <a:effectLst/>
                <a:latin typeface="Alibaba PuHuiTi" pitchFamily="18" charset="-122"/>
                <a:ea typeface="Alibaba PuHuiTi" pitchFamily="18" charset="-122"/>
                <a:cs typeface="Alibaba PuHuiTi" pitchFamily="18" charset="-122"/>
              </a:rPr>
              <a:t>通过 </a:t>
            </a:r>
            <a:r>
              <a:rPr lang="en-US" altLang="zh-CN" sz="2000" b="0" i="0" dirty="0" err="1">
                <a:solidFill>
                  <a:srgbClr val="333333"/>
                </a:solidFill>
                <a:effectLst/>
                <a:latin typeface="Alibaba PuHuiTi" pitchFamily="18" charset="-122"/>
                <a:ea typeface="Alibaba PuHuiTi" pitchFamily="18" charset="-122"/>
                <a:cs typeface="Alibaba PuHuiTi" pitchFamily="18" charset="-122"/>
              </a:rPr>
              <a:t>softmax</a:t>
            </a:r>
            <a:r>
              <a:rPr lang="en-US" altLang="zh-CN" sz="2000" b="0" i="0" dirty="0">
                <a:solidFill>
                  <a:srgbClr val="333333"/>
                </a:solidFill>
                <a:effectLst/>
                <a:latin typeface="Alibaba PuHuiTi" pitchFamily="18" charset="-122"/>
                <a:ea typeface="Alibaba PuHuiTi" pitchFamily="18" charset="-122"/>
                <a:cs typeface="Alibaba PuHuiTi" pitchFamily="18" charset="-122"/>
              </a:rPr>
              <a:t> </a:t>
            </a:r>
            <a:r>
              <a:rPr lang="zh-CN" altLang="en-US" sz="2000" b="0" i="0" dirty="0">
                <a:solidFill>
                  <a:srgbClr val="333333"/>
                </a:solidFill>
                <a:effectLst/>
                <a:latin typeface="Alibaba PuHuiTi" pitchFamily="18" charset="-122"/>
                <a:ea typeface="Alibaba PuHuiTi" pitchFamily="18" charset="-122"/>
                <a:cs typeface="Alibaba PuHuiTi" pitchFamily="18" charset="-122"/>
              </a:rPr>
              <a:t>函数，就映射成为</a:t>
            </a:r>
            <a:r>
              <a:rPr lang="en-US" altLang="zh-CN" sz="2000" b="0" i="0" dirty="0">
                <a:solidFill>
                  <a:srgbClr val="333333"/>
                </a:solidFill>
                <a:effectLst/>
                <a:latin typeface="Alibaba PuHuiTi" pitchFamily="18" charset="-122"/>
                <a:ea typeface="Alibaba PuHuiTi" pitchFamily="18" charset="-122"/>
                <a:cs typeface="Alibaba PuHuiTi" pitchFamily="18" charset="-122"/>
              </a:rPr>
              <a:t>(0,1)</a:t>
            </a:r>
            <a:r>
              <a:rPr lang="zh-CN" altLang="en-US" sz="2000" b="0" i="0" dirty="0">
                <a:solidFill>
                  <a:srgbClr val="333333"/>
                </a:solidFill>
                <a:effectLst/>
                <a:latin typeface="Alibaba PuHuiTi" pitchFamily="18" charset="-122"/>
                <a:ea typeface="Alibaba PuHuiTi" pitchFamily="18" charset="-122"/>
                <a:cs typeface="Alibaba PuHuiTi" pitchFamily="18" charset="-122"/>
              </a:rPr>
              <a:t>的值，而</a:t>
            </a:r>
            <a:r>
              <a:rPr lang="zh-CN" altLang="en-US" sz="2000" b="1" i="0" dirty="0">
                <a:solidFill>
                  <a:srgbClr val="333333"/>
                </a:solidFill>
                <a:effectLst/>
                <a:latin typeface="Alibaba PuHuiTi" pitchFamily="18" charset="-122"/>
                <a:ea typeface="Alibaba PuHuiTi" pitchFamily="18" charset="-122"/>
                <a:cs typeface="Alibaba PuHuiTi" pitchFamily="18" charset="-122"/>
              </a:rPr>
              <a:t>这些值的累和为</a:t>
            </a:r>
            <a:r>
              <a:rPr lang="en-US" altLang="zh-CN" sz="2000" b="1" i="0" dirty="0">
                <a:solidFill>
                  <a:srgbClr val="333333"/>
                </a:solidFill>
                <a:effectLst/>
                <a:latin typeface="Alibaba PuHuiTi" pitchFamily="18" charset="-122"/>
                <a:ea typeface="Alibaba PuHuiTi" pitchFamily="18" charset="-122"/>
                <a:cs typeface="Alibaba PuHuiTi" pitchFamily="18" charset="-122"/>
              </a:rPr>
              <a:t>1</a:t>
            </a:r>
            <a:r>
              <a:rPr lang="zh-CN" altLang="en-US" sz="2000" b="0" i="0" dirty="0">
                <a:solidFill>
                  <a:srgbClr val="333333"/>
                </a:solidFill>
                <a:effectLst/>
                <a:latin typeface="Alibaba PuHuiTi" pitchFamily="18" charset="-122"/>
                <a:ea typeface="Alibaba PuHuiTi" pitchFamily="18" charset="-122"/>
                <a:cs typeface="Alibaba PuHuiTi" pitchFamily="18" charset="-122"/>
              </a:rPr>
              <a:t>（满足概率的性质），那么我们将它理解成概率，</a:t>
            </a:r>
            <a:r>
              <a:rPr lang="zh-CN" altLang="en-US" sz="2000" b="1" i="0" dirty="0">
                <a:solidFill>
                  <a:srgbClr val="333333"/>
                </a:solidFill>
                <a:effectLst/>
                <a:latin typeface="Alibaba PuHuiTi" pitchFamily="18" charset="-122"/>
                <a:ea typeface="Alibaba PuHuiTi" pitchFamily="18" charset="-122"/>
                <a:cs typeface="Alibaba PuHuiTi" pitchFamily="18" charset="-122"/>
              </a:rPr>
              <a:t>选取概率最大（也就是值对应最大的）节点</a:t>
            </a:r>
            <a:r>
              <a:rPr lang="zh-CN" altLang="en-US" sz="2000" b="0" i="0" dirty="0">
                <a:solidFill>
                  <a:srgbClr val="333333"/>
                </a:solidFill>
                <a:effectLst/>
                <a:latin typeface="Alibaba PuHuiTi" pitchFamily="18" charset="-122"/>
                <a:ea typeface="Alibaba PuHuiTi" pitchFamily="18" charset="-122"/>
                <a:cs typeface="Alibaba PuHuiTi" pitchFamily="18" charset="-122"/>
              </a:rPr>
              <a:t>，作为我们的</a:t>
            </a:r>
            <a:r>
              <a:rPr lang="zh-CN" altLang="en-US" sz="2000" b="1" i="0" dirty="0">
                <a:solidFill>
                  <a:srgbClr val="333333"/>
                </a:solidFill>
                <a:effectLst/>
                <a:latin typeface="Alibaba PuHuiTi" pitchFamily="18" charset="-122"/>
                <a:ea typeface="Alibaba PuHuiTi" pitchFamily="18" charset="-122"/>
                <a:cs typeface="Alibaba PuHuiTi" pitchFamily="18" charset="-122"/>
              </a:rPr>
              <a:t>预测目标类别</a:t>
            </a:r>
            <a:r>
              <a:rPr lang="zh-CN" altLang="en-US" sz="2000" b="0" i="0" dirty="0">
                <a:solidFill>
                  <a:srgbClr val="333333"/>
                </a:solidFill>
                <a:effectLst/>
                <a:latin typeface="Alibaba PuHuiTi" pitchFamily="18" charset="-122"/>
                <a:ea typeface="Alibaba PuHuiTi" pitchFamily="18" charset="-122"/>
                <a:cs typeface="Alibaba PuHuiTi" pitchFamily="18" charset="-122"/>
              </a:rPr>
              <a:t>。</a:t>
            </a:r>
            <a:endParaRPr lang="en-US" altLang="zh-CN" sz="20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
        <p:nvSpPr>
          <p:cNvPr id="4" name="文本框 3"/>
          <p:cNvSpPr txBox="1"/>
          <p:nvPr/>
        </p:nvSpPr>
        <p:spPr>
          <a:xfrm>
            <a:off x="1550163" y="3057649"/>
            <a:ext cx="7483000" cy="184531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scores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([0.2, 0.02, 0.15, 0.15, 1.3, 0.5, 0.06, 1.1, 0.05, 3.75])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dim = 0,</a:t>
            </a:r>
            <a:r>
              <a:rPr lang="zh-CN" altLang="en-US" sz="1400" dirty="0">
                <a:solidFill>
                  <a:srgbClr val="00B050"/>
                </a:solidFill>
                <a:latin typeface="宋体" panose="02010600030101010101" pitchFamily="2" charset="-122"/>
                <a:ea typeface="阿里巴巴普惠体" panose="00020600040101010101"/>
              </a:rPr>
              <a:t>按行计算</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probabilities = </a:t>
            </a:r>
            <a:r>
              <a:rPr lang="en-US" altLang="zh-CN" sz="1400" b="1" dirty="0" err="1">
                <a:solidFill>
                  <a:srgbClr val="0000FF"/>
                </a:solidFill>
                <a:latin typeface="宋体" panose="02010600030101010101" pitchFamily="2" charset="-122"/>
                <a:ea typeface="阿里巴巴普惠体" panose="00020600040101010101"/>
              </a:rPr>
              <a:t>torch.softmax</a:t>
            </a:r>
            <a:r>
              <a:rPr lang="en-US" altLang="zh-CN" sz="1400" b="1" dirty="0">
                <a:solidFill>
                  <a:srgbClr val="0000FF"/>
                </a:solidFill>
                <a:latin typeface="宋体" panose="02010600030101010101" pitchFamily="2" charset="-122"/>
                <a:ea typeface="阿里巴巴普惠体" panose="00020600040101010101"/>
              </a:rPr>
              <a:t>(scores, dim=0)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print(probabilities)</a:t>
            </a:r>
            <a:endParaRPr lang="zh-CN" altLang="en-US"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1079109" y="5104693"/>
            <a:ext cx="8840745" cy="584775"/>
          </a:xfrm>
          <a:prstGeom prst="rect">
            <a:avLst/>
          </a:prstGeom>
          <a:noFill/>
        </p:spPr>
        <p:txBody>
          <a:bodyPr wrap="square">
            <a:spAutoFit/>
          </a:bodyPr>
          <a:lstStyle/>
          <a:p>
            <a:r>
              <a:rPr lang="zh-CN" altLang="en-US" sz="1600" dirty="0">
                <a:solidFill>
                  <a:srgbClr val="FF0000"/>
                </a:solidFill>
                <a:latin typeface="Alibaba PuHuiTi" pitchFamily="18" charset="-122"/>
                <a:ea typeface="Alibaba PuHuiTi" pitchFamily="18" charset="-122"/>
                <a:cs typeface="Alibaba PuHuiTi" pitchFamily="18" charset="-122"/>
              </a:rPr>
              <a:t>输出结果</a:t>
            </a:r>
            <a:r>
              <a:rPr lang="en-US" altLang="zh-CN" sz="1600" dirty="0">
                <a:solidFill>
                  <a:srgbClr val="FF0000"/>
                </a:solidFill>
                <a:latin typeface="Alibaba PuHuiTi" pitchFamily="18" charset="-122"/>
                <a:ea typeface="Alibaba PuHuiTi" pitchFamily="18" charset="-122"/>
                <a:cs typeface="Alibaba PuHuiTi" pitchFamily="18" charset="-122"/>
              </a:rPr>
              <a:t>:</a:t>
            </a:r>
            <a:endParaRPr lang="en-US" altLang="zh-CN" sz="1600" dirty="0">
              <a:solidFill>
                <a:srgbClr val="FF0000"/>
              </a:solidFill>
              <a:latin typeface="Alibaba PuHuiTi" pitchFamily="18" charset="-122"/>
              <a:ea typeface="Alibaba PuHuiTi" pitchFamily="18" charset="-122"/>
              <a:cs typeface="Alibaba PuHuiTi" pitchFamily="18" charset="-122"/>
            </a:endParaRPr>
          </a:p>
          <a:p>
            <a:r>
              <a:rPr lang="en-US" altLang="zh-CN" sz="1600" dirty="0">
                <a:latin typeface="Alibaba PuHuiTi" pitchFamily="18" charset="-122"/>
                <a:ea typeface="Alibaba PuHuiTi" pitchFamily="18" charset="-122"/>
                <a:cs typeface="Alibaba PuHuiTi" pitchFamily="18" charset="-122"/>
              </a:rPr>
              <a:t>tensor([0.0212, 0.0177, 0.0202, 0.0202, 0.0638, 0.0287, 0.0185, 0.0522, 0.0183,0.7392])</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其他常见的激活函数</a:t>
            </a:r>
            <a:endParaRPr lang="zh-CN" altLang="en-US"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524290" y="1457270"/>
            <a:ext cx="6204074" cy="531434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激活函数的选择方法</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a:t>
            </a:r>
            <a:r>
              <a:rPr lang="zh-CN" altLang="en-US" b="1" i="0" dirty="0">
                <a:solidFill>
                  <a:srgbClr val="333333"/>
                </a:solidFill>
                <a:effectLst/>
                <a:latin typeface="Alibaba PuHuiTi" pitchFamily="18" charset="-122"/>
                <a:ea typeface="Alibaba PuHuiTi" pitchFamily="18" charset="-122"/>
                <a:cs typeface="Alibaba PuHuiTi" pitchFamily="18" charset="-122"/>
              </a:rPr>
              <a:t>隐藏层</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优先选择</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如果</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效果不好，那么尝试其他激活，如</a:t>
            </a:r>
            <a:r>
              <a:rPr lang="en-US" altLang="zh-CN" b="0" i="0" dirty="0">
                <a:solidFill>
                  <a:srgbClr val="333333"/>
                </a:solidFill>
                <a:effectLst/>
                <a:latin typeface="Alibaba PuHuiTi" pitchFamily="18" charset="-122"/>
                <a:ea typeface="Alibaba PuHuiTi" pitchFamily="18" charset="-122"/>
                <a:cs typeface="Alibaba PuHuiTi" pitchFamily="18" charset="-122"/>
              </a:rPr>
              <a:t>Leaky </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等。</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如果你使用了</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 需要注意一下</a:t>
            </a:r>
            <a:r>
              <a:rPr lang="en-US" altLang="zh-CN" b="0" i="0" dirty="0">
                <a:solidFill>
                  <a:srgbClr val="333333"/>
                </a:solidFill>
                <a:effectLst/>
                <a:latin typeface="Alibaba PuHuiTi" pitchFamily="18" charset="-122"/>
                <a:ea typeface="Alibaba PuHuiTi" pitchFamily="18" charset="-122"/>
                <a:cs typeface="Alibaba PuHuiTi" pitchFamily="18" charset="-122"/>
              </a:rPr>
              <a:t>Dead </a:t>
            </a:r>
            <a:r>
              <a:rPr lang="en-US" altLang="zh-CN" b="0" i="0" dirty="0" err="1">
                <a:solidFill>
                  <a:srgbClr val="333333"/>
                </a:solidFill>
                <a:effectLst/>
                <a:latin typeface="Alibaba PuHuiTi" pitchFamily="18" charset="-122"/>
                <a:ea typeface="Alibaba PuHuiTi" pitchFamily="18" charset="-122"/>
                <a:cs typeface="Alibaba PuHuiTi" pitchFamily="18" charset="-122"/>
              </a:rPr>
              <a:t>ReLU</a:t>
            </a:r>
            <a:r>
              <a:rPr lang="zh-CN" altLang="en-US" b="0" i="0" dirty="0">
                <a:solidFill>
                  <a:srgbClr val="333333"/>
                </a:solidFill>
                <a:effectLst/>
                <a:latin typeface="Alibaba PuHuiTi" pitchFamily="18" charset="-122"/>
                <a:ea typeface="Alibaba PuHuiTi" pitchFamily="18" charset="-122"/>
                <a:cs typeface="Alibaba PuHuiTi" pitchFamily="18" charset="-122"/>
              </a:rPr>
              <a:t>问题， 避免出现</a:t>
            </a:r>
            <a:r>
              <a:rPr lang="en-US" altLang="zh-CN" b="0" i="0" dirty="0">
                <a:solidFill>
                  <a:srgbClr val="333333"/>
                </a:solidFill>
                <a:effectLst/>
                <a:latin typeface="Alibaba PuHuiTi" pitchFamily="18" charset="-122"/>
                <a:ea typeface="Alibaba PuHuiTi" pitchFamily="18" charset="-122"/>
                <a:cs typeface="Alibaba PuHuiTi" pitchFamily="18" charset="-122"/>
              </a:rPr>
              <a:t>0</a:t>
            </a:r>
            <a:r>
              <a:rPr lang="zh-CN" altLang="en-US" b="0" i="0" dirty="0">
                <a:solidFill>
                  <a:srgbClr val="333333"/>
                </a:solidFill>
                <a:effectLst/>
                <a:latin typeface="Alibaba PuHuiTi" pitchFamily="18" charset="-122"/>
                <a:ea typeface="Alibaba PuHuiTi" pitchFamily="18" charset="-122"/>
                <a:cs typeface="Alibaba PuHuiTi" pitchFamily="18" charset="-122"/>
              </a:rPr>
              <a:t>梯度从而导致过多的神经元死亡。</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少用使用</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激活函数，可以尝试使用</a:t>
            </a:r>
            <a:r>
              <a:rPr lang="en-US" altLang="zh-CN" b="0" i="0" dirty="0">
                <a:solidFill>
                  <a:srgbClr val="333333"/>
                </a:solidFill>
                <a:effectLst/>
                <a:latin typeface="Alibaba PuHuiTi" pitchFamily="18" charset="-122"/>
                <a:ea typeface="Alibaba PuHuiTi" pitchFamily="18" charset="-122"/>
                <a:cs typeface="Alibaba PuHuiTi" pitchFamily="18" charset="-122"/>
              </a:rPr>
              <a:t>tanh</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a:t>
            </a:r>
            <a:r>
              <a:rPr lang="zh-CN" altLang="en-US" b="1" i="0" dirty="0">
                <a:solidFill>
                  <a:srgbClr val="333333"/>
                </a:solidFill>
                <a:effectLst/>
                <a:latin typeface="Alibaba PuHuiTi" pitchFamily="18" charset="-122"/>
                <a:ea typeface="Alibaba PuHuiTi" pitchFamily="18" charset="-122"/>
                <a:cs typeface="Alibaba PuHuiTi" pitchFamily="18" charset="-122"/>
              </a:rPr>
              <a:t>输出层</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二分类问题选择</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多分类问题选择</a:t>
            </a:r>
            <a:r>
              <a:rPr lang="en-US" altLang="zh-CN" b="0" i="0" dirty="0" err="1">
                <a:solidFill>
                  <a:srgbClr val="333333"/>
                </a:solidFill>
                <a:effectLst/>
                <a:latin typeface="Alibaba PuHuiTi" pitchFamily="18" charset="-122"/>
                <a:ea typeface="Alibaba PuHuiTi" pitchFamily="18" charset="-122"/>
                <a:cs typeface="Alibaba PuHuiTi" pitchFamily="18" charset="-122"/>
              </a:rPr>
              <a:t>softmax</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回归问题选择</a:t>
            </a:r>
            <a:r>
              <a:rPr lang="en-US" altLang="zh-CN" b="0" i="0" dirty="0">
                <a:solidFill>
                  <a:srgbClr val="333333"/>
                </a:solidFill>
                <a:effectLst/>
                <a:latin typeface="Alibaba PuHuiTi" pitchFamily="18" charset="-122"/>
                <a:ea typeface="Alibaba PuHuiTi" pitchFamily="18" charset="-122"/>
                <a:cs typeface="Alibaba PuHuiTi" pitchFamily="18" charset="-122"/>
              </a:rPr>
              <a:t>identity</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kumimoji="1" lang="en-US" altLang="zh-CN" dirty="0"/>
              <a:t>1.</a:t>
            </a:r>
            <a:r>
              <a:rPr kumimoji="1" lang="zh-CN" altLang="en-US" dirty="0"/>
              <a:t>激活函数的作用？</a:t>
            </a:r>
            <a:endParaRPr kumimoji="1" lang="en-US" altLang="zh-CN" dirty="0"/>
          </a:p>
          <a:p>
            <a:pPr marL="0" indent="0">
              <a:buNone/>
            </a:pPr>
            <a:r>
              <a:rPr kumimoji="1" lang="zh-CN" altLang="en-US" dirty="0"/>
              <a:t>向神经网络中添加非线性元素</a:t>
            </a:r>
            <a:endParaRPr kumimoji="1" lang="en-US" altLang="zh-CN" dirty="0"/>
          </a:p>
          <a:p>
            <a:pPr marL="0" indent="0">
              <a:buNone/>
            </a:pPr>
            <a:r>
              <a:rPr kumimoji="1" lang="en-US" altLang="zh-CN" dirty="0"/>
              <a:t>2.</a:t>
            </a:r>
            <a:r>
              <a:rPr kumimoji="1" lang="zh-CN" altLang="en-US" dirty="0"/>
              <a:t>常见的激活函数及其特点？</a:t>
            </a:r>
            <a:endParaRPr kumimoji="1" lang="en-US" altLang="zh-CN" dirty="0"/>
          </a:p>
          <a:p>
            <a:pPr marL="0" indent="0">
              <a:buNone/>
            </a:pPr>
            <a:r>
              <a:rPr kumimoji="1" lang="en-US" altLang="zh-CN" dirty="0" err="1"/>
              <a:t>Sigmoid,tanh,relu,softmax</a:t>
            </a:r>
            <a:r>
              <a:rPr kumimoji="1" lang="zh-CN" altLang="en-US" dirty="0"/>
              <a:t>等</a:t>
            </a:r>
            <a:endParaRPr kumimoji="1" lang="en-US" altLang="zh-CN" dirty="0"/>
          </a:p>
          <a:p>
            <a:pPr marL="0" indent="0">
              <a:buNone/>
            </a:pPr>
            <a:r>
              <a:rPr kumimoji="1" lang="en-US" altLang="zh-CN" dirty="0"/>
              <a:t>3.</a:t>
            </a:r>
            <a:r>
              <a:rPr kumimoji="1" lang="zh-CN" altLang="en-US" dirty="0"/>
              <a:t>激活函数的选择方法？</a:t>
            </a:r>
            <a:endParaRPr kumimoji="1" lang="en-US" altLang="zh-CN" dirty="0"/>
          </a:p>
          <a:p>
            <a:pPr marL="0" indent="0">
              <a:buNone/>
            </a:pPr>
            <a:r>
              <a:rPr kumimoji="1" lang="zh-CN" altLang="en-US" dirty="0"/>
              <a:t>隐藏层：</a:t>
            </a:r>
            <a:r>
              <a:rPr kumimoji="1" lang="en-US" altLang="zh-CN" dirty="0" err="1"/>
              <a:t>relu</a:t>
            </a:r>
            <a:endParaRPr kumimoji="1" lang="en-US" altLang="zh-CN" dirty="0"/>
          </a:p>
          <a:p>
            <a:pPr marL="0" indent="0">
              <a:buNone/>
            </a:pPr>
            <a:r>
              <a:rPr kumimoji="1" lang="zh-CN" altLang="en-US" dirty="0"/>
              <a:t>输出层：二分类：</a:t>
            </a:r>
            <a:r>
              <a:rPr kumimoji="1" lang="en-US" altLang="zh-CN" dirty="0"/>
              <a:t>sigmoid,</a:t>
            </a:r>
            <a:r>
              <a:rPr kumimoji="1" lang="zh-CN" altLang="en-US" dirty="0"/>
              <a:t>多分类：</a:t>
            </a:r>
            <a:r>
              <a:rPr kumimoji="1" lang="en-US" altLang="zh-CN" dirty="0" err="1"/>
              <a:t>softmax</a:t>
            </a:r>
            <a:r>
              <a:rPr kumimoji="1" lang="en-US" altLang="zh-CN" dirty="0"/>
              <a:t>,</a:t>
            </a:r>
            <a:r>
              <a:rPr kumimoji="1" lang="zh-CN" altLang="en-US" dirty="0"/>
              <a:t>回归：恒等</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effectLst/>
                <a:latin typeface="Alibaba PuHuiTi" pitchFamily="18" charset="-122"/>
                <a:ea typeface="Alibaba PuHuiTi" pitchFamily="18" charset="-122"/>
                <a:cs typeface="Alibaba PuHuiTi" pitchFamily="18" charset="-122"/>
              </a:rPr>
              <a:t>参数初始化</a:t>
            </a:r>
            <a:endParaRPr lang="zh-CN" altLang="en-US" i="0" dirty="0">
              <a:solidFill>
                <a:srgbClr val="333333"/>
              </a:solidFill>
              <a:effectLst/>
              <a:latin typeface="Alibaba PuHuiTi" pitchFamily="18" charset="-122"/>
              <a:ea typeface="Alibaba PuHuiTi" pitchFamily="18" charset="-122"/>
              <a:cs typeface="Alibaba PuHuiTi" pitchFamily="18" charset="-122"/>
            </a:endParaRPr>
          </a:p>
        </p:txBody>
      </p:sp>
      <p:sp>
        <p:nvSpPr>
          <p:cNvPr id="3" name="文本占位符 2"/>
          <p:cNvSpPr>
            <a:spLocks noGrp="1"/>
          </p:cNvSpPr>
          <p:nvPr>
            <p:ph type="body" sz="quarter" idx="11"/>
          </p:nvPr>
        </p:nvSpPr>
        <p:spPr>
          <a:xfrm>
            <a:off x="746600" y="1457271"/>
            <a:ext cx="10698800" cy="5400729"/>
          </a:xfrm>
        </p:spPr>
        <p:txBody>
          <a:bodyPr/>
          <a:lstStyle/>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均匀分布初始化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权重参数初始化从区间均匀随机取值，默认区间为（0，1）。可以设置为在(-1/√d,1/√d)均匀分布中生成当前神经元的权重，其中d为神经元的输入数量</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正态分布初始化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随机初始化从均值为0，标准差是1的高斯分布中取样，使用一些很小的值对参数W进行初始化</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全0初始化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将神经网络中的所有权重参数初始化为 0</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全1初始化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将神经网络中的所有权重参数初始化为 1</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i="0" dirty="0">
                <a:solidFill>
                  <a:srgbClr val="333333"/>
                </a:solidFill>
                <a:effectLst/>
                <a:latin typeface="Alibaba PuHuiTi" pitchFamily="18" charset="-122"/>
                <a:ea typeface="Alibaba PuHuiTi" pitchFamily="18" charset="-122"/>
                <a:cs typeface="Alibaba PuHuiTi" pitchFamily="18" charset="-122"/>
              </a:rPr>
              <a:t>固定值初始化</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742950" lvl="1" indent="-285750" algn="l">
              <a:buFont typeface="Wingdings" panose="05000000000000000000" pitchFamily="2" charset="2"/>
              <a:buChar char="n"/>
            </a:pPr>
            <a:r>
              <a:rPr lang="zh-CN" altLang="en-US" sz="1600" b="0" i="0" dirty="0">
                <a:solidFill>
                  <a:srgbClr val="333333"/>
                </a:solidFill>
                <a:effectLst/>
                <a:latin typeface="Alibaba PuHuiTi" pitchFamily="18" charset="-122"/>
                <a:ea typeface="Alibaba PuHuiTi" pitchFamily="18" charset="-122"/>
                <a:cs typeface="Alibaba PuHuiTi" pitchFamily="18" charset="-122"/>
              </a:rPr>
              <a:t>将神经网络中的所有权重参数初始化为某个固定值</a:t>
            </a:r>
            <a:endParaRPr lang="zh-CN" altLang="en-US" sz="1600"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7" name="Rectangle 4"/>
          <p:cNvSpPr>
            <a:spLocks noGrp="1" noChangeArrowheads="1"/>
          </p:cNvSpPr>
          <p:nvPr>
            <p:ph type="body" sz="quarter" idx="11"/>
          </p:nvPr>
        </p:nvSpPr>
        <p:spPr bwMode="auto">
          <a:xfrm>
            <a:off x="710880" y="1638182"/>
            <a:ext cx="10698800" cy="43389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285750" marR="0" lvl="0" indent="-285750" defTabSz="914400" latinLnBrk="0">
              <a:lnSpc>
                <a:spcPct val="100000"/>
              </a:lnSpc>
              <a:buClrTx/>
              <a:buSzTx/>
              <a:buFont typeface="Wingdings" panose="05000000000000000000" pitchFamily="2" charset="2"/>
              <a:buChar char="l"/>
            </a:pPr>
            <a:r>
              <a:rPr lang="zh-CN" altLang="en-US" sz="1600" dirty="0">
                <a:solidFill>
                  <a:srgbClr val="333333"/>
                </a:solidFill>
                <a:effectLst/>
                <a:latin typeface="Alibaba PuHuiTi" pitchFamily="18" charset="-122"/>
                <a:ea typeface="Alibaba PuHuiTi" pitchFamily="18" charset="-122"/>
                <a:cs typeface="Alibaba PuHuiTi" pitchFamily="18" charset="-122"/>
              </a:rPr>
              <a:t>kaiming 初始化，也叫做 HE 初始化</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742950" marR="0" lvl="1" indent="-285750" defTabSz="914400" latinLnBrk="0">
              <a:lnSpc>
                <a:spcPct val="100000"/>
              </a:lnSpc>
              <a:buClrTx/>
              <a:buSzTx/>
              <a:buFont typeface="Wingdings" panose="05000000000000000000" pitchFamily="2" charset="2"/>
              <a:buChar char="n"/>
            </a:pPr>
            <a:r>
              <a:rPr lang="zh-CN" altLang="en-US" sz="1600" b="0" dirty="0">
                <a:solidFill>
                  <a:srgbClr val="333333"/>
                </a:solidFill>
                <a:effectLst/>
                <a:latin typeface="Alibaba PuHuiTi" pitchFamily="18" charset="-122"/>
                <a:ea typeface="Alibaba PuHuiTi" pitchFamily="18" charset="-122"/>
                <a:cs typeface="Alibaba PuHuiTi" pitchFamily="18" charset="-122"/>
              </a:rPr>
              <a:t>HE 初始化分为正态分布的 HE 初始化、均匀分布的 HE 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正态分布的he初始化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它是从 [0, std] 中抽取样本的，std = sqrt(2 / fan_in)</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lvl="2" indent="-285750">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均匀分布的he初始化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它从 [-limit，limit] 中的均匀分布中抽取样本, limit是 sqrt(6 / fan_in)</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fan_in 输入层神经元的个数</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285750" marR="0" lvl="0" indent="-285750" defTabSz="914400" latinLnBrk="0">
              <a:lnSpc>
                <a:spcPct val="100000"/>
              </a:lnSpc>
              <a:buClrTx/>
              <a:buSzTx/>
              <a:buFont typeface="Wingdings" panose="05000000000000000000" pitchFamily="2" charset="2"/>
              <a:buChar char="l"/>
            </a:pPr>
            <a:r>
              <a:rPr lang="zh-CN" altLang="en-US" sz="1600" dirty="0">
                <a:solidFill>
                  <a:srgbClr val="333333"/>
                </a:solidFill>
                <a:effectLst/>
                <a:latin typeface="Alibaba PuHuiTi" pitchFamily="18" charset="-122"/>
                <a:ea typeface="Alibaba PuHuiTi" pitchFamily="18" charset="-122"/>
                <a:cs typeface="Alibaba PuHuiTi" pitchFamily="18" charset="-122"/>
              </a:rPr>
              <a:t>xavier 初始化，也叫做 Glorot初始化</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742950" marR="0" lvl="1" indent="-285750" defTabSz="914400" latinLnBrk="0">
              <a:lnSpc>
                <a:spcPct val="100000"/>
              </a:lnSpc>
              <a:buClrTx/>
              <a:buSzTx/>
              <a:buFont typeface="Wingdings" panose="05000000000000000000" pitchFamily="2" charset="2"/>
              <a:buChar char="n"/>
            </a:pPr>
            <a:r>
              <a:rPr lang="zh-CN" altLang="en-US" sz="1600" b="0" dirty="0">
                <a:solidFill>
                  <a:srgbClr val="333333"/>
                </a:solidFill>
                <a:effectLst/>
                <a:latin typeface="Alibaba PuHuiTi" pitchFamily="18" charset="-122"/>
                <a:ea typeface="Alibaba PuHuiTi" pitchFamily="18" charset="-122"/>
                <a:cs typeface="Alibaba PuHuiTi" pitchFamily="18" charset="-122"/>
              </a:rPr>
              <a:t>该方法也有两种，一种是正态分布的 xavier 初始化、一种是均匀分布的 xavier 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正态化的Xavier初始化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sym typeface="+mn-ea"/>
              </a:rPr>
              <a:t>它是从 [0, std] 中抽取样本的，</a:t>
            </a:r>
            <a:r>
              <a:rPr lang="zh-CN" altLang="en-US" sz="1600" dirty="0">
                <a:solidFill>
                  <a:srgbClr val="333333"/>
                </a:solidFill>
                <a:effectLst/>
                <a:latin typeface="Alibaba PuHuiTi" pitchFamily="18" charset="-122"/>
                <a:ea typeface="Alibaba PuHuiTi" pitchFamily="18" charset="-122"/>
                <a:cs typeface="Alibaba PuHuiTi" pitchFamily="18" charset="-122"/>
              </a:rPr>
              <a:t>std = sqrt(2 / (fan_in + fan_out))</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均匀分布的Xavier初始化</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1657350" marR="0" lvl="3" indent="-285750" defTabSz="914400" latinLnBrk="0">
              <a:lnSpc>
                <a:spcPct val="100000"/>
              </a:lnSpc>
              <a:buClrTx/>
              <a:buSzTx/>
              <a:buFont typeface="Wingdings" panose="05000000000000000000" pitchFamily="2" charset="2"/>
              <a:buChar char="u"/>
            </a:pPr>
            <a:r>
              <a:rPr lang="zh-CN" altLang="en-US" sz="1600" dirty="0">
                <a:solidFill>
                  <a:srgbClr val="333333"/>
                </a:solidFill>
                <a:effectLst/>
                <a:latin typeface="Alibaba PuHuiTi" pitchFamily="18" charset="-122"/>
                <a:ea typeface="Alibaba PuHuiTi" pitchFamily="18" charset="-122"/>
                <a:cs typeface="Alibaba PuHuiTi" pitchFamily="18" charset="-122"/>
              </a:rPr>
              <a:t>[-limit，limit] 中的均匀分布中抽取样本, limit 是 sqrt(6 / (fan_in + fan_out))</a:t>
            </a:r>
            <a:endParaRPr lang="zh-CN" altLang="en-US" sz="1600" dirty="0">
              <a:solidFill>
                <a:srgbClr val="333333"/>
              </a:solidFill>
              <a:effectLst/>
              <a:latin typeface="Alibaba PuHuiTi" pitchFamily="18" charset="-122"/>
              <a:ea typeface="Alibaba PuHuiTi" pitchFamily="18" charset="-122"/>
              <a:cs typeface="Alibaba PuHuiTi" pitchFamily="18" charset="-122"/>
            </a:endParaRPr>
          </a:p>
          <a:p>
            <a:pPr marL="1200150" marR="0" lvl="2" indent="-285750" defTabSz="914400" latinLnBrk="0">
              <a:lnSpc>
                <a:spcPct val="100000"/>
              </a:lnSpc>
              <a:buClrTx/>
              <a:buSzTx/>
              <a:buFont typeface="Wingdings" panose="05000000000000000000" pitchFamily="2" charset="2"/>
              <a:buChar char="p"/>
            </a:pPr>
            <a:r>
              <a:rPr lang="zh-CN" altLang="en-US" sz="1600" b="0" dirty="0">
                <a:solidFill>
                  <a:srgbClr val="333333"/>
                </a:solidFill>
                <a:effectLst/>
                <a:latin typeface="Alibaba PuHuiTi" pitchFamily="18" charset="-122"/>
                <a:ea typeface="Alibaba PuHuiTi" pitchFamily="18" charset="-122"/>
                <a:cs typeface="Alibaba PuHuiTi" pitchFamily="18" charset="-122"/>
              </a:rPr>
              <a:t>fan_in 是输入层神经元的个数， fan_out 是输出层神经元个数</a:t>
            </a:r>
            <a:endParaRPr lang="zh-CN" altLang="en-US" sz="1600" b="0" dirty="0">
              <a:solidFill>
                <a:srgbClr val="333333"/>
              </a:solidFill>
              <a:effectLst/>
              <a:latin typeface="Alibaba PuHuiTi" pitchFamily="18" charset="-122"/>
              <a:ea typeface="Alibaba PuHuiTi" pitchFamily="18" charset="-122"/>
              <a:cs typeface="Alibaba PuHuiTi" pitchFamily="18" charset="-122"/>
            </a:endParaRPr>
          </a:p>
          <a:p>
            <a:pPr marL="0" marR="0" lvl="0" indent="0" defTabSz="914400" latinLnBrk="0">
              <a:lnSpc>
                <a:spcPct val="100000"/>
              </a:lnSpc>
              <a:buClrTx/>
              <a:buSzTx/>
              <a:buFontTx/>
              <a:buNone/>
            </a:pPr>
            <a:endParaRPr lang="zh-CN" altLang="zh-CN" sz="1400" dirty="0">
              <a:solidFill>
                <a:srgbClr val="333333"/>
              </a:solidFill>
              <a:latin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716254" y="1494338"/>
            <a:ext cx="6186860" cy="4442242"/>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torch.nn.functional</a:t>
            </a:r>
            <a:r>
              <a:rPr lang="en-US" altLang="zh-CN" sz="1400" b="1" dirty="0">
                <a:solidFill>
                  <a:srgbClr val="0000FF"/>
                </a:solidFill>
                <a:latin typeface="宋体" panose="02010600030101010101" pitchFamily="2" charset="-122"/>
                <a:ea typeface="阿里巴巴普惠体" panose="00020600040101010101"/>
              </a:rPr>
              <a:t> as F</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1. </a:t>
            </a:r>
            <a:r>
              <a:rPr lang="zh-CN" altLang="en-US" sz="1400" dirty="0">
                <a:solidFill>
                  <a:srgbClr val="00B050"/>
                </a:solidFill>
                <a:latin typeface="宋体" panose="02010600030101010101" pitchFamily="2" charset="-122"/>
                <a:ea typeface="阿里巴巴普惠体" panose="00020600040101010101"/>
              </a:rPr>
              <a:t>均匀分布随机初始化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从</a:t>
            </a:r>
            <a:r>
              <a:rPr lang="en-US" altLang="zh-CN" sz="1400" dirty="0">
                <a:solidFill>
                  <a:srgbClr val="00B050"/>
                </a:solidFill>
                <a:latin typeface="宋体" panose="02010600030101010101" pitchFamily="2" charset="-122"/>
                <a:ea typeface="阿里巴巴普惠体" panose="00020600040101010101"/>
              </a:rPr>
              <a:t>0-1</a:t>
            </a:r>
            <a:r>
              <a:rPr lang="zh-CN" altLang="en-US" sz="1400" dirty="0">
                <a:solidFill>
                  <a:srgbClr val="00B050"/>
                </a:solidFill>
                <a:latin typeface="宋体" panose="02010600030101010101" pitchFamily="2" charset="-122"/>
                <a:ea typeface="阿里巴巴普惠体" panose="00020600040101010101"/>
              </a:rPr>
              <a:t>均匀分布产生参数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2.</a:t>
            </a:r>
            <a:r>
              <a:rPr lang="zh-CN" altLang="en-US" sz="1400" dirty="0">
                <a:solidFill>
                  <a:srgbClr val="00B050"/>
                </a:solidFill>
                <a:latin typeface="宋体" panose="02010600030101010101" pitchFamily="2" charset="-122"/>
                <a:ea typeface="阿里巴巴普惠体" panose="00020600040101010101"/>
              </a:rPr>
              <a:t>固定初始化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nn.init.constant</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 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381436" y="1418251"/>
            <a:ext cx="6186860"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3. </a:t>
            </a:r>
            <a:r>
              <a:rPr lang="zh-CN" altLang="en-US" sz="1400" dirty="0">
                <a:solidFill>
                  <a:srgbClr val="00B050"/>
                </a:solidFill>
                <a:latin typeface="宋体" panose="02010600030101010101" pitchFamily="2" charset="-122"/>
                <a:ea typeface="阿里巴巴普惠体" panose="00020600040101010101"/>
              </a:rPr>
              <a:t>全</a:t>
            </a:r>
            <a:r>
              <a:rPr lang="en-US" altLang="zh-CN" sz="1400" dirty="0">
                <a:solidFill>
                  <a:srgbClr val="00B050"/>
                </a:solidFill>
                <a:latin typeface="宋体" panose="02010600030101010101" pitchFamily="2" charset="-122"/>
                <a:ea typeface="阿里巴巴普惠体" panose="00020600040101010101"/>
              </a:rPr>
              <a:t>0</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nn.init.zeros</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4. </a:t>
            </a:r>
            <a:r>
              <a:rPr lang="zh-CN" altLang="en-US" sz="1400" dirty="0">
                <a:solidFill>
                  <a:srgbClr val="00B050"/>
                </a:solidFill>
                <a:latin typeface="宋体" panose="02010600030101010101" pitchFamily="2" charset="-122"/>
                <a:ea typeface="阿里巴巴普惠体" panose="00020600040101010101"/>
              </a:rPr>
              <a:t>全</a:t>
            </a:r>
            <a:r>
              <a:rPr lang="en-US" altLang="zh-CN" sz="1400" dirty="0">
                <a:solidFill>
                  <a:srgbClr val="00B050"/>
                </a:solidFill>
                <a:latin typeface="宋体" panose="02010600030101010101" pitchFamily="2" charset="-122"/>
                <a:ea typeface="阿里巴巴普惠体" panose="00020600040101010101"/>
              </a:rPr>
              <a:t>1</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test04():</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nn.init.ones</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5. </a:t>
            </a:r>
            <a:r>
              <a:rPr lang="zh-CN" altLang="en-US" sz="1400" dirty="0">
                <a:solidFill>
                  <a:srgbClr val="00B050"/>
                </a:solidFill>
                <a:latin typeface="宋体" panose="02010600030101010101" pitchFamily="2" charset="-122"/>
                <a:ea typeface="阿里巴巴普惠体" panose="00020600040101010101"/>
              </a:rPr>
              <a:t>正态分布随机初始化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 mean=0, std=1)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147250" y="1595816"/>
            <a:ext cx="6186860" cy="348813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6.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test06():</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正态分布初始化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kaiming</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均匀分布初始化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endParaRPr lang="zh-CN" altLang="en-US" b="1" i="0" dirty="0">
              <a:solidFill>
                <a:srgbClr val="333333"/>
              </a:solidFill>
              <a:effectLst/>
              <a:latin typeface="Helvetica Neue"/>
            </a:endParaRPr>
          </a:p>
        </p:txBody>
      </p:sp>
      <p:sp>
        <p:nvSpPr>
          <p:cNvPr id="5" name="文本框 4"/>
          <p:cNvSpPr txBox="1"/>
          <p:nvPr/>
        </p:nvSpPr>
        <p:spPr>
          <a:xfrm>
            <a:off x="2575400" y="1457271"/>
            <a:ext cx="6186860" cy="3488134"/>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7.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test07():</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正态分布初始化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nn.init.xavier_normal</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en-US" altLang="zh-CN" sz="1400" dirty="0" err="1">
                <a:solidFill>
                  <a:srgbClr val="00B050"/>
                </a:solidFill>
                <a:latin typeface="宋体" panose="02010600030101010101" pitchFamily="2" charset="-122"/>
                <a:ea typeface="阿里巴巴普惠体" panose="00020600040101010101"/>
              </a:rPr>
              <a:t>xavier</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均匀分布初始化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linear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nn.init.xavier_uniform</a:t>
            </a:r>
            <a:r>
              <a:rPr lang="en-US" altLang="zh-CN" sz="1400" b="1" dirty="0">
                <a:solidFill>
                  <a:srgbClr val="0000FF"/>
                </a:solidFill>
                <a:latin typeface="宋体" panose="02010600030101010101" pitchFamily="2" charset="-122"/>
                <a:ea typeface="阿里巴巴普惠体" panose="00020600040101010101"/>
              </a:rPr>
              <a:t>_(</a:t>
            </a:r>
            <a:r>
              <a:rPr lang="en-US" altLang="zh-CN" sz="1400" b="1" dirty="0" err="1">
                <a:solidFill>
                  <a:srgbClr val="0000FF"/>
                </a:solidFill>
                <a:latin typeface="宋体" panose="02010600030101010101" pitchFamily="2" charset="-122"/>
                <a:ea typeface="阿里巴巴普惠体" panose="00020600040101010101"/>
              </a:rPr>
              <a:t>linear.weight</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en-US" altLang="zh-CN" sz="1400" b="1" dirty="0" err="1">
                <a:solidFill>
                  <a:srgbClr val="0000FF"/>
                </a:solidFill>
                <a:latin typeface="宋体" panose="02010600030101010101" pitchFamily="2" charset="-122"/>
                <a:ea typeface="阿里巴巴普惠体" panose="00020600040101010101"/>
              </a:rPr>
              <a:t>linear.weight.data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参数初始化</a:t>
            </a:r>
            <a:r>
              <a:rPr lang="zh-CN" altLang="en-US" dirty="0">
                <a:solidFill>
                  <a:srgbClr val="333333"/>
                </a:solidFill>
                <a:latin typeface="Helvetica Neue"/>
              </a:rPr>
              <a:t>选择</a:t>
            </a:r>
            <a:endParaRPr lang="zh-CN" altLang="en-US" dirty="0">
              <a:solidFill>
                <a:srgbClr val="333333"/>
              </a:solidFill>
              <a:latin typeface="Helvetica Neue"/>
            </a:endParaRPr>
          </a:p>
        </p:txBody>
      </p:sp>
      <p:sp>
        <p:nvSpPr>
          <p:cNvPr id="7" name="Rectangle 4"/>
          <p:cNvSpPr>
            <a:spLocks noGrp="1" noChangeArrowheads="1"/>
          </p:cNvSpPr>
          <p:nvPr/>
        </p:nvSpPr>
        <p:spPr bwMode="auto">
          <a:xfrm>
            <a:off x="869315" y="1767205"/>
            <a:ext cx="10699115" cy="2604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noAutofit/>
          </a:bodyPr>
          <a:lstStyle>
            <a:lvl1pPr marL="0" indent="0" algn="l" rtl="0" eaLnBrk="0" fontAlgn="base" hangingPunct="0">
              <a:lnSpc>
                <a:spcPct val="150000"/>
              </a:lnSpc>
              <a:spcBef>
                <a:spcPct val="20000"/>
              </a:spcBef>
              <a:spcAft>
                <a:spcPct val="0"/>
              </a:spcAft>
              <a:buFont typeface="Arial" panose="020B0604020202020204" pitchFamily="34" charset="0"/>
              <a:buNone/>
              <a:defRPr sz="1600" kern="1200">
                <a:solidFill>
                  <a:schemeClr val="tx1">
                    <a:lumMod val="85000"/>
                    <a:lumOff val="15000"/>
                  </a:schemeClr>
                </a:solidFill>
                <a:latin typeface="阿里巴巴普惠体" panose="00020600040101010101" charset="-122"/>
                <a:ea typeface="阿里巴巴普惠体" panose="00020600040101010101" charset="-122"/>
                <a:cs typeface="阿里巴巴普惠体" panose="00020600040101010101" charset="-122"/>
              </a:defRPr>
            </a:lvl1pPr>
            <a:lvl2pPr marL="990600" indent="-381000" algn="l" rtl="0" eaLnBrk="0" fontAlgn="base" hangingPunct="0">
              <a:spcBef>
                <a:spcPct val="20000"/>
              </a:spcBef>
              <a:spcAft>
                <a:spcPct val="0"/>
              </a:spcAft>
              <a:buFont typeface="Arial" panose="020B0604020202020204" pitchFamily="34" charset="0"/>
              <a:buChar char="–"/>
              <a:defRPr b="1" kern="1200">
                <a:solidFill>
                  <a:schemeClr val="tx1"/>
                </a:solidFill>
                <a:latin typeface="黑体" panose="02010609060101010101" pitchFamily="49" charset="-122"/>
                <a:ea typeface="黑体" panose="02010609060101010101" pitchFamily="49" charset="-122"/>
                <a:cs typeface="+mn-cs"/>
              </a:defRPr>
            </a:lvl2pPr>
            <a:lvl3pPr marL="1524000" indent="-304800" algn="l" rtl="0" eaLnBrk="0" fontAlgn="base" hangingPunct="0">
              <a:spcBef>
                <a:spcPct val="20000"/>
              </a:spcBef>
              <a:spcAft>
                <a:spcPct val="0"/>
              </a:spcAft>
              <a:buFont typeface="Arial" panose="020B0604020202020204" pitchFamily="34" charset="0"/>
              <a:buChar char="•"/>
              <a:defRPr sz="1865" b="1" kern="1200">
                <a:solidFill>
                  <a:schemeClr val="tx1"/>
                </a:solidFill>
                <a:latin typeface="黑体" panose="02010609060101010101" pitchFamily="49" charset="-122"/>
                <a:ea typeface="黑体" panose="02010609060101010101" pitchFamily="49" charset="-122"/>
                <a:cs typeface="+mn-cs"/>
              </a:defRPr>
            </a:lvl3pPr>
            <a:lvl4pPr marL="21336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4pPr>
            <a:lvl5pPr marL="2743200" indent="-304800" algn="l" rtl="0" eaLnBrk="0" fontAlgn="base" hangingPunct="0">
              <a:spcBef>
                <a:spcPct val="20000"/>
              </a:spcBef>
              <a:spcAft>
                <a:spcPct val="0"/>
              </a:spcAft>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0" hangingPunct="1">
              <a:spcBef>
                <a:spcPct val="20000"/>
              </a:spcBef>
              <a:buFont typeface="Arial" panose="020B0604020202020204" pitchFamily="34" charset="0"/>
              <a:buChar char="•"/>
              <a:defRPr sz="2665" kern="1200">
                <a:solidFill>
                  <a:schemeClr val="tx1"/>
                </a:solidFill>
                <a:latin typeface="+mn-lt"/>
                <a:ea typeface="+mn-ea"/>
                <a:cs typeface="+mn-cs"/>
              </a:defRPr>
            </a:lvl9pPr>
          </a:lstStyle>
          <a:p>
            <a:pPr marR="0" lvl="0" defTabSz="914400" latinLnBrk="0">
              <a:lnSpc>
                <a:spcPct val="100000"/>
              </a:lnSpc>
              <a:buClrTx/>
              <a:buSzTx/>
              <a:buFont typeface="Wingdings" panose="05000000000000000000" pitchFamily="2" charset="2"/>
            </a:pPr>
            <a:r>
              <a:rPr lang="zh-CN" altLang="en-US" sz="1400" dirty="0">
                <a:solidFill>
                  <a:srgbClr val="333333"/>
                </a:solidFill>
                <a:latin typeface="Helvetica Neue"/>
              </a:rPr>
              <a:t>激活函数的选择：根据激活函数的类型选择对应的初始化方法</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en-US" altLang="zh-CN" sz="1400" b="1" dirty="0">
                <a:solidFill>
                  <a:srgbClr val="333333"/>
                </a:solidFill>
                <a:latin typeface="Helvetica Neue"/>
              </a:rPr>
              <a:t>Sigmoid/Tanh</a:t>
            </a:r>
            <a:r>
              <a:rPr lang="zh-CN" altLang="en-US" sz="1400" dirty="0">
                <a:solidFill>
                  <a:srgbClr val="333333"/>
                </a:solidFill>
                <a:latin typeface="Helvetica Neue"/>
              </a:rPr>
              <a:t>：</a:t>
            </a:r>
            <a:r>
              <a:rPr lang="en-US" altLang="zh-CN" sz="1400" dirty="0">
                <a:solidFill>
                  <a:srgbClr val="333333"/>
                </a:solidFill>
                <a:latin typeface="Helvetica Neue"/>
              </a:rPr>
              <a:t>Xavier </a:t>
            </a:r>
            <a:r>
              <a:rPr lang="zh-CN" altLang="en-US" sz="1400" dirty="0">
                <a:solidFill>
                  <a:srgbClr val="333333"/>
                </a:solidFill>
                <a:latin typeface="Helvetica Neue"/>
              </a:rPr>
              <a:t>初始化</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en-US" altLang="zh-CN" sz="1400" b="1" dirty="0">
                <a:solidFill>
                  <a:srgbClr val="333333"/>
                </a:solidFill>
                <a:latin typeface="Helvetica Neue"/>
              </a:rPr>
              <a:t>ReLU/Leaky ReLU</a:t>
            </a:r>
            <a:r>
              <a:rPr lang="zh-CN" altLang="en-US" sz="1400" dirty="0">
                <a:solidFill>
                  <a:srgbClr val="333333"/>
                </a:solidFill>
                <a:latin typeface="Helvetica Neue"/>
              </a:rPr>
              <a:t>：</a:t>
            </a:r>
            <a:r>
              <a:rPr lang="en-US" altLang="zh-CN" sz="1400" dirty="0">
                <a:solidFill>
                  <a:srgbClr val="333333"/>
                </a:solidFill>
                <a:latin typeface="Helvetica Neue"/>
              </a:rPr>
              <a:t>kaiming </a:t>
            </a:r>
            <a:r>
              <a:rPr lang="zh-CN" altLang="en-US" sz="1400" dirty="0">
                <a:solidFill>
                  <a:srgbClr val="333333"/>
                </a:solidFill>
                <a:latin typeface="Helvetica Neue"/>
              </a:rPr>
              <a:t>初始化</a:t>
            </a:r>
            <a:endParaRPr lang="zh-CN" altLang="en-US" sz="1400" dirty="0">
              <a:solidFill>
                <a:srgbClr val="333333"/>
              </a:solidFill>
              <a:latin typeface="Helvetica Neue"/>
            </a:endParaRPr>
          </a:p>
          <a:p>
            <a:pPr marL="285750" marR="0" lvl="0" indent="-285750" defTabSz="914400" latinLnBrk="0">
              <a:lnSpc>
                <a:spcPct val="100000"/>
              </a:lnSpc>
              <a:buClrTx/>
              <a:buSzTx/>
              <a:buFont typeface="Wingdings" panose="05000000000000000000" pitchFamily="2" charset="2"/>
              <a:buChar char="l"/>
            </a:pP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dirty="0">
                <a:solidFill>
                  <a:srgbClr val="333333"/>
                </a:solidFill>
                <a:latin typeface="Helvetica Neue"/>
              </a:rPr>
              <a:t>网络的深度</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b="1" dirty="0">
                <a:solidFill>
                  <a:srgbClr val="333333"/>
                </a:solidFill>
                <a:latin typeface="Helvetica Neue"/>
              </a:rPr>
              <a:t>浅层网络</a:t>
            </a:r>
            <a:r>
              <a:rPr lang="zh-CN" altLang="en-US" sz="1400" dirty="0">
                <a:solidFill>
                  <a:srgbClr val="333333"/>
                </a:solidFill>
                <a:latin typeface="Helvetica Neue"/>
              </a:rPr>
              <a:t>：随机初始化即可</a:t>
            </a:r>
            <a:endParaRPr lang="zh-CN" altLang="en-US" sz="1400" dirty="0">
              <a:solidFill>
                <a:srgbClr val="333333"/>
              </a:solidFill>
              <a:latin typeface="Helvetica Neue"/>
            </a:endParaRPr>
          </a:p>
          <a:p>
            <a:pPr marR="0" lvl="0" defTabSz="914400" latinLnBrk="0">
              <a:lnSpc>
                <a:spcPct val="100000"/>
              </a:lnSpc>
              <a:buClrTx/>
              <a:buSzTx/>
              <a:buFont typeface="Wingdings" panose="05000000000000000000" pitchFamily="2" charset="2"/>
            </a:pPr>
            <a:r>
              <a:rPr lang="zh-CN" altLang="en-US" sz="1400" b="1" dirty="0">
                <a:solidFill>
                  <a:srgbClr val="333333"/>
                </a:solidFill>
                <a:latin typeface="Helvetica Neue"/>
              </a:rPr>
              <a:t>深层网络</a:t>
            </a:r>
            <a:r>
              <a:rPr lang="zh-CN" altLang="en-US" sz="1400" dirty="0">
                <a:solidFill>
                  <a:srgbClr val="333333"/>
                </a:solidFill>
                <a:latin typeface="Helvetica Neue"/>
              </a:rPr>
              <a:t>：需要考虑方差平衡，如</a:t>
            </a:r>
            <a:r>
              <a:rPr lang="en-US" altLang="zh-CN" sz="1400" dirty="0">
                <a:solidFill>
                  <a:srgbClr val="333333"/>
                </a:solidFill>
                <a:latin typeface="Helvetica Neue"/>
              </a:rPr>
              <a:t> Xavier </a:t>
            </a:r>
            <a:r>
              <a:rPr lang="zh-CN" altLang="en-US" sz="1400" dirty="0">
                <a:solidFill>
                  <a:srgbClr val="333333"/>
                </a:solidFill>
                <a:latin typeface="Helvetica Neue"/>
              </a:rPr>
              <a:t>或</a:t>
            </a:r>
            <a:r>
              <a:rPr lang="en-US" altLang="zh-CN" sz="1400" dirty="0">
                <a:solidFill>
                  <a:srgbClr val="333333"/>
                </a:solidFill>
                <a:latin typeface="Helvetica Neue"/>
              </a:rPr>
              <a:t> kaiming </a:t>
            </a:r>
            <a:r>
              <a:rPr lang="zh-CN" altLang="en-US" sz="1400" dirty="0">
                <a:solidFill>
                  <a:srgbClr val="333333"/>
                </a:solidFill>
                <a:latin typeface="Helvetica Neue"/>
              </a:rPr>
              <a:t>初始化</a:t>
            </a:r>
            <a:endParaRPr lang="zh-CN" altLang="en-US" sz="1400" dirty="0">
              <a:solidFill>
                <a:srgbClr val="333333"/>
              </a:solidFill>
              <a:latin typeface="Helvetica Neue"/>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kumimoji="1" lang="en-US" altLang="zh-CN" dirty="0"/>
              <a:t>1.</a:t>
            </a:r>
            <a:r>
              <a:rPr kumimoji="1" lang="zh-CN" altLang="en-US" dirty="0"/>
              <a:t>常见的初始化方式</a:t>
            </a:r>
            <a:endParaRPr kumimoji="1" lang="en-US" altLang="zh-CN" dirty="0"/>
          </a:p>
          <a:p>
            <a:pPr marL="0" indent="0">
              <a:buNone/>
            </a:pPr>
            <a:r>
              <a:rPr lang="zh-CN" altLang="en-US" b="0" i="0" dirty="0">
                <a:effectLst/>
                <a:latin typeface="Roboto" panose="02000000000000000000" pitchFamily="2" charset="0"/>
              </a:rPr>
              <a:t>均匀分布初始化，正态分布初始化，全</a:t>
            </a:r>
            <a:r>
              <a:rPr lang="en-US" altLang="zh-CN" b="0" i="0" dirty="0">
                <a:effectLst/>
                <a:latin typeface="Roboto" panose="02000000000000000000" pitchFamily="2" charset="0"/>
              </a:rPr>
              <a:t>0</a:t>
            </a:r>
            <a:r>
              <a:rPr lang="zh-CN" altLang="en-US" dirty="0">
                <a:latin typeface="Roboto" panose="02000000000000000000" pitchFamily="2" charset="0"/>
              </a:rPr>
              <a:t>全</a:t>
            </a:r>
            <a:r>
              <a:rPr lang="en-US" altLang="zh-CN" dirty="0">
                <a:latin typeface="Roboto" panose="02000000000000000000" pitchFamily="2" charset="0"/>
              </a:rPr>
              <a:t>1</a:t>
            </a:r>
            <a:r>
              <a:rPr lang="zh-CN" altLang="en-US" dirty="0">
                <a:latin typeface="Roboto" panose="02000000000000000000" pitchFamily="2" charset="0"/>
              </a:rPr>
              <a:t>初始化，固定值初始化，</a:t>
            </a:r>
            <a:r>
              <a:rPr lang="en-US" altLang="zh-CN" dirty="0" err="1">
                <a:latin typeface="Roboto" panose="02000000000000000000" pitchFamily="2" charset="0"/>
              </a:rPr>
              <a:t>kaiming</a:t>
            </a:r>
            <a:r>
              <a:rPr lang="zh-CN" altLang="en-US" dirty="0">
                <a:latin typeface="Roboto" panose="02000000000000000000" pitchFamily="2" charset="0"/>
              </a:rPr>
              <a:t>的初始化，</a:t>
            </a:r>
            <a:r>
              <a:rPr lang="en-US" altLang="zh-CN" dirty="0" err="1">
                <a:latin typeface="Roboto" panose="02000000000000000000" pitchFamily="2" charset="0"/>
              </a:rPr>
              <a:t>xavier</a:t>
            </a:r>
            <a:r>
              <a:rPr lang="zh-CN" altLang="en-US" dirty="0">
                <a:latin typeface="Roboto" panose="02000000000000000000" pitchFamily="2" charset="0"/>
              </a:rPr>
              <a:t>初始化</a:t>
            </a:r>
            <a:endParaRPr kumimoji="1" lang="en-US" altLang="zh-CN" dirty="0"/>
          </a:p>
          <a:p>
            <a:pPr marL="0" indent="0">
              <a:buNone/>
            </a:pPr>
            <a:r>
              <a:rPr kumimoji="1" lang="en-US" altLang="zh-CN" dirty="0"/>
              <a:t>2.</a:t>
            </a:r>
            <a:r>
              <a:rPr kumimoji="1" lang="zh-CN" altLang="en-US" dirty="0"/>
              <a:t>初始化方法的选择</a:t>
            </a:r>
            <a:endParaRPr kumimoji="1" lang="en-US" altLang="zh-CN" dirty="0"/>
          </a:p>
          <a:p>
            <a:pPr marL="0" indent="0">
              <a:buNone/>
            </a:pPr>
            <a:r>
              <a:rPr lang="zh-CN" altLang="en-US" b="0" i="0" dirty="0">
                <a:effectLst/>
                <a:latin typeface="Roboto" panose="02000000000000000000" pitchFamily="2" charset="0"/>
              </a:rPr>
              <a:t>一般我们在使用 </a:t>
            </a:r>
            <a:r>
              <a:rPr lang="en-GB" altLang="zh-CN" b="0" i="0" dirty="0" err="1">
                <a:effectLst/>
                <a:latin typeface="Roboto" panose="02000000000000000000" pitchFamily="2" charset="0"/>
              </a:rPr>
              <a:t>PyTorch</a:t>
            </a:r>
            <a:r>
              <a:rPr lang="en-GB" altLang="zh-CN" b="0" i="0" dirty="0">
                <a:effectLst/>
                <a:latin typeface="Roboto" panose="02000000000000000000" pitchFamily="2" charset="0"/>
              </a:rPr>
              <a:t> </a:t>
            </a:r>
            <a:r>
              <a:rPr lang="zh-CN" altLang="en-US" b="0" i="0" dirty="0">
                <a:effectLst/>
                <a:latin typeface="Roboto" panose="02000000000000000000" pitchFamily="2" charset="0"/>
              </a:rPr>
              <a:t>构建网络模型时，每个网络层的参数都有默认的初始化方法</a:t>
            </a:r>
            <a:r>
              <a:rPr kumimoji="1" lang="zh-CN" altLang="en-US" b="0" i="0" dirty="0">
                <a:effectLst/>
                <a:latin typeface="Roboto" panose="02000000000000000000" pitchFamily="2" charset="0"/>
              </a:rPr>
              <a:t>，优先选择</a:t>
            </a:r>
            <a:r>
              <a:rPr lang="en-US" altLang="zh-CN" dirty="0" err="1">
                <a:latin typeface="Roboto" panose="02000000000000000000" pitchFamily="2" charset="0"/>
              </a:rPr>
              <a:t>kaiming</a:t>
            </a:r>
            <a:r>
              <a:rPr lang="zh-CN" altLang="en-US" dirty="0">
                <a:latin typeface="Roboto" panose="02000000000000000000" pitchFamily="2" charset="0"/>
              </a:rPr>
              <a:t>的初始化，</a:t>
            </a:r>
            <a:r>
              <a:rPr lang="en-US" altLang="zh-CN" dirty="0" err="1">
                <a:latin typeface="Roboto" panose="02000000000000000000" pitchFamily="2" charset="0"/>
              </a:rPr>
              <a:t>xavier</a:t>
            </a:r>
            <a:r>
              <a:rPr lang="zh-CN" altLang="en-US" dirty="0">
                <a:latin typeface="Roboto" panose="02000000000000000000" pitchFamily="2" charset="0"/>
              </a:rPr>
              <a:t>初始化方式。</a:t>
            </a:r>
            <a:endParaRPr kumimoji="1" lang="en-US" altLang="zh-CN" dirty="0"/>
          </a:p>
          <a:p>
            <a:pPr marL="0" indent="0">
              <a:buNone/>
            </a:pP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2176435"/>
            <a:ext cx="10698800" cy="2505129"/>
          </a:xfrm>
        </p:spPr>
        <p:txBody>
          <a:bodyPr/>
          <a:lstStyle/>
          <a:p>
            <a:pPr algn="l"/>
            <a:r>
              <a:rPr lang="zh-CN" altLang="en-US" sz="2000" b="0" i="0" dirty="0">
                <a:effectLst/>
                <a:latin typeface="Alibaba PuHuiTi" pitchFamily="18" charset="-122"/>
                <a:ea typeface="Alibaba PuHuiTi" pitchFamily="18" charset="-122"/>
                <a:cs typeface="Alibaba PuHuiTi" pitchFamily="18" charset="-122"/>
              </a:rPr>
              <a:t>在</a:t>
            </a:r>
            <a:r>
              <a:rPr lang="en-GB" altLang="zh-CN" sz="2000" b="0" i="0" dirty="0" err="1">
                <a:effectLst/>
                <a:latin typeface="Alibaba PuHuiTi" pitchFamily="18" charset="-122"/>
                <a:ea typeface="Alibaba PuHuiTi" pitchFamily="18" charset="-122"/>
                <a:cs typeface="Alibaba PuHuiTi" pitchFamily="18" charset="-122"/>
              </a:rPr>
              <a:t>pytorch</a:t>
            </a:r>
            <a:r>
              <a:rPr lang="zh-CN" altLang="en-US" sz="2000" b="0" i="0" dirty="0">
                <a:effectLst/>
                <a:latin typeface="Alibaba PuHuiTi" pitchFamily="18" charset="-122"/>
                <a:ea typeface="Alibaba PuHuiTi" pitchFamily="18" charset="-122"/>
                <a:cs typeface="Alibaba PuHuiTi" pitchFamily="18" charset="-122"/>
              </a:rPr>
              <a:t>中定义深度神经网络其实就是层堆叠的过程，继承自</a:t>
            </a:r>
            <a:r>
              <a:rPr lang="en-GB" altLang="zh-CN" sz="2000" b="0" i="0" dirty="0" err="1">
                <a:effectLst/>
                <a:latin typeface="Alibaba PuHuiTi" pitchFamily="18" charset="-122"/>
                <a:ea typeface="Alibaba PuHuiTi" pitchFamily="18" charset="-122"/>
                <a:cs typeface="Alibaba PuHuiTi" pitchFamily="18" charset="-122"/>
              </a:rPr>
              <a:t>nn.Module</a:t>
            </a:r>
            <a:r>
              <a:rPr lang="zh-CN" altLang="en-GB" sz="2000" b="0" i="0" dirty="0">
                <a:effectLst/>
                <a:latin typeface="Alibaba PuHuiTi" pitchFamily="18" charset="-122"/>
                <a:ea typeface="Alibaba PuHuiTi" pitchFamily="18" charset="-122"/>
                <a:cs typeface="Alibaba PuHuiTi" pitchFamily="18" charset="-122"/>
              </a:rPr>
              <a:t>，</a:t>
            </a:r>
            <a:r>
              <a:rPr lang="zh-CN" altLang="en-US" sz="2000" b="0" i="0" dirty="0">
                <a:effectLst/>
                <a:latin typeface="Alibaba PuHuiTi" pitchFamily="18" charset="-122"/>
                <a:ea typeface="Alibaba PuHuiTi" pitchFamily="18" charset="-122"/>
                <a:cs typeface="Alibaba PuHuiTi" pitchFamily="18" charset="-122"/>
              </a:rPr>
              <a:t>实现两个方法：</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Wingdings" panose="05000000000000000000" pitchFamily="2" charset="2"/>
              <a:buChar char="l"/>
            </a:pPr>
            <a:r>
              <a:rPr lang="en-US" altLang="zh-CN" sz="2000" b="0" i="0" dirty="0">
                <a:effectLst/>
                <a:latin typeface="Alibaba PuHuiTi" pitchFamily="18" charset="-122"/>
                <a:ea typeface="Alibaba PuHuiTi" pitchFamily="18" charset="-122"/>
                <a:cs typeface="Alibaba PuHuiTi" pitchFamily="18" charset="-122"/>
              </a:rPr>
              <a:t>__</a:t>
            </a:r>
            <a:r>
              <a:rPr lang="en-GB" altLang="zh-CN" sz="2000" b="0" i="0" dirty="0" err="1">
                <a:effectLst/>
                <a:latin typeface="Alibaba PuHuiTi" pitchFamily="18" charset="-122"/>
                <a:ea typeface="Alibaba PuHuiTi" pitchFamily="18" charset="-122"/>
                <a:cs typeface="Alibaba PuHuiTi" pitchFamily="18" charset="-122"/>
              </a:rPr>
              <a:t>init</a:t>
            </a:r>
            <a:r>
              <a:rPr lang="en-GB" altLang="zh-CN" sz="2000" b="0" i="0" dirty="0">
                <a:effectLst/>
                <a:latin typeface="Alibaba PuHuiTi" pitchFamily="18" charset="-122"/>
                <a:ea typeface="Alibaba PuHuiTi" pitchFamily="18" charset="-122"/>
                <a:cs typeface="Alibaba PuHuiTi" pitchFamily="18" charset="-122"/>
              </a:rPr>
              <a:t>__</a:t>
            </a:r>
            <a:r>
              <a:rPr lang="zh-CN" altLang="en-US" sz="2000" b="0" i="0" dirty="0">
                <a:effectLst/>
                <a:latin typeface="Alibaba PuHuiTi" pitchFamily="18" charset="-122"/>
                <a:ea typeface="Alibaba PuHuiTi" pitchFamily="18" charset="-122"/>
                <a:cs typeface="Alibaba PuHuiTi" pitchFamily="18" charset="-122"/>
              </a:rPr>
              <a:t>方法中定义网络中的层结构，主要是全连接层，并进行初始化</a:t>
            </a:r>
            <a:endParaRPr lang="zh-CN" altLang="en-US" sz="2000" b="0" i="0" dirty="0">
              <a:effectLst/>
              <a:latin typeface="Alibaba PuHuiTi" pitchFamily="18" charset="-122"/>
              <a:ea typeface="Alibaba PuHuiTi" pitchFamily="18" charset="-122"/>
              <a:cs typeface="Alibaba PuHuiTi" pitchFamily="18" charset="-122"/>
            </a:endParaRPr>
          </a:p>
          <a:p>
            <a:pPr marL="342900" indent="-342900" algn="l">
              <a:buFont typeface="Wingdings" panose="05000000000000000000" pitchFamily="2" charset="2"/>
              <a:buChar char="l"/>
            </a:pPr>
            <a:r>
              <a:rPr lang="en-GB" altLang="zh-CN" sz="2000" b="0" i="0" dirty="0">
                <a:effectLst/>
                <a:latin typeface="Alibaba PuHuiTi" pitchFamily="18" charset="-122"/>
                <a:ea typeface="Alibaba PuHuiTi" pitchFamily="18" charset="-122"/>
                <a:cs typeface="Alibaba PuHuiTi" pitchFamily="18" charset="-122"/>
              </a:rPr>
              <a:t>forward</a:t>
            </a:r>
            <a:r>
              <a:rPr lang="zh-CN" altLang="en-US" sz="2000" b="0" i="0" dirty="0">
                <a:effectLst/>
                <a:latin typeface="Alibaba PuHuiTi" pitchFamily="18" charset="-122"/>
                <a:ea typeface="Alibaba PuHuiTi" pitchFamily="18" charset="-122"/>
                <a:cs typeface="Alibaba PuHuiTi" pitchFamily="18" charset="-122"/>
              </a:rPr>
              <a:t>方法，在实例化模型的时候，底层会自动调用该函数。该函数中为初始化定义的</a:t>
            </a:r>
            <a:r>
              <a:rPr lang="en-GB" altLang="zh-CN" sz="2000" b="0" i="0" dirty="0">
                <a:effectLst/>
                <a:latin typeface="Alibaba PuHuiTi" pitchFamily="18" charset="-122"/>
                <a:ea typeface="Alibaba PuHuiTi" pitchFamily="18" charset="-122"/>
                <a:cs typeface="Alibaba PuHuiTi" pitchFamily="18" charset="-122"/>
              </a:rPr>
              <a:t>layer</a:t>
            </a:r>
            <a:r>
              <a:rPr lang="zh-CN" altLang="en-US" sz="2000" b="0" i="0" dirty="0">
                <a:effectLst/>
                <a:latin typeface="Alibaba PuHuiTi" pitchFamily="18" charset="-122"/>
                <a:ea typeface="Alibaba PuHuiTi" pitchFamily="18" charset="-122"/>
                <a:cs typeface="Alibaba PuHuiTi" pitchFamily="18" charset="-122"/>
              </a:rPr>
              <a:t>传入数据，进行前向传播等。</a:t>
            </a:r>
            <a:endParaRPr lang="zh-CN" altLang="en-US" sz="2000" b="0" i="0" dirty="0">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我们来构建如下图所示的神经网络模型：</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pPr algn="l"/>
            <a:r>
              <a:rPr lang="zh-CN" altLang="en-US" b="0" i="0" dirty="0">
                <a:solidFill>
                  <a:srgbClr val="333333"/>
                </a:solidFill>
                <a:effectLst/>
                <a:latin typeface="Helvetica Neue"/>
              </a:rPr>
              <a:t>编码设计如下：</a:t>
            </a:r>
            <a:endParaRPr lang="zh-CN" altLang="en-US" b="0" i="0" dirty="0">
              <a:solidFill>
                <a:srgbClr val="333333"/>
              </a:solidFill>
              <a:effectLst/>
              <a:latin typeface="Helvetica Neue"/>
            </a:endParaRPr>
          </a:p>
          <a:p>
            <a:pPr marL="800100" lvl="1" indent="-342900" algn="l">
              <a:buFont typeface="+mj-lt"/>
              <a:buAutoNum type="arabicPeriod"/>
            </a:pPr>
            <a:r>
              <a:rPr lang="zh-CN" altLang="en-US" b="0" i="0" dirty="0">
                <a:solidFill>
                  <a:srgbClr val="333333"/>
                </a:solidFill>
                <a:effectLst/>
                <a:latin typeface="Helvetica Neue"/>
              </a:rPr>
              <a:t>第</a:t>
            </a:r>
            <a:r>
              <a:rPr lang="en-US" altLang="zh-CN" b="0" i="0" dirty="0">
                <a:solidFill>
                  <a:srgbClr val="333333"/>
                </a:solidFill>
                <a:effectLst/>
                <a:latin typeface="Helvetica Neue"/>
              </a:rPr>
              <a:t>1</a:t>
            </a:r>
            <a:r>
              <a:rPr lang="zh-CN" altLang="en-US" b="0" i="0" dirty="0">
                <a:solidFill>
                  <a:srgbClr val="333333"/>
                </a:solidFill>
                <a:effectLst/>
                <a:latin typeface="Helvetica Neue"/>
              </a:rPr>
              <a:t>个隐藏层：权重初始化采用标准化的</a:t>
            </a:r>
            <a:r>
              <a:rPr lang="en-US" altLang="zh-CN" b="0" i="0" dirty="0" err="1">
                <a:solidFill>
                  <a:srgbClr val="333333"/>
                </a:solidFill>
                <a:effectLst/>
                <a:latin typeface="Helvetica Neue"/>
              </a:rPr>
              <a:t>xavier</a:t>
            </a:r>
            <a:r>
              <a:rPr lang="zh-CN" altLang="en-US" b="0" i="0" dirty="0">
                <a:solidFill>
                  <a:srgbClr val="333333"/>
                </a:solidFill>
                <a:effectLst/>
                <a:latin typeface="Helvetica Neue"/>
              </a:rPr>
              <a:t>初始化 激活函数使用</a:t>
            </a:r>
            <a:r>
              <a:rPr lang="en-US" altLang="zh-CN" b="0" i="0" dirty="0">
                <a:solidFill>
                  <a:srgbClr val="333333"/>
                </a:solidFill>
                <a:effectLst/>
                <a:latin typeface="Helvetica Neue"/>
              </a:rPr>
              <a:t>sigmoid</a:t>
            </a:r>
            <a:endParaRPr lang="en-US" altLang="zh-CN" b="0" i="0" dirty="0">
              <a:solidFill>
                <a:srgbClr val="333333"/>
              </a:solidFill>
              <a:effectLst/>
              <a:latin typeface="Helvetica Neue"/>
            </a:endParaRPr>
          </a:p>
          <a:p>
            <a:pPr marL="800100" lvl="1" indent="-342900" algn="l">
              <a:buFont typeface="+mj-lt"/>
              <a:buAutoNum type="arabicPeriod"/>
            </a:pPr>
            <a:r>
              <a:rPr lang="zh-CN" altLang="en-US" b="0" i="0" dirty="0">
                <a:solidFill>
                  <a:srgbClr val="333333"/>
                </a:solidFill>
                <a:effectLst/>
                <a:latin typeface="Helvetica Neue"/>
              </a:rPr>
              <a:t>第</a:t>
            </a:r>
            <a:r>
              <a:rPr lang="en-US" altLang="zh-CN" b="0" i="0" dirty="0">
                <a:solidFill>
                  <a:srgbClr val="333333"/>
                </a:solidFill>
                <a:effectLst/>
                <a:latin typeface="Helvetica Neue"/>
              </a:rPr>
              <a:t>2</a:t>
            </a:r>
            <a:r>
              <a:rPr lang="zh-CN" altLang="en-US" b="0" i="0" dirty="0">
                <a:solidFill>
                  <a:srgbClr val="333333"/>
                </a:solidFill>
                <a:effectLst/>
                <a:latin typeface="Helvetica Neue"/>
              </a:rPr>
              <a:t>个隐藏层：权重初始化采用标准化的</a:t>
            </a:r>
            <a:r>
              <a:rPr lang="en-US" altLang="zh-CN" b="0" i="0" dirty="0">
                <a:solidFill>
                  <a:srgbClr val="333333"/>
                </a:solidFill>
                <a:effectLst/>
                <a:latin typeface="Helvetica Neue"/>
              </a:rPr>
              <a:t>He</a:t>
            </a:r>
            <a:r>
              <a:rPr lang="zh-CN" altLang="en-US" b="0" i="0" dirty="0">
                <a:solidFill>
                  <a:srgbClr val="333333"/>
                </a:solidFill>
                <a:effectLst/>
                <a:latin typeface="Helvetica Neue"/>
              </a:rPr>
              <a:t>初始化 激活函数采用</a:t>
            </a:r>
            <a:r>
              <a:rPr lang="en-US" altLang="zh-CN" b="0" i="0" dirty="0" err="1">
                <a:solidFill>
                  <a:srgbClr val="333333"/>
                </a:solidFill>
                <a:effectLst/>
                <a:latin typeface="Helvetica Neue"/>
              </a:rPr>
              <a:t>relu</a:t>
            </a:r>
            <a:endParaRPr lang="en-US" altLang="zh-CN" b="0" dirty="0">
              <a:solidFill>
                <a:srgbClr val="333333"/>
              </a:solidFill>
              <a:latin typeface="Helvetica Neue"/>
            </a:endParaRPr>
          </a:p>
          <a:p>
            <a:pPr marL="800100" lvl="1" indent="-342900" algn="l">
              <a:buFont typeface="+mj-lt"/>
              <a:buAutoNum type="arabicPeriod"/>
            </a:pPr>
            <a:r>
              <a:rPr lang="en-US" altLang="zh-CN" b="0" i="0" dirty="0">
                <a:solidFill>
                  <a:srgbClr val="333333"/>
                </a:solidFill>
                <a:effectLst/>
                <a:latin typeface="Helvetica Neue"/>
              </a:rPr>
              <a:t>out</a:t>
            </a:r>
            <a:r>
              <a:rPr lang="zh-CN" altLang="en-US" b="0" i="0" dirty="0">
                <a:solidFill>
                  <a:srgbClr val="333333"/>
                </a:solidFill>
                <a:effectLst/>
                <a:latin typeface="Helvetica Neue"/>
              </a:rPr>
              <a:t>输出层线性层 假若</a:t>
            </a:r>
            <a:r>
              <a:rPr lang="zh-CN" altLang="en-US" b="0" dirty="0">
                <a:solidFill>
                  <a:srgbClr val="333333"/>
                </a:solidFill>
                <a:latin typeface="Helvetica Neue"/>
              </a:rPr>
              <a:t>多</a:t>
            </a:r>
            <a:r>
              <a:rPr lang="zh-CN" altLang="en-US" b="0" i="0" dirty="0">
                <a:solidFill>
                  <a:srgbClr val="333333"/>
                </a:solidFill>
                <a:effectLst/>
                <a:latin typeface="Helvetica Neue"/>
              </a:rPr>
              <a:t>分类，采用</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做数据归一化</a:t>
            </a:r>
            <a:endParaRPr lang="zh-CN" altLang="en-US" b="0" i="0" dirty="0">
              <a:solidFill>
                <a:srgbClr val="333333"/>
              </a:solidFill>
              <a:effectLst/>
              <a:latin typeface="Helvetica Neue"/>
            </a:endParaRPr>
          </a:p>
          <a:p>
            <a:endParaRPr lang="en-US" altLang="zh-CN" b="0"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3018746" y="1935350"/>
            <a:ext cx="5098222" cy="2987299"/>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782320" y="1457271"/>
            <a:ext cx="9165244" cy="575437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from </a:t>
            </a:r>
            <a:r>
              <a:rPr lang="en-US" altLang="zh-CN" sz="1400" b="1" dirty="0" err="1">
                <a:solidFill>
                  <a:srgbClr val="0000FF"/>
                </a:solidFill>
                <a:latin typeface="宋体" panose="02010600030101010101" pitchFamily="2" charset="-122"/>
                <a:ea typeface="阿里巴巴普惠体" panose="00020600040101010101"/>
              </a:rPr>
              <a:t>torchsummary</a:t>
            </a:r>
            <a:r>
              <a:rPr lang="en-US" altLang="zh-CN" sz="1400" b="1" dirty="0">
                <a:solidFill>
                  <a:srgbClr val="0000FF"/>
                </a:solidFill>
                <a:latin typeface="宋体" panose="02010600030101010101" pitchFamily="2" charset="-122"/>
                <a:ea typeface="阿里巴巴普惠体" panose="00020600040101010101"/>
              </a:rPr>
              <a:t> import summary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计算模型参数</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查看模型结构</a:t>
            </a:r>
            <a:r>
              <a:rPr lang="en-US" altLang="zh-CN" sz="1400" dirty="0">
                <a:solidFill>
                  <a:srgbClr val="00B050"/>
                </a:solidFill>
                <a:latin typeface="宋体" panose="02010600030101010101" pitchFamily="2" charset="-122"/>
                <a:ea typeface="阿里巴巴普惠体" panose="00020600040101010101"/>
              </a:rPr>
              <a:t>, pip install torchsummary -i https://mirrors.aliyun.com/pypi/simple/</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创建神经网络模型类</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class Model(</a:t>
            </a:r>
            <a:r>
              <a:rPr lang="en-US" altLang="zh-CN" sz="1400" b="1" dirty="0" err="1">
                <a:solidFill>
                  <a:srgbClr val="0000FF"/>
                </a:solidFill>
                <a:latin typeface="宋体" panose="02010600030101010101" pitchFamily="2" charset="-122"/>
                <a:ea typeface="阿里巴巴普惠体" panose="00020600040101010101"/>
              </a:rPr>
              <a:t>nn.Module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初始化属性值</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def __</a:t>
            </a:r>
            <a:r>
              <a:rPr lang="en-US" altLang="zh-CN" sz="1400" b="1" dirty="0" err="1">
                <a:solidFill>
                  <a:srgbClr val="0000FF"/>
                </a:solidFill>
                <a:latin typeface="宋体" panose="02010600030101010101" pitchFamily="2" charset="-122"/>
                <a:ea typeface="阿里巴巴普惠体" panose="00020600040101010101"/>
              </a:rPr>
              <a:t>init</a:t>
            </a:r>
            <a:r>
              <a:rPr lang="en-US" altLang="zh-CN" sz="1400" b="1" dirty="0">
                <a:solidFill>
                  <a:srgbClr val="0000FF"/>
                </a:solidFill>
                <a:latin typeface="宋体" panose="02010600030101010101" pitchFamily="2" charset="-122"/>
                <a:ea typeface="阿里巴巴普惠体" panose="00020600040101010101"/>
              </a:rPr>
              <a:t>__(self):</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super(Model, self).__</a:t>
            </a:r>
            <a:r>
              <a:rPr lang="en-US" altLang="zh-CN" sz="1400" b="1" dirty="0" err="1">
                <a:solidFill>
                  <a:srgbClr val="0000FF"/>
                </a:solidFill>
                <a:latin typeface="宋体" panose="02010600030101010101" pitchFamily="2" charset="-122"/>
                <a:ea typeface="阿里巴巴普惠体" panose="00020600040101010101"/>
              </a:rPr>
              <a:t>init</a:t>
            </a:r>
            <a:r>
              <a:rPr lang="en-US" altLang="zh-CN" sz="1400" b="1" dirty="0">
                <a:solidFill>
                  <a:srgbClr val="0000FF"/>
                </a:solidFill>
                <a:latin typeface="宋体" panose="02010600030101010101" pitchFamily="2" charset="-122"/>
                <a:ea typeface="阿里巴巴普惠体" panose="00020600040101010101"/>
              </a:rPr>
              <a:t>__()</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调用父类的初始化属性值</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self.linear1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(3, 3)</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创建第一个隐藏层模型</a:t>
            </a:r>
            <a:r>
              <a:rPr lang="en-US" altLang="zh-CN" sz="1400" dirty="0">
                <a:solidFill>
                  <a:srgbClr val="00B050"/>
                </a:solidFill>
                <a:latin typeface="宋体" panose="02010600030101010101" pitchFamily="2" charset="-122"/>
                <a:ea typeface="阿里巴巴普惠体" panose="00020600040101010101"/>
              </a:rPr>
              <a:t>, 3</a:t>
            </a:r>
            <a:r>
              <a:rPr lang="zh-CN" altLang="en-US" sz="1400" dirty="0">
                <a:solidFill>
                  <a:srgbClr val="00B050"/>
                </a:solidFill>
                <a:latin typeface="宋体" panose="02010600030101010101" pitchFamily="2" charset="-122"/>
                <a:ea typeface="阿里巴巴普惠体" panose="00020600040101010101"/>
              </a:rPr>
              <a:t>个输入特征</a:t>
            </a:r>
            <a:r>
              <a:rPr lang="en-US" altLang="zh-CN" sz="1400" dirty="0">
                <a:solidFill>
                  <a:srgbClr val="00B050"/>
                </a:solidFill>
                <a:latin typeface="宋体" panose="02010600030101010101" pitchFamily="2" charset="-122"/>
                <a:ea typeface="阿里巴巴普惠体" panose="00020600040101010101"/>
              </a:rPr>
              <a:t>,3</a:t>
            </a:r>
            <a:r>
              <a:rPr lang="zh-CN" altLang="en-US" sz="1400" dirty="0">
                <a:solidFill>
                  <a:srgbClr val="00B050"/>
                </a:solidFill>
                <a:latin typeface="宋体" panose="02010600030101010101" pitchFamily="2" charset="-122"/>
                <a:ea typeface="阿里巴巴普惠体" panose="00020600040101010101"/>
              </a:rPr>
              <a:t>个输出特征</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nn.init.xavier_normal</a:t>
            </a:r>
            <a:r>
              <a:rPr lang="en-US" altLang="zh-CN" sz="1400" b="1" dirty="0">
                <a:solidFill>
                  <a:srgbClr val="0000FF"/>
                </a:solidFill>
                <a:latin typeface="宋体" panose="02010600030101010101" pitchFamily="2" charset="-122"/>
                <a:ea typeface="阿里巴巴普惠体" panose="00020600040101010101"/>
              </a:rPr>
              <a:t>_(self.linear1.weight)</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初始化权重</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nn.init.zeros_(self.linear1.bias)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创建第二个隐藏层模型</a:t>
            </a:r>
            <a:r>
              <a:rPr lang="en-US" altLang="zh-CN" sz="1400" dirty="0">
                <a:solidFill>
                  <a:srgbClr val="00B050"/>
                </a:solidFill>
                <a:latin typeface="宋体" panose="02010600030101010101" pitchFamily="2" charset="-122"/>
                <a:ea typeface="阿里巴巴普惠体" panose="00020600040101010101"/>
              </a:rPr>
              <a:t>, 3</a:t>
            </a:r>
            <a:r>
              <a:rPr lang="zh-CN" altLang="en-US" sz="1400" dirty="0">
                <a:solidFill>
                  <a:srgbClr val="00B050"/>
                </a:solidFill>
                <a:latin typeface="宋体" panose="02010600030101010101" pitchFamily="2" charset="-122"/>
                <a:ea typeface="阿里巴巴普惠体" panose="00020600040101010101"/>
              </a:rPr>
              <a:t>个输入特征</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上一层的输出特征</a:t>
            </a:r>
            <a:r>
              <a:rPr lang="en-US" altLang="zh-CN" sz="1400" dirty="0">
                <a:solidFill>
                  <a:srgbClr val="00B050"/>
                </a:solidFill>
                <a:latin typeface="宋体" panose="02010600030101010101" pitchFamily="2" charset="-122"/>
                <a:ea typeface="阿里巴巴普惠体" panose="00020600040101010101"/>
              </a:rPr>
              <a:t>),2</a:t>
            </a:r>
            <a:r>
              <a:rPr lang="zh-CN" altLang="en-US" sz="1400" dirty="0">
                <a:solidFill>
                  <a:srgbClr val="00B050"/>
                </a:solidFill>
                <a:latin typeface="宋体" panose="02010600030101010101" pitchFamily="2" charset="-122"/>
                <a:ea typeface="阿里巴巴普惠体" panose="00020600040101010101"/>
              </a:rPr>
              <a:t>个输出特征</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self.linear2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(3, 2)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初始化权重</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nn.init.kaiming_normal</a:t>
            </a:r>
            <a:r>
              <a:rPr lang="en-US" altLang="zh-CN" sz="1400" b="1" dirty="0">
                <a:solidFill>
                  <a:srgbClr val="0000FF"/>
                </a:solidFill>
                <a:latin typeface="宋体" panose="02010600030101010101" pitchFamily="2" charset="-122"/>
                <a:ea typeface="阿里巴巴普惠体" panose="00020600040101010101"/>
              </a:rPr>
              <a:t>_(self.linear2.weight, nonlinearity='relu')</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nn.init.zeros_(self.linear2.bias)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创建输出层模型</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self.out</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(2, 2)</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1364209" y="1452813"/>
            <a:ext cx="8228934"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创建前向传播方法</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自动执行</a:t>
            </a:r>
            <a:r>
              <a:rPr lang="en-US" altLang="zh-CN" sz="1400" dirty="0">
                <a:solidFill>
                  <a:srgbClr val="00B050"/>
                </a:solidFill>
                <a:latin typeface="宋体" panose="02010600030101010101" pitchFamily="2" charset="-122"/>
                <a:ea typeface="阿里巴巴普惠体" panose="00020600040101010101"/>
              </a:rPr>
              <a:t>forward()</a:t>
            </a:r>
            <a:r>
              <a:rPr lang="zh-CN" altLang="en-US" sz="1400" dirty="0">
                <a:solidFill>
                  <a:srgbClr val="00B050"/>
                </a:solidFill>
                <a:latin typeface="宋体" panose="02010600030101010101" pitchFamily="2" charset="-122"/>
                <a:ea typeface="阿里巴巴普惠体" panose="00020600040101010101"/>
              </a:rPr>
              <a:t>方法</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def forward(self, 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数据经过第一个线性层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self.linear1(x)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a:solidFill>
                  <a:srgbClr val="00B050"/>
                </a:solidFill>
                <a:latin typeface="宋体" panose="02010600030101010101" pitchFamily="2" charset="-122"/>
                <a:ea typeface="阿里巴巴普惠体" panose="00020600040101010101"/>
              </a:rPr>
              <a:t>sigmoid</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torch.sigmoid</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数据经过第二个线性层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self.linear2(x)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err="1">
                <a:solidFill>
                  <a:srgbClr val="00B050"/>
                </a:solidFill>
                <a:latin typeface="宋体" panose="02010600030101010101" pitchFamily="2" charset="-122"/>
                <a:ea typeface="阿里巴巴普惠体" panose="00020600040101010101"/>
              </a:rPr>
              <a:t>relu</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torch.relu</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数据经过输出层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x = </a:t>
            </a:r>
            <a:r>
              <a:rPr lang="en-US" altLang="zh-CN" sz="1400" b="1" dirty="0" err="1">
                <a:solidFill>
                  <a:srgbClr val="0000FF"/>
                </a:solidFill>
                <a:latin typeface="宋体" panose="02010600030101010101" pitchFamily="2" charset="-122"/>
                <a:ea typeface="阿里巴巴普惠体" panose="00020600040101010101"/>
              </a:rPr>
              <a:t>self.out</a:t>
            </a:r>
            <a:r>
              <a:rPr lang="en-US" altLang="zh-CN" sz="1400" b="1" dirty="0">
                <a:solidFill>
                  <a:srgbClr val="0000FF"/>
                </a:solidFill>
                <a:latin typeface="宋体" panose="02010600030101010101" pitchFamily="2" charset="-122"/>
                <a:ea typeface="阿里巴巴普惠体" panose="00020600040101010101"/>
              </a:rPr>
              <a:t>(x)</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使用</a:t>
            </a:r>
            <a:r>
              <a:rPr lang="en-US" altLang="zh-CN" sz="1400" dirty="0" err="1">
                <a:solidFill>
                  <a:srgbClr val="00B050"/>
                </a:solidFill>
                <a:latin typeface="宋体" panose="02010600030101010101" pitchFamily="2" charset="-122"/>
                <a:ea typeface="阿里巴巴普惠体" panose="00020600040101010101"/>
              </a:rPr>
              <a:t>softmax</a:t>
            </a:r>
            <a:r>
              <a:rPr lang="zh-CN" altLang="en-US" sz="1400" dirty="0">
                <a:solidFill>
                  <a:srgbClr val="00B050"/>
                </a:solidFill>
                <a:latin typeface="宋体" panose="02010600030101010101" pitchFamily="2" charset="-122"/>
                <a:ea typeface="阿里巴巴普惠体" panose="00020600040101010101"/>
              </a:rPr>
              <a:t>激活函数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dim=-1:</a:t>
            </a:r>
            <a:r>
              <a:rPr lang="zh-CN" altLang="en-US" sz="1400" dirty="0">
                <a:solidFill>
                  <a:srgbClr val="00B050"/>
                </a:solidFill>
                <a:latin typeface="宋体" panose="02010600030101010101" pitchFamily="2" charset="-122"/>
                <a:ea typeface="阿里巴巴普惠体" panose="00020600040101010101"/>
              </a:rPr>
              <a:t>每一维度行数据相加为</a:t>
            </a:r>
            <a:r>
              <a:rPr lang="en-US" altLang="zh-CN" sz="1400" dirty="0">
                <a:solidFill>
                  <a:srgbClr val="00B050"/>
                </a:solidFill>
                <a:latin typeface="宋体" panose="02010600030101010101" pitchFamily="2" charset="-122"/>
                <a:ea typeface="阿里巴巴普惠体" panose="00020600040101010101"/>
              </a:rPr>
              <a:t>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torch.softmax</a:t>
            </a:r>
            <a:r>
              <a:rPr lang="en-US" altLang="zh-CN" sz="1400" b="1" dirty="0">
                <a:solidFill>
                  <a:srgbClr val="0000FF"/>
                </a:solidFill>
                <a:latin typeface="宋体" panose="02010600030101010101" pitchFamily="2" charset="-122"/>
                <a:ea typeface="阿里巴巴普惠体" panose="00020600040101010101"/>
              </a:rPr>
              <a:t>(x, dim=-1)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return x</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4" name="文本框 3"/>
          <p:cNvSpPr txBox="1"/>
          <p:nvPr/>
        </p:nvSpPr>
        <p:spPr>
          <a:xfrm>
            <a:off x="1569862" y="1448656"/>
            <a:ext cx="8228934" cy="492315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en-GB" sz="1400" b="1" dirty="0">
                <a:solidFill>
                  <a:srgbClr val="0000FF"/>
                </a:solidFill>
                <a:latin typeface="宋体" panose="02010600030101010101" pitchFamily="2" charset="-122"/>
                <a:ea typeface="阿里巴巴普惠体" panose="00020600040101010101"/>
              </a:rPr>
              <a:t>i</a:t>
            </a:r>
            <a:r>
              <a:rPr lang="en-GB" altLang="zh-CN" sz="1400" b="1" dirty="0">
                <a:solidFill>
                  <a:srgbClr val="0000FF"/>
                </a:solidFill>
                <a:latin typeface="宋体" panose="02010600030101010101" pitchFamily="2" charset="-122"/>
                <a:ea typeface="阿里巴巴普惠体" panose="00020600040101010101"/>
              </a:rPr>
              <a:t>f __name__ == "__main__":</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实例化</a:t>
            </a:r>
            <a:r>
              <a:rPr lang="en-US" altLang="zh-CN" sz="1400" dirty="0">
                <a:solidFill>
                  <a:srgbClr val="00B050"/>
                </a:solidFill>
                <a:latin typeface="宋体" panose="02010600030101010101" pitchFamily="2" charset="-122"/>
                <a:ea typeface="阿里巴巴普惠体" panose="00020600040101010101"/>
              </a:rPr>
              <a:t>model</a:t>
            </a:r>
            <a:r>
              <a:rPr lang="zh-CN" altLang="en-US" sz="1400" dirty="0">
                <a:solidFill>
                  <a:srgbClr val="00B050"/>
                </a:solidFill>
                <a:latin typeface="宋体" panose="02010600030101010101" pitchFamily="2" charset="-122"/>
                <a:ea typeface="阿里巴巴普惠体" panose="00020600040101010101"/>
              </a:rPr>
              <a:t>对象</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 = Model()</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随机产生数据</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my_data</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(5, 3)</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a:t>
            </a:r>
            <a:r>
              <a:rPr lang="en-US" altLang="zh-CN" sz="1400" b="1" dirty="0" err="1">
                <a:solidFill>
                  <a:srgbClr val="0000FF"/>
                </a:solidFill>
                <a:latin typeface="宋体" panose="02010600030101010101" pitchFamily="2" charset="-122"/>
                <a:ea typeface="阿里巴巴普惠体" panose="00020600040101010101"/>
              </a:rPr>
              <a:t>mydata</a:t>
            </a:r>
            <a:r>
              <a:rPr lang="en-US" altLang="zh-CN" sz="1400" b="1" dirty="0">
                <a:solidFill>
                  <a:srgbClr val="0000FF"/>
                </a:solidFill>
                <a:latin typeface="宋体" panose="02010600030101010101" pitchFamily="2" charset="-122"/>
                <a:ea typeface="阿里巴巴普惠体" panose="00020600040101010101"/>
              </a:rPr>
              <a:t> shape", </a:t>
            </a:r>
            <a:r>
              <a:rPr lang="en-US" altLang="zh-CN" sz="1400" b="1" dirty="0" err="1">
                <a:solidFill>
                  <a:srgbClr val="0000FF"/>
                </a:solidFill>
                <a:latin typeface="宋体" panose="02010600030101010101" pitchFamily="2" charset="-122"/>
                <a:ea typeface="阿里巴巴普惠体" panose="00020600040101010101"/>
              </a:rPr>
              <a:t>my_data.shape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数据经过神经网络模型训练</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output = </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my_data</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print("output shape--&gt;", </a:t>
            </a:r>
            <a:r>
              <a:rPr lang="en-US" altLang="zh-CN" sz="1400" b="1" dirty="0" err="1">
                <a:solidFill>
                  <a:srgbClr val="0000FF"/>
                </a:solidFill>
                <a:latin typeface="宋体" panose="02010600030101010101" pitchFamily="2" charset="-122"/>
                <a:ea typeface="阿里巴巴普惠体" panose="00020600040101010101"/>
              </a:rPr>
              <a:t>output.shape</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计算模型参数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dirty="0">
                <a:solidFill>
                  <a:srgbClr val="00B050"/>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计算每层每个神经元的</a:t>
            </a:r>
            <a:r>
              <a:rPr lang="en-US" altLang="zh-CN" sz="1400" dirty="0">
                <a:solidFill>
                  <a:srgbClr val="00B050"/>
                </a:solidFill>
                <a:latin typeface="宋体" panose="02010600030101010101" pitchFamily="2" charset="-122"/>
                <a:ea typeface="阿里巴巴普惠体" panose="00020600040101010101"/>
              </a:rPr>
              <a:t>w</a:t>
            </a:r>
            <a:r>
              <a:rPr lang="zh-CN" altLang="en-US" sz="1400" dirty="0">
                <a:solidFill>
                  <a:srgbClr val="00B050"/>
                </a:solidFill>
                <a:latin typeface="宋体" panose="02010600030101010101" pitchFamily="2" charset="-122"/>
                <a:ea typeface="阿里巴巴普惠体" panose="00020600040101010101"/>
              </a:rPr>
              <a:t>和</a:t>
            </a:r>
            <a:r>
              <a:rPr lang="en-US" altLang="zh-CN" sz="1400" dirty="0">
                <a:solidFill>
                  <a:srgbClr val="00B050"/>
                </a:solidFill>
                <a:latin typeface="宋体" panose="02010600030101010101" pitchFamily="2" charset="-122"/>
                <a:ea typeface="阿里巴巴普惠体" panose="00020600040101010101"/>
              </a:rPr>
              <a:t>b</a:t>
            </a:r>
            <a:r>
              <a:rPr lang="zh-CN" altLang="en-US" sz="1400" dirty="0">
                <a:solidFill>
                  <a:srgbClr val="00B050"/>
                </a:solidFill>
                <a:latin typeface="宋体" panose="02010600030101010101" pitchFamily="2" charset="-122"/>
                <a:ea typeface="阿里巴巴普惠体" panose="00020600040101010101"/>
              </a:rPr>
              <a:t>个数总和</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summary(</a:t>
            </a:r>
            <a:r>
              <a:rPr lang="en-US" altLang="zh-CN" sz="1400" b="1" dirty="0" err="1">
                <a:solidFill>
                  <a:srgbClr val="0000FF"/>
                </a:solidFill>
                <a:latin typeface="宋体" panose="02010600030101010101" pitchFamily="2" charset="-122"/>
                <a:ea typeface="阿里巴巴普惠体" panose="00020600040101010101"/>
              </a:rPr>
              <a:t>my_model</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input_size</a:t>
            </a:r>
            <a:r>
              <a:rPr lang="en-US" altLang="zh-CN" sz="1400" b="1" dirty="0">
                <a:solidFill>
                  <a:srgbClr val="0000FF"/>
                </a:solidFill>
                <a:latin typeface="宋体" panose="02010600030101010101" pitchFamily="2" charset="-122"/>
                <a:ea typeface="阿里巴巴普惠体" panose="00020600040101010101"/>
              </a:rPr>
              <a:t>=(3,), </a:t>
            </a:r>
            <a:r>
              <a:rPr lang="en-US" altLang="zh-CN" sz="1400" b="1" dirty="0" err="1">
                <a:solidFill>
                  <a:srgbClr val="0000FF"/>
                </a:solidFill>
                <a:latin typeface="宋体" panose="02010600030101010101" pitchFamily="2" charset="-122"/>
                <a:ea typeface="阿里巴巴普惠体" panose="00020600040101010101"/>
              </a:rPr>
              <a:t>batch_size</a:t>
            </a:r>
            <a:r>
              <a:rPr lang="en-US" altLang="zh-CN" sz="1400" b="1" dirty="0">
                <a:solidFill>
                  <a:srgbClr val="0000FF"/>
                </a:solidFill>
                <a:latin typeface="宋体" panose="02010600030101010101" pitchFamily="2" charset="-122"/>
                <a:ea typeface="阿里巴巴普惠体" panose="00020600040101010101"/>
              </a:rPr>
              <a:t>=5) </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查看模型参数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print("======</a:t>
            </a:r>
            <a:r>
              <a:rPr lang="zh-CN" altLang="en-US" sz="1400" b="1" dirty="0">
                <a:solidFill>
                  <a:srgbClr val="0000FF"/>
                </a:solidFill>
                <a:latin typeface="宋体" panose="02010600030101010101" pitchFamily="2" charset="-122"/>
                <a:ea typeface="阿里巴巴普惠体" panose="00020600040101010101"/>
              </a:rPr>
              <a:t>查看模型参数</a:t>
            </a:r>
            <a:r>
              <a:rPr lang="en-US" altLang="zh-CN" sz="1400" b="1" dirty="0">
                <a:solidFill>
                  <a:srgbClr val="0000FF"/>
                </a:solidFill>
                <a:latin typeface="宋体" panose="02010600030101010101" pitchFamily="2" charset="-122"/>
                <a:ea typeface="阿里巴巴普惠体" panose="00020600040101010101"/>
              </a:rPr>
              <a:t>w</a:t>
            </a:r>
            <a:r>
              <a:rPr lang="zh-CN" altLang="en-US" sz="1400" b="1" dirty="0">
                <a:solidFill>
                  <a:srgbClr val="0000FF"/>
                </a:solidFill>
                <a:latin typeface="宋体" panose="02010600030101010101" pitchFamily="2" charset="-122"/>
                <a:ea typeface="阿里巴巴普惠体" panose="00020600040101010101"/>
              </a:rPr>
              <a:t>和</a:t>
            </a:r>
            <a:r>
              <a:rPr lang="en-US" altLang="zh-CN" sz="1400" b="1" dirty="0">
                <a:solidFill>
                  <a:srgbClr val="0000FF"/>
                </a:solidFill>
                <a:latin typeface="宋体" panose="02010600030101010101" pitchFamily="2" charset="-122"/>
                <a:ea typeface="阿里巴巴普惠体" panose="00020600040101010101"/>
              </a:rPr>
              <a:t>b======")</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name, parameter in </a:t>
            </a:r>
            <a:r>
              <a:rPr lang="en-US" altLang="zh-CN" sz="1400" b="1" dirty="0" err="1">
                <a:solidFill>
                  <a:srgbClr val="0000FF"/>
                </a:solidFill>
                <a:latin typeface="宋体" panose="02010600030101010101" pitchFamily="2" charset="-122"/>
                <a:ea typeface="阿里巴巴普惠体" panose="00020600040101010101"/>
              </a:rPr>
              <a:t>my_model.named_parameters</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print(name, parameter)</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6" name="文本框 5"/>
          <p:cNvSpPr txBox="1"/>
          <p:nvPr/>
        </p:nvSpPr>
        <p:spPr>
          <a:xfrm>
            <a:off x="710879" y="2032383"/>
            <a:ext cx="10698800" cy="3415030"/>
          </a:xfrm>
          <a:prstGeom prst="rect">
            <a:avLst/>
          </a:prstGeom>
          <a:noFill/>
        </p:spPr>
        <p:txBody>
          <a:bodyPr wrap="square">
            <a:spAutoFit/>
          </a:bodyPr>
          <a:lstStyle/>
          <a:p>
            <a:pPr marL="342900" indent="-342900" algn="l">
              <a:lnSpc>
                <a:spcPct val="150000"/>
              </a:lnSpc>
              <a:buFont typeface="Wingdings" panose="05000000000000000000" pitchFamily="2" charset="2"/>
              <a:buChar char="l"/>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神经网络的输入数据是为[batch_size, in_features]的张量经过网络处理后获取了[batch_size, out_features]的输出张量。</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marL="342900" indent="-342900" algn="l">
              <a:lnSpc>
                <a:spcPct val="150000"/>
              </a:lnSpc>
              <a:buFont typeface="Wingdings" panose="05000000000000000000" pitchFamily="2" charset="2"/>
              <a:buChar char="l"/>
            </a:pP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marL="342900" indent="-342900" algn="l">
              <a:lnSpc>
                <a:spcPct val="150000"/>
              </a:lnSpc>
              <a:buFont typeface="Wingdings" panose="05000000000000000000" pitchFamily="2" charset="2"/>
              <a:buChar char="l"/>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在上述例子中，batchsize=5, infeatures=3,out_features=2,结果如下所示：</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indent="457200" algn="l">
              <a:lnSpc>
                <a:spcPct val="150000"/>
              </a:lnSpc>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mydata.shape---&gt; torch.Size([5, 3]) </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pPr indent="457200" algn="l">
              <a:lnSpc>
                <a:spcPct val="150000"/>
              </a:lnSpc>
            </a:pPr>
            <a:r>
              <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rPr>
              <a:t>output.shape---&gt; torch.Size([5, 2]) </a:t>
            </a:r>
            <a:endParaRPr lang="zh-CN" altLang="en-US" sz="2000" b="0" i="0" dirty="0">
              <a:solidFill>
                <a:schemeClr val="tx1">
                  <a:lumMod val="85000"/>
                  <a:lumOff val="15000"/>
                </a:schemeClr>
              </a:solidFill>
              <a:effectLst/>
              <a:latin typeface="Alibaba PuHuiTi" pitchFamily="18" charset="-122"/>
              <a:ea typeface="Alibaba PuHuiTi" pitchFamily="18" charset="-122"/>
              <a:cs typeface="Alibaba PuHuiTi" pitchFamily="18" charset="-122"/>
            </a:endParaRPr>
          </a:p>
          <a:p>
            <a:br>
              <a:rPr lang="en-GB" altLang="zh-CN" dirty="0"/>
            </a:br>
            <a:endParaRPr lang="zh-CN"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5" name="文本框 4"/>
          <p:cNvSpPr txBox="1"/>
          <p:nvPr/>
        </p:nvSpPr>
        <p:spPr>
          <a:xfrm>
            <a:off x="2040916" y="1849430"/>
            <a:ext cx="6187070" cy="3754874"/>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en-US" altLang="zh-CN" sz="1400" dirty="0"/>
              <a:t>----------------------------------------------------------------</a:t>
            </a:r>
            <a:endParaRPr lang="en-US" altLang="zh-CN" sz="1400" dirty="0"/>
          </a:p>
          <a:p>
            <a:r>
              <a:rPr lang="en-US" altLang="zh-CN" sz="1400" dirty="0"/>
              <a:t>        Layer (type)               Output Shape         Param #</a:t>
            </a:r>
            <a:endParaRPr lang="en-US" altLang="zh-CN" sz="1400" dirty="0"/>
          </a:p>
          <a:p>
            <a:r>
              <a:rPr lang="en-US" altLang="zh-CN" sz="1400" dirty="0"/>
              <a:t>================================================================</a:t>
            </a:r>
            <a:endParaRPr lang="en-US" altLang="zh-CN" sz="1400" dirty="0"/>
          </a:p>
          <a:p>
            <a:r>
              <a:rPr lang="en-US" altLang="zh-CN" sz="1400" dirty="0"/>
              <a:t>            Linear-1                     [5, 3]              12</a:t>
            </a:r>
            <a:endParaRPr lang="en-US" altLang="zh-CN" sz="1400" dirty="0"/>
          </a:p>
          <a:p>
            <a:r>
              <a:rPr lang="en-US" altLang="zh-CN" sz="1400" dirty="0"/>
              <a:t>            Linear-2                     [5, 2]               8</a:t>
            </a:r>
            <a:endParaRPr lang="en-US" altLang="zh-CN" sz="1400" dirty="0"/>
          </a:p>
          <a:p>
            <a:r>
              <a:rPr lang="en-US" altLang="zh-CN" sz="1400" dirty="0"/>
              <a:t>            Linear-3                     [5, 2]               6</a:t>
            </a:r>
            <a:endParaRPr lang="en-US" altLang="zh-CN" sz="1400" dirty="0"/>
          </a:p>
          <a:p>
            <a:r>
              <a:rPr lang="en-US" altLang="zh-CN" sz="1400" dirty="0"/>
              <a:t>================================================================</a:t>
            </a:r>
            <a:endParaRPr lang="en-US" altLang="zh-CN" sz="1400" dirty="0"/>
          </a:p>
          <a:p>
            <a:r>
              <a:rPr lang="en-US" altLang="zh-CN" sz="1400" dirty="0"/>
              <a:t>Total params: 26</a:t>
            </a:r>
            <a:endParaRPr lang="en-US" altLang="zh-CN" sz="1400" dirty="0"/>
          </a:p>
          <a:p>
            <a:r>
              <a:rPr lang="en-US" altLang="zh-CN" sz="1400" dirty="0"/>
              <a:t>Trainable params: 26</a:t>
            </a:r>
            <a:endParaRPr lang="en-US" altLang="zh-CN" sz="1400" dirty="0"/>
          </a:p>
          <a:p>
            <a:r>
              <a:rPr lang="en-US" altLang="zh-CN" sz="1400" dirty="0"/>
              <a:t>Non-trainable params: 0</a:t>
            </a:r>
            <a:endParaRPr lang="en-US" altLang="zh-CN" sz="1400" dirty="0"/>
          </a:p>
          <a:p>
            <a:r>
              <a:rPr lang="en-US" altLang="zh-CN" sz="1400" dirty="0"/>
              <a:t>----------------------------------------------------------------</a:t>
            </a:r>
            <a:endParaRPr lang="en-US" altLang="zh-CN" sz="1400" dirty="0"/>
          </a:p>
          <a:p>
            <a:r>
              <a:rPr lang="en-US" altLang="zh-CN" sz="1400" dirty="0"/>
              <a:t>Input size (MB): 0.00</a:t>
            </a:r>
            <a:endParaRPr lang="en-US" altLang="zh-CN" sz="1400" dirty="0"/>
          </a:p>
          <a:p>
            <a:r>
              <a:rPr lang="en-US" altLang="zh-CN" sz="1400" dirty="0"/>
              <a:t>Forward/backward pass size (MB): 0.00</a:t>
            </a:r>
            <a:endParaRPr lang="en-US" altLang="zh-CN" sz="1400" dirty="0"/>
          </a:p>
          <a:p>
            <a:r>
              <a:rPr lang="en-US" altLang="zh-CN" sz="1400" dirty="0"/>
              <a:t>Params size (MB): 0.00</a:t>
            </a:r>
            <a:endParaRPr lang="en-US" altLang="zh-CN" sz="1400" dirty="0"/>
          </a:p>
          <a:p>
            <a:r>
              <a:rPr lang="en-US" altLang="zh-CN" sz="1400" dirty="0"/>
              <a:t>Estimated Total Size (MB): 0.00</a:t>
            </a:r>
            <a:endParaRPr lang="en-US" altLang="zh-CN" sz="1400" dirty="0"/>
          </a:p>
          <a:p>
            <a:r>
              <a:rPr lang="en-US" altLang="zh-CN" sz="1400" dirty="0"/>
              <a:t>----------------------------------------------------------------</a:t>
            </a:r>
            <a:endParaRPr lang="zh-CN" alt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神经网络搭建和参数计算</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1029764" cy="5400729"/>
          </a:xfrm>
        </p:spPr>
        <p:txBody>
          <a:bodyPr/>
          <a:lstStyle/>
          <a:p>
            <a:pPr algn="l"/>
            <a:r>
              <a:rPr lang="zh-CN" altLang="en-US" b="0" i="0" dirty="0">
                <a:solidFill>
                  <a:srgbClr val="333333"/>
                </a:solidFill>
                <a:effectLst/>
                <a:latin typeface="Helvetica Neue"/>
              </a:rPr>
              <a:t>模型参数的计算</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buFont typeface="+mj-lt"/>
              <a:buAutoNum type="arabicPeriod"/>
            </a:pPr>
            <a:r>
              <a:rPr lang="zh-CN" altLang="en-US" b="0" i="0" dirty="0">
                <a:solidFill>
                  <a:srgbClr val="333333"/>
                </a:solidFill>
                <a:effectLst/>
                <a:latin typeface="Helvetica Neue"/>
              </a:rPr>
              <a:t>以第一个隐层为例：该隐层有</a:t>
            </a:r>
            <a:r>
              <a:rPr lang="en-US" altLang="zh-CN" b="0" i="0" dirty="0">
                <a:solidFill>
                  <a:srgbClr val="333333"/>
                </a:solidFill>
                <a:effectLst/>
                <a:latin typeface="Helvetica Neue"/>
              </a:rPr>
              <a:t>3</a:t>
            </a:r>
            <a:r>
              <a:rPr lang="zh-CN" altLang="en-US" b="0" i="0" dirty="0">
                <a:solidFill>
                  <a:srgbClr val="333333"/>
                </a:solidFill>
                <a:effectLst/>
                <a:latin typeface="Helvetica Neue"/>
              </a:rPr>
              <a:t>个神经元，每个神经元的参数为：</a:t>
            </a:r>
            <a:r>
              <a:rPr lang="en-US" altLang="zh-CN" b="0" i="0" dirty="0">
                <a:solidFill>
                  <a:srgbClr val="333333"/>
                </a:solidFill>
                <a:effectLst/>
                <a:latin typeface="Helvetica Neue"/>
              </a:rPr>
              <a:t>4</a:t>
            </a:r>
            <a:r>
              <a:rPr lang="zh-CN" altLang="en-US" b="0" i="0" dirty="0">
                <a:solidFill>
                  <a:srgbClr val="333333"/>
                </a:solidFill>
                <a:effectLst/>
                <a:latin typeface="Helvetica Neue"/>
              </a:rPr>
              <a:t>个（</a:t>
            </a:r>
            <a:r>
              <a:rPr lang="en-US" altLang="zh-CN" b="0" i="0" dirty="0">
                <a:solidFill>
                  <a:srgbClr val="333333"/>
                </a:solidFill>
                <a:effectLst/>
                <a:latin typeface="Helvetica Neue"/>
              </a:rPr>
              <a:t>w1,w2,w3,b1</a:t>
            </a:r>
            <a:r>
              <a:rPr lang="zh-CN" altLang="en-US" b="0" i="0" dirty="0">
                <a:solidFill>
                  <a:srgbClr val="333333"/>
                </a:solidFill>
                <a:effectLst/>
                <a:latin typeface="Helvetica Neue"/>
              </a:rPr>
              <a:t>），所以一共用</a:t>
            </a:r>
            <a:r>
              <a:rPr lang="en-US" altLang="zh-CN" b="0" i="0" dirty="0">
                <a:solidFill>
                  <a:srgbClr val="333333"/>
                </a:solidFill>
                <a:effectLst/>
                <a:latin typeface="Helvetica Neue"/>
              </a:rPr>
              <a:t>3x4=12</a:t>
            </a:r>
            <a:r>
              <a:rPr lang="zh-CN" altLang="en-US" b="0" i="0" dirty="0">
                <a:solidFill>
                  <a:srgbClr val="333333"/>
                </a:solidFill>
                <a:effectLst/>
                <a:latin typeface="Helvetica Neue"/>
              </a:rPr>
              <a:t>个参数。</a:t>
            </a:r>
            <a:endParaRPr lang="en-US" altLang="zh-CN" b="0" i="0" dirty="0">
              <a:solidFill>
                <a:srgbClr val="333333"/>
              </a:solidFill>
              <a:effectLst/>
              <a:latin typeface="Helvetica Neue"/>
            </a:endParaRPr>
          </a:p>
          <a:p>
            <a:pPr marL="342900" indent="-342900">
              <a:buFont typeface="+mj-lt"/>
              <a:buAutoNum type="arabicPeriod"/>
            </a:pPr>
            <a:r>
              <a:rPr lang="zh-CN" altLang="en-US" b="0" i="0" dirty="0">
                <a:solidFill>
                  <a:srgbClr val="333333"/>
                </a:solidFill>
                <a:effectLst/>
                <a:latin typeface="Helvetica Neue"/>
              </a:rPr>
              <a:t>输入数据和网络权重是两个不同的事儿！对于初学者理解这一点十分重要，要分得清。</a:t>
            </a:r>
            <a:endParaRPr lang="zh-CN" altLang="en-US" b="0" i="0" dirty="0">
              <a:solidFill>
                <a:srgbClr val="333333"/>
              </a:solidFill>
              <a:effectLst/>
              <a:latin typeface="Helvetica Neue"/>
            </a:endParaRPr>
          </a:p>
          <a:p>
            <a:pPr marL="342900" indent="-342900">
              <a:buFont typeface="+mj-lt"/>
              <a:buAutoNum type="arabicPeriod"/>
            </a:pP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046455" y="2862034"/>
            <a:ext cx="5166808" cy="305588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marL="0" indent="0">
              <a:buNone/>
            </a:pPr>
            <a:r>
              <a:rPr lang="en-US" altLang="zh-CN" dirty="0"/>
              <a:t>1.</a:t>
            </a:r>
            <a:r>
              <a:rPr lang="zh-CN" altLang="en-US" dirty="0"/>
              <a:t>神经网络的搭建方法</a:t>
            </a:r>
            <a:endParaRPr lang="en-US" altLang="zh-CN" dirty="0"/>
          </a:p>
          <a:p>
            <a:pPr marL="285750" indent="-285750">
              <a:buFont typeface="Arial" panose="020B0604020202020204" pitchFamily="34" charset="0"/>
              <a:buChar char="•"/>
            </a:pPr>
            <a:r>
              <a:rPr lang="zh-CN" altLang="en-US" b="0" i="0" dirty="0">
                <a:effectLst/>
                <a:latin typeface="Roboto" panose="02000000000000000000" pitchFamily="2" charset="0"/>
              </a:rPr>
              <a:t>定义继承自</a:t>
            </a:r>
            <a:r>
              <a:rPr lang="en-GB" altLang="zh-CN" b="0" i="0" dirty="0" err="1">
                <a:effectLst/>
                <a:latin typeface="Roboto" panose="02000000000000000000" pitchFamily="2" charset="0"/>
              </a:rPr>
              <a:t>nn.Module</a:t>
            </a:r>
            <a:r>
              <a:rPr lang="zh-CN" altLang="en-GB" b="0" i="0" dirty="0">
                <a:effectLst/>
                <a:latin typeface="Roboto" panose="02000000000000000000" pitchFamily="2" charset="0"/>
              </a:rPr>
              <a:t>的</a:t>
            </a:r>
            <a:r>
              <a:rPr lang="zh-CN" altLang="en-US" b="0" i="0" dirty="0">
                <a:effectLst/>
                <a:latin typeface="Roboto" panose="02000000000000000000" pitchFamily="2" charset="0"/>
              </a:rPr>
              <a:t>模型类</a:t>
            </a:r>
            <a:endParaRPr lang="en-US" altLang="zh-CN" b="0" i="0" dirty="0">
              <a:effectLst/>
              <a:latin typeface="Roboto" panose="02000000000000000000" pitchFamily="2" charset="0"/>
            </a:endParaRPr>
          </a:p>
          <a:p>
            <a:pPr marL="285750" indent="-285750">
              <a:buFont typeface="Arial" panose="020B0604020202020204" pitchFamily="34" charset="0"/>
              <a:buChar char="•"/>
            </a:pPr>
            <a:r>
              <a:rPr lang="zh-CN" altLang="en-US" dirty="0"/>
              <a:t>在</a:t>
            </a:r>
            <a:r>
              <a:rPr lang="en-GB" altLang="zh-CN" b="0" i="0" dirty="0">
                <a:effectLst/>
                <a:latin typeface="Roboto" panose="02000000000000000000" pitchFamily="2" charset="0"/>
              </a:rPr>
              <a:t>__</a:t>
            </a:r>
            <a:r>
              <a:rPr lang="en-GB" altLang="zh-CN" b="0" i="0" dirty="0" err="1">
                <a:effectLst/>
                <a:latin typeface="Roboto" panose="02000000000000000000" pitchFamily="2" charset="0"/>
              </a:rPr>
              <a:t>init</a:t>
            </a:r>
            <a:r>
              <a:rPr lang="en-GB" altLang="zh-CN" b="0" i="0" dirty="0">
                <a:effectLst/>
                <a:latin typeface="Roboto" panose="02000000000000000000" pitchFamily="2" charset="0"/>
              </a:rPr>
              <a:t>__</a:t>
            </a:r>
            <a:r>
              <a:rPr lang="zh-CN" altLang="en-US" b="0" i="0" dirty="0">
                <a:effectLst/>
                <a:latin typeface="Roboto" panose="02000000000000000000" pitchFamily="2" charset="0"/>
              </a:rPr>
              <a:t>方法中定义网络中的层结构</a:t>
            </a:r>
            <a:endParaRPr lang="en-US" altLang="zh-CN" b="0" i="0" dirty="0">
              <a:effectLst/>
              <a:latin typeface="Roboto" panose="02000000000000000000" pitchFamily="2" charset="0"/>
            </a:endParaRPr>
          </a:p>
          <a:p>
            <a:pPr marL="285750" indent="-285750">
              <a:buFont typeface="Arial" panose="020B0604020202020204" pitchFamily="34" charset="0"/>
              <a:buChar char="•"/>
            </a:pPr>
            <a:r>
              <a:rPr lang="zh-CN" altLang="en-GB" b="0" i="0" dirty="0">
                <a:effectLst/>
                <a:latin typeface="Roboto" panose="02000000000000000000" pitchFamily="2" charset="0"/>
              </a:rPr>
              <a:t>在</a:t>
            </a:r>
            <a:r>
              <a:rPr lang="en-GB" altLang="zh-CN" b="0" i="0" dirty="0">
                <a:effectLst/>
                <a:latin typeface="Roboto" panose="02000000000000000000" pitchFamily="2" charset="0"/>
              </a:rPr>
              <a:t>forward</a:t>
            </a:r>
            <a:r>
              <a:rPr lang="zh-CN" altLang="en-US" b="0" i="0" dirty="0">
                <a:effectLst/>
                <a:latin typeface="Roboto" panose="02000000000000000000" pitchFamily="2" charset="0"/>
              </a:rPr>
              <a:t>方法中定义数据传输方式</a:t>
            </a:r>
            <a:endParaRPr lang="en-US" altLang="zh-CN" dirty="0"/>
          </a:p>
          <a:p>
            <a:pPr marL="0" indent="0">
              <a:buNone/>
            </a:pPr>
            <a:r>
              <a:rPr lang="en-US" altLang="zh-CN" dirty="0"/>
              <a:t>2.</a:t>
            </a:r>
            <a:r>
              <a:rPr lang="zh-CN" altLang="en-US" dirty="0"/>
              <a:t>网络参数量的统计方法</a:t>
            </a:r>
            <a:endParaRPr lang="en-US" altLang="zh-CN" dirty="0"/>
          </a:p>
          <a:p>
            <a:pPr marL="285750" indent="-285750">
              <a:buFont typeface="Arial" panose="020B0604020202020204" pitchFamily="34" charset="0"/>
              <a:buChar char="•"/>
            </a:pPr>
            <a:r>
              <a:rPr lang="zh-CN" altLang="en-US" dirty="0"/>
              <a:t>统计每一层中的权重</a:t>
            </a:r>
            <a:r>
              <a:rPr lang="en-US" altLang="zh-CN" dirty="0"/>
              <a:t>w</a:t>
            </a:r>
            <a:r>
              <a:rPr lang="zh-CN" altLang="en-US" dirty="0"/>
              <a:t>和偏置</a:t>
            </a:r>
            <a:r>
              <a:rPr lang="en-US" altLang="zh-CN" dirty="0"/>
              <a:t>b</a:t>
            </a:r>
            <a:r>
              <a:rPr lang="zh-CN" altLang="en-US" dirty="0"/>
              <a:t>的数量</a:t>
            </a:r>
            <a:endParaRPr lang="en-US" altLang="zh-CN" dirty="0"/>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神经网络的优缺点</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1029764" cy="5400729"/>
          </a:xfrm>
        </p:spPr>
        <p:txBody>
          <a:bodyPr/>
          <a:lstStyle/>
          <a:p>
            <a:pPr algn="l"/>
            <a:r>
              <a:rPr lang="en-US" altLang="zh-CN" sz="1800" dirty="0"/>
              <a:t>1.</a:t>
            </a:r>
            <a:r>
              <a:rPr lang="zh-CN" altLang="en-US" sz="1800" dirty="0"/>
              <a:t>优点</a:t>
            </a:r>
            <a:endParaRPr lang="en-US" altLang="zh-CN" sz="1800" dirty="0"/>
          </a:p>
          <a:p>
            <a:pPr marL="342900" indent="-342900" algn="l">
              <a:buFont typeface="Wingdings" panose="05000000000000000000" pitchFamily="2" charset="2"/>
              <a:buChar char="Ø"/>
            </a:pPr>
            <a:r>
              <a:rPr lang="zh-CN" altLang="en-US" sz="1800" dirty="0"/>
              <a:t>精度⾼，性能优于其他的机器学习⽅法，甚⾄在某些领域超过了⼈类</a:t>
            </a:r>
            <a:endParaRPr lang="en-US" altLang="zh-CN" sz="1800" dirty="0"/>
          </a:p>
          <a:p>
            <a:pPr marL="342900" indent="-342900" algn="l">
              <a:buFont typeface="Wingdings" panose="05000000000000000000" pitchFamily="2" charset="2"/>
              <a:buChar char="Ø"/>
            </a:pPr>
            <a:r>
              <a:rPr lang="zh-CN" altLang="en-US" sz="1800" dirty="0"/>
              <a:t>可以近似任意的⾮</a:t>
            </a:r>
            <a:r>
              <a:rPr lang="zh-CN" altLang="en-US" sz="1800"/>
              <a:t>线性函数</a:t>
            </a:r>
            <a:endParaRPr lang="en-US" altLang="zh-CN" sz="1800" dirty="0"/>
          </a:p>
          <a:p>
            <a:pPr marL="342900" indent="-342900" algn="l">
              <a:buFont typeface="Wingdings" panose="05000000000000000000" pitchFamily="2" charset="2"/>
              <a:buChar char="Ø"/>
            </a:pPr>
            <a:r>
              <a:rPr lang="zh-CN" altLang="en-US" sz="1800" dirty="0"/>
              <a:t>近年来在学界和业界受到了热捧，有⼤量的框架和库可供调。</a:t>
            </a:r>
            <a:endParaRPr lang="en-US" altLang="zh-CN" sz="1800" dirty="0"/>
          </a:p>
          <a:p>
            <a:pPr algn="l"/>
            <a:r>
              <a:rPr lang="en-US" altLang="zh-CN" sz="1800" dirty="0"/>
              <a:t>2.</a:t>
            </a:r>
            <a:r>
              <a:rPr lang="zh-CN" altLang="en-US" sz="1800" dirty="0"/>
              <a:t>缺点</a:t>
            </a:r>
            <a:endParaRPr lang="en-US" altLang="zh-CN" sz="1800" dirty="0"/>
          </a:p>
          <a:p>
            <a:pPr marL="342900" indent="-342900" algn="l">
              <a:buFont typeface="Wingdings" panose="05000000000000000000" pitchFamily="2" charset="2"/>
              <a:buChar char="Ø"/>
            </a:pPr>
            <a:r>
              <a:rPr lang="zh-CN" altLang="en-US" sz="1800" dirty="0"/>
              <a:t>⿊箱，很难解释模型是怎么⼯作的</a:t>
            </a:r>
            <a:endParaRPr lang="en-US" altLang="zh-CN" sz="1800" dirty="0"/>
          </a:p>
          <a:p>
            <a:pPr marL="342900" indent="-342900" algn="l">
              <a:buFont typeface="Wingdings" panose="05000000000000000000" pitchFamily="2" charset="2"/>
              <a:buChar char="Ø"/>
            </a:pPr>
            <a:r>
              <a:rPr lang="zh-CN" altLang="en-US" sz="1800" dirty="0"/>
              <a:t>训练时间⻓，需要⼤量的计算⼒</a:t>
            </a:r>
            <a:endParaRPr lang="en-US" altLang="zh-CN" sz="1800" dirty="0"/>
          </a:p>
          <a:p>
            <a:pPr marL="342900" indent="-342900" algn="l">
              <a:buFont typeface="Wingdings" panose="05000000000000000000" pitchFamily="2" charset="2"/>
              <a:buChar char="Ø"/>
            </a:pPr>
            <a:r>
              <a:rPr lang="zh-CN" altLang="en-US" sz="1800" dirty="0"/>
              <a:t>⽹络结构复杂，需要调整超参数</a:t>
            </a:r>
            <a:endParaRPr lang="en-US" altLang="zh-CN" sz="1800" dirty="0"/>
          </a:p>
          <a:p>
            <a:pPr marL="342900" indent="-342900" algn="l">
              <a:buFont typeface="Wingdings" panose="05000000000000000000" pitchFamily="2" charset="2"/>
              <a:buChar char="Ø"/>
            </a:pPr>
            <a:r>
              <a:rPr lang="zh-CN" altLang="en-US" sz="1800" dirty="0"/>
              <a:t>⼩数据集上表现不佳，容易发⽣过拟合</a:t>
            </a:r>
            <a:endParaRPr lang="zh-CN" altLang="en-US" sz="1800" b="1" i="0" dirty="0">
              <a:solidFill>
                <a:srgbClr val="333333"/>
              </a:solidFill>
              <a:effectLst/>
              <a:latin typeface="Helvetica Neue"/>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marL="0" indent="0">
              <a:buNone/>
            </a:pPr>
            <a:endParaRPr kumimoji="1" lang="zh-CN" altLang="en-US" sz="1600" dirty="0">
              <a:sym typeface="+mn-ea"/>
            </a:endParaRPr>
          </a:p>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olidFill>
                  <a:srgbClr val="C00000"/>
                </a:solidFill>
                <a:sym typeface="+mn-ea"/>
              </a:rPr>
              <a:t>损失函数</a:t>
            </a:r>
            <a:endParaRPr kumimoji="1" lang="en-US" altLang="zh-CN" sz="1600" dirty="0">
              <a:solidFill>
                <a:srgbClr val="C00000"/>
              </a:solidFill>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a:p>
            <a:pPr algn="l"/>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42618" y="2744296"/>
            <a:ext cx="410210" cy="41021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10760" y="1433195"/>
            <a:ext cx="6298565" cy="2792576"/>
          </a:xfrm>
        </p:spPr>
        <p:txBody>
          <a:bodyPr/>
          <a:lstStyle/>
          <a:p>
            <a:r>
              <a:rPr lang="zh-CN" altLang="en-US" dirty="0">
                <a:solidFill>
                  <a:schemeClr val="tx1"/>
                </a:solidFill>
              </a:rPr>
              <a:t>知道分类任务的损失函数</a:t>
            </a:r>
            <a:endParaRPr lang="en-US" altLang="zh-CN" dirty="0">
              <a:solidFill>
                <a:schemeClr val="tx1"/>
              </a:solidFill>
            </a:endParaRPr>
          </a:p>
          <a:p>
            <a:r>
              <a:rPr lang="zh-CN" altLang="en-US" dirty="0">
                <a:solidFill>
                  <a:schemeClr val="tx1"/>
                </a:solidFill>
              </a:rPr>
              <a:t>知道回归任务的损失函数</a:t>
            </a:r>
            <a:endParaRPr lang="en-US" altLang="zh-CN" dirty="0">
              <a:solidFill>
                <a:schemeClr val="tx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什么是损失函数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077282" y="2670386"/>
            <a:ext cx="7295755" cy="2974498"/>
          </a:xfrm>
          <a:prstGeom prst="rect">
            <a:avLst/>
          </a:prstGeom>
        </p:spPr>
      </p:pic>
      <p:sp>
        <p:nvSpPr>
          <p:cNvPr id="8" name="文本框 7"/>
          <p:cNvSpPr txBox="1"/>
          <p:nvPr/>
        </p:nvSpPr>
        <p:spPr>
          <a:xfrm>
            <a:off x="782320" y="1457272"/>
            <a:ext cx="9885680" cy="881267"/>
          </a:xfrm>
          <a:prstGeom prst="rect">
            <a:avLst/>
          </a:prstGeom>
          <a:noFill/>
        </p:spPr>
        <p:txBody>
          <a:bodyPr wrap="square">
            <a:spAutoFit/>
          </a:bodyPr>
          <a:lstStyle/>
          <a:p>
            <a:pPr>
              <a:lnSpc>
                <a:spcPct val="150000"/>
              </a:lnSpc>
            </a:pPr>
            <a:r>
              <a:rPr lang="zh-CN" altLang="en-US" b="0" i="0" dirty="0">
                <a:solidFill>
                  <a:srgbClr val="333333"/>
                </a:solidFill>
                <a:effectLst/>
                <a:latin typeface="Alibaba PuHuiTi" pitchFamily="18" charset="-122"/>
                <a:ea typeface="Alibaba PuHuiTi" pitchFamily="18" charset="-122"/>
                <a:cs typeface="Alibaba PuHuiTi" pitchFamily="18" charset="-122"/>
              </a:rPr>
              <a:t>在深度学习中</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1" i="0" dirty="0">
                <a:solidFill>
                  <a:srgbClr val="333333"/>
                </a:solidFill>
                <a:effectLst/>
                <a:latin typeface="Alibaba PuHuiTi" pitchFamily="18" charset="-122"/>
                <a:ea typeface="Alibaba PuHuiTi" pitchFamily="18" charset="-122"/>
                <a:cs typeface="Alibaba PuHuiTi" pitchFamily="18" charset="-122"/>
              </a:rPr>
              <a:t>损失函数是用来衡量模型参数的质量的函数</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衡量的方式是比较网络输出和真实输出的差异</a:t>
            </a:r>
            <a:r>
              <a:rPr lang="zh-CN" altLang="en-US" dirty="0">
                <a:solidFill>
                  <a:srgbClr val="333333"/>
                </a:solidFill>
                <a:latin typeface="Helvetica Neue"/>
                <a:ea typeface="Alibaba PuHuiTi" pitchFamily="18" charset="-122"/>
                <a:cs typeface="Alibaba PuHuiTi" pitchFamily="18" charset="-122"/>
              </a:rPr>
              <a:t>：</a:t>
            </a:r>
            <a:endParaRPr lang="en-US" altLang="zh-CN" b="0" i="0" dirty="0">
              <a:solidFill>
                <a:srgbClr val="333333"/>
              </a:solidFill>
              <a:effectLst/>
              <a:latin typeface="Helvetica Neue"/>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什么是损失函数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sp>
        <p:nvSpPr>
          <p:cNvPr id="9" name="文本框 8"/>
          <p:cNvSpPr txBox="1"/>
          <p:nvPr/>
        </p:nvSpPr>
        <p:spPr>
          <a:xfrm>
            <a:off x="782320" y="1789795"/>
            <a:ext cx="10698800" cy="368300"/>
          </a:xfrm>
          <a:prstGeom prst="rect">
            <a:avLst/>
          </a:prstGeom>
          <a:noFill/>
        </p:spPr>
        <p:txBody>
          <a:bodyPr wrap="square">
            <a:spAutoFit/>
          </a:bodyPr>
          <a:lstStyle/>
          <a:p>
            <a:r>
              <a:rPr lang="zh-CN" altLang="en-US" b="0" i="0" dirty="0">
                <a:solidFill>
                  <a:srgbClr val="333333"/>
                </a:solidFill>
                <a:effectLst/>
                <a:latin typeface="Alibaba PuHuiTi" pitchFamily="18" charset="-122"/>
                <a:ea typeface="Alibaba PuHuiTi" pitchFamily="18" charset="-122"/>
                <a:cs typeface="Alibaba PuHuiTi" pitchFamily="18" charset="-122"/>
              </a:rPr>
              <a:t>损失函数在不同的文献中名称是不一样的，主要有以下几种命名方式：</a:t>
            </a:r>
            <a:endParaRPr lang="zh-CN" altLang="en-US" dirty="0">
              <a:latin typeface="Alibaba PuHuiTi" pitchFamily="18" charset="-122"/>
              <a:ea typeface="Alibaba PuHuiTi" pitchFamily="18" charset="-122"/>
              <a:cs typeface="Alibaba PuHuiTi" pitchFamily="18" charset="-122"/>
            </a:endParaRPr>
          </a:p>
        </p:txBody>
      </p:sp>
      <p:pic>
        <p:nvPicPr>
          <p:cNvPr id="11" name="图片 10"/>
          <p:cNvPicPr>
            <a:picLocks noChangeAspect="1"/>
          </p:cNvPicPr>
          <p:nvPr/>
        </p:nvPicPr>
        <p:blipFill>
          <a:blip r:embed="rId1"/>
          <a:stretch>
            <a:fillRect/>
          </a:stretch>
        </p:blipFill>
        <p:spPr>
          <a:xfrm>
            <a:off x="3457080" y="2583984"/>
            <a:ext cx="4246047" cy="362089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a:t>
            </a:r>
            <a:r>
              <a:rPr lang="zh-CN" altLang="en-US" b="1" i="0" dirty="0">
                <a:solidFill>
                  <a:srgbClr val="333333"/>
                </a:solidFill>
                <a:effectLst/>
                <a:latin typeface="Helvetica Neue"/>
              </a:rPr>
              <a:t>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在多分类任务通常使用</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将</a:t>
            </a:r>
            <a:r>
              <a:rPr lang="en-US" altLang="zh-CN" b="0" i="0" dirty="0">
                <a:solidFill>
                  <a:srgbClr val="333333"/>
                </a:solidFill>
                <a:effectLst/>
                <a:latin typeface="Helvetica Neue"/>
              </a:rPr>
              <a:t>logits</a:t>
            </a:r>
            <a:r>
              <a:rPr lang="zh-CN" altLang="en-US" b="0" i="0" dirty="0">
                <a:solidFill>
                  <a:srgbClr val="333333"/>
                </a:solidFill>
                <a:effectLst/>
                <a:latin typeface="Helvetica Neue"/>
              </a:rPr>
              <a:t>转换为概率的形式，所以多分类的交叉熵损失也叫做</a:t>
            </a:r>
            <a:r>
              <a:rPr lang="en-US" altLang="zh-CN" b="1" i="0" dirty="0" err="1">
                <a:solidFill>
                  <a:srgbClr val="333333"/>
                </a:solidFill>
                <a:effectLst/>
                <a:latin typeface="Helvetica Neue"/>
              </a:rPr>
              <a:t>softmax</a:t>
            </a:r>
            <a:r>
              <a:rPr lang="zh-CN" altLang="en-US" b="1" i="0" dirty="0">
                <a:solidFill>
                  <a:srgbClr val="333333"/>
                </a:solidFill>
                <a:effectLst/>
                <a:latin typeface="Helvetica Neue"/>
              </a:rPr>
              <a:t>损失</a:t>
            </a:r>
            <a:r>
              <a:rPr lang="zh-CN" altLang="en-US" b="0" i="0" dirty="0">
                <a:solidFill>
                  <a:srgbClr val="333333"/>
                </a:solidFill>
                <a:effectLst/>
                <a:latin typeface="Helvetica Neue"/>
              </a:rPr>
              <a:t>，它的计算方法是：</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其中</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y</a:t>
            </a:r>
            <a:r>
              <a:rPr lang="zh-CN" altLang="en-US" b="0" i="0" dirty="0">
                <a:solidFill>
                  <a:srgbClr val="333333"/>
                </a:solidFill>
                <a:effectLst/>
                <a:latin typeface="Helvetica Neue"/>
              </a:rPr>
              <a:t>是样本</a:t>
            </a:r>
            <a:r>
              <a:rPr lang="en-US" altLang="zh-CN" b="0" i="0" dirty="0">
                <a:solidFill>
                  <a:srgbClr val="333333"/>
                </a:solidFill>
                <a:effectLst/>
                <a:latin typeface="Helvetica Neue"/>
              </a:rPr>
              <a:t>x</a:t>
            </a:r>
            <a:r>
              <a:rPr lang="zh-CN" altLang="en-US" b="0" i="0" dirty="0">
                <a:solidFill>
                  <a:srgbClr val="333333"/>
                </a:solidFill>
                <a:effectLst/>
                <a:latin typeface="Helvetica Neue"/>
              </a:rPr>
              <a:t>属于某一个类别的真实概率</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而</a:t>
            </a:r>
            <a:r>
              <a:rPr lang="en-US" altLang="zh-CN" b="0" i="0" dirty="0">
                <a:solidFill>
                  <a:srgbClr val="333333"/>
                </a:solidFill>
                <a:effectLst/>
                <a:latin typeface="Helvetica Neue"/>
              </a:rPr>
              <a:t>f(x)</a:t>
            </a:r>
            <a:r>
              <a:rPr lang="zh-CN" altLang="en-US" b="0" i="0" dirty="0">
                <a:solidFill>
                  <a:srgbClr val="333333"/>
                </a:solidFill>
                <a:effectLst/>
                <a:latin typeface="Helvetica Neue"/>
              </a:rPr>
              <a:t>是样本属于某一类别的预测分数</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S</a:t>
            </a:r>
            <a:r>
              <a:rPr lang="zh-CN" altLang="en-US" b="0" i="0" dirty="0">
                <a:solidFill>
                  <a:srgbClr val="333333"/>
                </a:solidFill>
                <a:effectLst/>
                <a:latin typeface="Helvetica Neue"/>
              </a:rPr>
              <a:t>是</a:t>
            </a:r>
            <a:r>
              <a:rPr lang="en-US" altLang="zh-CN" b="0" i="0" dirty="0" err="1">
                <a:solidFill>
                  <a:srgbClr val="333333"/>
                </a:solidFill>
                <a:effectLst/>
                <a:latin typeface="Helvetica Neue"/>
              </a:rPr>
              <a:t>softmax</a:t>
            </a:r>
            <a:r>
              <a:rPr lang="zh-CN" altLang="en-US" b="0" i="0" dirty="0">
                <a:solidFill>
                  <a:srgbClr val="333333"/>
                </a:solidFill>
                <a:effectLst/>
                <a:latin typeface="Helvetica Neue"/>
              </a:rPr>
              <a:t>激活函数</a:t>
            </a:r>
            <a:r>
              <a:rPr lang="en-US" altLang="zh-CN" b="0" i="0" dirty="0">
                <a:solidFill>
                  <a:srgbClr val="333333"/>
                </a:solidFill>
                <a:effectLst/>
                <a:latin typeface="Helvetica Neue"/>
              </a:rPr>
              <a:t>,</a:t>
            </a:r>
            <a:r>
              <a:rPr lang="zh-CN" altLang="en-US" b="0" i="0" dirty="0">
                <a:solidFill>
                  <a:srgbClr val="333333"/>
                </a:solidFill>
                <a:effectLst/>
                <a:latin typeface="Helvetica Neue"/>
              </a:rPr>
              <a:t>将属于某一类别的预测分数转换成概率</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L</a:t>
            </a:r>
            <a:r>
              <a:rPr lang="zh-CN" altLang="en-US" b="0" i="0" dirty="0">
                <a:solidFill>
                  <a:srgbClr val="333333"/>
                </a:solidFill>
                <a:effectLst/>
                <a:latin typeface="Helvetica Neue"/>
              </a:rPr>
              <a:t>用来衡量真实值</a:t>
            </a:r>
            <a:r>
              <a:rPr lang="en-US" altLang="zh-CN" b="0" i="0" dirty="0">
                <a:solidFill>
                  <a:srgbClr val="333333"/>
                </a:solidFill>
                <a:effectLst/>
                <a:latin typeface="Helvetica Neue"/>
              </a:rPr>
              <a:t>y</a:t>
            </a:r>
            <a:r>
              <a:rPr lang="zh-CN" altLang="en-US" b="0" i="0" dirty="0">
                <a:solidFill>
                  <a:srgbClr val="333333"/>
                </a:solidFill>
                <a:effectLst/>
                <a:latin typeface="Helvetica Neue"/>
              </a:rPr>
              <a:t>和预测值</a:t>
            </a:r>
            <a:r>
              <a:rPr lang="en-US" altLang="zh-CN" b="0" i="0" dirty="0">
                <a:solidFill>
                  <a:srgbClr val="333333"/>
                </a:solidFill>
                <a:effectLst/>
                <a:latin typeface="Helvetica Neue"/>
              </a:rPr>
              <a:t>f(x)</a:t>
            </a:r>
            <a:r>
              <a:rPr lang="zh-CN" altLang="en-US" b="0" i="0" dirty="0">
                <a:solidFill>
                  <a:srgbClr val="333333"/>
                </a:solidFill>
                <a:effectLst/>
                <a:latin typeface="Helvetica Neue"/>
              </a:rPr>
              <a:t>之间差异性的损失结果</a:t>
            </a:r>
            <a:endParaRPr lang="zh-CN" altLang="en-US" b="0" i="0" dirty="0">
              <a:solidFill>
                <a:srgbClr val="333333"/>
              </a:solidFill>
              <a:effectLst/>
              <a:latin typeface="Helvetica Neue"/>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8" name="图片 7"/>
          <p:cNvPicPr>
            <a:picLocks noChangeAspect="1"/>
          </p:cNvPicPr>
          <p:nvPr/>
        </p:nvPicPr>
        <p:blipFill>
          <a:blip r:embed="rId1"/>
          <a:stretch>
            <a:fillRect/>
          </a:stretch>
        </p:blipFill>
        <p:spPr>
          <a:xfrm>
            <a:off x="2238266" y="2002170"/>
            <a:ext cx="5349704" cy="178323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endParaRPr lang="en-US" altLang="zh-CN" b="0" i="0" dirty="0">
              <a:solidFill>
                <a:srgbClr val="333333"/>
              </a:solidFill>
              <a:effectLst/>
              <a:latin typeface="Helvetica Neue"/>
            </a:endParaRPr>
          </a:p>
          <a:p>
            <a:endParaRPr lang="en-US" altLang="zh-CN" dirty="0">
              <a:solidFill>
                <a:srgbClr val="333333"/>
              </a:solidFill>
              <a:latin typeface="Helvetica Neue"/>
            </a:endParaRPr>
          </a:p>
          <a:p>
            <a:endParaRPr lang="en-US" altLang="zh-CN" dirty="0">
              <a:solidFill>
                <a:srgbClr val="333333"/>
              </a:solidFill>
              <a:latin typeface="Helvetica Neue"/>
            </a:endParaRPr>
          </a:p>
          <a:p>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上图中的交叉熵损失为：</a:t>
            </a:r>
            <a:endParaRPr lang="en-US" altLang="zh-CN" dirty="0">
              <a:solidFill>
                <a:srgbClr val="333333"/>
              </a:solidFill>
              <a:latin typeface="Helvetica Neue"/>
            </a:endParaRPr>
          </a:p>
          <a:p>
            <a:r>
              <a:rPr lang="zh-CN" altLang="en-US" b="0" i="0" dirty="0">
                <a:solidFill>
                  <a:srgbClr val="333333"/>
                </a:solidFill>
                <a:effectLst/>
                <a:latin typeface="Helvetica Neue"/>
              </a:rPr>
              <a:t>从概率角度理解，我们的目的是最小化正确类别所对应的预测概率的对数的负值</a:t>
            </a:r>
            <a:r>
              <a:rPr lang="en-US" altLang="zh-CN" b="0" i="0" dirty="0">
                <a:solidFill>
                  <a:srgbClr val="333333"/>
                </a:solidFill>
                <a:effectLst/>
                <a:latin typeface="Helvetica Neue"/>
              </a:rPr>
              <a:t>(</a:t>
            </a:r>
            <a:r>
              <a:rPr lang="zh-CN" altLang="en-US" b="0" i="0" dirty="0">
                <a:solidFill>
                  <a:srgbClr val="333333"/>
                </a:solidFill>
                <a:effectLst/>
                <a:latin typeface="Helvetica Neue"/>
              </a:rPr>
              <a:t>损失值最小</a:t>
            </a:r>
            <a:r>
              <a:rPr lang="en-US" altLang="zh-CN" b="0" i="0" dirty="0">
                <a:solidFill>
                  <a:srgbClr val="333333"/>
                </a:solidFill>
                <a:effectLst/>
                <a:latin typeface="Helvetica Neue"/>
              </a:rPr>
              <a:t>)</a:t>
            </a:r>
            <a:r>
              <a:rPr lang="zh-CN" altLang="en-US" b="0" i="0" dirty="0">
                <a:solidFill>
                  <a:srgbClr val="333333"/>
                </a:solidFill>
                <a:effectLst/>
                <a:latin typeface="Helvetica Neue"/>
              </a:rPr>
              <a:t>，如下图所示：</a:t>
            </a:r>
            <a:endParaRPr lang="en-US" altLang="zh-CN" b="0" i="0" dirty="0">
              <a:solidFill>
                <a:srgbClr val="333333"/>
              </a:solidFill>
              <a:effectLst/>
              <a:latin typeface="Helvetica Neue"/>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951558" y="1397317"/>
            <a:ext cx="7484061" cy="2031683"/>
          </a:xfrm>
          <a:prstGeom prst="rect">
            <a:avLst/>
          </a:prstGeom>
        </p:spPr>
      </p:pic>
      <p:pic>
        <p:nvPicPr>
          <p:cNvPr id="7" name="图片 6"/>
          <p:cNvPicPr>
            <a:picLocks noChangeAspect="1"/>
          </p:cNvPicPr>
          <p:nvPr/>
        </p:nvPicPr>
        <p:blipFill>
          <a:blip r:embed="rId2"/>
          <a:stretch>
            <a:fillRect/>
          </a:stretch>
        </p:blipFill>
        <p:spPr>
          <a:xfrm>
            <a:off x="3021338" y="3586086"/>
            <a:ext cx="5776461" cy="381033"/>
          </a:xfrm>
          <a:prstGeom prst="rect">
            <a:avLst/>
          </a:prstGeom>
        </p:spPr>
      </p:pic>
      <p:pic>
        <p:nvPicPr>
          <p:cNvPr id="10" name="图片 9"/>
          <p:cNvPicPr>
            <a:picLocks noChangeAspect="1"/>
          </p:cNvPicPr>
          <p:nvPr/>
        </p:nvPicPr>
        <p:blipFill>
          <a:blip r:embed="rId3"/>
          <a:stretch>
            <a:fillRect/>
          </a:stretch>
        </p:blipFill>
        <p:spPr>
          <a:xfrm>
            <a:off x="4335895" y="4422010"/>
            <a:ext cx="3147346" cy="243599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多分类任务损失函数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在pytorch中使用nn.CrossEntropyLoss()实现，如下所示：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sp>
        <p:nvSpPr>
          <p:cNvPr id="9" name="文本框 8"/>
          <p:cNvSpPr txBox="1"/>
          <p:nvPr/>
        </p:nvSpPr>
        <p:spPr>
          <a:xfrm>
            <a:off x="746600" y="1974461"/>
            <a:ext cx="10226200" cy="4892675"/>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分类损失函数：交叉熵损失使用</a:t>
            </a:r>
            <a:r>
              <a:rPr lang="en-GB" altLang="zh-CN" sz="1600" b="1" dirty="0" err="1">
                <a:solidFill>
                  <a:srgbClr val="008000"/>
                </a:solidFill>
                <a:latin typeface="Alibaba PuHuiTi" pitchFamily="18" charset="-122"/>
                <a:ea typeface="Alibaba PuHuiTi" pitchFamily="18" charset="-122"/>
                <a:cs typeface="Alibaba PuHuiTi" pitchFamily="18" charset="-122"/>
              </a:rPr>
              <a:t>nn.CrossEntropyLoss</a:t>
            </a:r>
            <a:r>
              <a:rPr lang="en-GB" altLang="zh-CN" sz="1600" b="1" dirty="0">
                <a:solidFill>
                  <a:srgbClr val="008000"/>
                </a:solidFill>
                <a:latin typeface="Alibaba PuHuiTi" pitchFamily="18" charset="-122"/>
                <a:ea typeface="Alibaba PuHuiTi" pitchFamily="18" charset="-122"/>
                <a:cs typeface="Alibaba PuHuiTi" pitchFamily="18" charset="-122"/>
              </a:rPr>
              <a:t>()</a:t>
            </a:r>
            <a:r>
              <a:rPr lang="zh-CN" altLang="en-US" sz="1600" b="1" dirty="0">
                <a:solidFill>
                  <a:srgbClr val="008000"/>
                </a:solidFill>
                <a:latin typeface="Alibaba PuHuiTi" pitchFamily="18" charset="-122"/>
                <a:ea typeface="Alibaba PuHuiTi" pitchFamily="18" charset="-122"/>
                <a:cs typeface="Alibaba PuHuiTi" pitchFamily="18" charset="-122"/>
              </a:rPr>
              <a:t>实现。</a:t>
            </a:r>
            <a:r>
              <a:rPr lang="en-GB" altLang="zh-CN" sz="1600" b="1" dirty="0" err="1">
                <a:solidFill>
                  <a:srgbClr val="008000"/>
                </a:solidFill>
                <a:latin typeface="Alibaba PuHuiTi" pitchFamily="18" charset="-122"/>
                <a:ea typeface="Alibaba PuHuiTi" pitchFamily="18" charset="-122"/>
                <a:cs typeface="Alibaba PuHuiTi" pitchFamily="18" charset="-122"/>
              </a:rPr>
              <a:t>nn.CrossEntropyLoss</a:t>
            </a:r>
            <a:r>
              <a:rPr lang="en-GB" altLang="zh-CN" sz="1600" b="1" dirty="0">
                <a:solidFill>
                  <a:srgbClr val="008000"/>
                </a:solidFill>
                <a:latin typeface="Alibaba PuHuiTi" pitchFamily="18" charset="-122"/>
                <a:ea typeface="Alibaba PuHuiTi" pitchFamily="18" charset="-122"/>
                <a:cs typeface="Alibaba PuHuiTi" pitchFamily="18" charset="-122"/>
              </a:rPr>
              <a:t>()=</a:t>
            </a:r>
            <a:r>
              <a:rPr lang="en-GB" altLang="zh-CN" sz="1600" b="1" dirty="0" err="1">
                <a:solidFill>
                  <a:srgbClr val="008000"/>
                </a:solidFill>
                <a:latin typeface="Alibaba PuHuiTi" pitchFamily="18" charset="-122"/>
                <a:ea typeface="Alibaba PuHuiTi" pitchFamily="18" charset="-122"/>
                <a:cs typeface="Alibaba PuHuiTi" pitchFamily="18" charset="-122"/>
              </a:rPr>
              <a:t>softmax</a:t>
            </a:r>
            <a:r>
              <a:rPr lang="en-GB" altLang="zh-CN" sz="1600" b="1" dirty="0">
                <a:solidFill>
                  <a:srgbClr val="008000"/>
                </a:solidFill>
                <a:latin typeface="Alibaba PuHuiTi" pitchFamily="18" charset="-122"/>
                <a:ea typeface="Alibaba PuHuiTi" pitchFamily="18" charset="-122"/>
                <a:cs typeface="Alibaba PuHuiTi" pitchFamily="18" charset="-122"/>
              </a:rPr>
              <a:t> + </a:t>
            </a:r>
            <a:r>
              <a:rPr lang="zh-CN" altLang="en-US" sz="1600" b="1" dirty="0">
                <a:solidFill>
                  <a:srgbClr val="008000"/>
                </a:solidFill>
                <a:latin typeface="Alibaba PuHuiTi" pitchFamily="18" charset="-122"/>
                <a:ea typeface="Alibaba PuHuiTi" pitchFamily="18" charset="-122"/>
                <a:cs typeface="Alibaba PuHuiTi" pitchFamily="18" charset="-122"/>
              </a:rPr>
              <a:t>损失计算</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设置真实值</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可以是热编码后的结果也可以不进行热编码</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en-GB" altLang="zh-CN" sz="1600" b="1" dirty="0" err="1">
                <a:solidFill>
                  <a:srgbClr val="008000"/>
                </a:solidFill>
                <a:latin typeface="Alibaba PuHuiTi" pitchFamily="18" charset="-122"/>
                <a:ea typeface="Alibaba PuHuiTi" pitchFamily="18" charset="-122"/>
                <a:cs typeface="Alibaba PuHuiTi" pitchFamily="18" charset="-122"/>
              </a:rPr>
              <a:t>y_true</a:t>
            </a:r>
            <a:r>
              <a:rPr lang="en-GB" altLang="zh-CN" sz="1600" b="1" dirty="0">
                <a:solidFill>
                  <a:srgbClr val="008000"/>
                </a:solidFill>
                <a:latin typeface="Alibaba PuHuiTi" pitchFamily="18" charset="-122"/>
                <a:ea typeface="Alibaba PuHuiTi" pitchFamily="18" charset="-122"/>
                <a:cs typeface="Alibaba PuHuiTi" pitchFamily="18" charset="-122"/>
              </a:rPr>
              <a:t> = </a:t>
            </a:r>
            <a:r>
              <a:rPr lang="en-GB" altLang="zh-CN" sz="1600" b="1" dirty="0" err="1">
                <a:solidFill>
                  <a:srgbClr val="008000"/>
                </a:solidFill>
                <a:latin typeface="Alibaba PuHuiTi" pitchFamily="18" charset="-122"/>
                <a:ea typeface="Alibaba PuHuiTi" pitchFamily="18" charset="-122"/>
                <a:cs typeface="Alibaba PuHuiTi" pitchFamily="18" charset="-122"/>
              </a:rPr>
              <a:t>torch.tensor</a:t>
            </a:r>
            <a:r>
              <a:rPr lang="en-GB" altLang="zh-CN" sz="1600" b="1" dirty="0">
                <a:solidFill>
                  <a:srgbClr val="008000"/>
                </a:solidFill>
                <a:latin typeface="Alibaba PuHuiTi" pitchFamily="18" charset="-122"/>
                <a:ea typeface="Alibaba PuHuiTi" pitchFamily="18" charset="-122"/>
                <a:cs typeface="Alibaba PuHuiTi" pitchFamily="18" charset="-122"/>
              </a:rPr>
              <a:t>([[0, 1, 0], [0, 0, 1]], </a:t>
            </a:r>
            <a:r>
              <a:rPr lang="en-GB" altLang="zh-CN" sz="1600" b="1" dirty="0" err="1">
                <a:solidFill>
                  <a:srgbClr val="008000"/>
                </a:solidFill>
                <a:latin typeface="Alibaba PuHuiTi" pitchFamily="18" charset="-122"/>
                <a:ea typeface="Alibaba PuHuiTi" pitchFamily="18" charset="-122"/>
                <a:cs typeface="Alibaba PuHuiTi" pitchFamily="18" charset="-122"/>
              </a:rPr>
              <a:t>dtype</a:t>
            </a:r>
            <a:r>
              <a:rPr lang="en-GB" altLang="zh-CN" sz="1600" b="1" dirty="0">
                <a:solidFill>
                  <a:srgbClr val="008000"/>
                </a:solidFill>
                <a:latin typeface="Alibaba PuHuiTi" pitchFamily="18" charset="-122"/>
                <a:ea typeface="Alibaba PuHuiTi" pitchFamily="18" charset="-122"/>
                <a:cs typeface="Alibaba PuHuiTi" pitchFamily="18" charset="-122"/>
              </a:rPr>
              <a:t>=torch.float32)</a:t>
            </a:r>
            <a:br>
              <a:rPr lang="en-GB" altLang="zh-CN" sz="1600" b="1" dirty="0">
                <a:solidFill>
                  <a:srgbClr val="008000"/>
                </a:solidFill>
                <a:latin typeface="Alibaba PuHuiTi" pitchFamily="18" charset="-122"/>
                <a:ea typeface="Alibaba PuHuiTi" pitchFamily="18" charset="-122"/>
                <a:cs typeface="Alibaba PuHuiTi" pitchFamily="18" charset="-122"/>
              </a:rPr>
            </a:br>
            <a:r>
              <a:rPr lang="en-GB" altLang="zh-CN" sz="1600" b="1" dirty="0">
                <a:solidFill>
                  <a:srgbClr val="008000"/>
                </a:solidFill>
                <a:latin typeface="Alibaba PuHuiTi" pitchFamily="18" charset="-122"/>
                <a:ea typeface="Alibaba PuHuiTi" pitchFamily="18" charset="-122"/>
                <a:cs typeface="Alibaba PuHuiTi" pitchFamily="18" charset="-122"/>
              </a:rPr>
              <a:t>    # </a:t>
            </a:r>
            <a:r>
              <a:rPr lang="zh-CN" altLang="en-US" sz="1600" b="1" dirty="0">
                <a:solidFill>
                  <a:srgbClr val="008000"/>
                </a:solidFill>
                <a:latin typeface="Alibaba PuHuiTi" pitchFamily="18" charset="-122"/>
                <a:ea typeface="Alibaba PuHuiTi" pitchFamily="18" charset="-122"/>
                <a:cs typeface="Alibaba PuHuiTi" pitchFamily="18" charset="-122"/>
              </a:rPr>
              <a:t>注意的类型必须是</a:t>
            </a:r>
            <a:r>
              <a:rPr lang="en-US" altLang="zh-CN" sz="1600" b="1" dirty="0">
                <a:solidFill>
                  <a:srgbClr val="008000"/>
                </a:solidFill>
                <a:latin typeface="Alibaba PuHuiTi" pitchFamily="18" charset="-122"/>
                <a:ea typeface="Alibaba PuHuiTi" pitchFamily="18" charset="-122"/>
                <a:cs typeface="Alibaba PuHuiTi" pitchFamily="18" charset="-122"/>
              </a:rPr>
              <a:t>64</a:t>
            </a:r>
            <a:r>
              <a:rPr lang="zh-CN" altLang="en-US" sz="1600" b="1" dirty="0">
                <a:solidFill>
                  <a:srgbClr val="008000"/>
                </a:solidFill>
                <a:latin typeface="Alibaba PuHuiTi" pitchFamily="18" charset="-122"/>
                <a:ea typeface="Alibaba PuHuiTi" pitchFamily="18" charset="-122"/>
                <a:cs typeface="Alibaba PuHuiTi" pitchFamily="18" charset="-122"/>
              </a:rPr>
              <a:t>位整型数据</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=torch.int64)</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0.2</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0.6</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0.2</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0.8</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0.1</a:t>
            </a:r>
            <a:r>
              <a:rPr lang="en-GB" altLang="zh-CN" sz="1600" dirty="0">
                <a:latin typeface="Alibaba PuHuiTi" pitchFamily="18" charset="-122"/>
                <a:ea typeface="Alibaba PuHuiTi" pitchFamily="18" charset="-122"/>
                <a:cs typeface="Alibaba PuHuiTi" pitchFamily="18" charset="-122"/>
              </a:rPr>
              <a:t>]]</a:t>
            </a:r>
            <a:r>
              <a:rPr lang="en-US"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sym typeface="+mn-ea"/>
              </a:rPr>
              <a:t>requires_grad</a:t>
            </a:r>
            <a:r>
              <a:rPr lang="en-GB" altLang="zh-CN" sz="1600" dirty="0">
                <a:latin typeface="Alibaba PuHuiTi" pitchFamily="18" charset="-122"/>
                <a:ea typeface="Alibaba PuHuiTi" pitchFamily="18" charset="-122"/>
                <a:cs typeface="Alibaba PuHuiTi" pitchFamily="18" charset="-122"/>
                <a:sym typeface="+mn-ea"/>
              </a:rPr>
              <a:t>=</a:t>
            </a:r>
            <a:r>
              <a:rPr lang="en-GB" altLang="zh-CN" sz="1600" b="1" dirty="0">
                <a:solidFill>
                  <a:srgbClr val="000080"/>
                </a:solidFill>
                <a:effectLst/>
                <a:latin typeface="Alibaba PuHuiTi" pitchFamily="18" charset="-122"/>
                <a:ea typeface="Alibaba PuHuiTi" pitchFamily="18" charset="-122"/>
                <a:cs typeface="Alibaba PuHuiTi" pitchFamily="18" charset="-122"/>
                <a:sym typeface="+mn-ea"/>
              </a:rPr>
              <a:t>True</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实例化交叉熵损失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a:t>
            </a:r>
            <a:r>
              <a:rPr lang="en-GB" altLang="zh-CN" sz="1600" dirty="0" err="1">
                <a:latin typeface="Alibaba PuHuiTi" pitchFamily="18" charset="-122"/>
                <a:ea typeface="Alibaba PuHuiTi" pitchFamily="18" charset="-122"/>
                <a:cs typeface="Alibaba PuHuiTi" pitchFamily="18" charset="-122"/>
              </a:rPr>
              <a:t>nn.CrossEntropyLoss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计算损失结果</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a:t>
            </a:r>
            <a:r>
              <a:rPr lang="en-US" altLang="en-GB" sz="1600" dirty="0">
                <a:latin typeface="Alibaba PuHuiTi" pitchFamily="18" charset="-122"/>
                <a:ea typeface="Alibaba PuHuiTi" pitchFamily="18" charset="-122"/>
                <a:cs typeface="Alibaba PuHuiTi" pitchFamily="18" charset="-122"/>
              </a:rPr>
              <a:t>.</a:t>
            </a:r>
            <a:r>
              <a:rPr lang="en-US" altLang="zh-CN" sz="1600" dirty="0">
                <a:latin typeface="Alibaba PuHuiTi" pitchFamily="18" charset="-122"/>
                <a:ea typeface="Alibaba PuHuiTi" pitchFamily="18" charset="-122"/>
                <a:cs typeface="Alibaba PuHuiTi" pitchFamily="18" charset="-122"/>
              </a:rPr>
              <a:t>detach()</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print(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zh-CN" altLang="en-US" sz="1600" dirty="0">
              <a:solidFill>
                <a:srgbClr val="00B050"/>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二分类任务损失函数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在处理二分类任务时，我们不再使用</a:t>
            </a:r>
            <a:r>
              <a:rPr lang="en-US" altLang="zh-CN" b="0" i="0" dirty="0" err="1">
                <a:solidFill>
                  <a:srgbClr val="333333"/>
                </a:solidFill>
                <a:effectLst/>
                <a:latin typeface="Alibaba PuHuiTi" pitchFamily="18" charset="-122"/>
                <a:ea typeface="Alibaba PuHuiTi" pitchFamily="18" charset="-122"/>
                <a:cs typeface="Alibaba PuHuiTi" pitchFamily="18" charset="-122"/>
              </a:rPr>
              <a:t>softmax</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激活函数，而是使用</a:t>
            </a:r>
            <a:r>
              <a:rPr lang="en-US" altLang="zh-CN" b="0" i="0" dirty="0">
                <a:solidFill>
                  <a:srgbClr val="333333"/>
                </a:solidFill>
                <a:effectLst/>
                <a:latin typeface="Alibaba PuHuiTi" pitchFamily="18" charset="-122"/>
                <a:ea typeface="Alibaba PuHuiTi" pitchFamily="18" charset="-122"/>
                <a:cs typeface="Alibaba PuHuiTi" pitchFamily="18" charset="-122"/>
              </a:rPr>
              <a:t>sigmoid</a:t>
            </a:r>
            <a:r>
              <a:rPr lang="zh-CN" altLang="en-US" b="0" i="0" dirty="0">
                <a:solidFill>
                  <a:srgbClr val="333333"/>
                </a:solidFill>
                <a:effectLst/>
                <a:latin typeface="Alibaba PuHuiTi" pitchFamily="18" charset="-122"/>
                <a:ea typeface="Alibaba PuHuiTi" pitchFamily="18" charset="-122"/>
                <a:cs typeface="Alibaba PuHuiTi" pitchFamily="18" charset="-122"/>
              </a:rPr>
              <a:t>激活函数，那损失函数也相应的进行调整，使用二分类的交叉熵损失函数：</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其中</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是样本</a:t>
            </a:r>
            <a:r>
              <a:rPr lang="en-US" altLang="zh-CN" b="0" i="0" dirty="0">
                <a:solidFill>
                  <a:srgbClr val="333333"/>
                </a:solidFill>
                <a:effectLst/>
                <a:latin typeface="Alibaba PuHuiTi" pitchFamily="18" charset="-122"/>
                <a:ea typeface="Alibaba PuHuiTi" pitchFamily="18" charset="-122"/>
                <a:cs typeface="Alibaba PuHuiTi" pitchFamily="18" charset="-122"/>
              </a:rPr>
              <a:t>x</a:t>
            </a:r>
            <a:r>
              <a:rPr lang="zh-CN" altLang="en-US" b="0" i="0" dirty="0">
                <a:solidFill>
                  <a:srgbClr val="333333"/>
                </a:solidFill>
                <a:effectLst/>
                <a:latin typeface="Alibaba PuHuiTi" pitchFamily="18" charset="-122"/>
                <a:ea typeface="Alibaba PuHuiTi" pitchFamily="18" charset="-122"/>
                <a:cs typeface="Alibaba PuHuiTi" pitchFamily="18" charset="-122"/>
              </a:rPr>
              <a:t>属于某一个类别的真实概率</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而</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是样本属于某一类别的预测概率</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L</a:t>
            </a:r>
            <a:r>
              <a:rPr lang="zh-CN" altLang="en-US" b="0" i="0" dirty="0">
                <a:solidFill>
                  <a:srgbClr val="333333"/>
                </a:solidFill>
                <a:effectLst/>
                <a:latin typeface="Alibaba PuHuiTi" pitchFamily="18" charset="-122"/>
                <a:ea typeface="Alibaba PuHuiTi" pitchFamily="18" charset="-122"/>
                <a:cs typeface="Alibaba PuHuiTi" pitchFamily="18" charset="-122"/>
              </a:rPr>
              <a:t>用来衡量真实值</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与预测值</a:t>
            </a:r>
            <a:r>
              <a:rPr lang="en-US" altLang="zh-CN" b="0" i="0" dirty="0">
                <a:solidFill>
                  <a:srgbClr val="333333"/>
                </a:solidFill>
                <a:effectLst/>
                <a:latin typeface="Alibaba PuHuiTi" pitchFamily="18" charset="-122"/>
                <a:ea typeface="Alibaba PuHuiTi" pitchFamily="18" charset="-122"/>
                <a:cs typeface="Alibaba PuHuiTi" pitchFamily="18" charset="-122"/>
              </a:rPr>
              <a:t>y^</a:t>
            </a:r>
            <a:r>
              <a:rPr lang="zh-CN" altLang="en-US" b="0" i="0" dirty="0">
                <a:solidFill>
                  <a:srgbClr val="333333"/>
                </a:solidFill>
                <a:effectLst/>
                <a:latin typeface="Alibaba PuHuiTi" pitchFamily="18" charset="-122"/>
                <a:ea typeface="Alibaba PuHuiTi" pitchFamily="18" charset="-122"/>
                <a:cs typeface="Alibaba PuHuiTi" pitchFamily="18" charset="-122"/>
              </a:rPr>
              <a:t>之间差异性的损失结果。</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r>
              <a:rPr kumimoji="0" lang="zh-CN" altLang="zh-CN" b="0" i="0" u="none" strike="noStrike" cap="none" normalizeH="0" baseline="0" dirty="0">
                <a:ln>
                  <a:noFill/>
                </a:ln>
                <a:solidFill>
                  <a:srgbClr val="333333"/>
                </a:solidFill>
                <a:effectLst/>
                <a:latin typeface="Alibaba PuHuiTi" pitchFamily="18" charset="-122"/>
                <a:ea typeface="Alibaba PuHuiTi" pitchFamily="18" charset="-122"/>
                <a:cs typeface="Alibaba PuHuiTi" pitchFamily="18" charset="-122"/>
              </a:rPr>
              <a:t>在pytorch中实现时使用nn.BCELoss() ，如下所示：</a:t>
            </a:r>
            <a:r>
              <a:rPr kumimoji="0" lang="zh-CN" altLang="zh-CN" b="0" i="0" u="none" strike="noStrike" cap="none" normalizeH="0" baseline="0" dirty="0">
                <a:ln>
                  <a:noFill/>
                </a:ln>
                <a:solidFill>
                  <a:schemeClr val="tx1"/>
                </a:solidFill>
                <a:effectLst/>
                <a:latin typeface="Alibaba PuHuiTi" pitchFamily="18" charset="-122"/>
                <a:ea typeface="Alibaba PuHuiTi" pitchFamily="18" charset="-122"/>
                <a:cs typeface="Alibaba PuHuiTi" pitchFamily="18" charset="-122"/>
              </a:rPr>
              <a:t> </a:t>
            </a:r>
            <a:endParaRPr kumimoji="0" lang="zh-CN" altLang="zh-CN" b="0" i="0" u="none" strike="noStrike" cap="none" normalizeH="0" baseline="0" dirty="0">
              <a:ln>
                <a:noFill/>
              </a:ln>
              <a:solidFill>
                <a:schemeClr val="tx1"/>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710026" y="2511943"/>
            <a:ext cx="4008467" cy="320068"/>
          </a:xfrm>
          <a:prstGeom prst="rect">
            <a:avLst/>
          </a:prstGeom>
        </p:spPr>
      </p:pic>
      <p:pic>
        <p:nvPicPr>
          <p:cNvPr id="5" name="图片 4"/>
          <p:cNvPicPr>
            <a:picLocks noChangeAspect="1"/>
          </p:cNvPicPr>
          <p:nvPr/>
        </p:nvPicPr>
        <p:blipFill>
          <a:blip r:embed="rId2"/>
          <a:stretch>
            <a:fillRect/>
          </a:stretch>
        </p:blipFill>
        <p:spPr>
          <a:xfrm>
            <a:off x="6577965" y="3026410"/>
            <a:ext cx="4579620" cy="361188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二分类任务损失函数</a:t>
            </a:r>
            <a:endParaRPr lang="zh-CN" altLang="en-US" b="1" i="0" dirty="0">
              <a:solidFill>
                <a:srgbClr val="333333"/>
              </a:solidFill>
              <a:effectLst/>
              <a:latin typeface="Helvetica Neue"/>
            </a:endParaRPr>
          </a:p>
        </p:txBody>
      </p:sp>
      <p:sp>
        <p:nvSpPr>
          <p:cNvPr id="9" name="文本框 8"/>
          <p:cNvSpPr txBox="1"/>
          <p:nvPr/>
        </p:nvSpPr>
        <p:spPr>
          <a:xfrm>
            <a:off x="1661160" y="1553210"/>
            <a:ext cx="6989445" cy="4101465"/>
          </a:xfrm>
          <a:prstGeom prst="rect">
            <a:avLst/>
          </a:prstGeom>
          <a:solidFill>
            <a:srgbClr val="FFFFE4"/>
          </a:solidFill>
          <a:ln>
            <a:solidFill>
              <a:schemeClr val="tx1"/>
            </a:solidFill>
          </a:ln>
        </p:spPr>
        <p:txBody>
          <a:bodyPr wrap="square">
            <a:noAutofit/>
          </a:bodyPr>
          <a:lstStyle/>
          <a:p>
            <a:pPr>
              <a:lnSpc>
                <a:spcPct val="150000"/>
              </a:lnSpc>
              <a:spcBef>
                <a:spcPts val="360"/>
              </a:spcBef>
              <a:spcAft>
                <a:spcPts val="360"/>
              </a:spcAft>
            </a:pP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1 </a:t>
            </a:r>
            <a:r>
              <a:rPr lang="zh-CN" altLang="en-US" sz="1600" b="1" dirty="0">
                <a:solidFill>
                  <a:srgbClr val="008000"/>
                </a:solidFill>
                <a:latin typeface="Alibaba PuHuiTi" pitchFamily="18" charset="-122"/>
                <a:ea typeface="Alibaba PuHuiTi" pitchFamily="18" charset="-122"/>
                <a:cs typeface="Alibaba PuHuiTi" pitchFamily="18" charset="-122"/>
              </a:rPr>
              <a:t>设置真实值和预测值</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预测值是</a:t>
            </a:r>
            <a:r>
              <a:rPr lang="en-GB" altLang="zh-CN" sz="1600" b="1" dirty="0">
                <a:solidFill>
                  <a:srgbClr val="008000"/>
                </a:solidFill>
                <a:latin typeface="Alibaba PuHuiTi" pitchFamily="18" charset="-122"/>
                <a:ea typeface="Alibaba PuHuiTi" pitchFamily="18" charset="-122"/>
                <a:cs typeface="Alibaba PuHuiTi" pitchFamily="18" charset="-122"/>
              </a:rPr>
              <a:t>sigmoid</a:t>
            </a:r>
            <a:r>
              <a:rPr lang="zh-CN" altLang="en-US" sz="1600" b="1" dirty="0">
                <a:solidFill>
                  <a:srgbClr val="008000"/>
                </a:solidFill>
                <a:latin typeface="Alibaba PuHuiTi" pitchFamily="18" charset="-122"/>
                <a:ea typeface="Alibaba PuHuiTi" pitchFamily="18" charset="-122"/>
                <a:cs typeface="Alibaba PuHuiTi" pitchFamily="18" charset="-122"/>
              </a:rPr>
              <a:t>输出的结果</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0.6901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0.5459</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0.2469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2 </a:t>
            </a:r>
            <a:r>
              <a:rPr lang="zh-CN" altLang="en-US" sz="1600" b="1" dirty="0">
                <a:solidFill>
                  <a:srgbClr val="008000"/>
                </a:solidFill>
                <a:latin typeface="Alibaba PuHuiTi" pitchFamily="18" charset="-122"/>
                <a:ea typeface="Alibaba PuHuiTi" pitchFamily="18" charset="-122"/>
                <a:cs typeface="Alibaba PuHuiTi" pitchFamily="18" charset="-122"/>
              </a:rPr>
              <a:t>实例化二分类交叉熵损失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US" altLang="zh-CN" sz="1600" dirty="0">
                <a:solidFill>
                  <a:srgbClr val="80808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nn.BCELoss</a:t>
            </a:r>
            <a:r>
              <a:rPr lang="en-GB" altLang="zh-CN" sz="1600" dirty="0">
                <a:latin typeface="Alibaba PuHuiTi" pitchFamily="18" charset="-122"/>
                <a:ea typeface="Alibaba PuHuiTi" pitchFamily="18" charset="-122"/>
                <a:cs typeface="Alibaba PuHuiTi" pitchFamily="18" charset="-122"/>
              </a:rPr>
              <a:t>()</a:t>
            </a:r>
            <a:br>
              <a:rPr lang="en-GB" altLang="zh-CN" sz="1600" b="1" dirty="0">
                <a:solidFill>
                  <a:srgbClr val="008000"/>
                </a:solidFill>
                <a:latin typeface="Alibaba PuHuiTi" pitchFamily="18" charset="-122"/>
                <a:ea typeface="Alibaba PuHuiTi" pitchFamily="18" charset="-122"/>
                <a:cs typeface="Alibaba PuHuiTi" pitchFamily="18" charset="-122"/>
              </a:rPr>
            </a:br>
            <a:r>
              <a:rPr lang="en-GB" altLang="zh-CN" sz="1600" b="1" dirty="0">
                <a:solidFill>
                  <a:srgbClr val="008000"/>
                </a:solidFill>
                <a:latin typeface="Alibaba PuHuiTi" pitchFamily="18" charset="-122"/>
                <a:ea typeface="Alibaba PuHuiTi" pitchFamily="18" charset="-122"/>
                <a:cs typeface="Alibaba PuHuiTi" pitchFamily="18" charset="-122"/>
              </a:rPr>
              <a:t>    #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a:t>
            </a:r>
            <a:r>
              <a:rPr lang="en-US" altLang="en-GB" sz="1600" dirty="0">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zh-CN" altLang="en-GB"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a:t>
            </a:r>
            <a:r>
              <a:rPr lang="en-US" altLang="zh-CN" dirty="0">
                <a:solidFill>
                  <a:srgbClr val="333333"/>
                </a:solidFill>
                <a:latin typeface="Helvetica Neue"/>
              </a:rPr>
              <a:t>MAE</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1" i="0" dirty="0">
                <a:solidFill>
                  <a:srgbClr val="333333"/>
                </a:solidFill>
                <a:effectLst/>
                <a:latin typeface="Alibaba PuHuiTi" pitchFamily="18" charset="-122"/>
                <a:ea typeface="Alibaba PuHuiTi" pitchFamily="18" charset="-122"/>
                <a:cs typeface="Alibaba PuHuiTi" pitchFamily="18" charset="-122"/>
              </a:rPr>
              <a:t>Mean absolute loss(MAE)</a:t>
            </a:r>
            <a:r>
              <a:rPr lang="zh-CN" altLang="en-US" b="0" i="0" dirty="0">
                <a:solidFill>
                  <a:srgbClr val="333333"/>
                </a:solidFill>
                <a:effectLst/>
                <a:latin typeface="Alibaba PuHuiTi" pitchFamily="18" charset="-122"/>
                <a:ea typeface="Alibaba PuHuiTi" pitchFamily="18" charset="-122"/>
                <a:cs typeface="Alibaba PuHuiTi" pitchFamily="18" charset="-122"/>
              </a:rPr>
              <a:t>也被称为</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，是以绝对误差作为距离。损失函数公式</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1"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曲线如下图所示：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特点是：</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由于</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具有稀疏性，为了惩罚较大的值，因此常常将其作为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正则项添加到其他</a:t>
            </a:r>
            <a:r>
              <a:rPr lang="en-US" altLang="zh-CN" b="0" i="0" dirty="0">
                <a:solidFill>
                  <a:srgbClr val="333333"/>
                </a:solidFill>
                <a:effectLst/>
                <a:latin typeface="Alibaba PuHuiTi" pitchFamily="18" charset="-122"/>
                <a:ea typeface="Alibaba PuHuiTi" pitchFamily="18" charset="-122"/>
                <a:cs typeface="Alibaba PuHuiTi" pitchFamily="18" charset="-122"/>
              </a:rPr>
              <a:t>loss</a:t>
            </a:r>
            <a:r>
              <a:rPr lang="zh-CN" altLang="en-US" b="0" i="0" dirty="0">
                <a:solidFill>
                  <a:srgbClr val="333333"/>
                </a:solidFill>
                <a:effectLst/>
                <a:latin typeface="Alibaba PuHuiTi" pitchFamily="18" charset="-122"/>
                <a:ea typeface="Alibaba PuHuiTi" pitchFamily="18" charset="-122"/>
                <a:cs typeface="Alibaba PuHuiTi" pitchFamily="18" charset="-122"/>
              </a:rPr>
              <a:t>中作为约束。</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en-US" altLang="zh-CN" dirty="0">
                <a:solidFill>
                  <a:srgbClr val="333333"/>
                </a:solidFill>
                <a:latin typeface="Alibaba PuHuiTi" pitchFamily="18" charset="-122"/>
                <a:ea typeface="Alibaba PuHuiTi" pitchFamily="18" charset="-122"/>
                <a:cs typeface="Alibaba PuHuiTi" pitchFamily="18" charset="-122"/>
              </a:rPr>
              <a:t>2.</a:t>
            </a:r>
            <a:r>
              <a:rPr lang="zh-CN" altLang="en-US" dirty="0">
                <a:solidFill>
                  <a:srgbClr val="333333"/>
                </a:solidFill>
                <a:latin typeface="Alibaba PuHuiTi" pitchFamily="18" charset="-122"/>
                <a:ea typeface="Alibaba PuHuiTi" pitchFamily="18" charset="-122"/>
                <a:cs typeface="Alibaba PuHuiTi" pitchFamily="18" charset="-122"/>
              </a:rPr>
              <a:t>   </a:t>
            </a:r>
            <a:r>
              <a:rPr lang="en-US" altLang="zh-CN" b="0" i="0" dirty="0">
                <a:solidFill>
                  <a:srgbClr val="333333"/>
                </a:solidFill>
                <a:effectLst/>
                <a:latin typeface="Alibaba PuHuiTi" pitchFamily="18" charset="-122"/>
                <a:ea typeface="Alibaba PuHuiTi" pitchFamily="18" charset="-122"/>
                <a:cs typeface="Alibaba PuHuiTi" pitchFamily="18" charset="-122"/>
              </a:rPr>
              <a:t>L1 loss</a:t>
            </a:r>
            <a:r>
              <a:rPr lang="zh-CN" altLang="en-US" b="0" i="0" dirty="0">
                <a:solidFill>
                  <a:srgbClr val="333333"/>
                </a:solidFill>
                <a:effectLst/>
                <a:latin typeface="Alibaba PuHuiTi" pitchFamily="18" charset="-122"/>
                <a:ea typeface="Alibaba PuHuiTi" pitchFamily="18" charset="-122"/>
                <a:cs typeface="Alibaba PuHuiTi" pitchFamily="18" charset="-122"/>
              </a:rPr>
              <a:t>的最大问题是梯度在零点不平滑，导致会跳过极小值。</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1" i="0" dirty="0">
                <a:solidFill>
                  <a:srgbClr val="333333"/>
                </a:solidFill>
                <a:effectLst/>
                <a:latin typeface="Helvetica Neue"/>
              </a:rPr>
              <a:t> </a:t>
            </a:r>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46600" y="2291479"/>
            <a:ext cx="5395428" cy="1600339"/>
          </a:xfrm>
          <a:prstGeom prst="rect">
            <a:avLst/>
          </a:prstGeom>
        </p:spPr>
      </p:pic>
      <p:pic>
        <p:nvPicPr>
          <p:cNvPr id="7" name="图片 6"/>
          <p:cNvPicPr>
            <a:picLocks noChangeAspect="1"/>
          </p:cNvPicPr>
          <p:nvPr/>
        </p:nvPicPr>
        <p:blipFill>
          <a:blip r:embed="rId2"/>
          <a:stretch>
            <a:fillRect/>
          </a:stretch>
        </p:blipFill>
        <p:spPr>
          <a:xfrm>
            <a:off x="7405247" y="2772052"/>
            <a:ext cx="4606151" cy="3799918"/>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 </a:t>
            </a:r>
            <a:r>
              <a:rPr lang="en-US" altLang="zh-CN" dirty="0">
                <a:solidFill>
                  <a:srgbClr val="333333"/>
                </a:solidFill>
                <a:latin typeface="Helvetica Neue"/>
              </a:rPr>
              <a:t>MAE</a:t>
            </a:r>
            <a:r>
              <a:rPr lang="zh-CN" altLang="en-US" dirty="0">
                <a:solidFill>
                  <a:srgbClr val="333333"/>
                </a:solidFill>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在pytorch中使用nn.L1Loss()实现，如下所示：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pPr algn="l"/>
            <a:endParaRPr lang="zh-CN" altLang="en-US" b="1" i="0" dirty="0">
              <a:solidFill>
                <a:srgbClr val="333333"/>
              </a:solidFill>
              <a:effectLst/>
              <a:latin typeface="Helvetica Neue"/>
            </a:endParaRPr>
          </a:p>
        </p:txBody>
      </p:sp>
      <p:sp>
        <p:nvSpPr>
          <p:cNvPr id="6" name="文本框 5"/>
          <p:cNvSpPr txBox="1"/>
          <p:nvPr/>
        </p:nvSpPr>
        <p:spPr>
          <a:xfrm>
            <a:off x="2076450" y="2166620"/>
            <a:ext cx="5822950" cy="4521200"/>
          </a:xfrm>
          <a:prstGeom prst="rect">
            <a:avLst/>
          </a:prstGeom>
          <a:solidFill>
            <a:srgbClr val="FFFFE4"/>
          </a:solidFill>
          <a:ln>
            <a:solidFill>
              <a:schemeClr val="tx1"/>
            </a:solidFill>
          </a:ln>
        </p:spPr>
        <p:txBody>
          <a:bodyPr wrap="square">
            <a:noAutofit/>
          </a:bodyPr>
          <a:lstStyle/>
          <a:p>
            <a:pPr>
              <a:lnSpc>
                <a:spcPct val="150000"/>
              </a:lnSpc>
              <a:spcBef>
                <a:spcPts val="360"/>
              </a:spcBef>
              <a:spcAft>
                <a:spcPts val="360"/>
              </a:spcAft>
            </a:pPr>
            <a:r>
              <a:rPr lang="en-US" altLang="zh-CN" sz="1600" b="1" dirty="0">
                <a:solidFill>
                  <a:srgbClr val="008000"/>
                </a:solidFill>
                <a:latin typeface="Alibaba PuHuiTi" pitchFamily="18" charset="-122"/>
                <a:ea typeface="Alibaba PuHuiTi" pitchFamily="18" charset="-122"/>
                <a:cs typeface="Alibaba PuHuiTi" pitchFamily="18" charset="-122"/>
              </a:rPr>
              <a:t># </a:t>
            </a:r>
            <a:r>
              <a:rPr lang="zh-CN" altLang="en-US" sz="1600" b="1" dirty="0">
                <a:solidFill>
                  <a:srgbClr val="008000"/>
                </a:solidFill>
                <a:latin typeface="Alibaba PuHuiTi" pitchFamily="18" charset="-122"/>
                <a:ea typeface="Alibaba PuHuiTi" pitchFamily="18" charset="-122"/>
                <a:cs typeface="Alibaba PuHuiTi" pitchFamily="18" charset="-122"/>
              </a:rPr>
              <a:t>计算</a:t>
            </a:r>
            <a:r>
              <a:rPr lang="en-GB" altLang="zh-CN" sz="1600" b="1" dirty="0">
                <a:solidFill>
                  <a:srgbClr val="008000"/>
                </a:solidFill>
                <a:latin typeface="Alibaba PuHuiTi" pitchFamily="18" charset="-122"/>
                <a:ea typeface="Alibaba PuHuiTi" pitchFamily="18" charset="-122"/>
                <a:cs typeface="Alibaba PuHuiTi" pitchFamily="18" charset="-122"/>
              </a:rPr>
              <a:t>inputs</a:t>
            </a:r>
            <a:r>
              <a:rPr lang="zh-CN" altLang="en-US" sz="1600" b="1" dirty="0">
                <a:solidFill>
                  <a:srgbClr val="008000"/>
                </a:solidFill>
                <a:latin typeface="Alibaba PuHuiTi" pitchFamily="18" charset="-122"/>
                <a:ea typeface="Alibaba PuHuiTi" pitchFamily="18" charset="-122"/>
                <a:cs typeface="Alibaba PuHuiTi" pitchFamily="18" charset="-122"/>
              </a:rPr>
              <a:t>与</a:t>
            </a:r>
            <a:r>
              <a:rPr lang="en-GB" altLang="zh-CN" sz="1600" b="1" dirty="0">
                <a:solidFill>
                  <a:srgbClr val="008000"/>
                </a:solidFill>
                <a:latin typeface="Alibaba PuHuiTi" pitchFamily="18" charset="-122"/>
                <a:ea typeface="Alibaba PuHuiTi" pitchFamily="18" charset="-122"/>
                <a:cs typeface="Alibaba PuHuiTi" pitchFamily="18" charset="-122"/>
              </a:rPr>
              <a:t>target</a:t>
            </a:r>
            <a:r>
              <a:rPr lang="zh-CN" altLang="en-US" sz="1600" b="1" dirty="0">
                <a:solidFill>
                  <a:srgbClr val="008000"/>
                </a:solidFill>
                <a:latin typeface="Alibaba PuHuiTi" pitchFamily="18" charset="-122"/>
                <a:ea typeface="Alibaba PuHuiTi" pitchFamily="18" charset="-122"/>
                <a:cs typeface="Alibaba PuHuiTi" pitchFamily="18" charset="-122"/>
              </a:rPr>
              <a:t>之差的绝对值</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3():</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1 </a:t>
            </a:r>
            <a:r>
              <a:rPr lang="zh-CN" altLang="en-US" sz="1600" b="1" dirty="0">
                <a:solidFill>
                  <a:srgbClr val="008000"/>
                </a:solidFill>
                <a:latin typeface="Alibaba PuHuiTi" pitchFamily="18" charset="-122"/>
                <a:ea typeface="Alibaba PuHuiTi" pitchFamily="18" charset="-122"/>
                <a:cs typeface="Alibaba PuHuiTi" pitchFamily="18" charset="-122"/>
              </a:rPr>
              <a:t>设置真实值和预测值</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2 </a:t>
            </a:r>
            <a:r>
              <a:rPr lang="zh-CN" altLang="en-US" sz="1600" b="1" dirty="0">
                <a:solidFill>
                  <a:srgbClr val="008000"/>
                </a:solidFill>
                <a:latin typeface="Alibaba PuHuiTi" pitchFamily="18" charset="-122"/>
                <a:ea typeface="Alibaba PuHuiTi" pitchFamily="18" charset="-122"/>
                <a:cs typeface="Alibaba PuHuiTi" pitchFamily="18" charset="-122"/>
              </a:rPr>
              <a:t>实例</a:t>
            </a:r>
            <a:r>
              <a:rPr lang="en-GB" altLang="zh-CN" sz="1600" b="1" dirty="0">
                <a:solidFill>
                  <a:srgbClr val="008000"/>
                </a:solidFill>
                <a:latin typeface="Alibaba PuHuiTi" pitchFamily="18" charset="-122"/>
                <a:ea typeface="Alibaba PuHuiTi" pitchFamily="18" charset="-122"/>
                <a:cs typeface="Alibaba PuHuiTi" pitchFamily="18" charset="-122"/>
              </a:rPr>
              <a:t>MAE</a:t>
            </a:r>
            <a:r>
              <a:rPr lang="zh-CN" altLang="en-US" sz="1600" b="1" dirty="0">
                <a:solidFill>
                  <a:srgbClr val="008000"/>
                </a:solidFill>
                <a:latin typeface="Alibaba PuHuiTi" pitchFamily="18" charset="-122"/>
                <a:ea typeface="Alibaba PuHuiTi" pitchFamily="18" charset="-122"/>
                <a:cs typeface="Alibaba PuHuiTi" pitchFamily="18" charset="-122"/>
              </a:rPr>
              <a:t>损失对象</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nn.L1Loss()</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'loss:'</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-MSE</a:t>
            </a:r>
            <a:r>
              <a:rPr lang="zh-CN" altLang="en-US" b="1" i="0" dirty="0">
                <a:solidFill>
                  <a:srgbClr val="333333"/>
                </a:solidFill>
                <a:effectLst/>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1" i="0" dirty="0">
                <a:solidFill>
                  <a:srgbClr val="333333"/>
                </a:solidFill>
                <a:effectLst/>
                <a:latin typeface="Alibaba PuHuiTi" pitchFamily="18" charset="-122"/>
                <a:ea typeface="Alibaba PuHuiTi" pitchFamily="18" charset="-122"/>
                <a:cs typeface="Alibaba PuHuiTi" pitchFamily="18" charset="-122"/>
              </a:rPr>
              <a:t>Mean Squared Loss/ Quadratic Loss(MSE loss)</a:t>
            </a:r>
            <a:r>
              <a:rPr lang="zh-CN" altLang="en-US" b="0" i="0" dirty="0">
                <a:solidFill>
                  <a:srgbClr val="333333"/>
                </a:solidFill>
                <a:effectLst/>
                <a:latin typeface="Alibaba PuHuiTi" pitchFamily="18" charset="-122"/>
                <a:ea typeface="Alibaba PuHuiTi" pitchFamily="18" charset="-122"/>
                <a:cs typeface="Alibaba PuHuiTi" pitchFamily="18" charset="-122"/>
              </a:rPr>
              <a:t>也被称为</a:t>
            </a:r>
            <a:r>
              <a:rPr lang="en-US" altLang="zh-CN" b="0" i="0" dirty="0">
                <a:solidFill>
                  <a:srgbClr val="333333"/>
                </a:solidFill>
                <a:effectLst/>
                <a:latin typeface="Alibaba PuHuiTi" pitchFamily="18" charset="-122"/>
                <a:ea typeface="Alibaba PuHuiTi" pitchFamily="18" charset="-122"/>
                <a:cs typeface="Alibaba PuHuiTi" pitchFamily="18" charset="-122"/>
              </a:rPr>
              <a:t>L2 loss</a:t>
            </a:r>
            <a:r>
              <a:rPr lang="zh-CN" altLang="en-US" b="0" i="0" dirty="0">
                <a:solidFill>
                  <a:srgbClr val="333333"/>
                </a:solidFill>
                <a:effectLst/>
                <a:latin typeface="Alibaba PuHuiTi" pitchFamily="18" charset="-122"/>
                <a:ea typeface="Alibaba PuHuiTi" pitchFamily="18" charset="-122"/>
                <a:cs typeface="Alibaba PuHuiTi" pitchFamily="18" charset="-122"/>
              </a:rPr>
              <a:t>，或欧氏距离，它以误差的平方和的均值作为距离</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损失函数公式</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b="1" dirty="0">
              <a:solidFill>
                <a:srgbClr val="333333"/>
              </a:solidFill>
              <a:latin typeface="Alibaba PuHuiTi" pitchFamily="18" charset="-122"/>
              <a:ea typeface="Alibaba PuHuiTi" pitchFamily="18" charset="-122"/>
              <a:cs typeface="Alibaba PuHuiTi" pitchFamily="18" charset="-122"/>
            </a:endParaRPr>
          </a:p>
          <a:p>
            <a:pPr algn="l"/>
            <a:endParaRPr lang="en-US" altLang="zh-CN" b="1"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曲线如下图所示：</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特点是：</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en-US" altLang="zh-CN" b="0" i="0" dirty="0">
                <a:solidFill>
                  <a:srgbClr val="333333"/>
                </a:solidFill>
                <a:effectLst/>
                <a:latin typeface="Alibaba PuHuiTi" pitchFamily="18" charset="-122"/>
                <a:ea typeface="Alibaba PuHuiTi" pitchFamily="18" charset="-122"/>
                <a:cs typeface="Alibaba PuHuiTi" pitchFamily="18" charset="-122"/>
              </a:rPr>
              <a:t>L2 loss</a:t>
            </a:r>
            <a:r>
              <a:rPr lang="zh-CN" altLang="en-US" b="0" i="0" dirty="0">
                <a:solidFill>
                  <a:srgbClr val="333333"/>
                </a:solidFill>
                <a:effectLst/>
                <a:latin typeface="Alibaba PuHuiTi" pitchFamily="18" charset="-122"/>
                <a:ea typeface="Alibaba PuHuiTi" pitchFamily="18" charset="-122"/>
                <a:cs typeface="Alibaba PuHuiTi" pitchFamily="18" charset="-122"/>
              </a:rPr>
              <a:t>也常常作为正则项。</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当预测值与目标值相差很大时</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梯度容易爆炸。</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251985" y="2388093"/>
            <a:ext cx="5386620" cy="1402672"/>
          </a:xfrm>
          <a:prstGeom prst="rect">
            <a:avLst/>
          </a:prstGeom>
        </p:spPr>
      </p:pic>
      <p:pic>
        <p:nvPicPr>
          <p:cNvPr id="9" name="图片 8"/>
          <p:cNvPicPr>
            <a:picLocks noChangeAspect="1"/>
          </p:cNvPicPr>
          <p:nvPr/>
        </p:nvPicPr>
        <p:blipFill>
          <a:blip r:embed="rId2"/>
          <a:stretch>
            <a:fillRect/>
          </a:stretch>
        </p:blipFill>
        <p:spPr>
          <a:xfrm>
            <a:off x="7997703" y="3089429"/>
            <a:ext cx="4194297" cy="3470553"/>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-MSE</a:t>
            </a:r>
            <a:r>
              <a:rPr lang="zh-CN" altLang="en-US" b="1" i="0" dirty="0">
                <a:solidFill>
                  <a:srgbClr val="333333"/>
                </a:solidFill>
                <a:effectLst/>
                <a:latin typeface="Helvetica Neue"/>
              </a:rPr>
              <a:t>损失函数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a:t>
            </a:r>
            <a:r>
              <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MSE</a:t>
            </a:r>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p:txBody>
      </p:sp>
      <p:sp>
        <p:nvSpPr>
          <p:cNvPr id="6" name="文本框 5"/>
          <p:cNvSpPr txBox="1"/>
          <p:nvPr/>
        </p:nvSpPr>
        <p:spPr>
          <a:xfrm>
            <a:off x="1633291" y="2057587"/>
            <a:ext cx="7205909" cy="341503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latin typeface="Alibaba PuHuiTi" pitchFamily="18" charset="-122"/>
                <a:ea typeface="Alibaba PuHuiTi" pitchFamily="18" charset="-122"/>
                <a:cs typeface="Alibaba PuHuiTi" pitchFamily="18" charset="-122"/>
              </a:rPr>
              <a:t>def </a:t>
            </a:r>
            <a:r>
              <a:rPr lang="en-GB" altLang="zh-CN" sz="1600" dirty="0">
                <a:latin typeface="Alibaba PuHuiTi" pitchFamily="18" charset="-122"/>
                <a:ea typeface="Alibaba PuHuiTi" pitchFamily="18" charset="-122"/>
                <a:cs typeface="Alibaba PuHuiTi" pitchFamily="18" charset="-122"/>
              </a:rPr>
              <a:t>test</a:t>
            </a:r>
            <a:r>
              <a:rPr lang="en-US" altLang="en-GB" sz="1600" dirty="0">
                <a:latin typeface="Alibaba PuHuiTi" pitchFamily="18" charset="-122"/>
                <a:ea typeface="Alibaba PuHuiTi" pitchFamily="18" charset="-122"/>
                <a:cs typeface="Alibaba PuHuiTi" pitchFamily="18" charset="-122"/>
              </a:rPr>
              <a:t>0</a:t>
            </a:r>
            <a:r>
              <a:rPr lang="en-GB" altLang="zh-CN" sz="1600" dirty="0">
                <a:latin typeface="Alibaba PuHuiTi" pitchFamily="18" charset="-122"/>
                <a:ea typeface="Alibaba PuHuiTi" pitchFamily="18" charset="-122"/>
                <a:cs typeface="Alibaba PuHuiTi" pitchFamily="18" charset="-122"/>
              </a:rPr>
              <a:t>4():</a:t>
            </a:r>
            <a:br>
              <a:rPr lang="en-GB" altLang="zh-CN" sz="1600" dirty="0">
                <a:latin typeface="Alibaba PuHuiTi" pitchFamily="18" charset="-122"/>
                <a:ea typeface="Alibaba PuHuiTi" pitchFamily="18" charset="-122"/>
                <a:cs typeface="Alibaba PuHuiTi" pitchFamily="18" charset="-122"/>
              </a:rPr>
            </a:br>
            <a:r>
              <a:rPr lang="en-GB" altLang="zh-CN" sz="1600" dirty="0">
                <a:solidFill>
                  <a:srgbClr val="008001"/>
                </a:solidFill>
                <a:latin typeface="Alibaba PuHuiTi" pitchFamily="18" charset="-122"/>
                <a:ea typeface="Alibaba PuHuiTi" pitchFamily="18" charset="-122"/>
                <a:cs typeface="Alibaba PuHuiTi" pitchFamily="18" charset="-122"/>
              </a:rPr>
              <a:t>    # 1 </a:t>
            </a:r>
            <a:r>
              <a:rPr lang="zh-CN" altLang="en-US" sz="1600" dirty="0">
                <a:solidFill>
                  <a:srgbClr val="008001"/>
                </a:solidFill>
                <a:latin typeface="Alibaba PuHuiTi" pitchFamily="18" charset="-122"/>
                <a:ea typeface="Alibaba PuHuiTi" pitchFamily="18" charset="-122"/>
                <a:cs typeface="Alibaba PuHuiTi" pitchFamily="18" charset="-122"/>
              </a:rPr>
              <a:t>设置真实值和预测值</a:t>
            </a:r>
            <a:br>
              <a:rPr lang="zh-CN" altLang="en-US" sz="1600" dirty="0">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1.9</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requires_grad</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0080"/>
                </a:solidFill>
                <a:effectLst/>
                <a:latin typeface="Alibaba PuHuiTi" pitchFamily="18" charset="-122"/>
                <a:ea typeface="Alibaba PuHuiTi" pitchFamily="18" charset="-122"/>
                <a:cs typeface="Alibaba PuHuiTi" pitchFamily="18" charset="-122"/>
              </a:rPr>
              <a:t>True</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 = </a:t>
            </a:r>
            <a:r>
              <a:rPr lang="en-GB" altLang="zh-CN" sz="1600" dirty="0" err="1">
                <a:latin typeface="Alibaba PuHuiTi" pitchFamily="18" charset="-122"/>
                <a:ea typeface="Alibaba PuHuiTi" pitchFamily="18" charset="-122"/>
                <a:cs typeface="Alibaba PuHuiTi" pitchFamily="18" charset="-122"/>
              </a:rPr>
              <a:t>torch.tensor</a:t>
            </a:r>
            <a:r>
              <a:rPr lang="en-GB" altLang="zh-CN" sz="1600" dirty="0">
                <a:latin typeface="Alibaba PuHuiTi" pitchFamily="18" charset="-122"/>
                <a:ea typeface="Alibaba PuHuiTi" pitchFamily="18" charset="-122"/>
                <a:cs typeface="Alibaba PuHuiTi" pitchFamily="18" charset="-122"/>
              </a:rPr>
              <a:t>([</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FF"/>
                </a:solidFill>
                <a:effectLst/>
                <a:latin typeface="Alibaba PuHuiTi" pitchFamily="18" charset="-122"/>
                <a:ea typeface="Alibaba PuHuiTi" pitchFamily="18" charset="-122"/>
                <a:cs typeface="Alibaba PuHuiTi" pitchFamily="18" charset="-122"/>
              </a:rPr>
              <a:t>2.0</a:t>
            </a:r>
            <a:r>
              <a:rPr lang="en-GB" altLang="zh-CN" sz="1600" dirty="0">
                <a:latin typeface="Alibaba PuHuiTi" pitchFamily="18" charset="-122"/>
                <a:ea typeface="Alibaba PuHuiTi" pitchFamily="18" charset="-122"/>
                <a:cs typeface="Alibaba PuHuiTi" pitchFamily="18" charset="-122"/>
              </a:rPr>
              <a:t>], </a:t>
            </a:r>
            <a:r>
              <a:rPr lang="en-GB" altLang="zh-CN" sz="1600" dirty="0" err="1">
                <a:solidFill>
                  <a:srgbClr val="660099"/>
                </a:solidFill>
                <a:effectLst/>
                <a:latin typeface="Alibaba PuHuiTi" pitchFamily="18" charset="-122"/>
                <a:ea typeface="Alibaba PuHuiTi" pitchFamily="18" charset="-122"/>
                <a:cs typeface="Alibaba PuHuiTi" pitchFamily="18" charset="-122"/>
              </a:rPr>
              <a:t>dtype</a:t>
            </a:r>
            <a:r>
              <a:rPr lang="en-GB" altLang="zh-CN" sz="1600" dirty="0">
                <a:latin typeface="Alibaba PuHuiTi" pitchFamily="18" charset="-122"/>
                <a:ea typeface="Alibaba PuHuiTi" pitchFamily="18" charset="-122"/>
                <a:cs typeface="Alibaba PuHuiTi" pitchFamily="18" charset="-122"/>
              </a:rPr>
              <a:t>=torch.float32)</a:t>
            </a:r>
            <a:br>
              <a:rPr lang="en-GB" altLang="zh-CN" sz="1600" dirty="0">
                <a:latin typeface="Alibaba PuHuiTi" pitchFamily="18" charset="-122"/>
                <a:ea typeface="Alibaba PuHuiTi" pitchFamily="18" charset="-122"/>
                <a:cs typeface="Alibaba PuHuiTi" pitchFamily="18" charset="-122"/>
              </a:rPr>
            </a:br>
            <a:r>
              <a:rPr lang="en-GB" altLang="zh-CN" sz="1600" dirty="0">
                <a:solidFill>
                  <a:srgbClr val="008001"/>
                </a:solidFill>
                <a:latin typeface="Alibaba PuHuiTi" pitchFamily="18" charset="-122"/>
                <a:ea typeface="Alibaba PuHuiTi" pitchFamily="18" charset="-122"/>
                <a:cs typeface="Alibaba PuHuiTi" pitchFamily="18" charset="-122"/>
              </a:rPr>
              <a:t>    # 2 </a:t>
            </a:r>
            <a:r>
              <a:rPr lang="zh-CN" altLang="en-US" sz="1600" dirty="0">
                <a:solidFill>
                  <a:srgbClr val="008001"/>
                </a:solidFill>
                <a:latin typeface="Alibaba PuHuiTi" pitchFamily="18" charset="-122"/>
                <a:ea typeface="Alibaba PuHuiTi" pitchFamily="18" charset="-122"/>
                <a:cs typeface="Alibaba PuHuiTi" pitchFamily="18" charset="-122"/>
              </a:rPr>
              <a:t>实例</a:t>
            </a:r>
            <a:r>
              <a:rPr lang="en-GB" altLang="zh-CN" sz="1600" dirty="0">
                <a:solidFill>
                  <a:srgbClr val="008001"/>
                </a:solidFill>
                <a:latin typeface="Alibaba PuHuiTi" pitchFamily="18" charset="-122"/>
                <a:ea typeface="Alibaba PuHuiTi" pitchFamily="18" charset="-122"/>
                <a:cs typeface="Alibaba PuHuiTi" pitchFamily="18" charset="-122"/>
              </a:rPr>
              <a:t>MSE</a:t>
            </a:r>
            <a:r>
              <a:rPr lang="zh-CN" altLang="en-US" sz="1600" dirty="0">
                <a:solidFill>
                  <a:srgbClr val="008001"/>
                </a:solidFill>
                <a:latin typeface="Alibaba PuHuiTi" pitchFamily="18" charset="-122"/>
                <a:ea typeface="Alibaba PuHuiTi" pitchFamily="18" charset="-122"/>
                <a:cs typeface="Alibaba PuHuiTi" pitchFamily="18" charset="-122"/>
              </a:rPr>
              <a:t>损失对象</a:t>
            </a:r>
            <a:br>
              <a:rPr lang="zh-CN" altLang="en-US" sz="1600" i="1" dirty="0">
                <a:solidFill>
                  <a:srgbClr val="808080"/>
                </a:solidFill>
                <a:effectLst/>
                <a:latin typeface="Alibaba PuHuiTi" pitchFamily="18" charset="-122"/>
                <a:ea typeface="Alibaba PuHuiTi" pitchFamily="18" charset="-122"/>
                <a:cs typeface="Alibaba PuHuiTi" pitchFamily="18" charset="-122"/>
              </a:rPr>
            </a:br>
            <a:r>
              <a:rPr lang="zh-CN" altLang="en-US" sz="1600" i="1" dirty="0">
                <a:solidFill>
                  <a:srgbClr val="808080"/>
                </a:solidFill>
                <a:effectLst/>
                <a:latin typeface="Alibaba PuHuiTi" pitchFamily="18" charset="-122"/>
                <a:ea typeface="Alibaba PuHuiTi" pitchFamily="18" charset="-122"/>
                <a:cs typeface="Alibaba PuHuiTi" pitchFamily="18" charset="-122"/>
              </a:rPr>
              <a:t>    </a:t>
            </a:r>
            <a:r>
              <a:rPr lang="en-GB" altLang="zh-CN" sz="1600" dirty="0">
                <a:latin typeface="Alibaba PuHuiTi" pitchFamily="18" charset="-122"/>
                <a:ea typeface="Alibaba PuHuiTi" pitchFamily="18" charset="-122"/>
                <a:cs typeface="Alibaba PuHuiTi" pitchFamily="18" charset="-122"/>
              </a:rPr>
              <a:t>loss = </a:t>
            </a:r>
            <a:r>
              <a:rPr lang="en-GB" altLang="zh-CN" sz="1600" dirty="0" err="1">
                <a:latin typeface="Alibaba PuHuiTi" pitchFamily="18" charset="-122"/>
                <a:ea typeface="Alibaba PuHuiTi" pitchFamily="18" charset="-122"/>
                <a:cs typeface="Alibaba PuHuiTi" pitchFamily="18" charset="-122"/>
              </a:rPr>
              <a:t>nn.MSELoss</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b="1" dirty="0">
                <a:solidFill>
                  <a:srgbClr val="008000"/>
                </a:solidFill>
                <a:latin typeface="Alibaba PuHuiTi" pitchFamily="18" charset="-122"/>
                <a:ea typeface="Alibaba PuHuiTi" pitchFamily="18" charset="-122"/>
                <a:cs typeface="Alibaba PuHuiTi" pitchFamily="18" charset="-122"/>
              </a:rPr>
              <a:t># 3 </a:t>
            </a:r>
            <a:r>
              <a:rPr lang="zh-CN" altLang="en-US" sz="1600" b="1" dirty="0">
                <a:solidFill>
                  <a:srgbClr val="008000"/>
                </a:solidFill>
                <a:latin typeface="Alibaba PuHuiTi" pitchFamily="18" charset="-122"/>
                <a:ea typeface="Alibaba PuHuiTi" pitchFamily="18" charset="-122"/>
                <a:cs typeface="Alibaba PuHuiTi" pitchFamily="18" charset="-122"/>
              </a:rPr>
              <a:t>计算损失</a:t>
            </a:r>
            <a:br>
              <a:rPr lang="zh-CN" altLang="en-US" sz="1600" b="1" dirty="0">
                <a:solidFill>
                  <a:srgbClr val="008000"/>
                </a:solidFill>
                <a:latin typeface="Alibaba PuHuiTi" pitchFamily="18" charset="-122"/>
                <a:ea typeface="Alibaba PuHuiTi" pitchFamily="18" charset="-122"/>
                <a:cs typeface="Alibaba PuHuiTi" pitchFamily="18" charset="-122"/>
              </a:rPr>
            </a:br>
            <a:r>
              <a:rPr lang="zh-CN" altLang="en-US" sz="1600" b="1" dirty="0">
                <a:solidFill>
                  <a:srgbClr val="008000"/>
                </a:solidFill>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 = loss(</a:t>
            </a:r>
            <a:r>
              <a:rPr lang="en-GB" altLang="zh-CN" sz="1600" dirty="0" err="1">
                <a:latin typeface="Alibaba PuHuiTi" pitchFamily="18" charset="-122"/>
                <a:ea typeface="Alibaba PuHuiTi" pitchFamily="18" charset="-122"/>
                <a:cs typeface="Alibaba PuHuiTi" pitchFamily="18" charset="-122"/>
              </a:rPr>
              <a:t>y_pred</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y_true</a:t>
            </a:r>
            <a:r>
              <a:rPr lang="en-GB" altLang="zh-CN" sz="1600" dirty="0">
                <a:latin typeface="Alibaba PuHuiTi" pitchFamily="18" charset="-122"/>
                <a:ea typeface="Alibaba PuHuiTi" pitchFamily="18" charset="-122"/>
                <a:cs typeface="Alibaba PuHuiTi" pitchFamily="18" charset="-122"/>
              </a:rPr>
              <a:t>).detach().</a:t>
            </a:r>
            <a:r>
              <a:rPr lang="en-GB" altLang="zh-CN" sz="1600" dirty="0" err="1">
                <a:latin typeface="Alibaba PuHuiTi" pitchFamily="18" charset="-122"/>
                <a:ea typeface="Alibaba PuHuiTi" pitchFamily="18" charset="-122"/>
                <a:cs typeface="Alibaba PuHuiTi" pitchFamily="18" charset="-122"/>
              </a:rPr>
              <a:t>numpy</a:t>
            </a:r>
            <a:r>
              <a:rPr lang="en-GB" altLang="zh-CN" sz="1600" dirty="0">
                <a:latin typeface="Alibaba PuHuiTi" pitchFamily="18" charset="-122"/>
                <a:ea typeface="Alibaba PuHuiTi" pitchFamily="18" charset="-122"/>
                <a:cs typeface="Alibaba PuHuiTi" pitchFamily="18" charset="-122"/>
              </a:rPr>
              <a:t>()</a:t>
            </a:r>
            <a:br>
              <a:rPr lang="en-GB" altLang="zh-CN" sz="1600" dirty="0">
                <a:latin typeface="Alibaba PuHuiTi" pitchFamily="18" charset="-122"/>
                <a:ea typeface="Alibaba PuHuiTi" pitchFamily="18" charset="-122"/>
                <a:cs typeface="Alibaba PuHuiTi" pitchFamily="18" charset="-122"/>
              </a:rPr>
            </a:br>
            <a:r>
              <a:rPr lang="en-GB" altLang="zh-CN" sz="1600" dirty="0">
                <a:latin typeface="Alibaba PuHuiTi" pitchFamily="18" charset="-122"/>
                <a:ea typeface="Alibaba PuHuiTi" pitchFamily="18" charset="-122"/>
                <a:cs typeface="Alibaba PuHuiTi" pitchFamily="18" charset="-122"/>
              </a:rPr>
              <a:t>    </a:t>
            </a:r>
            <a:r>
              <a:rPr lang="en-GB" altLang="zh-CN" sz="1600" dirty="0">
                <a:solidFill>
                  <a:srgbClr val="000080"/>
                </a:solidFill>
                <a:effectLst/>
                <a:latin typeface="Alibaba PuHuiTi" pitchFamily="18" charset="-122"/>
                <a:ea typeface="Alibaba PuHuiTi" pitchFamily="18" charset="-122"/>
                <a:cs typeface="Alibaba PuHuiTi" pitchFamily="18" charset="-122"/>
              </a:rPr>
              <a:t>print</a:t>
            </a:r>
            <a:r>
              <a:rPr lang="en-GB" altLang="zh-CN" sz="1600" dirty="0">
                <a:latin typeface="Alibaba PuHuiTi" pitchFamily="18" charset="-122"/>
                <a:ea typeface="Alibaba PuHuiTi" pitchFamily="18" charset="-122"/>
                <a:cs typeface="Alibaba PuHuiTi" pitchFamily="18" charset="-122"/>
              </a:rPr>
              <a:t>(</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b="1" dirty="0" err="1">
                <a:solidFill>
                  <a:srgbClr val="008000"/>
                </a:solidFill>
                <a:effectLst/>
                <a:latin typeface="Alibaba PuHuiTi" pitchFamily="18" charset="-122"/>
                <a:ea typeface="Alibaba PuHuiTi" pitchFamily="18" charset="-122"/>
                <a:cs typeface="Alibaba PuHuiTi" pitchFamily="18" charset="-122"/>
              </a:rPr>
              <a:t>myloss</a:t>
            </a:r>
            <a:r>
              <a:rPr lang="en-GB" altLang="zh-CN" sz="1600" b="1" dirty="0">
                <a:solidFill>
                  <a:srgbClr val="008000"/>
                </a:solidFill>
                <a:effectLst/>
                <a:latin typeface="Alibaba PuHuiTi" pitchFamily="18" charset="-122"/>
                <a:ea typeface="Alibaba PuHuiTi" pitchFamily="18" charset="-122"/>
                <a:cs typeface="Alibaba PuHuiTi" pitchFamily="18" charset="-122"/>
              </a:rPr>
              <a:t>:'</a:t>
            </a:r>
            <a:r>
              <a:rPr lang="en-GB" altLang="zh-CN" sz="1600" dirty="0">
                <a:latin typeface="Alibaba PuHuiTi" pitchFamily="18" charset="-122"/>
                <a:ea typeface="Alibaba PuHuiTi" pitchFamily="18" charset="-122"/>
                <a:cs typeface="Alibaba PuHuiTi" pitchFamily="18" charset="-122"/>
              </a:rPr>
              <a:t>, </a:t>
            </a:r>
            <a:r>
              <a:rPr lang="en-GB" altLang="zh-CN" sz="1600" dirty="0" err="1">
                <a:latin typeface="Alibaba PuHuiTi" pitchFamily="18" charset="-122"/>
                <a:ea typeface="Alibaba PuHuiTi" pitchFamily="18" charset="-122"/>
                <a:cs typeface="Alibaba PuHuiTi" pitchFamily="18" charset="-122"/>
              </a:rPr>
              <a:t>my_loss</a:t>
            </a:r>
            <a:r>
              <a:rPr lang="en-GB" altLang="zh-CN" sz="1600" dirty="0">
                <a:latin typeface="Alibaba PuHuiTi" pitchFamily="18" charset="-122"/>
                <a:ea typeface="Alibaba PuHuiTi" pitchFamily="18" charset="-122"/>
                <a:cs typeface="Alibaba PuHuiTi" pitchFamily="18" charset="-122"/>
              </a:rPr>
              <a:t>)</a:t>
            </a:r>
            <a:endParaRPr lang="en-US" altLang="zh-CN" sz="16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-S</a:t>
            </a:r>
            <a:r>
              <a:rPr lang="en-US" altLang="zh-CN" dirty="0">
                <a:solidFill>
                  <a:srgbClr val="333333"/>
                </a:solidFill>
                <a:latin typeface="Helvetica Neue"/>
              </a:rPr>
              <a:t>mooth L1</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dirty="0">
                <a:solidFill>
                  <a:srgbClr val="333333"/>
                </a:solidFill>
                <a:latin typeface="Helvetica Neue"/>
              </a:rPr>
              <a:t>Smooth L1</a:t>
            </a:r>
            <a:r>
              <a:rPr lang="zh-CN" altLang="en-US" dirty="0">
                <a:solidFill>
                  <a:srgbClr val="333333"/>
                </a:solidFill>
                <a:latin typeface="Helvetica Neue"/>
              </a:rPr>
              <a:t>说的是光滑之后的</a:t>
            </a:r>
            <a:r>
              <a:rPr lang="en-US" altLang="zh-CN" dirty="0">
                <a:solidFill>
                  <a:srgbClr val="333333"/>
                </a:solidFill>
                <a:latin typeface="Helvetica Neue"/>
              </a:rPr>
              <a:t>L1</a:t>
            </a:r>
            <a:r>
              <a:rPr lang="zh-CN" altLang="en-US" dirty="0">
                <a:solidFill>
                  <a:srgbClr val="333333"/>
                </a:solidFill>
                <a:latin typeface="Helvetica Neue"/>
              </a:rPr>
              <a:t>。</a:t>
            </a:r>
            <a:r>
              <a:rPr lang="zh-CN" altLang="en-US" b="0" i="0" dirty="0">
                <a:solidFill>
                  <a:srgbClr val="333333"/>
                </a:solidFill>
                <a:effectLst/>
                <a:latin typeface="Helvetica Neue"/>
              </a:rPr>
              <a:t>损失函数公式</a:t>
            </a:r>
            <a:r>
              <a:rPr lang="en-US" altLang="zh-CN" b="0" i="0" dirty="0">
                <a:solidFill>
                  <a:srgbClr val="333333"/>
                </a:solidFill>
                <a:effectLst/>
                <a:latin typeface="Helvetica Neue"/>
              </a:rPr>
              <a:t>:</a:t>
            </a:r>
            <a:endParaRPr lang="en-US" altLang="zh-CN" dirty="0">
              <a:solidFill>
                <a:srgbClr val="333333"/>
              </a:solidFill>
              <a:latin typeface="Helvetica Neue"/>
            </a:endParaRPr>
          </a:p>
          <a:p>
            <a:endPar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dirty="0">
              <a:solidFill>
                <a:srgbClr val="333333"/>
              </a:solidFill>
              <a:latin typeface="Open Sans" panose="020B0606030504020204" pitchFamily="34" charset="0"/>
              <a:cs typeface="Open Sans" panose="020B0606030504020204" pitchFamily="34" charset="0"/>
            </a:endParaRPr>
          </a:p>
          <a:p>
            <a:endParaRPr kumimoji="0" lang="en-US"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endParaRPr>
          </a:p>
          <a:p>
            <a:endParaRPr lang="en-US" altLang="zh-CN" dirty="0">
              <a:solidFill>
                <a:srgbClr val="333333"/>
              </a:solidFill>
              <a:latin typeface="Open Sans" panose="020B0606030504020204" pitchFamily="34" charset="0"/>
              <a:cs typeface="Open Sans" panose="020B0606030504020204" pitchFamily="34" charset="0"/>
            </a:endParaRPr>
          </a:p>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其中：𝑥=f(x)−y 为真实值和预测值的差值。</a:t>
            </a:r>
            <a:r>
              <a:rPr kumimoji="0" lang="zh-CN" altLang="zh-CN" sz="900" b="0" i="0" u="none" strike="noStrike" cap="none" normalizeH="0" baseline="0" dirty="0">
                <a:ln>
                  <a:noFill/>
                </a:ln>
                <a:solidFill>
                  <a:schemeClr val="tx1"/>
                </a:solidFill>
                <a:effectLst/>
              </a:rPr>
              <a:t> </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从右图中可以看出，该函数实际上就是一个分段函数</a:t>
            </a:r>
            <a:endParaRPr lang="zh-CN" altLang="en-US"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在</a:t>
            </a:r>
            <a:r>
              <a:rPr lang="en-US" altLang="zh-CN" b="0" i="0" dirty="0">
                <a:solidFill>
                  <a:srgbClr val="333333"/>
                </a:solidFill>
                <a:effectLst/>
                <a:latin typeface="Helvetica Neue"/>
              </a:rPr>
              <a:t>[-1,1]</a:t>
            </a:r>
            <a:r>
              <a:rPr lang="zh-CN" altLang="en-US" b="0" i="0" dirty="0">
                <a:solidFill>
                  <a:srgbClr val="333333"/>
                </a:solidFill>
                <a:effectLst/>
                <a:latin typeface="Helvetica Neue"/>
              </a:rPr>
              <a:t>之间实际上就是</a:t>
            </a:r>
            <a:r>
              <a:rPr lang="en-US" altLang="zh-CN" b="0" i="0" dirty="0">
                <a:solidFill>
                  <a:srgbClr val="333333"/>
                </a:solidFill>
                <a:effectLst/>
                <a:latin typeface="Helvetica Neue"/>
              </a:rPr>
              <a:t>L2</a:t>
            </a:r>
            <a:r>
              <a:rPr lang="zh-CN" altLang="en-US" b="0" i="0" dirty="0">
                <a:solidFill>
                  <a:srgbClr val="333333"/>
                </a:solidFill>
                <a:effectLst/>
                <a:latin typeface="Helvetica Neue"/>
              </a:rPr>
              <a:t>损失，这样解决了</a:t>
            </a:r>
            <a:r>
              <a:rPr lang="en-US" altLang="zh-CN" b="0" i="0" dirty="0">
                <a:solidFill>
                  <a:srgbClr val="333333"/>
                </a:solidFill>
                <a:effectLst/>
                <a:latin typeface="Helvetica Neue"/>
              </a:rPr>
              <a:t>L1</a:t>
            </a:r>
            <a:r>
              <a:rPr lang="zh-CN" altLang="en-US" b="0" i="0" dirty="0">
                <a:solidFill>
                  <a:srgbClr val="333333"/>
                </a:solidFill>
                <a:effectLst/>
                <a:latin typeface="Helvetica Neue"/>
              </a:rPr>
              <a:t>的不光滑问题</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在</a:t>
            </a:r>
            <a:r>
              <a:rPr lang="en-US" altLang="zh-CN" b="0" i="0" dirty="0">
                <a:solidFill>
                  <a:srgbClr val="333333"/>
                </a:solidFill>
                <a:effectLst/>
                <a:latin typeface="Helvetica Neue"/>
              </a:rPr>
              <a:t>[-1,1]</a:t>
            </a:r>
            <a:r>
              <a:rPr lang="zh-CN" altLang="en-US" b="0" i="0" dirty="0">
                <a:solidFill>
                  <a:srgbClr val="333333"/>
                </a:solidFill>
                <a:effectLst/>
                <a:latin typeface="Helvetica Neue"/>
              </a:rPr>
              <a:t>区间外，实际上就是</a:t>
            </a:r>
            <a:r>
              <a:rPr lang="en-US" altLang="zh-CN" b="0" i="0" dirty="0">
                <a:solidFill>
                  <a:srgbClr val="333333"/>
                </a:solidFill>
                <a:effectLst/>
                <a:latin typeface="Helvetica Neue"/>
              </a:rPr>
              <a:t>L1</a:t>
            </a:r>
            <a:r>
              <a:rPr lang="zh-CN" altLang="en-US" b="0" i="0" dirty="0">
                <a:solidFill>
                  <a:srgbClr val="333333"/>
                </a:solidFill>
                <a:effectLst/>
                <a:latin typeface="Helvetica Neue"/>
              </a:rPr>
              <a:t>损失，这样就解决了离群点梯度爆炸的问题</a:t>
            </a:r>
            <a:endParaRPr lang="en-US" altLang="zh-CN" b="0" i="0" dirty="0">
              <a:solidFill>
                <a:srgbClr val="333333"/>
              </a:solidFill>
              <a:effectLst/>
              <a:latin typeface="Helvetica Neue"/>
            </a:endParaRPr>
          </a:p>
          <a:p>
            <a:pPr algn="l"/>
            <a:endParaRPr lang="en-US" altLang="zh-CN" b="1" i="0" dirty="0">
              <a:solidFill>
                <a:srgbClr val="333333"/>
              </a:solidFill>
              <a:effectLst/>
              <a:latin typeface="Helvetica Neue"/>
            </a:endParaRPr>
          </a:p>
          <a:p>
            <a:pPr algn="l"/>
            <a:endParaRPr lang="en-US" altLang="zh-CN" b="1" dirty="0">
              <a:solidFill>
                <a:srgbClr val="333333"/>
              </a:solidFill>
              <a:latin typeface="Helvetica Neue"/>
            </a:endParaRPr>
          </a:p>
          <a:p>
            <a:pPr algn="l"/>
            <a:endParaRPr lang="en-US" altLang="zh-CN" b="1"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030783" y="2368678"/>
            <a:ext cx="5494496" cy="998307"/>
          </a:xfrm>
          <a:prstGeom prst="rect">
            <a:avLst/>
          </a:prstGeom>
        </p:spPr>
      </p:pic>
      <p:pic>
        <p:nvPicPr>
          <p:cNvPr id="10" name="图片 9"/>
          <p:cNvPicPr>
            <a:picLocks noChangeAspect="1"/>
          </p:cNvPicPr>
          <p:nvPr/>
        </p:nvPicPr>
        <p:blipFill>
          <a:blip r:embed="rId2"/>
          <a:stretch>
            <a:fillRect/>
          </a:stretch>
        </p:blipFill>
        <p:spPr>
          <a:xfrm>
            <a:off x="8139500" y="2875149"/>
            <a:ext cx="4081465" cy="2971225"/>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回归任务损失函数</a:t>
            </a:r>
            <a:r>
              <a:rPr lang="en-US" altLang="zh-CN" b="1" i="0" dirty="0">
                <a:solidFill>
                  <a:srgbClr val="333333"/>
                </a:solidFill>
                <a:effectLst/>
                <a:latin typeface="Helvetica Neue"/>
              </a:rPr>
              <a:t>-S</a:t>
            </a:r>
            <a:r>
              <a:rPr lang="en-US" altLang="zh-CN" dirty="0">
                <a:solidFill>
                  <a:srgbClr val="333333"/>
                </a:solidFill>
                <a:latin typeface="Helvetica Neue"/>
              </a:rPr>
              <a:t>mooth L1</a:t>
            </a:r>
            <a:r>
              <a:rPr lang="zh-CN" altLang="en-US" dirty="0">
                <a:solidFill>
                  <a:srgbClr val="333333"/>
                </a:solidFill>
                <a:latin typeface="Helvetica Neue"/>
              </a:rPr>
              <a:t>损失函数</a:t>
            </a:r>
            <a:endParaRPr lang="zh-CN" altLang="en-US" b="0"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在pytorch中使用nn.</a:t>
            </a:r>
            <a:r>
              <a:rPr lang="en-US" altLang="zh-CN" dirty="0">
                <a:solidFill>
                  <a:srgbClr val="333333"/>
                </a:solidFill>
                <a:latin typeface="Open Sans" panose="020B0606030504020204" pitchFamily="34" charset="0"/>
                <a:cs typeface="Open Sans" panose="020B0606030504020204" pitchFamily="34" charset="0"/>
              </a:rPr>
              <a:t>SmoothL1</a:t>
            </a:r>
            <a:r>
              <a:rPr kumimoji="0" lang="zh-CN" altLang="zh-CN" sz="1600" b="0" i="0" u="none" strike="noStrike" cap="none" normalizeH="0" baseline="0" dirty="0">
                <a:ln>
                  <a:noFill/>
                </a:ln>
                <a:solidFill>
                  <a:srgbClr val="333333"/>
                </a:solidFill>
                <a:effectLst/>
                <a:latin typeface="Open Sans" panose="020B0606030504020204" pitchFamily="34" charset="0"/>
                <a:cs typeface="Open Sans" panose="020B0606030504020204" pitchFamily="34" charset="0"/>
              </a:rPr>
              <a:t>Loss()实现，如下所示：</a:t>
            </a:r>
            <a:r>
              <a:rPr kumimoji="0" lang="zh-CN" altLang="zh-CN" sz="900" b="0" i="0" u="none" strike="noStrike" cap="none" normalizeH="0" baseline="0" dirty="0">
                <a:ln>
                  <a:noFill/>
                </a:ln>
                <a:solidFill>
                  <a:schemeClr val="tx1"/>
                </a:solidFill>
                <a:effectLst/>
              </a:rPr>
              <a:t> </a:t>
            </a:r>
            <a:endParaRPr kumimoji="0" lang="zh-CN" altLang="zh-CN" sz="2000" b="0" i="0" u="none" strike="noStrike" cap="none" normalizeH="0" baseline="0" dirty="0">
              <a:ln>
                <a:noFill/>
              </a:ln>
              <a:solidFill>
                <a:schemeClr val="tx1"/>
              </a:solidFill>
              <a:effectLst/>
              <a:latin typeface="Arial" panose="020B0604020202020204" pitchFamily="34" charset="0"/>
            </a:endParaRPr>
          </a:p>
          <a:p>
            <a:pPr algn="l"/>
            <a:endParaRPr lang="zh-CN" altLang="en-US" b="1" i="0" dirty="0">
              <a:solidFill>
                <a:srgbClr val="333333"/>
              </a:solidFill>
              <a:effectLst/>
              <a:latin typeface="Helvetica Neue"/>
            </a:endParaRPr>
          </a:p>
        </p:txBody>
      </p:sp>
      <p:sp>
        <p:nvSpPr>
          <p:cNvPr id="6" name="文本框 5"/>
          <p:cNvSpPr txBox="1"/>
          <p:nvPr/>
        </p:nvSpPr>
        <p:spPr>
          <a:xfrm>
            <a:off x="1328491" y="2110463"/>
            <a:ext cx="6242625" cy="341503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def </a:t>
            </a:r>
            <a:r>
              <a:rPr lang="en-GB" altLang="zh-CN" sz="1600" dirty="0"/>
              <a:t>test</a:t>
            </a:r>
            <a:r>
              <a:rPr lang="en-US" altLang="en-GB" sz="1600" dirty="0"/>
              <a:t>0</a:t>
            </a:r>
            <a:r>
              <a:rPr lang="en-GB" altLang="zh-CN" sz="1600" dirty="0"/>
              <a:t>5():</a:t>
            </a:r>
            <a:br>
              <a:rPr lang="en-GB" altLang="zh-CN" sz="1600" dirty="0"/>
            </a:br>
            <a:r>
              <a:rPr lang="en-GB" altLang="zh-CN" sz="1600" dirty="0">
                <a:solidFill>
                  <a:srgbClr val="008001"/>
                </a:solidFill>
              </a:rPr>
              <a:t>    </a:t>
            </a:r>
            <a:r>
              <a:rPr lang="en-GB" altLang="zh-CN" sz="1600" i="1" dirty="0">
                <a:solidFill>
                  <a:srgbClr val="008001"/>
                </a:solidFill>
                <a:effectLst/>
              </a:rPr>
              <a:t># 1 </a:t>
            </a:r>
            <a:r>
              <a:rPr lang="zh-CN" altLang="en-US" sz="1600" i="1" dirty="0">
                <a:solidFill>
                  <a:srgbClr val="008001"/>
                </a:solidFill>
                <a:effectLst/>
              </a:rPr>
              <a:t>设置真实值和预测值</a:t>
            </a:r>
            <a:br>
              <a:rPr lang="zh-CN" altLang="en-US" sz="1600" i="1" dirty="0">
                <a:solidFill>
                  <a:srgbClr val="808080"/>
                </a:solidFill>
                <a:effectLst/>
              </a:rPr>
            </a:br>
            <a:r>
              <a:rPr lang="zh-CN" altLang="en-US" sz="1600" i="1" dirty="0">
                <a:solidFill>
                  <a:srgbClr val="808080"/>
                </a:solidFill>
                <a:effectLst/>
              </a:rPr>
              <a:t>    </a:t>
            </a:r>
            <a:r>
              <a:rPr lang="en-GB" altLang="zh-CN" sz="1600" dirty="0" err="1"/>
              <a:t>y_true</a:t>
            </a:r>
            <a:r>
              <a:rPr lang="en-GB" altLang="zh-CN" sz="1600" dirty="0"/>
              <a:t> = </a:t>
            </a:r>
            <a:r>
              <a:rPr lang="en-GB" altLang="zh-CN" sz="1600" dirty="0" err="1"/>
              <a:t>torch.tensor</a:t>
            </a:r>
            <a:r>
              <a:rPr lang="en-GB" altLang="zh-CN" sz="1600" dirty="0"/>
              <a:t>([</a:t>
            </a:r>
            <a:r>
              <a:rPr lang="en-GB" altLang="zh-CN" sz="1600" dirty="0">
                <a:solidFill>
                  <a:srgbClr val="0000FF"/>
                </a:solidFill>
                <a:effectLst/>
              </a:rPr>
              <a:t>0</a:t>
            </a:r>
            <a:r>
              <a:rPr lang="en-GB" altLang="zh-CN" sz="1600" dirty="0"/>
              <a:t>, </a:t>
            </a:r>
            <a:r>
              <a:rPr lang="en-GB" altLang="zh-CN" sz="1600" dirty="0">
                <a:solidFill>
                  <a:srgbClr val="0000FF"/>
                </a:solidFill>
                <a:effectLst/>
              </a:rPr>
              <a:t>3</a:t>
            </a:r>
            <a:r>
              <a:rPr lang="en-GB" altLang="zh-CN" sz="1600" dirty="0"/>
              <a:t>])</a:t>
            </a:r>
            <a:br>
              <a:rPr lang="en-GB" altLang="zh-CN" sz="1600" dirty="0"/>
            </a:br>
            <a:r>
              <a:rPr lang="en-GB" altLang="zh-CN" sz="1600" dirty="0"/>
              <a:t>    </a:t>
            </a:r>
            <a:r>
              <a:rPr lang="en-GB" altLang="zh-CN" sz="1600" dirty="0" err="1"/>
              <a:t>y_pred</a:t>
            </a:r>
            <a:r>
              <a:rPr lang="en-GB" altLang="zh-CN" sz="1600" dirty="0"/>
              <a:t> = </a:t>
            </a:r>
            <a:r>
              <a:rPr lang="en-GB" altLang="zh-CN" sz="1600" dirty="0" err="1"/>
              <a:t>torch.tensor</a:t>
            </a:r>
            <a:r>
              <a:rPr lang="en-GB" altLang="zh-CN" sz="1600" dirty="0"/>
              <a:t> ([</a:t>
            </a:r>
            <a:r>
              <a:rPr lang="en-GB" altLang="zh-CN" sz="1600" dirty="0">
                <a:solidFill>
                  <a:srgbClr val="0000FF"/>
                </a:solidFill>
                <a:effectLst/>
              </a:rPr>
              <a:t>0.6</a:t>
            </a:r>
            <a:r>
              <a:rPr lang="en-GB" altLang="zh-CN" sz="1600" dirty="0"/>
              <a:t>, </a:t>
            </a:r>
            <a:r>
              <a:rPr lang="en-GB" altLang="zh-CN" sz="1600" dirty="0">
                <a:solidFill>
                  <a:srgbClr val="0000FF"/>
                </a:solidFill>
                <a:effectLst/>
              </a:rPr>
              <a:t>0.4</a:t>
            </a:r>
            <a:r>
              <a:rPr lang="en-GB" altLang="zh-CN" sz="1600" dirty="0"/>
              <a:t>], </a:t>
            </a:r>
            <a:r>
              <a:rPr lang="en-GB" altLang="zh-CN" sz="1600" dirty="0" err="1">
                <a:solidFill>
                  <a:srgbClr val="660099"/>
                </a:solidFill>
                <a:effectLst/>
              </a:rPr>
              <a:t>requires_grad</a:t>
            </a:r>
            <a:r>
              <a:rPr lang="en-GB" altLang="zh-CN" sz="1600" dirty="0"/>
              <a:t>=</a:t>
            </a:r>
            <a:r>
              <a:rPr lang="en-GB" altLang="zh-CN" sz="1600" b="1" dirty="0">
                <a:solidFill>
                  <a:srgbClr val="000080"/>
                </a:solidFill>
                <a:effectLst/>
              </a:rPr>
              <a:t>True</a:t>
            </a:r>
            <a:r>
              <a:rPr lang="en-GB" altLang="zh-CN" sz="1600" dirty="0"/>
              <a:t>)</a:t>
            </a:r>
            <a:br>
              <a:rPr lang="en-GB" altLang="zh-CN" sz="1600" dirty="0"/>
            </a:br>
            <a:r>
              <a:rPr lang="en-GB" altLang="zh-CN" sz="1600" dirty="0">
                <a:solidFill>
                  <a:srgbClr val="008001"/>
                </a:solidFill>
              </a:rPr>
              <a:t>    </a:t>
            </a:r>
            <a:r>
              <a:rPr lang="en-GB" altLang="zh-CN" sz="1600" i="1" dirty="0">
                <a:solidFill>
                  <a:srgbClr val="008001"/>
                </a:solidFill>
                <a:effectLst/>
              </a:rPr>
              <a:t># 2 </a:t>
            </a:r>
            <a:r>
              <a:rPr lang="zh-CN" altLang="en-US" sz="1600" i="1" dirty="0">
                <a:solidFill>
                  <a:srgbClr val="008001"/>
                </a:solidFill>
                <a:effectLst/>
              </a:rPr>
              <a:t>实例</a:t>
            </a:r>
            <a:r>
              <a:rPr lang="en-GB" altLang="zh-CN" sz="1600" i="1" dirty="0">
                <a:solidFill>
                  <a:srgbClr val="008001"/>
                </a:solidFill>
                <a:effectLst/>
              </a:rPr>
              <a:t>smmothL1</a:t>
            </a:r>
            <a:r>
              <a:rPr lang="zh-CN" altLang="en-US" sz="1600" i="1" dirty="0">
                <a:solidFill>
                  <a:srgbClr val="008001"/>
                </a:solidFill>
                <a:effectLst/>
              </a:rPr>
              <a:t>损失对象</a:t>
            </a:r>
            <a:br>
              <a:rPr lang="zh-CN" altLang="en-US" sz="1600" i="1" dirty="0">
                <a:solidFill>
                  <a:srgbClr val="808080"/>
                </a:solidFill>
                <a:effectLst/>
              </a:rPr>
            </a:br>
            <a:r>
              <a:rPr lang="zh-CN" altLang="en-US" sz="1600" i="1" dirty="0">
                <a:solidFill>
                  <a:srgbClr val="808080"/>
                </a:solidFill>
                <a:effectLst/>
              </a:rPr>
              <a:t>    </a:t>
            </a:r>
            <a:r>
              <a:rPr lang="en-GB" altLang="zh-CN" sz="1600" dirty="0"/>
              <a:t>loss = nn.SmoothL1Loss()</a:t>
            </a:r>
            <a:br>
              <a:rPr lang="en-GB" altLang="zh-CN" sz="1600" dirty="0"/>
            </a:br>
            <a:r>
              <a:rPr lang="en-GB" altLang="zh-CN" sz="1600" dirty="0">
                <a:solidFill>
                  <a:srgbClr val="008001"/>
                </a:solidFill>
              </a:rPr>
              <a:t>    </a:t>
            </a:r>
            <a:r>
              <a:rPr lang="en-GB" altLang="zh-CN" sz="1600" i="1" dirty="0">
                <a:solidFill>
                  <a:srgbClr val="008001"/>
                </a:solidFill>
                <a:effectLst/>
              </a:rPr>
              <a:t># 3 </a:t>
            </a:r>
            <a:r>
              <a:rPr lang="zh-CN" altLang="en-US" sz="1600" i="1" dirty="0">
                <a:solidFill>
                  <a:srgbClr val="008001"/>
                </a:solidFill>
                <a:effectLst/>
              </a:rPr>
              <a:t>计算损失</a:t>
            </a:r>
            <a:br>
              <a:rPr lang="zh-CN" altLang="en-US" sz="1600" i="1" dirty="0">
                <a:solidFill>
                  <a:srgbClr val="808080"/>
                </a:solidFill>
                <a:effectLst/>
              </a:rPr>
            </a:br>
            <a:r>
              <a:rPr lang="zh-CN" altLang="en-US" sz="1600" i="1" dirty="0">
                <a:solidFill>
                  <a:srgbClr val="808080"/>
                </a:solidFill>
                <a:effectLst/>
              </a:rPr>
              <a:t>    </a:t>
            </a:r>
            <a:r>
              <a:rPr lang="en-GB" altLang="zh-CN" sz="1600" dirty="0" err="1"/>
              <a:t>my_loss</a:t>
            </a:r>
            <a:r>
              <a:rPr lang="en-GB" altLang="zh-CN" sz="1600" dirty="0"/>
              <a:t> = loss(</a:t>
            </a:r>
            <a:r>
              <a:rPr lang="en-GB" altLang="zh-CN" sz="1600" dirty="0" err="1"/>
              <a:t>y_pred</a:t>
            </a:r>
            <a:r>
              <a:rPr lang="en-GB" altLang="zh-CN" sz="1600" dirty="0"/>
              <a:t>, </a:t>
            </a:r>
            <a:r>
              <a:rPr lang="en-GB" altLang="zh-CN" sz="1600" dirty="0" err="1"/>
              <a:t>y_true</a:t>
            </a:r>
            <a:r>
              <a:rPr lang="en-GB" altLang="zh-CN" sz="1600" dirty="0"/>
              <a:t>).detach().</a:t>
            </a:r>
            <a:r>
              <a:rPr lang="en-GB" altLang="zh-CN" sz="1600" dirty="0" err="1"/>
              <a:t>numpy</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'loss:'</a:t>
            </a:r>
            <a:r>
              <a:rPr lang="en-GB" altLang="zh-CN" sz="1600" dirty="0"/>
              <a:t>, </a:t>
            </a:r>
            <a:r>
              <a:rPr lang="en-GB" altLang="zh-CN" sz="1600" dirty="0" err="1"/>
              <a:t>my_loss</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460760" y="842629"/>
            <a:ext cx="7731240" cy="5172741"/>
          </a:xfrm>
        </p:spPr>
        <p:txBody>
          <a:bodyPr/>
          <a:lstStyle/>
          <a:p>
            <a:r>
              <a:rPr lang="zh-CN" altLang="en-US" sz="1600" b="0" i="0" dirty="0">
                <a:solidFill>
                  <a:srgbClr val="333333"/>
                </a:solidFill>
                <a:effectLst/>
                <a:latin typeface="Helvetica Neue"/>
              </a:rPr>
              <a:t>分类任务的损失函数</a:t>
            </a:r>
            <a:endParaRPr lang="en-US" altLang="zh-CN" sz="1600" b="0" i="0" dirty="0">
              <a:solidFill>
                <a:srgbClr val="333333"/>
              </a:solidFill>
              <a:effectLst/>
              <a:latin typeface="Helvetica Neue"/>
            </a:endParaRPr>
          </a:p>
          <a:p>
            <a:pPr marL="285750" indent="-285750" algn="l">
              <a:buFont typeface="Wingdings" panose="05000000000000000000" pitchFamily="2" charset="2"/>
              <a:buChar char="l"/>
            </a:pPr>
            <a:r>
              <a:rPr lang="zh-CN" altLang="en-US" sz="1600" b="0" i="0" dirty="0">
                <a:solidFill>
                  <a:srgbClr val="333333"/>
                </a:solidFill>
                <a:effectLst/>
                <a:latin typeface="Helvetica Neue"/>
              </a:rPr>
              <a:t>多分类的交叉熵损失函数</a:t>
            </a:r>
            <a:endParaRPr lang="en-US" altLang="zh-CN" sz="1600" b="0" i="0" dirty="0">
              <a:solidFill>
                <a:srgbClr val="333333"/>
              </a:solidFill>
              <a:effectLst/>
              <a:latin typeface="Helvetica Neue"/>
            </a:endParaRPr>
          </a:p>
          <a:p>
            <a:pPr marL="285750" indent="-285750" algn="l">
              <a:buFont typeface="Wingdings" panose="05000000000000000000" pitchFamily="2" charset="2"/>
              <a:buChar char="l"/>
            </a:pPr>
            <a:r>
              <a:rPr lang="zh-CN" altLang="en-US" sz="1600" b="0" i="0" dirty="0">
                <a:solidFill>
                  <a:srgbClr val="333333"/>
                </a:solidFill>
                <a:effectLst/>
                <a:latin typeface="Helvetica Neue"/>
              </a:rPr>
              <a:t>二分类的交叉熵损失函数</a:t>
            </a:r>
            <a:endParaRPr lang="en-US" altLang="zh-CN" sz="1600" b="0" i="0" dirty="0">
              <a:solidFill>
                <a:srgbClr val="333333"/>
              </a:solidFill>
              <a:effectLst/>
              <a:latin typeface="Helvetica Neue"/>
            </a:endParaRPr>
          </a:p>
          <a:p>
            <a:pPr>
              <a:buFont typeface="+mj-lt"/>
              <a:buAutoNum type="arabicPeriod" startAt="2"/>
            </a:pPr>
            <a:r>
              <a:rPr lang="zh-CN" altLang="en-US" sz="1600" b="0" i="0" dirty="0">
                <a:solidFill>
                  <a:srgbClr val="333333"/>
                </a:solidFill>
                <a:effectLst/>
                <a:latin typeface="Helvetica Neue"/>
              </a:rPr>
              <a:t>回归任务的损失函数</a:t>
            </a:r>
            <a:endParaRPr lang="en-US" altLang="zh-CN" sz="1600" b="0" i="0" dirty="0">
              <a:solidFill>
                <a:srgbClr val="333333"/>
              </a:solidFill>
              <a:effectLst/>
              <a:latin typeface="Helvetica Neue"/>
            </a:endParaRPr>
          </a:p>
          <a:p>
            <a:pPr marL="285750" indent="-285750">
              <a:buFont typeface="Wingdings" panose="05000000000000000000" pitchFamily="2" charset="2"/>
              <a:buChar char="l"/>
            </a:pPr>
            <a:r>
              <a:rPr lang="en-US" altLang="zh-CN" sz="1600" b="0" i="0" dirty="0">
                <a:solidFill>
                  <a:srgbClr val="333333"/>
                </a:solidFill>
                <a:effectLst/>
                <a:latin typeface="Helvetica Neue"/>
              </a:rPr>
              <a:t>MAE</a:t>
            </a: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MSE</a:t>
            </a:r>
            <a:r>
              <a:rPr lang="zh-CN" altLang="en-US" sz="1600" b="0" i="0" dirty="0">
                <a:solidFill>
                  <a:srgbClr val="333333"/>
                </a:solidFill>
                <a:effectLst/>
                <a:latin typeface="Helvetica Neue"/>
              </a:rPr>
              <a:t>，</a:t>
            </a:r>
            <a:r>
              <a:rPr lang="en-US" altLang="zh-CN" sz="1600" b="0" i="0" dirty="0">
                <a:solidFill>
                  <a:srgbClr val="333333"/>
                </a:solidFill>
                <a:effectLst/>
                <a:latin typeface="Helvetica Neue"/>
              </a:rPr>
              <a:t>smooth L1</a:t>
            </a:r>
            <a:r>
              <a:rPr lang="zh-CN" altLang="en-US" sz="1600" b="0" i="0" dirty="0">
                <a:solidFill>
                  <a:srgbClr val="333333"/>
                </a:solidFill>
                <a:effectLst/>
                <a:latin typeface="Helvetica Neue"/>
              </a:rPr>
              <a:t>损失函数</a:t>
            </a:r>
            <a:endParaRPr lang="zh-CN" altLang="en-US" sz="1600" b="0" i="0" dirty="0">
              <a:solidFill>
                <a:srgbClr val="333333"/>
              </a:solidFill>
              <a:effectLst/>
              <a:latin typeface="Helvetica Neu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olidFill>
                  <a:srgbClr val="C00000"/>
                </a:solidFill>
                <a:sym typeface="+mn-ea"/>
              </a:rPr>
              <a:t>网络优化方法</a:t>
            </a:r>
            <a:endParaRPr kumimoji="1" lang="en-US" altLang="zh-CN" sz="1600" dirty="0">
              <a:solidFill>
                <a:srgbClr val="C00000"/>
              </a:solidFill>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56674" y="3223894"/>
            <a:ext cx="410210" cy="41021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dirty="0">
                <a:solidFill>
                  <a:schemeClr val="tx1"/>
                </a:solidFill>
              </a:rPr>
              <a:t>知道梯度下降算法</a:t>
            </a:r>
            <a:endParaRPr lang="en-US" altLang="zh-CN" dirty="0">
              <a:solidFill>
                <a:schemeClr val="tx1"/>
              </a:solidFill>
            </a:endParaRPr>
          </a:p>
          <a:p>
            <a:r>
              <a:rPr lang="zh-CN" altLang="en-US" dirty="0">
                <a:solidFill>
                  <a:schemeClr val="tx1"/>
                </a:solidFill>
              </a:rPr>
              <a:t>知道网络训练过程中的</a:t>
            </a:r>
            <a:r>
              <a:rPr lang="en-US" altLang="zh-CN" dirty="0">
                <a:solidFill>
                  <a:schemeClr val="tx1"/>
                </a:solidFill>
              </a:rPr>
              <a:t>epoch,</a:t>
            </a:r>
            <a:r>
              <a:rPr lang="zh-CN" altLang="en-US" dirty="0">
                <a:solidFill>
                  <a:schemeClr val="tx1"/>
                </a:solidFill>
              </a:rPr>
              <a:t> </a:t>
            </a:r>
            <a:r>
              <a:rPr lang="en-US" altLang="zh-CN" dirty="0" err="1">
                <a:solidFill>
                  <a:schemeClr val="tx1"/>
                </a:solidFill>
              </a:rPr>
              <a:t>batch,iter</a:t>
            </a:r>
            <a:endParaRPr lang="en-US" altLang="zh-CN" dirty="0">
              <a:solidFill>
                <a:schemeClr val="tx1"/>
              </a:solidFill>
            </a:endParaRPr>
          </a:p>
          <a:p>
            <a:r>
              <a:rPr lang="zh-CN" altLang="en-US" b="0" i="0" dirty="0">
                <a:solidFill>
                  <a:srgbClr val="333333"/>
                </a:solidFill>
                <a:effectLst/>
                <a:latin typeface="Helvetica Neue"/>
              </a:rPr>
              <a:t>了解反向传播算法过程</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知道梯度下降的优化方法</a:t>
            </a:r>
            <a:endParaRPr lang="en-US" altLang="zh-CN" b="0" i="0" dirty="0">
              <a:solidFill>
                <a:srgbClr val="333333"/>
              </a:solidFill>
              <a:effectLst/>
              <a:latin typeface="Helvetica Neue"/>
            </a:endParaRPr>
          </a:p>
          <a:p>
            <a:r>
              <a:rPr lang="zh-CN" altLang="en-US" dirty="0">
                <a:solidFill>
                  <a:srgbClr val="333333"/>
                </a:solidFill>
                <a:latin typeface="Helvetica Neue"/>
              </a:rPr>
              <a:t>知道学习率优化策略</a:t>
            </a:r>
            <a:endParaRPr lang="zh-CN" altLang="en-US" b="0" i="0" dirty="0">
              <a:solidFill>
                <a:srgbClr val="333333"/>
              </a:solidFill>
              <a:effectLst/>
              <a:latin typeface="Helvetica Neue"/>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梯度下降法</a:t>
            </a:r>
            <a:r>
              <a:rPr lang="zh-CN" altLang="en-US" b="0" i="0" dirty="0">
                <a:solidFill>
                  <a:srgbClr val="333333"/>
                </a:solidFill>
                <a:effectLst/>
                <a:latin typeface="Helvetica Neue"/>
              </a:rPr>
              <a:t>是一种</a:t>
            </a:r>
            <a:r>
              <a:rPr lang="zh-CN" altLang="en-US" b="1" i="0" dirty="0">
                <a:solidFill>
                  <a:srgbClr val="333333"/>
                </a:solidFill>
                <a:effectLst/>
                <a:latin typeface="Helvetica Neue"/>
              </a:rPr>
              <a:t>寻找使损失函数最小化的方法</a:t>
            </a:r>
            <a:r>
              <a:rPr lang="zh-CN" altLang="en-US" b="0" i="0" dirty="0">
                <a:solidFill>
                  <a:srgbClr val="333333"/>
                </a:solidFill>
                <a:effectLst/>
                <a:latin typeface="Helvetica Neue"/>
              </a:rPr>
              <a:t>。从数学角度来看，</a:t>
            </a:r>
            <a:r>
              <a:rPr lang="zh-CN" altLang="en-US" b="1" i="0" dirty="0">
                <a:solidFill>
                  <a:srgbClr val="333333"/>
                </a:solidFill>
                <a:effectLst/>
                <a:latin typeface="Helvetica Neue"/>
              </a:rPr>
              <a:t>梯度的方向是函数增长速度最快的方向，那么梯度的反方向就是函数减少最快的方向</a:t>
            </a:r>
            <a:r>
              <a:rPr lang="zh-CN" altLang="en-US" b="0" i="0" dirty="0">
                <a:solidFill>
                  <a:srgbClr val="333333"/>
                </a:solidFill>
                <a:effectLst/>
                <a:latin typeface="Helvetica Neue"/>
              </a:rPr>
              <a:t>，所以有：</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其中，</a:t>
            </a:r>
            <a:r>
              <a:rPr lang="en-US" altLang="zh-CN" b="0" i="0" dirty="0">
                <a:solidFill>
                  <a:srgbClr val="333333"/>
                </a:solidFill>
                <a:effectLst/>
                <a:latin typeface="Helvetica Neue"/>
              </a:rPr>
              <a:t>η</a:t>
            </a:r>
            <a:r>
              <a:rPr lang="zh-CN" altLang="en-US" b="0" i="0" dirty="0">
                <a:solidFill>
                  <a:srgbClr val="333333"/>
                </a:solidFill>
                <a:effectLst/>
                <a:latin typeface="Helvetica Neue"/>
              </a:rPr>
              <a:t>是学习率，如果学习率太小，那么每次训练之后得到的效果都太小，增大训练的时间成本。如果，学习率太大，那就有可能直接跳过最优解，进入无限的训练中。解决的方法就是，学习率也需要随着训练的进行而变化。</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3741789" y="2360320"/>
            <a:ext cx="3407872" cy="986757"/>
          </a:xfrm>
          <a:prstGeom prst="rect">
            <a:avLst/>
          </a:prstGeom>
        </p:spPr>
      </p:pic>
      <p:pic>
        <p:nvPicPr>
          <p:cNvPr id="7" name="图片 6"/>
          <p:cNvPicPr>
            <a:picLocks noChangeAspect="1"/>
          </p:cNvPicPr>
          <p:nvPr/>
        </p:nvPicPr>
        <p:blipFill>
          <a:blip r:embed="rId2"/>
          <a:stretch>
            <a:fillRect/>
          </a:stretch>
        </p:blipFill>
        <p:spPr>
          <a:xfrm>
            <a:off x="2938805" y="4497680"/>
            <a:ext cx="5906012" cy="1806097"/>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在进行模型训练时，有三个基础的概念：</a:t>
            </a:r>
            <a:endParaRPr lang="zh-CN" altLang="en-US" b="0" i="0" dirty="0">
              <a:solidFill>
                <a:srgbClr val="333333"/>
              </a:solidFill>
              <a:effectLst/>
              <a:latin typeface="Helvetica Neue"/>
            </a:endParaRPr>
          </a:p>
          <a:p>
            <a:pPr marL="342900" indent="-342900" algn="l">
              <a:buFont typeface="+mj-lt"/>
              <a:buAutoNum type="arabicPeriod"/>
            </a:pPr>
            <a:r>
              <a:rPr lang="en-US" altLang="zh-CN" b="1" i="0" dirty="0">
                <a:solidFill>
                  <a:srgbClr val="333333"/>
                </a:solidFill>
                <a:effectLst/>
                <a:latin typeface="Helvetica Neue"/>
              </a:rPr>
              <a:t>Epoch</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使用全部数据对模型进行一次完整训练，训练轮次</a:t>
            </a:r>
            <a:endParaRPr lang="en-US" altLang="zh-CN" b="0" i="0" dirty="0">
              <a:solidFill>
                <a:srgbClr val="333333"/>
              </a:solidFill>
              <a:effectLst/>
              <a:latin typeface="Helvetica Neue"/>
            </a:endParaRPr>
          </a:p>
          <a:p>
            <a:pPr marL="342900" indent="-342900" algn="l">
              <a:buFont typeface="+mj-lt"/>
              <a:buAutoNum type="arabicPeriod"/>
            </a:pPr>
            <a:r>
              <a:rPr lang="en-US" altLang="zh-CN" b="1" i="0" dirty="0" err="1">
                <a:solidFill>
                  <a:srgbClr val="333333"/>
                </a:solidFill>
                <a:effectLst/>
                <a:latin typeface="Helvetica Neue"/>
              </a:rPr>
              <a:t>Batch_size</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使用训练集中的小部分样本对模型权重进行以此反向传播的参数更新，每次训练每批次样本数量</a:t>
            </a:r>
            <a:endParaRPr lang="en-US" altLang="zh-CN" b="0" i="0" dirty="0">
              <a:solidFill>
                <a:srgbClr val="333333"/>
              </a:solidFill>
              <a:effectLst/>
              <a:latin typeface="Helvetica Neue"/>
            </a:endParaRPr>
          </a:p>
          <a:p>
            <a:pPr marL="342900" indent="-342900" algn="l">
              <a:buFont typeface="+mj-lt"/>
              <a:buAutoNum type="arabicPeriod"/>
            </a:pPr>
            <a:r>
              <a:rPr lang="en-US" altLang="zh-CN" b="1" i="0" dirty="0">
                <a:solidFill>
                  <a:srgbClr val="333333"/>
                </a:solidFill>
                <a:effectLst/>
                <a:latin typeface="Helvetica Neue"/>
              </a:rPr>
              <a:t>Iteration</a:t>
            </a:r>
            <a:r>
              <a:rPr lang="en-US" altLang="zh-CN" b="0" i="0" dirty="0">
                <a:solidFill>
                  <a:srgbClr val="333333"/>
                </a:solidFill>
                <a:effectLst/>
                <a:latin typeface="Helvetica Neue"/>
              </a:rPr>
              <a:t>: </a:t>
            </a:r>
            <a:r>
              <a:rPr lang="zh-CN" altLang="en-US" b="0" i="0" dirty="0">
                <a:solidFill>
                  <a:srgbClr val="333333"/>
                </a:solidFill>
                <a:effectLst/>
                <a:latin typeface="Helvetica Neue"/>
              </a:rPr>
              <a:t>使用一个 </a:t>
            </a:r>
            <a:r>
              <a:rPr lang="en-US" altLang="zh-CN" b="0" i="0" dirty="0">
                <a:solidFill>
                  <a:srgbClr val="333333"/>
                </a:solidFill>
                <a:effectLst/>
                <a:latin typeface="Helvetica Neue"/>
              </a:rPr>
              <a:t>Batch </a:t>
            </a:r>
            <a:r>
              <a:rPr lang="zh-CN" altLang="en-US" b="0" i="0" dirty="0">
                <a:solidFill>
                  <a:srgbClr val="333333"/>
                </a:solidFill>
                <a:effectLst/>
                <a:latin typeface="Helvetica Neue"/>
              </a:rPr>
              <a:t>数据对模型进行一次参数更新的过程</a:t>
            </a:r>
            <a:endParaRPr lang="en-US" altLang="zh-CN" b="0" i="0" dirty="0">
              <a:solidFill>
                <a:srgbClr val="333333"/>
              </a:solidFill>
              <a:effectLst/>
              <a:latin typeface="Helvetica Neue"/>
            </a:endParaRPr>
          </a:p>
          <a:p>
            <a:pPr marL="342900" indent="-342900" algn="l">
              <a:buFont typeface="+mj-lt"/>
              <a:buAutoNum type="arabicPeriod"/>
            </a:pPr>
            <a:endParaRPr lang="en-US" altLang="zh-CN" dirty="0">
              <a:solidFill>
                <a:srgbClr val="333333"/>
              </a:solidFill>
              <a:latin typeface="Helvetica Neue"/>
            </a:endParaRPr>
          </a:p>
          <a:p>
            <a:pPr algn="l"/>
            <a:r>
              <a:rPr lang="zh-CN" altLang="en-US" b="0" i="0" dirty="0">
                <a:effectLst/>
                <a:latin typeface="Roboto" panose="02000000000000000000" pitchFamily="2" charset="0"/>
              </a:rPr>
              <a:t>假设数据集有 </a:t>
            </a:r>
            <a:r>
              <a:rPr lang="en-US" altLang="zh-CN" b="0" i="0" dirty="0">
                <a:effectLst/>
                <a:latin typeface="Roboto" panose="02000000000000000000" pitchFamily="2" charset="0"/>
              </a:rPr>
              <a:t>50000 </a:t>
            </a:r>
            <a:r>
              <a:rPr lang="zh-CN" altLang="en-US" b="0" i="0" dirty="0">
                <a:effectLst/>
                <a:latin typeface="Roboto" panose="02000000000000000000" pitchFamily="2" charset="0"/>
              </a:rPr>
              <a:t>个训练样本，现在选择 </a:t>
            </a:r>
            <a:r>
              <a:rPr lang="en-GB" altLang="zh-CN" b="0" i="0" dirty="0">
                <a:effectLst/>
                <a:latin typeface="Roboto" panose="02000000000000000000" pitchFamily="2" charset="0"/>
              </a:rPr>
              <a:t>Batch Size = 256 </a:t>
            </a:r>
            <a:r>
              <a:rPr lang="zh-CN" altLang="en-US" b="0" i="0" dirty="0">
                <a:effectLst/>
                <a:latin typeface="Roboto" panose="02000000000000000000" pitchFamily="2" charset="0"/>
              </a:rPr>
              <a:t>对模型进行训练。</a:t>
            </a:r>
            <a:endParaRPr lang="zh-CN" altLang="en-US" b="0" i="0" dirty="0">
              <a:effectLst/>
              <a:latin typeface="Roboto" panose="02000000000000000000" pitchFamily="2" charset="0"/>
            </a:endParaRPr>
          </a:p>
          <a:p>
            <a:pPr algn="l"/>
            <a:r>
              <a:rPr lang="zh-CN" altLang="en-US" b="0" i="0" dirty="0">
                <a:effectLst/>
                <a:latin typeface="Roboto" panose="02000000000000000000" pitchFamily="2" charset="0"/>
              </a:rPr>
              <a:t>每个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要训练的图片数量：</a:t>
            </a:r>
            <a:r>
              <a:rPr lang="en-US" altLang="zh-CN" b="0" i="0" dirty="0">
                <a:effectLst/>
                <a:latin typeface="Roboto" panose="02000000000000000000" pitchFamily="2" charset="0"/>
              </a:rPr>
              <a:t>50000 </a:t>
            </a:r>
            <a:endParaRPr lang="en-US" altLang="zh-CN" b="0" i="0" dirty="0">
              <a:effectLst/>
              <a:latin typeface="Roboto" panose="02000000000000000000" pitchFamily="2" charset="0"/>
            </a:endParaRPr>
          </a:p>
          <a:p>
            <a:pPr algn="l"/>
            <a:r>
              <a:rPr lang="zh-CN" altLang="en-US" b="0" i="0" dirty="0">
                <a:effectLst/>
                <a:latin typeface="Roboto" panose="02000000000000000000" pitchFamily="2" charset="0"/>
              </a:rPr>
              <a:t>训练集具有的 </a:t>
            </a:r>
            <a:r>
              <a:rPr lang="en-GB" altLang="zh-CN" b="0" i="0" dirty="0">
                <a:effectLst/>
                <a:latin typeface="Roboto" panose="02000000000000000000" pitchFamily="2" charset="0"/>
              </a:rPr>
              <a:t>Batch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50000/256+1=196</a:t>
            </a:r>
            <a:endParaRPr lang="en-US" altLang="zh-CN" b="0" i="0" dirty="0">
              <a:effectLst/>
              <a:latin typeface="Roboto" panose="02000000000000000000" pitchFamily="2" charset="0"/>
            </a:endParaRPr>
          </a:p>
          <a:p>
            <a:pPr algn="l"/>
            <a:r>
              <a:rPr lang="en-US" altLang="zh-CN" b="0" i="0" dirty="0">
                <a:effectLst/>
                <a:latin typeface="Roboto" panose="02000000000000000000" pitchFamily="2" charset="0"/>
              </a:rPr>
              <a:t> </a:t>
            </a:r>
            <a:r>
              <a:rPr lang="zh-CN" altLang="en-US" b="0" i="0" dirty="0">
                <a:effectLst/>
                <a:latin typeface="Roboto" panose="02000000000000000000" pitchFamily="2" charset="0"/>
              </a:rPr>
              <a:t>每个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具有的 </a:t>
            </a:r>
            <a:r>
              <a:rPr lang="en-GB" altLang="zh-CN" b="0" i="0" dirty="0">
                <a:effectLst/>
                <a:latin typeface="Roboto" panose="02000000000000000000" pitchFamily="2" charset="0"/>
              </a:rPr>
              <a:t>Iteration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196 </a:t>
            </a:r>
            <a:endParaRPr lang="en-US" altLang="zh-CN" b="0" i="0" dirty="0">
              <a:effectLst/>
              <a:latin typeface="Roboto" panose="02000000000000000000" pitchFamily="2" charset="0"/>
            </a:endParaRPr>
          </a:p>
          <a:p>
            <a:pPr algn="l"/>
            <a:r>
              <a:rPr lang="en-US" altLang="zh-CN" b="0" i="0" dirty="0">
                <a:effectLst/>
                <a:latin typeface="Roboto" panose="02000000000000000000" pitchFamily="2" charset="0"/>
              </a:rPr>
              <a:t>10</a:t>
            </a:r>
            <a:r>
              <a:rPr lang="zh-CN" altLang="en-US" b="0" i="0" dirty="0">
                <a:effectLst/>
                <a:latin typeface="Roboto" panose="02000000000000000000" pitchFamily="2" charset="0"/>
              </a:rPr>
              <a:t>个 </a:t>
            </a:r>
            <a:r>
              <a:rPr lang="en-GB" altLang="zh-CN" b="0" i="0" dirty="0">
                <a:effectLst/>
                <a:latin typeface="Roboto" panose="02000000000000000000" pitchFamily="2" charset="0"/>
              </a:rPr>
              <a:t>Epoch </a:t>
            </a:r>
            <a:r>
              <a:rPr lang="zh-CN" altLang="en-US" b="0" i="0" dirty="0">
                <a:effectLst/>
                <a:latin typeface="Roboto" panose="02000000000000000000" pitchFamily="2" charset="0"/>
              </a:rPr>
              <a:t>具有的 </a:t>
            </a:r>
            <a:r>
              <a:rPr lang="en-GB" altLang="zh-CN" b="0" i="0" dirty="0">
                <a:effectLst/>
                <a:latin typeface="Roboto" panose="02000000000000000000" pitchFamily="2" charset="0"/>
              </a:rPr>
              <a:t>Iteration </a:t>
            </a:r>
            <a:r>
              <a:rPr lang="zh-CN" altLang="en-US" b="0" i="0" dirty="0">
                <a:effectLst/>
                <a:latin typeface="Roboto" panose="02000000000000000000" pitchFamily="2" charset="0"/>
              </a:rPr>
              <a:t>个数：</a:t>
            </a:r>
            <a:r>
              <a:rPr lang="en-US" altLang="zh-CN" b="0" i="0" dirty="0">
                <a:effectLst/>
                <a:latin typeface="Roboto" panose="02000000000000000000" pitchFamily="2" charset="0"/>
              </a:rPr>
              <a:t>1960</a:t>
            </a:r>
            <a:endParaRPr lang="en-US" altLang="zh-CN" b="0" i="0" dirty="0">
              <a:effectLst/>
              <a:latin typeface="Roboto" panose="02000000000000000000" pitchFamily="2" charset="0"/>
            </a:endParaRPr>
          </a:p>
          <a:p>
            <a:pPr algn="l"/>
            <a:endParaRPr lang="zh-CN" altLang="en-US" b="1" i="0" dirty="0">
              <a:solidFill>
                <a:srgbClr val="333333"/>
              </a:solidFill>
              <a:effectLst/>
              <a:latin typeface="Helvetica Neue"/>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梯度下降算法回顾</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在深度学习中，梯度下降的几种方式的根本区别就在于 </a:t>
            </a:r>
            <a:r>
              <a:rPr lang="en-US" altLang="zh-CN" b="1" i="0" dirty="0">
                <a:solidFill>
                  <a:srgbClr val="333333"/>
                </a:solidFill>
                <a:effectLst/>
                <a:latin typeface="Helvetica Neue"/>
              </a:rPr>
              <a:t>Batch Size</a:t>
            </a:r>
            <a:r>
              <a:rPr lang="zh-CN" altLang="en-US" b="1" i="0" dirty="0">
                <a:solidFill>
                  <a:srgbClr val="333333"/>
                </a:solidFill>
                <a:effectLst/>
                <a:latin typeface="Helvetica Neue"/>
              </a:rPr>
              <a:t>不同</a:t>
            </a:r>
            <a:r>
              <a:rPr lang="en-US" altLang="zh-CN" b="0" i="0" dirty="0">
                <a:solidFill>
                  <a:srgbClr val="333333"/>
                </a:solidFill>
                <a:effectLst/>
                <a:latin typeface="Helvetica Neue"/>
              </a:rPr>
              <a:t>,</a:t>
            </a:r>
            <a:r>
              <a:rPr lang="zh-CN" altLang="en-US" b="0" i="0" dirty="0">
                <a:solidFill>
                  <a:srgbClr val="333333"/>
                </a:solidFill>
                <a:effectLst/>
                <a:latin typeface="Helvetica Neue"/>
              </a:rPr>
              <a:t>如下表所示：</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注：上表中 </a:t>
            </a:r>
            <a:r>
              <a:rPr lang="en-US" altLang="zh-CN" b="0" i="0" dirty="0">
                <a:solidFill>
                  <a:srgbClr val="333333"/>
                </a:solidFill>
                <a:effectLst/>
                <a:latin typeface="Helvetica Neue"/>
              </a:rPr>
              <a:t>Mini-Batch </a:t>
            </a:r>
            <a:r>
              <a:rPr lang="zh-CN" altLang="en-US" b="0" i="0" dirty="0">
                <a:solidFill>
                  <a:srgbClr val="333333"/>
                </a:solidFill>
                <a:effectLst/>
                <a:latin typeface="Helvetica Neue"/>
              </a:rPr>
              <a:t>的 </a:t>
            </a:r>
            <a:r>
              <a:rPr lang="en-US" altLang="zh-CN" b="0" i="0" dirty="0">
                <a:solidFill>
                  <a:srgbClr val="333333"/>
                </a:solidFill>
                <a:effectLst/>
                <a:latin typeface="Helvetica Neue"/>
              </a:rPr>
              <a:t>Batch </a:t>
            </a:r>
            <a:r>
              <a:rPr lang="zh-CN" altLang="en-US" b="0" i="0" dirty="0">
                <a:solidFill>
                  <a:srgbClr val="333333"/>
                </a:solidFill>
                <a:effectLst/>
                <a:latin typeface="Helvetica Neue"/>
              </a:rPr>
              <a:t>个数为 </a:t>
            </a:r>
            <a:r>
              <a:rPr lang="en-US" altLang="zh-CN" b="0" i="0" dirty="0">
                <a:solidFill>
                  <a:srgbClr val="333333"/>
                </a:solidFill>
                <a:effectLst/>
                <a:latin typeface="Helvetica Neue"/>
              </a:rPr>
              <a:t>N / B + 1 </a:t>
            </a:r>
            <a:r>
              <a:rPr lang="zh-CN" altLang="en-US" b="0" i="0" dirty="0">
                <a:solidFill>
                  <a:srgbClr val="333333"/>
                </a:solidFill>
                <a:effectLst/>
                <a:latin typeface="Helvetica Neue"/>
              </a:rPr>
              <a:t>是针对未整除的情况。整除则是 </a:t>
            </a:r>
            <a:r>
              <a:rPr lang="en-US" altLang="zh-CN" b="0" i="0" dirty="0">
                <a:solidFill>
                  <a:srgbClr val="333333"/>
                </a:solidFill>
                <a:effectLst/>
                <a:latin typeface="Helvetica Neue"/>
              </a:rPr>
              <a:t>N / B</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1140632" y="2271641"/>
            <a:ext cx="7643600" cy="1888879"/>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35144" y="868680"/>
            <a:ext cx="5760538" cy="4511040"/>
          </a:xfrm>
        </p:spPr>
        <p:txBody>
          <a:bodyPr/>
          <a:lstStyle/>
          <a:p>
            <a:pPr marL="0" indent="0">
              <a:buNone/>
            </a:pPr>
            <a:r>
              <a:rPr kumimoji="1" lang="en-US" altLang="zh-CN" dirty="0"/>
              <a:t>1</a:t>
            </a:r>
            <a:r>
              <a:rPr kumimoji="1" lang="zh-CN" altLang="en-US" dirty="0"/>
              <a:t>、梯度下降算法的思想</a:t>
            </a:r>
            <a:endParaRPr kumimoji="1" lang="en-US" altLang="zh-CN" dirty="0"/>
          </a:p>
          <a:p>
            <a:pPr marL="0" indent="0">
              <a:buNone/>
            </a:pPr>
            <a:r>
              <a:rPr kumimoji="1" lang="zh-CN" altLang="en-US" dirty="0"/>
              <a:t>网络优化，使损失函数最小的方法</a:t>
            </a:r>
            <a:endParaRPr kumimoji="1" lang="en-US" altLang="zh-CN" dirty="0"/>
          </a:p>
          <a:p>
            <a:pPr marL="0" indent="0">
              <a:buNone/>
            </a:pPr>
            <a:r>
              <a:rPr kumimoji="1" lang="en-US" altLang="zh-CN" dirty="0"/>
              <a:t>2</a:t>
            </a:r>
            <a:r>
              <a:rPr kumimoji="1" lang="zh-CN" altLang="en-US" dirty="0"/>
              <a:t>、网络训练中的三个概念</a:t>
            </a:r>
            <a:endParaRPr kumimoji="1" lang="en-US" altLang="zh-CN" dirty="0"/>
          </a:p>
          <a:p>
            <a:pPr marL="0" indent="0">
              <a:buNone/>
            </a:pPr>
            <a:r>
              <a:rPr kumimoji="1" lang="en-US" altLang="zh-CN" dirty="0" err="1"/>
              <a:t>Epoch,batch,iter</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Alibaba PuHuiTi" pitchFamily="18" charset="-122"/>
                <a:ea typeface="Alibaba PuHuiTi" pitchFamily="18" charset="-122"/>
                <a:cs typeface="Alibaba PuHuiTi" pitchFamily="18" charset="-122"/>
              </a:rPr>
              <a:t>前向传播</a:t>
            </a:r>
            <a:r>
              <a:rPr lang="zh-CN" altLang="en-US" b="0" i="0" dirty="0">
                <a:solidFill>
                  <a:srgbClr val="333333"/>
                </a:solidFill>
                <a:effectLst/>
                <a:latin typeface="Alibaba PuHuiTi" pitchFamily="18" charset="-122"/>
                <a:ea typeface="Alibaba PuHuiTi" pitchFamily="18" charset="-122"/>
                <a:cs typeface="Alibaba PuHuiTi" pitchFamily="18" charset="-122"/>
              </a:rPr>
              <a:t>：指的是数据输入到神经网络中，逐层向前传输，一直运算到输出层为止。</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r>
              <a:rPr lang="zh-CN" altLang="en-US" b="1" dirty="0">
                <a:solidFill>
                  <a:srgbClr val="333333"/>
                </a:solidFill>
                <a:latin typeface="Alibaba PuHuiTi" pitchFamily="18" charset="-122"/>
                <a:ea typeface="Alibaba PuHuiTi" pitchFamily="18" charset="-122"/>
                <a:cs typeface="Alibaba PuHuiTi" pitchFamily="18" charset="-122"/>
              </a:rPr>
              <a:t>反向传播（</a:t>
            </a:r>
            <a:r>
              <a:rPr lang="en-GB" altLang="zh-CN" b="0" i="0" dirty="0">
                <a:effectLst/>
                <a:latin typeface="Alibaba PuHuiTi" pitchFamily="18" charset="-122"/>
                <a:ea typeface="Alibaba PuHuiTi" pitchFamily="18" charset="-122"/>
                <a:cs typeface="Alibaba PuHuiTi" pitchFamily="18" charset="-122"/>
              </a:rPr>
              <a:t>Back Propagation</a:t>
            </a:r>
            <a:r>
              <a:rPr lang="zh-CN" altLang="en-US" b="1"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利用</a:t>
            </a:r>
            <a:r>
              <a:rPr lang="zh-CN" altLang="en-US" i="0" dirty="0">
                <a:solidFill>
                  <a:srgbClr val="333333"/>
                </a:solidFill>
                <a:effectLst/>
                <a:latin typeface="Alibaba PuHuiTi" pitchFamily="18" charset="-122"/>
                <a:ea typeface="Alibaba PuHuiTi" pitchFamily="18" charset="-122"/>
                <a:cs typeface="Alibaba PuHuiTi" pitchFamily="18" charset="-122"/>
              </a:rPr>
              <a:t>损失函数 </a:t>
            </a:r>
            <a:r>
              <a:rPr lang="en-US" altLang="zh-CN" i="0" dirty="0">
                <a:solidFill>
                  <a:srgbClr val="333333"/>
                </a:solidFill>
                <a:effectLst/>
                <a:latin typeface="Alibaba PuHuiTi" pitchFamily="18" charset="-122"/>
                <a:ea typeface="Alibaba PuHuiTi" pitchFamily="18" charset="-122"/>
                <a:cs typeface="Alibaba PuHuiTi" pitchFamily="18" charset="-122"/>
              </a:rPr>
              <a:t>ERROR</a:t>
            </a:r>
            <a:r>
              <a:rPr lang="zh-CN" altLang="en-US" i="0" dirty="0">
                <a:solidFill>
                  <a:srgbClr val="333333"/>
                </a:solidFill>
                <a:effectLst/>
                <a:latin typeface="Alibaba PuHuiTi" pitchFamily="18" charset="-122"/>
                <a:ea typeface="Alibaba PuHuiTi" pitchFamily="18" charset="-122"/>
                <a:cs typeface="Alibaba PuHuiTi" pitchFamily="18" charset="-122"/>
              </a:rPr>
              <a:t>值，从后往前，结合梯度下降算法，依次求各个参数的偏导，并进行参数更新</a:t>
            </a:r>
            <a:endParaRPr lang="zh-CN" altLang="en-US"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788462" y="2739458"/>
            <a:ext cx="5834103" cy="349438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反向传播算法</a:t>
            </a:r>
            <a:r>
              <a:rPr lang="zh-CN" altLang="en-US" b="1"/>
              <a:t>利用链式法则</a:t>
            </a:r>
            <a:r>
              <a:rPr lang="zh-CN" altLang="en-US" b="1" i="0" dirty="0">
                <a:solidFill>
                  <a:srgbClr val="333333"/>
                </a:solidFill>
                <a:effectLst/>
                <a:latin typeface="Helvetica Neue"/>
              </a:rPr>
              <a:t>对神经网络中的各个节点的权重进行更新</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r>
              <a:rPr lang="zh-CN" altLang="en-US"/>
              <a:t>如下图是一个简单的神经网络用来举例</a:t>
            </a:r>
            <a:r>
              <a:rPr lang="zh-CN" altLang="en-US" b="0" i="0" dirty="0">
                <a:solidFill>
                  <a:srgbClr val="333333"/>
                </a:solidFill>
                <a:effectLst/>
                <a:latin typeface="Helvetica Neue"/>
              </a:rPr>
              <a:t>：激活函数为</a:t>
            </a:r>
            <a:r>
              <a:rPr lang="en-US" altLang="zh-CN" b="0" i="0" dirty="0">
                <a:solidFill>
                  <a:srgbClr val="333333"/>
                </a:solidFill>
                <a:effectLst/>
                <a:latin typeface="Helvetica Neue"/>
              </a:rPr>
              <a:t>sigmoid</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12" name="图片 11"/>
          <p:cNvPicPr>
            <a:picLocks noChangeAspect="1"/>
          </p:cNvPicPr>
          <p:nvPr/>
        </p:nvPicPr>
        <p:blipFill>
          <a:blip r:embed="rId1"/>
          <a:stretch>
            <a:fillRect/>
          </a:stretch>
        </p:blipFill>
        <p:spPr>
          <a:xfrm>
            <a:off x="2217955" y="2428881"/>
            <a:ext cx="5937504" cy="4210964"/>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前向传播运算过程</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608735" y="1371989"/>
            <a:ext cx="6668185" cy="5433971"/>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接下来是</a:t>
            </a:r>
            <a:r>
              <a:rPr lang="zh-CN" altLang="en-US" b="1" i="0" dirty="0">
                <a:solidFill>
                  <a:srgbClr val="333333"/>
                </a:solidFill>
                <a:effectLst/>
                <a:latin typeface="Helvetica Neue"/>
              </a:rPr>
              <a:t>反向传播，</a:t>
            </a:r>
            <a:r>
              <a:rPr lang="zh-CN" altLang="en-US" b="0" i="0" dirty="0">
                <a:solidFill>
                  <a:srgbClr val="333333"/>
                </a:solidFill>
                <a:effectLst/>
                <a:latin typeface="Helvetica Neue"/>
              </a:rPr>
              <a:t>我们先来求最简单的，求误差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的导数。要求误差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的导数，需要先求误差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out o1</a:t>
            </a:r>
            <a:r>
              <a:rPr lang="zh-CN" altLang="en-US" b="0" i="0" dirty="0">
                <a:solidFill>
                  <a:srgbClr val="333333"/>
                </a:solidFill>
                <a:effectLst/>
                <a:latin typeface="Helvetica Neue"/>
              </a:rPr>
              <a:t>的导数，再求</a:t>
            </a:r>
            <a:r>
              <a:rPr lang="en-US" altLang="zh-CN" b="0" i="0" dirty="0">
                <a:solidFill>
                  <a:srgbClr val="333333"/>
                </a:solidFill>
                <a:effectLst/>
                <a:latin typeface="Helvetica Neue"/>
              </a:rPr>
              <a:t>out o1</a:t>
            </a:r>
            <a:r>
              <a:rPr lang="zh-CN" altLang="en-US" b="0" i="0" dirty="0">
                <a:solidFill>
                  <a:srgbClr val="333333"/>
                </a:solidFill>
                <a:effectLst/>
                <a:latin typeface="Helvetica Neue"/>
              </a:rPr>
              <a:t>对</a:t>
            </a:r>
            <a:r>
              <a:rPr lang="en-US" altLang="zh-CN" b="0" i="0" dirty="0">
                <a:solidFill>
                  <a:srgbClr val="333333"/>
                </a:solidFill>
                <a:effectLst/>
                <a:latin typeface="Helvetica Neue"/>
              </a:rPr>
              <a:t>net o1</a:t>
            </a:r>
            <a:r>
              <a:rPr lang="zh-CN" altLang="en-US" b="0" i="0" dirty="0">
                <a:solidFill>
                  <a:srgbClr val="333333"/>
                </a:solidFill>
                <a:effectLst/>
                <a:latin typeface="Helvetica Neue"/>
              </a:rPr>
              <a:t>的导数，最后再求</a:t>
            </a:r>
            <a:r>
              <a:rPr lang="en-US" altLang="zh-CN" b="0" i="0" dirty="0">
                <a:solidFill>
                  <a:srgbClr val="333333"/>
                </a:solidFill>
                <a:effectLst/>
                <a:latin typeface="Helvetica Neue"/>
              </a:rPr>
              <a:t>net o1</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的导数，经过这个处理，我们就可以求出误差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w5</a:t>
            </a:r>
            <a:r>
              <a:rPr lang="zh-CN" altLang="en-US" b="0" i="0" dirty="0">
                <a:solidFill>
                  <a:srgbClr val="333333"/>
                </a:solidFill>
                <a:effectLst/>
                <a:latin typeface="Helvetica Neue"/>
              </a:rPr>
              <a:t>的导数（偏导），如下图所示：</a:t>
            </a:r>
            <a:endParaRPr lang="zh-CN" altLang="en-US" b="0" i="0" dirty="0">
              <a:solidFill>
                <a:srgbClr val="333333"/>
              </a:solidFill>
              <a:effectLst/>
              <a:latin typeface="Helvetica Neue"/>
            </a:endParaRPr>
          </a:p>
          <a:p>
            <a:pPr algn="l"/>
            <a:endParaRPr lang="zh-CN" altLang="en-US"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3095666" y="2605667"/>
            <a:ext cx="5314647" cy="4122587"/>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导数（梯度）已经计算出来了，下面就是</a:t>
            </a:r>
            <a:r>
              <a:rPr lang="zh-CN" altLang="en-US" b="1" i="0" dirty="0">
                <a:solidFill>
                  <a:srgbClr val="333333"/>
                </a:solidFill>
                <a:effectLst/>
                <a:latin typeface="Helvetica Neue"/>
              </a:rPr>
              <a:t>反向传播与参数更新过程</a:t>
            </a:r>
            <a:r>
              <a:rPr lang="zh-CN" altLang="en-US" b="0" i="0" dirty="0">
                <a:solidFill>
                  <a:srgbClr val="333333"/>
                </a:solidFill>
                <a:effectLst/>
                <a:latin typeface="Helvetica Neue"/>
              </a:rPr>
              <a:t>：</a:t>
            </a:r>
            <a:endParaRPr lang="zh-CN" altLang="en-US"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252475" y="1974461"/>
            <a:ext cx="6372541" cy="4456502"/>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b="1" i="0" dirty="0">
                <a:solidFill>
                  <a:srgbClr val="333333"/>
                </a:solidFill>
                <a:effectLst/>
                <a:latin typeface="Helvetica Neue"/>
              </a:rPr>
              <a:t>反向传播</a:t>
            </a:r>
            <a:r>
              <a:rPr lang="en-US" altLang="zh-CN" b="1" i="0" dirty="0">
                <a:solidFill>
                  <a:srgbClr val="333333"/>
                </a:solidFill>
                <a:effectLst/>
                <a:latin typeface="Helvetica Neue"/>
              </a:rPr>
              <a:t>(BP</a:t>
            </a:r>
            <a:r>
              <a:rPr lang="zh-CN" altLang="en-US" b="1" i="0" dirty="0">
                <a:solidFill>
                  <a:srgbClr val="333333"/>
                </a:solidFill>
                <a:effectLst/>
                <a:latin typeface="Helvetica Neue"/>
              </a:rPr>
              <a:t>算法</a:t>
            </a:r>
            <a:r>
              <a:rPr lang="en-US" altLang="zh-CN" b="1" i="0" dirty="0">
                <a:solidFill>
                  <a:srgbClr val="333333"/>
                </a:solidFill>
                <a:effectLst/>
                <a:latin typeface="Helvetica Neue"/>
              </a:rPr>
              <a:t>)[</a:t>
            </a:r>
            <a:r>
              <a:rPr lang="zh-CN" altLang="en-US" b="1" i="0" dirty="0">
                <a:solidFill>
                  <a:srgbClr val="333333"/>
                </a:solidFill>
                <a:effectLst/>
                <a:latin typeface="Helvetica Neue"/>
              </a:rPr>
              <a:t>了解</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r>
              <a:rPr lang="zh-CN" altLang="en-US" b="0" i="0" dirty="0">
                <a:solidFill>
                  <a:srgbClr val="333333"/>
                </a:solidFill>
                <a:effectLst/>
                <a:latin typeface="Helvetica Neue"/>
              </a:rPr>
              <a:t>如果要想求</a:t>
            </a:r>
            <a:r>
              <a:rPr lang="zh-CN" altLang="en-US" b="1" i="0" dirty="0">
                <a:solidFill>
                  <a:srgbClr val="333333"/>
                </a:solidFill>
                <a:effectLst/>
                <a:latin typeface="Helvetica Neue"/>
              </a:rPr>
              <a:t>误差</a:t>
            </a:r>
            <a:r>
              <a:rPr lang="en-US" altLang="zh-CN" b="1" i="0" dirty="0">
                <a:solidFill>
                  <a:srgbClr val="333333"/>
                </a:solidFill>
                <a:effectLst/>
                <a:latin typeface="Helvetica Neue"/>
              </a:rPr>
              <a:t>E</a:t>
            </a:r>
            <a:r>
              <a:rPr lang="zh-CN" altLang="en-US" b="1" i="0" dirty="0">
                <a:solidFill>
                  <a:srgbClr val="333333"/>
                </a:solidFill>
                <a:effectLst/>
                <a:latin typeface="Helvetica Neue"/>
              </a:rPr>
              <a:t>对</a:t>
            </a:r>
            <a:r>
              <a:rPr lang="en-US" altLang="zh-CN" b="1" i="0" dirty="0">
                <a:solidFill>
                  <a:srgbClr val="333333"/>
                </a:solidFill>
                <a:effectLst/>
                <a:latin typeface="Helvetica Neue"/>
              </a:rPr>
              <a:t>w1</a:t>
            </a:r>
            <a:r>
              <a:rPr lang="zh-CN" altLang="en-US" b="1" i="0" dirty="0">
                <a:solidFill>
                  <a:srgbClr val="333333"/>
                </a:solidFill>
                <a:effectLst/>
                <a:latin typeface="Helvetica Neue"/>
              </a:rPr>
              <a:t>的导数</a:t>
            </a:r>
            <a:r>
              <a:rPr lang="zh-CN" altLang="en-US" b="0" i="0" dirty="0">
                <a:solidFill>
                  <a:srgbClr val="333333"/>
                </a:solidFill>
                <a:effectLst/>
                <a:latin typeface="Helvetica Neue"/>
              </a:rPr>
              <a:t>，误差</a:t>
            </a:r>
            <a:r>
              <a:rPr lang="en-US" altLang="zh-CN" b="0" i="0" dirty="0">
                <a:solidFill>
                  <a:srgbClr val="333333"/>
                </a:solidFill>
                <a:effectLst/>
                <a:latin typeface="Helvetica Neue"/>
              </a:rPr>
              <a:t>E</a:t>
            </a:r>
            <a:r>
              <a:rPr lang="zh-CN" altLang="en-US" b="0" i="0" dirty="0">
                <a:solidFill>
                  <a:srgbClr val="333333"/>
                </a:solidFill>
                <a:effectLst/>
                <a:latin typeface="Helvetica Neue"/>
              </a:rPr>
              <a:t>对</a:t>
            </a:r>
            <a:r>
              <a:rPr lang="en-US" altLang="zh-CN" b="0" i="0" dirty="0">
                <a:solidFill>
                  <a:srgbClr val="333333"/>
                </a:solidFill>
                <a:effectLst/>
                <a:latin typeface="Helvetica Neue"/>
              </a:rPr>
              <a:t>w1</a:t>
            </a:r>
            <a:r>
              <a:rPr lang="zh-CN" altLang="en-US" b="0" i="0" dirty="0">
                <a:solidFill>
                  <a:srgbClr val="333333"/>
                </a:solidFill>
                <a:effectLst/>
                <a:latin typeface="Helvetica Neue"/>
              </a:rPr>
              <a:t>的求导路径不止一条，这会稍微复杂一点，但换汤不换药，计算过程如下所示：</a:t>
            </a:r>
            <a:endParaRPr lang="en-US" altLang="zh-CN" b="0"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288828" y="2042423"/>
            <a:ext cx="6311474" cy="4690404"/>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lang="zh-CN" altLang="en-US" dirty="0"/>
              <a:t>前向传播和反向传播是设么？</a:t>
            </a:r>
            <a:endParaRPr lang="en-US" altLang="zh-CN" dirty="0"/>
          </a:p>
          <a:p>
            <a:pPr marL="0" indent="0" algn="l">
              <a:buNone/>
            </a:pPr>
            <a:r>
              <a:rPr lang="zh-CN" altLang="en-US" b="1" i="0" dirty="0">
                <a:solidFill>
                  <a:srgbClr val="333333"/>
                </a:solidFill>
                <a:effectLst/>
                <a:latin typeface="Alibaba PuHuiTi" pitchFamily="18" charset="-122"/>
                <a:ea typeface="Alibaba PuHuiTi" pitchFamily="18" charset="-122"/>
                <a:cs typeface="Alibaba PuHuiTi" pitchFamily="18" charset="-122"/>
              </a:rPr>
              <a:t>前向传播</a:t>
            </a:r>
            <a:r>
              <a:rPr lang="zh-CN" altLang="en-US" b="0" i="0" dirty="0">
                <a:solidFill>
                  <a:srgbClr val="333333"/>
                </a:solidFill>
                <a:effectLst/>
                <a:latin typeface="Alibaba PuHuiTi" pitchFamily="18" charset="-122"/>
                <a:ea typeface="Alibaba PuHuiTi" pitchFamily="18" charset="-122"/>
                <a:cs typeface="Alibaba PuHuiTi" pitchFamily="18" charset="-122"/>
              </a:rPr>
              <a:t>：指的是数据输入的神经网络中，逐层向前传输，一直到运算到输出层为止。</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0" indent="0">
              <a:buNone/>
            </a:pPr>
            <a:r>
              <a:rPr lang="zh-CN" altLang="en-US" b="1" dirty="0">
                <a:solidFill>
                  <a:srgbClr val="333333"/>
                </a:solidFill>
                <a:latin typeface="Alibaba PuHuiTi" pitchFamily="18" charset="-122"/>
                <a:ea typeface="Alibaba PuHuiTi" pitchFamily="18" charset="-122"/>
                <a:cs typeface="Alibaba PuHuiTi" pitchFamily="18" charset="-122"/>
              </a:rPr>
              <a:t>反向传播（</a:t>
            </a:r>
            <a:r>
              <a:rPr lang="en-GB" altLang="zh-CN" b="0" i="0" dirty="0">
                <a:effectLst/>
                <a:latin typeface="Alibaba PuHuiTi" pitchFamily="18" charset="-122"/>
                <a:ea typeface="Alibaba PuHuiTi" pitchFamily="18" charset="-122"/>
                <a:cs typeface="Alibaba PuHuiTi" pitchFamily="18" charset="-122"/>
              </a:rPr>
              <a:t>Back Propagation</a:t>
            </a:r>
            <a:r>
              <a:rPr lang="zh-CN" altLang="en-US" b="1" dirty="0">
                <a:solidFill>
                  <a:srgbClr val="333333"/>
                </a:solidFill>
                <a:latin typeface="Alibaba PuHuiTi" pitchFamily="18" charset="-122"/>
                <a:ea typeface="Alibaba PuHuiTi" pitchFamily="18" charset="-122"/>
                <a:cs typeface="Alibaba PuHuiTi" pitchFamily="18" charset="-122"/>
              </a:rPr>
              <a:t>）：</a:t>
            </a:r>
            <a:r>
              <a:rPr lang="zh-CN" altLang="en-US" dirty="0">
                <a:solidFill>
                  <a:srgbClr val="333333"/>
                </a:solidFill>
                <a:latin typeface="Alibaba PuHuiTi" pitchFamily="18" charset="-122"/>
                <a:ea typeface="Alibaba PuHuiTi" pitchFamily="18" charset="-122"/>
                <a:cs typeface="Alibaba PuHuiTi" pitchFamily="18" charset="-122"/>
              </a:rPr>
              <a:t>利用</a:t>
            </a:r>
            <a:r>
              <a:rPr lang="zh-CN" altLang="en-US" i="0" dirty="0">
                <a:solidFill>
                  <a:srgbClr val="333333"/>
                </a:solidFill>
                <a:effectLst/>
                <a:latin typeface="Alibaba PuHuiTi" pitchFamily="18" charset="-122"/>
                <a:ea typeface="Alibaba PuHuiTi" pitchFamily="18" charset="-122"/>
                <a:cs typeface="Alibaba PuHuiTi" pitchFamily="18" charset="-122"/>
              </a:rPr>
              <a:t>损失函数 </a:t>
            </a:r>
            <a:r>
              <a:rPr lang="en-US" altLang="zh-CN" i="0" dirty="0">
                <a:solidFill>
                  <a:srgbClr val="333333"/>
                </a:solidFill>
                <a:effectLst/>
                <a:latin typeface="Alibaba PuHuiTi" pitchFamily="18" charset="-122"/>
                <a:ea typeface="Alibaba PuHuiTi" pitchFamily="18" charset="-122"/>
                <a:cs typeface="Alibaba PuHuiTi" pitchFamily="18" charset="-122"/>
              </a:rPr>
              <a:t>ERROR</a:t>
            </a:r>
            <a:r>
              <a:rPr lang="zh-CN" altLang="en-US" i="0" dirty="0">
                <a:solidFill>
                  <a:srgbClr val="333333"/>
                </a:solidFill>
                <a:effectLst/>
                <a:latin typeface="Alibaba PuHuiTi" pitchFamily="18" charset="-122"/>
                <a:ea typeface="Alibaba PuHuiTi" pitchFamily="18" charset="-122"/>
                <a:cs typeface="Alibaba PuHuiTi" pitchFamily="18" charset="-122"/>
              </a:rPr>
              <a:t>，从后往前，结合梯度下降算法，依次求各个参数的偏导，并进行参数更新</a:t>
            </a:r>
            <a:endParaRPr lang="zh-CN" altLang="en-US" i="0" dirty="0">
              <a:solidFill>
                <a:srgbClr val="333333"/>
              </a:solidFill>
              <a:effectLst/>
              <a:latin typeface="Alibaba PuHuiTi" pitchFamily="18" charset="-122"/>
              <a:ea typeface="Alibaba PuHuiTi" pitchFamily="18" charset="-122"/>
              <a:cs typeface="Alibaba PuHuiTi" pitchFamily="18" charset="-122"/>
            </a:endParaRPr>
          </a:p>
          <a:p>
            <a:pPr marL="0" indent="0">
              <a:buNone/>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梯度下降优化算法中，可能会碰到以下情况：</a:t>
            </a:r>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碰到平缓区域，梯度值较小，参数优化变慢</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 “鞍点” ，梯度为 </a:t>
            </a:r>
            <a:r>
              <a:rPr lang="en-US" altLang="zh-CN" b="0" i="0" dirty="0">
                <a:solidFill>
                  <a:srgbClr val="333333"/>
                </a:solidFill>
                <a:effectLst/>
                <a:latin typeface="Alibaba PuHuiTi" pitchFamily="18" charset="-122"/>
                <a:ea typeface="Alibaba PuHuiTi" pitchFamily="18" charset="-122"/>
                <a:cs typeface="Alibaba PuHuiTi" pitchFamily="18" charset="-122"/>
              </a:rPr>
              <a:t>0</a:t>
            </a:r>
            <a:r>
              <a:rPr lang="zh-CN" altLang="en-US" b="0" i="0" dirty="0">
                <a:solidFill>
                  <a:srgbClr val="333333"/>
                </a:solidFill>
                <a:effectLst/>
                <a:latin typeface="Alibaba PuHuiTi" pitchFamily="18" charset="-122"/>
                <a:ea typeface="Alibaba PuHuiTi" pitchFamily="18" charset="-122"/>
                <a:cs typeface="Alibaba PuHuiTi" pitchFamily="18" charset="-122"/>
              </a:rPr>
              <a:t>，参数无法优化</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342900" indent="-342900"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碰到局部最小值，参数不是最优</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对于这些问题</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出现了一些对梯度下降算法的优化方法，例如：</a:t>
            </a:r>
            <a:r>
              <a:rPr lang="en-US" altLang="zh-CN" b="0" i="0" dirty="0">
                <a:solidFill>
                  <a:srgbClr val="333333"/>
                </a:solidFill>
                <a:effectLst/>
                <a:latin typeface="Alibaba PuHuiTi" pitchFamily="18" charset="-122"/>
                <a:ea typeface="Alibaba PuHuiTi" pitchFamily="18" charset="-122"/>
                <a:cs typeface="Alibaba PuHuiTi" pitchFamily="18" charset="-122"/>
              </a:rPr>
              <a:t>Momentum</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err="1">
                <a:solidFill>
                  <a:srgbClr val="333333"/>
                </a:solidFill>
                <a:effectLst/>
                <a:latin typeface="Alibaba PuHuiTi" pitchFamily="18" charset="-122"/>
                <a:ea typeface="Alibaba PuHuiTi" pitchFamily="18" charset="-122"/>
                <a:cs typeface="Alibaba PuHuiTi" pitchFamily="18" charset="-122"/>
              </a:rPr>
              <a:t>AdaGrad</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a:solidFill>
                  <a:srgbClr val="333333"/>
                </a:solidFill>
                <a:effectLst/>
                <a:latin typeface="Alibaba PuHuiTi" pitchFamily="18" charset="-122"/>
                <a:ea typeface="Alibaba PuHuiTi" pitchFamily="18" charset="-122"/>
                <a:cs typeface="Alibaba PuHuiTi" pitchFamily="18" charset="-122"/>
              </a:rPr>
              <a:t>RMSprop</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en-US" altLang="zh-CN" b="0" i="0" dirty="0">
                <a:solidFill>
                  <a:srgbClr val="333333"/>
                </a:solidFill>
                <a:effectLst/>
                <a:latin typeface="Alibaba PuHuiTi" pitchFamily="18" charset="-122"/>
                <a:ea typeface="Alibaba PuHuiTi" pitchFamily="18" charset="-122"/>
                <a:cs typeface="Alibaba PuHuiTi" pitchFamily="18" charset="-122"/>
              </a:rPr>
              <a:t>Adam </a:t>
            </a:r>
            <a:r>
              <a:rPr lang="zh-CN" altLang="en-US" b="0" i="0" dirty="0">
                <a:solidFill>
                  <a:srgbClr val="333333"/>
                </a:solidFill>
                <a:effectLst/>
                <a:latin typeface="Alibaba PuHuiTi" pitchFamily="18" charset="-122"/>
                <a:ea typeface="Alibaba PuHuiTi" pitchFamily="18" charset="-122"/>
                <a:cs typeface="Alibaba PuHuiTi" pitchFamily="18" charset="-122"/>
              </a:rPr>
              <a:t>等</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endParaRPr lang="en-US" altLang="zh-CN" b="1" i="0" dirty="0">
              <a:solidFill>
                <a:srgbClr val="333333"/>
              </a:solidFill>
              <a:effectLst/>
              <a:latin typeface="Helvetica Neue"/>
            </a:endParaRPr>
          </a:p>
        </p:txBody>
      </p:sp>
      <p:pic>
        <p:nvPicPr>
          <p:cNvPr id="7" name="图片 6"/>
          <p:cNvPicPr>
            <a:picLocks noChangeAspect="1"/>
          </p:cNvPicPr>
          <p:nvPr/>
        </p:nvPicPr>
        <p:blipFill>
          <a:blip r:embed="rId1"/>
          <a:stretch>
            <a:fillRect/>
          </a:stretch>
        </p:blipFill>
        <p:spPr>
          <a:xfrm>
            <a:off x="2147389" y="3520151"/>
            <a:ext cx="6005080" cy="3337849"/>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1" i="0" dirty="0">
                <a:solidFill>
                  <a:srgbClr val="333333"/>
                </a:solidFill>
                <a:effectLst/>
                <a:latin typeface="Helvetica Neue"/>
              </a:rPr>
              <a:t>指数移动加权平均</a:t>
            </a:r>
            <a:r>
              <a:rPr lang="zh-CN" altLang="en-US" b="0" i="0" dirty="0">
                <a:solidFill>
                  <a:srgbClr val="333333"/>
                </a:solidFill>
                <a:effectLst/>
                <a:latin typeface="Helvetica Neue"/>
              </a:rPr>
              <a:t>则是参考各数值，并且各数值的权重都不同，距离越远的数字对平均数计算的贡献就越小（权重较小），距离越近则对平均数的计算贡献就越大（权重越大）。</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比如：明天气温怎么样，和昨天气温有很大关系，而和一个月前的气温关系就小一些。</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计算公式可以用下面的式子来表示：</a:t>
            </a:r>
            <a:endParaRPr lang="zh-CN" altLang="en-US" b="0" i="0" dirty="0">
              <a:solidFill>
                <a:srgbClr val="333333"/>
              </a:solidFill>
              <a:effectLst/>
              <a:latin typeface="Helvetica Neue"/>
            </a:endParaRPr>
          </a:p>
          <a:p>
            <a:pPr marL="285750" indent="-285750" algn="l">
              <a:buFont typeface="Arial" panose="020B0604020202020204" pitchFamily="34" charset="0"/>
              <a:buChar char="•"/>
            </a:pPr>
            <a:endParaRPr lang="en-US" altLang="zh-CN" b="0" i="0" dirty="0">
              <a:solidFill>
                <a:srgbClr val="333333"/>
              </a:solidFill>
              <a:effectLst/>
              <a:latin typeface="Helvetica Neue"/>
            </a:endParaRPr>
          </a:p>
          <a:p>
            <a:pPr marL="285750" indent="-285750" algn="l">
              <a:buFont typeface="Arial" panose="020B0604020202020204" pitchFamily="34" charset="0"/>
              <a:buChar char="•"/>
            </a:pPr>
            <a:endParaRPr lang="en-US" altLang="zh-CN" dirty="0">
              <a:solidFill>
                <a:srgbClr val="333333"/>
              </a:solidFill>
              <a:latin typeface="Helvetica Neue"/>
            </a:endParaRPr>
          </a:p>
          <a:p>
            <a:pPr marL="285750" indent="-285750" algn="l">
              <a:buFont typeface="Arial" panose="020B0604020202020204" pitchFamily="34" charset="0"/>
              <a:buChar char="•"/>
            </a:pPr>
            <a:endParaRPr lang="en-US" altLang="zh-CN" b="0" i="0" dirty="0">
              <a:solidFill>
                <a:srgbClr val="333333"/>
              </a:solidFill>
              <a:effectLst/>
              <a:latin typeface="Helvetica Neue"/>
            </a:endParaRPr>
          </a:p>
          <a:p>
            <a:pPr marL="285750" indent="-285750" algn="l">
              <a:buFont typeface="Arial" panose="020B0604020202020204" pitchFamily="34" charset="0"/>
              <a:buChar char="•"/>
            </a:pPr>
            <a:endParaRPr lang="en-US" altLang="zh-CN" dirty="0">
              <a:solidFill>
                <a:srgbClr val="333333"/>
              </a:solidFill>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St </a:t>
            </a:r>
            <a:r>
              <a:rPr lang="zh-CN" altLang="en-US" b="0" i="0" dirty="0">
                <a:solidFill>
                  <a:srgbClr val="333333"/>
                </a:solidFill>
                <a:effectLst/>
                <a:latin typeface="Helvetica Neue"/>
              </a:rPr>
              <a:t>表示指数加权平均值</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err="1">
                <a:solidFill>
                  <a:srgbClr val="333333"/>
                </a:solidFill>
                <a:effectLst/>
                <a:latin typeface="Helvetica Neue"/>
              </a:rPr>
              <a:t>Yt</a:t>
            </a:r>
            <a:r>
              <a:rPr lang="en-US" altLang="zh-CN" b="0" i="0" dirty="0">
                <a:solidFill>
                  <a:srgbClr val="333333"/>
                </a:solidFill>
                <a:effectLst/>
                <a:latin typeface="Helvetica Neue"/>
              </a:rPr>
              <a:t> </a:t>
            </a:r>
            <a:r>
              <a:rPr lang="zh-CN" altLang="en-US" b="0" i="0" dirty="0">
                <a:solidFill>
                  <a:srgbClr val="333333"/>
                </a:solidFill>
                <a:effectLst/>
                <a:latin typeface="Helvetica Neue"/>
              </a:rPr>
              <a:t>表示 </a:t>
            </a:r>
            <a:r>
              <a:rPr lang="en-US" altLang="zh-CN" b="0" i="0" dirty="0">
                <a:solidFill>
                  <a:srgbClr val="333333"/>
                </a:solidFill>
                <a:effectLst/>
                <a:latin typeface="Helvetica Neue"/>
              </a:rPr>
              <a:t>t </a:t>
            </a:r>
            <a:r>
              <a:rPr lang="zh-CN" altLang="en-US" b="0" i="0" dirty="0">
                <a:solidFill>
                  <a:srgbClr val="333333"/>
                </a:solidFill>
                <a:effectLst/>
                <a:latin typeface="Helvetica Neue"/>
              </a:rPr>
              <a:t>时刻的值</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β </a:t>
            </a:r>
            <a:r>
              <a:rPr lang="zh-CN" altLang="en-US" b="0" i="0" dirty="0">
                <a:solidFill>
                  <a:srgbClr val="333333"/>
                </a:solidFill>
                <a:effectLst/>
                <a:latin typeface="Helvetica Neue"/>
              </a:rPr>
              <a:t>调节权重系数，该值越大平均数越平缓。</a:t>
            </a:r>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下面通过代码来看结果，随机产生 </a:t>
            </a:r>
            <a:r>
              <a:rPr lang="en-US" altLang="zh-CN" b="0" i="0" dirty="0">
                <a:solidFill>
                  <a:srgbClr val="333333"/>
                </a:solidFill>
                <a:effectLst/>
                <a:latin typeface="Helvetica Neue"/>
              </a:rPr>
              <a:t>30 </a:t>
            </a:r>
            <a:r>
              <a:rPr lang="zh-CN" altLang="en-US" b="0" i="0" dirty="0">
                <a:solidFill>
                  <a:srgbClr val="333333"/>
                </a:solidFill>
                <a:effectLst/>
                <a:latin typeface="Helvetica Neue"/>
              </a:rPr>
              <a:t>天的气温数据：</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562423" y="3429000"/>
            <a:ext cx="4909169" cy="831864"/>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1092589" y="1457271"/>
            <a:ext cx="5556546"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matplotlib.pyplot</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plt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ELEMENT_NUMBER = 30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1. </a:t>
            </a:r>
            <a:r>
              <a:rPr lang="zh-CN" altLang="en-US" sz="1400" dirty="0">
                <a:solidFill>
                  <a:srgbClr val="00B050"/>
                </a:solidFill>
                <a:latin typeface="宋体" panose="02010600030101010101" pitchFamily="2" charset="-122"/>
                <a:ea typeface="阿里巴巴普惠体" panose="00020600040101010101"/>
              </a:rPr>
              <a:t>实际平均温度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固定随机数种子</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torch.manual_seed</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产生</a:t>
            </a:r>
            <a:r>
              <a:rPr lang="en-US" altLang="zh-CN" sz="1400" dirty="0">
                <a:solidFill>
                  <a:srgbClr val="00B050"/>
                </a:solidFill>
                <a:latin typeface="宋体" panose="02010600030101010101" pitchFamily="2" charset="-122"/>
                <a:ea typeface="阿里巴巴普惠体" panose="00020600040101010101"/>
              </a:rPr>
              <a:t>30</a:t>
            </a:r>
            <a:r>
              <a:rPr lang="zh-CN" altLang="en-US" sz="1400" dirty="0">
                <a:solidFill>
                  <a:srgbClr val="00B050"/>
                </a:solidFill>
                <a:latin typeface="宋体" panose="02010600030101010101" pitchFamily="2" charset="-122"/>
                <a:ea typeface="阿里巴巴普惠体" panose="00020600040101010101"/>
              </a:rPr>
              <a:t>天的随机温度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temperature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(size=[ELEMENT_NUMBER,])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print(temperature)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绘制平均温度</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days = </a:t>
            </a:r>
            <a:r>
              <a:rPr lang="en-US" altLang="zh-CN" sz="1400" b="1" dirty="0" err="1">
                <a:solidFill>
                  <a:srgbClr val="0000FF"/>
                </a:solidFill>
                <a:latin typeface="宋体" panose="02010600030101010101" pitchFamily="2" charset="-122"/>
                <a:ea typeface="阿里巴巴普惠体" panose="00020600040101010101"/>
              </a:rPr>
              <a:t>torch.arange</a:t>
            </a:r>
            <a:r>
              <a:rPr lang="en-US" altLang="zh-CN" sz="1400" b="1" dirty="0">
                <a:solidFill>
                  <a:srgbClr val="0000FF"/>
                </a:solidFill>
                <a:latin typeface="宋体" panose="02010600030101010101" pitchFamily="2" charset="-122"/>
                <a:ea typeface="阿里巴巴普惠体" panose="00020600040101010101"/>
              </a:rPr>
              <a:t>(1, ELEMENT_NUMBER + 1, 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(days, temperature, color='r')</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plt.scatter</a:t>
            </a:r>
            <a:r>
              <a:rPr lang="en-US" altLang="zh-CN" sz="1400" b="1" dirty="0">
                <a:solidFill>
                  <a:srgbClr val="0000FF"/>
                </a:solidFill>
                <a:latin typeface="宋体" panose="02010600030101010101" pitchFamily="2" charset="-122"/>
                <a:ea typeface="阿里巴巴普惠体" panose="00020600040101010101"/>
              </a:rPr>
              <a:t>(days, temperature)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7181784" y="1974461"/>
            <a:ext cx="4263616" cy="3275017"/>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4" name="文本框 3"/>
          <p:cNvSpPr txBox="1"/>
          <p:nvPr/>
        </p:nvSpPr>
        <p:spPr>
          <a:xfrm>
            <a:off x="2166277" y="1457271"/>
            <a:ext cx="6630744" cy="519116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2. </a:t>
            </a:r>
            <a:r>
              <a:rPr lang="zh-CN" altLang="en-US" sz="1200" dirty="0">
                <a:solidFill>
                  <a:srgbClr val="00B050"/>
                </a:solidFill>
                <a:latin typeface="宋体" panose="02010600030101010101" pitchFamily="2" charset="-122"/>
                <a:ea typeface="阿里巴巴普惠体" panose="00020600040101010101"/>
              </a:rPr>
              <a:t>指数加权平均温度</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def test02(beta=0.9):</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torch.manual_seed</a:t>
            </a:r>
            <a:r>
              <a:rPr lang="en-US" altLang="zh-CN" sz="1200" b="1" dirty="0">
                <a:solidFill>
                  <a:srgbClr val="0000FF"/>
                </a:solidFill>
                <a:latin typeface="宋体" panose="02010600030101010101" pitchFamily="2" charset="-122"/>
                <a:ea typeface="阿里巴巴普惠体" panose="00020600040101010101"/>
              </a:rPr>
              <a:t>(0)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固定随机数种子</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temperature = </a:t>
            </a:r>
            <a:r>
              <a:rPr lang="en-US" altLang="zh-CN" sz="1200" b="1" dirty="0" err="1">
                <a:solidFill>
                  <a:srgbClr val="0000FF"/>
                </a:solidFill>
                <a:latin typeface="宋体" panose="02010600030101010101" pitchFamily="2" charset="-122"/>
                <a:ea typeface="阿里巴巴普惠体" panose="00020600040101010101"/>
              </a:rPr>
              <a:t>torch.randn</a:t>
            </a:r>
            <a:r>
              <a:rPr lang="en-US" altLang="zh-CN" sz="1200" b="1" dirty="0">
                <a:solidFill>
                  <a:srgbClr val="0000FF"/>
                </a:solidFill>
                <a:latin typeface="宋体" panose="02010600030101010101" pitchFamily="2" charset="-122"/>
                <a:ea typeface="阿里巴巴普惠体" panose="00020600040101010101"/>
              </a:rPr>
              <a:t>(size=[ELEMENT_NUMBER,]) * 10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产生</a:t>
            </a:r>
            <a:r>
              <a:rPr lang="en-US" altLang="zh-CN" sz="1200" dirty="0">
                <a:solidFill>
                  <a:srgbClr val="00B050"/>
                </a:solidFill>
                <a:latin typeface="宋体" panose="02010600030101010101" pitchFamily="2" charset="-122"/>
                <a:ea typeface="阿里巴巴普惠体" panose="00020600040101010101"/>
              </a:rPr>
              <a:t>30</a:t>
            </a:r>
            <a:r>
              <a:rPr lang="zh-CN" altLang="en-US" sz="1200" dirty="0">
                <a:solidFill>
                  <a:srgbClr val="00B050"/>
                </a:solidFill>
                <a:latin typeface="宋体" panose="02010600030101010101" pitchFamily="2" charset="-122"/>
                <a:ea typeface="阿里巴巴普惠体" panose="00020600040101010101"/>
              </a:rPr>
              <a:t>天的随机温度</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 = []</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for </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temp in enumerate(temperature, 1):</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a:t>
            </a:r>
            <a:r>
              <a:rPr lang="zh-CN" altLang="en-US" sz="1200" dirty="0">
                <a:solidFill>
                  <a:srgbClr val="00B050"/>
                </a:solidFill>
                <a:latin typeface="宋体" panose="02010600030101010101" pitchFamily="2" charset="-122"/>
                <a:ea typeface="阿里巴巴普惠体" panose="00020600040101010101"/>
              </a:rPr>
              <a:t> 从下标</a:t>
            </a:r>
            <a:r>
              <a:rPr lang="en-US" altLang="zh-CN" sz="1200" dirty="0">
                <a:solidFill>
                  <a:srgbClr val="00B050"/>
                </a:solidFill>
                <a:latin typeface="宋体" panose="02010600030101010101" pitchFamily="2" charset="-122"/>
                <a:ea typeface="阿里巴巴普惠体" panose="00020600040101010101"/>
              </a:rPr>
              <a:t>1</a:t>
            </a:r>
            <a:r>
              <a:rPr lang="zh-CN" altLang="en-US" sz="1200" dirty="0">
                <a:solidFill>
                  <a:srgbClr val="00B050"/>
                </a:solidFill>
                <a:latin typeface="宋体" panose="02010600030101010101" pitchFamily="2" charset="-122"/>
                <a:ea typeface="阿里巴巴普惠体" panose="00020600040101010101"/>
              </a:rPr>
              <a:t>开始</a:t>
            </a:r>
            <a:endParaRPr lang="en-US" altLang="zh-CN"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第一个元素的的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值等于自身</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if </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 1:</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exp_weight_avg.append</a:t>
            </a:r>
            <a:r>
              <a:rPr lang="en-US" altLang="zh-CN" sz="1200" b="1" dirty="0">
                <a:solidFill>
                  <a:srgbClr val="0000FF"/>
                </a:solidFill>
                <a:latin typeface="宋体" panose="02010600030101010101" pitchFamily="2" charset="-122"/>
                <a:ea typeface="阿里巴巴普惠体" panose="00020600040101010101"/>
              </a:rPr>
              <a:t>(temp)</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continue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第二个元素的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值等于上一个 </a:t>
            </a:r>
            <a:r>
              <a:rPr lang="en-US" altLang="zh-CN" sz="1200" dirty="0">
                <a:solidFill>
                  <a:srgbClr val="00B050"/>
                </a:solidFill>
                <a:latin typeface="宋体" panose="02010600030101010101" pitchFamily="2" charset="-122"/>
                <a:ea typeface="阿里巴巴普惠体" panose="00020600040101010101"/>
              </a:rPr>
              <a:t>EWA </a:t>
            </a:r>
            <a:r>
              <a:rPr lang="zh-CN" altLang="en-US" sz="1200" dirty="0">
                <a:solidFill>
                  <a:srgbClr val="00B050"/>
                </a:solidFill>
                <a:latin typeface="宋体" panose="02010600030101010101" pitchFamily="2" charset="-122"/>
                <a:ea typeface="阿里巴巴普惠体" panose="00020600040101010101"/>
              </a:rPr>
              <a:t>乘以 </a:t>
            </a:r>
            <a:r>
              <a:rPr lang="el-GR" altLang="zh-CN" sz="1200" dirty="0">
                <a:solidFill>
                  <a:srgbClr val="00B050"/>
                </a:solidFill>
                <a:ea typeface="阿里巴巴普惠体" panose="00020600040101010101"/>
              </a:rPr>
              <a:t>β + </a:t>
            </a:r>
            <a:r>
              <a:rPr lang="zh-CN" altLang="en-US" sz="1200" dirty="0">
                <a:solidFill>
                  <a:srgbClr val="00B050"/>
                </a:solidFill>
                <a:latin typeface="宋体" panose="02010600030101010101" pitchFamily="2" charset="-122"/>
                <a:ea typeface="阿里巴巴普惠体" panose="00020600040101010101"/>
              </a:rPr>
              <a:t>当前气温乘以 </a:t>
            </a:r>
            <a:r>
              <a:rPr lang="en-US" altLang="zh-CN" sz="1200" dirty="0">
                <a:solidFill>
                  <a:srgbClr val="00B050"/>
                </a:solidFill>
                <a:latin typeface="宋体" panose="02010600030101010101" pitchFamily="2" charset="-122"/>
                <a:ea typeface="阿里巴巴普惠体" panose="00020600040101010101"/>
              </a:rPr>
              <a:t>(1-</a:t>
            </a:r>
            <a:r>
              <a:rPr lang="el-GR" altLang="zh-CN" sz="1200" dirty="0">
                <a:solidFill>
                  <a:srgbClr val="00B050"/>
                </a:solidFill>
                <a:ea typeface="阿里巴巴普惠体" panose="00020600040101010101"/>
              </a:rPr>
              <a:t>β)</a:t>
            </a:r>
            <a:endParaRPr lang="el-GR" altLang="zh-CN" sz="1200" dirty="0">
              <a:solidFill>
                <a:srgbClr val="00B050"/>
              </a:solidFill>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new_temp</a:t>
            </a:r>
            <a:r>
              <a:rPr lang="en-US" altLang="zh-CN" sz="1200" b="1" dirty="0">
                <a:solidFill>
                  <a:srgbClr val="0000FF"/>
                </a:solidFill>
                <a:latin typeface="宋体" panose="02010600030101010101" pitchFamily="2" charset="-122"/>
                <a:ea typeface="阿里巴巴普惠体" panose="00020600040101010101"/>
              </a:rPr>
              <a:t> =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idx</a:t>
            </a:r>
            <a:r>
              <a:rPr lang="en-US" altLang="zh-CN" sz="1200" b="1" dirty="0">
                <a:solidFill>
                  <a:srgbClr val="0000FF"/>
                </a:solidFill>
                <a:latin typeface="宋体" panose="02010600030101010101" pitchFamily="2" charset="-122"/>
                <a:ea typeface="阿里巴巴普惠体" panose="00020600040101010101"/>
              </a:rPr>
              <a:t> - 2] * beta + (1 - beta) * temp</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exp_weight_avg.append</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new_temp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days = </a:t>
            </a:r>
            <a:r>
              <a:rPr lang="en-US" altLang="zh-CN" sz="1200" b="1" dirty="0" err="1">
                <a:solidFill>
                  <a:srgbClr val="0000FF"/>
                </a:solidFill>
                <a:latin typeface="宋体" panose="02010600030101010101" pitchFamily="2" charset="-122"/>
                <a:ea typeface="阿里巴巴普惠体" panose="00020600040101010101"/>
              </a:rPr>
              <a:t>torch.arange</a:t>
            </a:r>
            <a:r>
              <a:rPr lang="en-US" altLang="zh-CN" sz="1200" b="1" dirty="0">
                <a:solidFill>
                  <a:srgbClr val="0000FF"/>
                </a:solidFill>
                <a:latin typeface="宋体" panose="02010600030101010101" pitchFamily="2" charset="-122"/>
                <a:ea typeface="阿里巴巴普惠体" panose="00020600040101010101"/>
              </a:rPr>
              <a:t>(1, ELEMENT_NUMBER + 1, 1)</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plt.plot</a:t>
            </a:r>
            <a:r>
              <a:rPr lang="en-US" altLang="zh-CN" sz="1200" b="1" dirty="0">
                <a:solidFill>
                  <a:srgbClr val="0000FF"/>
                </a:solidFill>
                <a:latin typeface="宋体" panose="02010600030101010101" pitchFamily="2" charset="-122"/>
                <a:ea typeface="阿里巴巴普惠体" panose="00020600040101010101"/>
              </a:rPr>
              <a:t>(days, </a:t>
            </a:r>
            <a:r>
              <a:rPr lang="en-US" altLang="zh-CN" sz="1200" b="1" dirty="0" err="1">
                <a:solidFill>
                  <a:srgbClr val="0000FF"/>
                </a:solidFill>
                <a:latin typeface="宋体" panose="02010600030101010101" pitchFamily="2" charset="-122"/>
                <a:ea typeface="阿里巴巴普惠体" panose="00020600040101010101"/>
              </a:rPr>
              <a:t>exp_weight_avg</a:t>
            </a:r>
            <a:r>
              <a:rPr lang="en-US" altLang="zh-CN" sz="1200" b="1" dirty="0">
                <a:solidFill>
                  <a:srgbClr val="0000FF"/>
                </a:solidFill>
                <a:latin typeface="宋体" panose="02010600030101010101" pitchFamily="2" charset="-122"/>
                <a:ea typeface="阿里巴巴普惠体" panose="00020600040101010101"/>
              </a:rPr>
              <a:t>, color='r')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plt.scatter</a:t>
            </a:r>
            <a:r>
              <a:rPr lang="en-US" altLang="zh-CN" sz="1200" b="1" dirty="0">
                <a:solidFill>
                  <a:srgbClr val="0000FF"/>
                </a:solidFill>
                <a:latin typeface="宋体" panose="02010600030101010101" pitchFamily="2" charset="-122"/>
                <a:ea typeface="阿里巴巴普惠体" panose="00020600040101010101"/>
              </a:rPr>
              <a:t>(days, temperature)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plt.show</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dirty="0">
                <a:solidFill>
                  <a:srgbClr val="333333"/>
                </a:solidFill>
                <a:latin typeface="Helvetica Neue"/>
              </a:rPr>
              <a:t>指数加权平均</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上图是</a:t>
            </a:r>
            <a:r>
              <a:rPr lang="en-US" altLang="zh-CN" b="0" i="0" dirty="0">
                <a:solidFill>
                  <a:srgbClr val="333333"/>
                </a:solidFill>
                <a:effectLst/>
                <a:latin typeface="Helvetica Neue"/>
              </a:rPr>
              <a:t>β</a:t>
            </a:r>
            <a:r>
              <a:rPr lang="zh-CN" altLang="en-US" b="0" i="0" dirty="0">
                <a:solidFill>
                  <a:srgbClr val="333333"/>
                </a:solidFill>
                <a:effectLst/>
                <a:latin typeface="Helvetica Neue"/>
              </a:rPr>
              <a:t>为</a:t>
            </a:r>
            <a:r>
              <a:rPr lang="en-US" altLang="zh-CN" b="0" i="0" dirty="0">
                <a:solidFill>
                  <a:srgbClr val="333333"/>
                </a:solidFill>
                <a:effectLst/>
                <a:latin typeface="Helvetica Neue"/>
              </a:rPr>
              <a:t>0.5</a:t>
            </a:r>
            <a:r>
              <a:rPr lang="zh-CN" altLang="en-US" b="0" i="0" dirty="0">
                <a:solidFill>
                  <a:srgbClr val="333333"/>
                </a:solidFill>
                <a:effectLst/>
                <a:latin typeface="Helvetica Neue"/>
              </a:rPr>
              <a:t>和</a:t>
            </a:r>
            <a:r>
              <a:rPr lang="en-US" altLang="zh-CN" b="0" i="0" dirty="0">
                <a:solidFill>
                  <a:srgbClr val="333333"/>
                </a:solidFill>
                <a:effectLst/>
                <a:latin typeface="Helvetica Neue"/>
              </a:rPr>
              <a:t>0.9</a:t>
            </a:r>
            <a:r>
              <a:rPr lang="zh-CN" altLang="en-US" b="0" i="0" dirty="0">
                <a:solidFill>
                  <a:srgbClr val="333333"/>
                </a:solidFill>
                <a:effectLst/>
                <a:latin typeface="Helvetica Neue"/>
              </a:rPr>
              <a:t>时的结果，从中可以看出：</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指数加权平均绘制出的气温变化曲线更加平缓，</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en-US" altLang="zh-CN" b="0" i="0" dirty="0">
                <a:solidFill>
                  <a:srgbClr val="333333"/>
                </a:solidFill>
                <a:effectLst/>
                <a:latin typeface="Helvetica Neue"/>
              </a:rPr>
              <a:t>β </a:t>
            </a:r>
            <a:r>
              <a:rPr lang="zh-CN" altLang="en-US" b="0" i="0" dirty="0">
                <a:solidFill>
                  <a:srgbClr val="333333"/>
                </a:solidFill>
                <a:effectLst/>
                <a:latin typeface="Helvetica Neue"/>
              </a:rPr>
              <a:t>的值越大，则绘制出的折线越加平缓，波动越小。</a:t>
            </a:r>
            <a:r>
              <a:rPr lang="en-US" altLang="zh-CN"/>
              <a:t>(1-β</a:t>
            </a:r>
            <a:r>
              <a:rPr lang="zh-CN" altLang="en-US"/>
              <a:t>越小</a:t>
            </a:r>
            <a:r>
              <a:rPr lang="en-US" altLang="zh-CN"/>
              <a:t>,t</a:t>
            </a:r>
            <a:r>
              <a:rPr lang="zh-CN" altLang="en-US"/>
              <a:t>时刻的</a:t>
            </a:r>
            <a:r>
              <a:rPr lang="en-US" altLang="zh-CN"/>
              <a:t>St</a:t>
            </a:r>
            <a:r>
              <a:rPr lang="zh-CN" altLang="en-US"/>
              <a:t>越不依赖</a:t>
            </a:r>
            <a:r>
              <a:rPr lang="en-US" altLang="zh-CN"/>
              <a:t>Yt</a:t>
            </a:r>
            <a:r>
              <a:rPr lang="zh-CN" altLang="en-US"/>
              <a:t>的值</a:t>
            </a:r>
            <a:r>
              <a:rPr lang="en-US" altLang="zh-CN"/>
              <a:t>)</a:t>
            </a:r>
            <a:endParaRPr lang="en-US" altLang="zh-CN"/>
          </a:p>
          <a:p>
            <a:pPr marL="285750" indent="-285750" algn="l">
              <a:buFont typeface="Arial" panose="020B0604020202020204" pitchFamily="34" charset="0"/>
              <a:buChar char="•"/>
            </a:pPr>
            <a:r>
              <a:rPr lang="en-US" altLang="zh-CN"/>
              <a:t>β </a:t>
            </a:r>
            <a:r>
              <a:rPr lang="zh-CN" altLang="en-US"/>
              <a:t>值一般默认都是</a:t>
            </a:r>
            <a:r>
              <a:rPr lang="en-US" altLang="zh-CN"/>
              <a:t> 0.9</a:t>
            </a:r>
            <a:endParaRPr lang="en-US" altLang="zh-CN"/>
          </a:p>
          <a:p>
            <a:endParaRPr lang="en-US" altLang="zh-CN" b="1" i="0" dirty="0">
              <a:solidFill>
                <a:srgbClr val="333333"/>
              </a:solidFill>
              <a:effectLst/>
              <a:latin typeface="Helvetica Neue"/>
            </a:endParaRPr>
          </a:p>
        </p:txBody>
      </p:sp>
      <p:pic>
        <p:nvPicPr>
          <p:cNvPr id="8" name="图片 7"/>
          <p:cNvPicPr>
            <a:picLocks noChangeAspect="1"/>
          </p:cNvPicPr>
          <p:nvPr/>
        </p:nvPicPr>
        <p:blipFill>
          <a:blip r:embed="rId1"/>
          <a:stretch>
            <a:fillRect/>
          </a:stretch>
        </p:blipFill>
        <p:spPr>
          <a:xfrm>
            <a:off x="1160719" y="1505223"/>
            <a:ext cx="4063651" cy="3275017"/>
          </a:xfrm>
          <a:prstGeom prst="rect">
            <a:avLst/>
          </a:prstGeom>
        </p:spPr>
      </p:pic>
      <p:pic>
        <p:nvPicPr>
          <p:cNvPr id="10" name="图片 9"/>
          <p:cNvPicPr>
            <a:picLocks noChangeAspect="1"/>
          </p:cNvPicPr>
          <p:nvPr/>
        </p:nvPicPr>
        <p:blipFill>
          <a:blip r:embed="rId2"/>
          <a:stretch>
            <a:fillRect/>
          </a:stretch>
        </p:blipFill>
        <p:spPr>
          <a:xfrm>
            <a:off x="5638489" y="1457271"/>
            <a:ext cx="4240656" cy="3370924"/>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21276" y="815688"/>
            <a:ext cx="10698800" cy="517190"/>
          </a:xfrm>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321276" y="1457271"/>
            <a:ext cx="11124124"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6" name="文本框 5"/>
          <p:cNvSpPr txBox="1"/>
          <p:nvPr/>
        </p:nvSpPr>
        <p:spPr>
          <a:xfrm>
            <a:off x="746600" y="1332878"/>
            <a:ext cx="8644535" cy="3723005"/>
          </a:xfrm>
          <a:prstGeom prst="rect">
            <a:avLst/>
          </a:prstGeom>
          <a:noFill/>
        </p:spPr>
        <p:txBody>
          <a:bodyPr wrap="square">
            <a:spAutoFit/>
          </a:bodyPr>
          <a:lstStyle/>
          <a:p>
            <a:pPr>
              <a:spcBef>
                <a:spcPts val="360"/>
              </a:spcBef>
              <a:spcAft>
                <a:spcPts val="360"/>
              </a:spcAft>
            </a:pPr>
            <a:r>
              <a:rPr lang="zh-CN" altLang="en-US" sz="1600" b="1" dirty="0">
                <a:latin typeface="Alibaba PuHuiTi" pitchFamily="18" charset="-122"/>
                <a:ea typeface="Alibaba PuHuiTi" pitchFamily="18" charset="-122"/>
                <a:cs typeface="Alibaba PuHuiTi" pitchFamily="18" charset="-122"/>
              </a:rPr>
              <a:t>梯度计算公式：</a:t>
            </a:r>
            <a:endParaRPr lang="zh-CN" altLang="en-US" sz="1600" b="1" dirty="0">
              <a:latin typeface="Alibaba PuHuiTi" pitchFamily="18" charset="-122"/>
              <a:ea typeface="Alibaba PuHuiTi" pitchFamily="18" charset="-122"/>
              <a:cs typeface="Alibaba PuHuiTi" pitchFamily="18" charset="-122"/>
            </a:endParaRPr>
          </a:p>
          <a:p>
            <a:pPr marL="914400" lvl="2" indent="457200">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s_t=βs_t−1 + (1−β)g_t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b="1" dirty="0">
                <a:latin typeface="Alibaba PuHuiTi" pitchFamily="18" charset="-122"/>
                <a:ea typeface="Alibaba PuHuiTi" pitchFamily="18" charset="-122"/>
                <a:cs typeface="Alibaba PuHuiTi" pitchFamily="18" charset="-122"/>
              </a:rPr>
              <a:t>参数更新公式：</a:t>
            </a:r>
            <a:endParaRPr lang="zh-CN" altLang="en-US" sz="1600" b="1" dirty="0">
              <a:latin typeface="Alibaba PuHuiTi" pitchFamily="18" charset="-122"/>
              <a:ea typeface="Alibaba PuHuiTi" pitchFamily="18" charset="-122"/>
              <a:cs typeface="Alibaba PuHuiTi" pitchFamily="18" charset="-122"/>
            </a:endParaRPr>
          </a:p>
          <a:p>
            <a:pPr marL="914400" lvl="2" indent="457200">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w_t=w_t−1 − ηs_t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a:t>
            </a:r>
            <a:r>
              <a:rPr lang="zh-CN" altLang="en-US" sz="1600" dirty="0">
                <a:latin typeface="Alibaba PuHuiTi" pitchFamily="18" charset="-122"/>
                <a:ea typeface="Alibaba PuHuiTi" pitchFamily="18" charset="-122"/>
                <a:cs typeface="Alibaba PuHuiTi" pitchFamily="18" charset="-122"/>
              </a:rPr>
              <a:t>是当前时刻指数加权平均梯度值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s_t-1</a:t>
            </a:r>
            <a:r>
              <a:rPr lang="zh-CN" altLang="en-US" sz="1600" dirty="0">
                <a:latin typeface="Alibaba PuHuiTi" pitchFamily="18" charset="-122"/>
                <a:ea typeface="Alibaba PuHuiTi" pitchFamily="18" charset="-122"/>
                <a:cs typeface="Alibaba PuHuiTi" pitchFamily="18" charset="-122"/>
              </a:rPr>
              <a:t>是历史指数加权平均梯度值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g_t</a:t>
            </a:r>
            <a:r>
              <a:rPr lang="zh-CN" altLang="en-US" sz="1600" dirty="0">
                <a:latin typeface="Alibaba PuHuiTi" pitchFamily="18" charset="-122"/>
                <a:ea typeface="Alibaba PuHuiTi" pitchFamily="18" charset="-122"/>
                <a:cs typeface="Alibaba PuHuiTi" pitchFamily="18" charset="-122"/>
              </a:rPr>
              <a:t>是当前时刻的梯度值</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β </a:t>
            </a:r>
            <a:r>
              <a:rPr lang="zh-CN" altLang="en-US" sz="1600" dirty="0">
                <a:latin typeface="Alibaba PuHuiTi" pitchFamily="18" charset="-122"/>
                <a:ea typeface="Alibaba PuHuiTi" pitchFamily="18" charset="-122"/>
                <a:cs typeface="Alibaba PuHuiTi" pitchFamily="18" charset="-122"/>
              </a:rPr>
              <a:t>是调节权重系数，通常取</a:t>
            </a:r>
            <a:r>
              <a:rPr lang="en-US" altLang="zh-CN" sz="1600" dirty="0">
                <a:latin typeface="Alibaba PuHuiTi" pitchFamily="18" charset="-122"/>
                <a:ea typeface="Alibaba PuHuiTi" pitchFamily="18" charset="-122"/>
                <a:cs typeface="Alibaba PuHuiTi" pitchFamily="18" charset="-122"/>
              </a:rPr>
              <a:t> 0.9 </a:t>
            </a:r>
            <a:r>
              <a:rPr lang="zh-CN" altLang="en-US" sz="1600" dirty="0">
                <a:latin typeface="Alibaba PuHuiTi" pitchFamily="18" charset="-122"/>
                <a:ea typeface="Alibaba PuHuiTi" pitchFamily="18" charset="-122"/>
                <a:cs typeface="Alibaba PuHuiTi" pitchFamily="18" charset="-122"/>
              </a:rPr>
              <a:t>或</a:t>
            </a:r>
            <a:r>
              <a:rPr lang="en-US" altLang="zh-CN" sz="1600" dirty="0">
                <a:latin typeface="Alibaba PuHuiTi" pitchFamily="18" charset="-122"/>
                <a:ea typeface="Alibaba PuHuiTi" pitchFamily="18" charset="-122"/>
                <a:cs typeface="Alibaba PuHuiTi" pitchFamily="18" charset="-122"/>
              </a:rPr>
              <a:t> 0.99</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η</a:t>
            </a:r>
            <a:r>
              <a:rPr lang="zh-CN" altLang="en-US" sz="1600" dirty="0">
                <a:latin typeface="Alibaba PuHuiTi" pitchFamily="18" charset="-122"/>
                <a:ea typeface="Alibaba PuHuiTi" pitchFamily="18" charset="-122"/>
                <a:cs typeface="Alibaba PuHuiTi" pitchFamily="18" charset="-122"/>
              </a:rPr>
              <a:t>是学习率</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w_t</a:t>
            </a:r>
            <a:r>
              <a:rPr lang="zh-CN" altLang="en-US" sz="1600" dirty="0">
                <a:latin typeface="Alibaba PuHuiTi" pitchFamily="18" charset="-122"/>
                <a:ea typeface="Alibaba PuHuiTi" pitchFamily="18" charset="-122"/>
                <a:cs typeface="Alibaba PuHuiTi" pitchFamily="18" charset="-122"/>
              </a:rPr>
              <a:t>是当前时刻模型权重参数</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321276" y="815688"/>
            <a:ext cx="10698800" cy="517190"/>
          </a:xfrm>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321276" y="1457271"/>
            <a:ext cx="11124124"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6" name="文本框 5"/>
          <p:cNvSpPr txBox="1"/>
          <p:nvPr/>
        </p:nvSpPr>
        <p:spPr>
          <a:xfrm>
            <a:off x="746600" y="1332878"/>
            <a:ext cx="8644535" cy="5323205"/>
          </a:xfrm>
          <a:prstGeom prst="rect">
            <a:avLst/>
          </a:prstGeom>
          <a:noFill/>
        </p:spPr>
        <p:txBody>
          <a:bodyPr wrap="square">
            <a:spAutoFit/>
          </a:bodyPr>
          <a:lstStyle/>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咱们举个例子，假设：权重</a:t>
            </a:r>
            <a:r>
              <a:rPr lang="en-US" altLang="zh-CN" sz="1600" dirty="0">
                <a:latin typeface="Alibaba PuHuiTi" pitchFamily="18" charset="-122"/>
                <a:ea typeface="Alibaba PuHuiTi" pitchFamily="18" charset="-122"/>
                <a:cs typeface="Alibaba PuHuiTi" pitchFamily="18" charset="-122"/>
              </a:rPr>
              <a:t> β </a:t>
            </a:r>
            <a:r>
              <a:rPr lang="zh-CN" altLang="en-US" sz="1600" dirty="0">
                <a:latin typeface="Alibaba PuHuiTi" pitchFamily="18" charset="-122"/>
                <a:ea typeface="Alibaba PuHuiTi" pitchFamily="18" charset="-122"/>
                <a:cs typeface="Alibaba PuHuiTi" pitchFamily="18" charset="-122"/>
              </a:rPr>
              <a:t>为</a:t>
            </a:r>
            <a:r>
              <a:rPr lang="en-US" altLang="zh-CN" sz="1600" dirty="0">
                <a:latin typeface="Alibaba PuHuiTi" pitchFamily="18" charset="-122"/>
                <a:ea typeface="Alibaba PuHuiTi" pitchFamily="18" charset="-122"/>
                <a:cs typeface="Alibaba PuHuiTi" pitchFamily="18" charset="-122"/>
              </a:rPr>
              <a:t> 0.9</a:t>
            </a:r>
            <a:r>
              <a:rPr lang="zh-CN" altLang="en-US" sz="1600" dirty="0">
                <a:latin typeface="Alibaba PuHuiTi" pitchFamily="18" charset="-122"/>
                <a:ea typeface="Alibaba PuHuiTi" pitchFamily="18" charset="-122"/>
                <a:cs typeface="Alibaba PuHuiTi" pitchFamily="18" charset="-122"/>
              </a:rPr>
              <a:t>，例如：</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第一次梯度值：</a:t>
            </a:r>
            <a:r>
              <a:rPr lang="en-US" altLang="zh-CN" sz="1600" dirty="0">
                <a:latin typeface="Alibaba PuHuiTi" pitchFamily="18" charset="-122"/>
                <a:ea typeface="Alibaba PuHuiTi" pitchFamily="18" charset="-122"/>
                <a:cs typeface="Alibaba PuHuiTi" pitchFamily="18" charset="-122"/>
              </a:rPr>
              <a:t>s1 = g1 = w1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第二次梯度值：</a:t>
            </a:r>
            <a:r>
              <a:rPr lang="en-US" altLang="zh-CN" sz="1600" dirty="0">
                <a:latin typeface="Alibaba PuHuiTi" pitchFamily="18" charset="-122"/>
                <a:ea typeface="Alibaba PuHuiTi" pitchFamily="18" charset="-122"/>
                <a:cs typeface="Alibaba PuHuiTi" pitchFamily="18" charset="-122"/>
              </a:rPr>
              <a:t>s2 = 0.9*s1 + g2*0.1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第三次梯度值：</a:t>
            </a:r>
            <a:r>
              <a:rPr lang="en-US" altLang="zh-CN" sz="1600" dirty="0">
                <a:latin typeface="Alibaba PuHuiTi" pitchFamily="18" charset="-122"/>
                <a:ea typeface="Alibaba PuHuiTi" pitchFamily="18" charset="-122"/>
                <a:cs typeface="Alibaba PuHuiTi" pitchFamily="18" charset="-122"/>
              </a:rPr>
              <a:t>s3 = 0.9*s2 + g3*0.1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第四次梯度值：</a:t>
            </a:r>
            <a:r>
              <a:rPr lang="en-US" altLang="zh-CN" sz="1600" dirty="0">
                <a:latin typeface="Alibaba PuHuiTi" pitchFamily="18" charset="-122"/>
                <a:ea typeface="Alibaba PuHuiTi" pitchFamily="18" charset="-122"/>
                <a:cs typeface="Alibaba PuHuiTi" pitchFamily="18" charset="-122"/>
              </a:rPr>
              <a:t>s4 = 0.9*s3 + g4*0.1 </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1. w </a:t>
            </a:r>
            <a:r>
              <a:rPr lang="zh-CN" altLang="en-US" sz="1600" dirty="0">
                <a:latin typeface="Alibaba PuHuiTi" pitchFamily="18" charset="-122"/>
                <a:ea typeface="Alibaba PuHuiTi" pitchFamily="18" charset="-122"/>
                <a:cs typeface="Alibaba PuHuiTi" pitchFamily="18" charset="-122"/>
              </a:rPr>
              <a:t>表示初始梯度</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2. g </a:t>
            </a:r>
            <a:r>
              <a:rPr lang="zh-CN" altLang="en-US" sz="1600" dirty="0">
                <a:latin typeface="Alibaba PuHuiTi" pitchFamily="18" charset="-122"/>
                <a:ea typeface="Alibaba PuHuiTi" pitchFamily="18" charset="-122"/>
                <a:cs typeface="Alibaba PuHuiTi" pitchFamily="18" charset="-122"/>
              </a:rPr>
              <a:t>表示当前轮数计算出的梯度值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3. s </a:t>
            </a:r>
            <a:r>
              <a:rPr lang="zh-CN" altLang="en-US" sz="1600" dirty="0">
                <a:latin typeface="Alibaba PuHuiTi" pitchFamily="18" charset="-122"/>
                <a:ea typeface="Alibaba PuHuiTi" pitchFamily="18" charset="-122"/>
                <a:cs typeface="Alibaba PuHuiTi" pitchFamily="18" charset="-122"/>
              </a:rPr>
              <a:t>表示历史梯度移动加权平均值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梯度下降公式中梯度的计算，就不再是当前时刻</a:t>
            </a:r>
            <a:r>
              <a:rPr lang="en-US" altLang="zh-CN" sz="1600" dirty="0">
                <a:latin typeface="Alibaba PuHuiTi" pitchFamily="18" charset="-122"/>
                <a:ea typeface="Alibaba PuHuiTi" pitchFamily="18" charset="-122"/>
                <a:cs typeface="Alibaba PuHuiTi" pitchFamily="18" charset="-122"/>
              </a:rPr>
              <a:t>t</a:t>
            </a:r>
            <a:r>
              <a:rPr lang="zh-CN" altLang="en-US" sz="1600" dirty="0">
                <a:latin typeface="Alibaba PuHuiTi" pitchFamily="18" charset="-122"/>
                <a:ea typeface="Alibaba PuHuiTi" pitchFamily="18" charset="-122"/>
                <a:cs typeface="Alibaba PuHuiTi" pitchFamily="18" charset="-122"/>
              </a:rPr>
              <a:t>的梯度值，而是历史梯度值的指数移动加权平均值。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zh-CN" altLang="en-US" sz="1600" dirty="0">
                <a:latin typeface="Alibaba PuHuiTi" pitchFamily="18" charset="-122"/>
                <a:ea typeface="Alibaba PuHuiTi" pitchFamily="18" charset="-122"/>
                <a:cs typeface="Alibaba PuHuiTi" pitchFamily="18" charset="-122"/>
              </a:rPr>
              <a:t>公式修改为：</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Wt = Wt-1 - η*St</a:t>
            </a:r>
            <a:endParaRPr lang="en-US" altLang="zh-CN"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Wt</a:t>
            </a:r>
            <a:r>
              <a:rPr lang="zh-CN" altLang="en-US" sz="1600" dirty="0">
                <a:latin typeface="Alibaba PuHuiTi" pitchFamily="18" charset="-122"/>
                <a:ea typeface="Alibaba PuHuiTi" pitchFamily="18" charset="-122"/>
                <a:cs typeface="Alibaba PuHuiTi" pitchFamily="18" charset="-122"/>
              </a:rPr>
              <a:t>：当前时刻模型权重参数</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St</a:t>
            </a:r>
            <a:r>
              <a:rPr lang="zh-CN" altLang="en-US" sz="1600" dirty="0">
                <a:latin typeface="Alibaba PuHuiTi" pitchFamily="18" charset="-122"/>
                <a:ea typeface="Alibaba PuHuiTi" pitchFamily="18" charset="-122"/>
                <a:cs typeface="Alibaba PuHuiTi" pitchFamily="18" charset="-122"/>
              </a:rPr>
              <a:t>：当前时刻指数加权平均梯度值</a:t>
            </a:r>
            <a:endParaRPr lang="zh-CN" altLang="en-US" sz="1600" dirty="0">
              <a:latin typeface="Alibaba PuHuiTi" pitchFamily="18" charset="-122"/>
              <a:ea typeface="Alibaba PuHuiTi" pitchFamily="18" charset="-122"/>
              <a:cs typeface="Alibaba PuHuiTi" pitchFamily="18" charset="-122"/>
            </a:endParaRPr>
          </a:p>
          <a:p>
            <a:pPr>
              <a:spcBef>
                <a:spcPts val="360"/>
              </a:spcBef>
              <a:spcAft>
                <a:spcPts val="360"/>
              </a:spcAft>
            </a:pPr>
            <a:r>
              <a:rPr lang="en-US" altLang="zh-CN" sz="1600" dirty="0">
                <a:latin typeface="Alibaba PuHuiTi" pitchFamily="18" charset="-122"/>
                <a:ea typeface="Alibaba PuHuiTi" pitchFamily="18" charset="-122"/>
                <a:cs typeface="Alibaba PuHuiTi" pitchFamily="18" charset="-122"/>
              </a:rPr>
              <a:t>η</a:t>
            </a:r>
            <a:r>
              <a:rPr lang="zh-CN" altLang="en-US" sz="1600" dirty="0">
                <a:latin typeface="Alibaba PuHuiTi" pitchFamily="18" charset="-122"/>
                <a:ea typeface="Alibaba PuHuiTi" pitchFamily="18" charset="-122"/>
                <a:cs typeface="Alibaba PuHuiTi" pitchFamily="18" charset="-122"/>
              </a:rPr>
              <a:t>：学习率</a:t>
            </a:r>
            <a:endParaRPr lang="zh-CN" altLang="en-US" sz="1600" dirty="0">
              <a:latin typeface="Alibaba PuHuiTi" pitchFamily="18" charset="-122"/>
              <a:ea typeface="Alibaba PuHuiTi" pitchFamily="18" charset="-122"/>
              <a:cs typeface="Alibaba PuHuiTi" pitchFamily="18"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0" i="0" dirty="0" err="1">
                <a:solidFill>
                  <a:srgbClr val="333333"/>
                </a:solidFill>
                <a:effectLst/>
                <a:latin typeface="Helvetica Neue"/>
              </a:rPr>
              <a:t>Monmentum</a:t>
            </a:r>
            <a:r>
              <a:rPr lang="en-US" altLang="zh-CN" b="0" i="0" dirty="0">
                <a:solidFill>
                  <a:srgbClr val="333333"/>
                </a:solidFill>
                <a:effectLst/>
                <a:latin typeface="Helvetica Neue"/>
              </a:rPr>
              <a:t> </a:t>
            </a:r>
            <a:r>
              <a:rPr lang="zh-CN" altLang="en-US" b="0" i="0" dirty="0">
                <a:solidFill>
                  <a:srgbClr val="333333"/>
                </a:solidFill>
                <a:effectLst/>
                <a:latin typeface="Helvetica Neue"/>
              </a:rPr>
              <a:t>优化方法是如何一定程度上克服 “平缓”、”鞍点” 的问题呢？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marL="285750" indent="-285750" algn="l">
              <a:buFont typeface="Wingdings" panose="05000000000000000000" pitchFamily="2" charset="2"/>
              <a:buChar char="l"/>
            </a:pPr>
            <a:endParaRPr lang="en-US" altLang="zh-CN"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当处于鞍点位置时，由于当前的梯度为 </a:t>
            </a:r>
            <a:r>
              <a:rPr lang="en-US" altLang="zh-CN" b="0" i="0" dirty="0">
                <a:solidFill>
                  <a:srgbClr val="333333"/>
                </a:solidFill>
                <a:effectLst/>
                <a:latin typeface="Helvetica Neue"/>
              </a:rPr>
              <a:t>0</a:t>
            </a:r>
            <a:r>
              <a:rPr lang="zh-CN" altLang="en-US" b="0" i="0" dirty="0">
                <a:solidFill>
                  <a:srgbClr val="333333"/>
                </a:solidFill>
                <a:effectLst/>
                <a:latin typeface="Helvetica Neue"/>
              </a:rPr>
              <a:t>，参数无法更新。但是 </a:t>
            </a:r>
            <a:r>
              <a:rPr lang="en-US" altLang="zh-CN" b="0" i="0" dirty="0">
                <a:solidFill>
                  <a:srgbClr val="333333"/>
                </a:solidFill>
                <a:effectLst/>
                <a:latin typeface="Helvetica Neue"/>
              </a:rPr>
              <a:t>Momentum </a:t>
            </a:r>
            <a:r>
              <a:rPr lang="zh-CN" altLang="en-US" b="0" i="0" dirty="0">
                <a:solidFill>
                  <a:srgbClr val="333333"/>
                </a:solidFill>
                <a:effectLst/>
                <a:latin typeface="Helvetica Neue"/>
              </a:rPr>
              <a:t>动量梯度下降算法已经在先前积累了一些梯度值，很有可能使得跨过鞍点。</a:t>
            </a:r>
            <a:endParaRPr lang="zh-CN" altLang="en-US" b="0" i="0" dirty="0">
              <a:solidFill>
                <a:srgbClr val="333333"/>
              </a:solidFill>
              <a:effectLst/>
              <a:latin typeface="Helvetica Neue"/>
            </a:endParaRPr>
          </a:p>
          <a:p>
            <a:pPr marL="285750" indent="-285750" algn="l">
              <a:buFont typeface="Wingdings" panose="05000000000000000000" pitchFamily="2" charset="2"/>
              <a:buChar char="l"/>
            </a:pPr>
            <a:r>
              <a:rPr lang="zh-CN" altLang="en-US" b="0" i="0" dirty="0">
                <a:solidFill>
                  <a:srgbClr val="333333"/>
                </a:solidFill>
                <a:effectLst/>
                <a:latin typeface="Helvetica Neue"/>
              </a:rPr>
              <a:t>由于 </a:t>
            </a:r>
            <a:r>
              <a:rPr lang="en-US" altLang="zh-CN" b="0" i="0" dirty="0">
                <a:solidFill>
                  <a:srgbClr val="333333"/>
                </a:solidFill>
                <a:effectLst/>
                <a:latin typeface="Helvetica Neue"/>
              </a:rPr>
              <a:t>mini-batch </a:t>
            </a:r>
            <a:r>
              <a:rPr lang="zh-CN" altLang="en-US" b="0" i="0" dirty="0">
                <a:solidFill>
                  <a:srgbClr val="333333"/>
                </a:solidFill>
                <a:effectLst/>
                <a:latin typeface="Helvetica Neue"/>
              </a:rPr>
              <a:t>普通的梯度下降算法，每次选取少数的样本梯度确定前进方向，可能会出现震荡，使得训练时间变长。</a:t>
            </a:r>
            <a:r>
              <a:rPr lang="en-US" altLang="zh-CN" b="0" i="0" dirty="0">
                <a:solidFill>
                  <a:srgbClr val="333333"/>
                </a:solidFill>
                <a:effectLst/>
                <a:latin typeface="Helvetica Neue"/>
              </a:rPr>
              <a:t>Momentum </a:t>
            </a:r>
            <a:r>
              <a:rPr lang="zh-CN" altLang="en-US" b="0" i="0" dirty="0">
                <a:solidFill>
                  <a:srgbClr val="333333"/>
                </a:solidFill>
                <a:effectLst/>
                <a:latin typeface="Helvetica Neue"/>
              </a:rPr>
              <a:t>使用移动加权平均，平滑了梯度的变化，使得前进方向更加平缓，有利于加快训练过程。</a:t>
            </a:r>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997548" y="1974461"/>
            <a:ext cx="4618120" cy="178323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zh-CN" altLang="en-US" b="1" i="0" dirty="0">
                <a:solidFill>
                  <a:srgbClr val="333333"/>
                </a:solidFill>
                <a:effectLst/>
                <a:latin typeface="Helvetica Neue"/>
              </a:rPr>
              <a:t>动量算法</a:t>
            </a:r>
            <a:r>
              <a:rPr lang="en-US" altLang="zh-CN" b="1" i="0" dirty="0">
                <a:solidFill>
                  <a:srgbClr val="333333"/>
                </a:solidFill>
                <a:effectLst/>
                <a:latin typeface="Helvetica Neue"/>
              </a:rPr>
              <a:t>Momentum</a:t>
            </a:r>
            <a:endParaRPr lang="en-US" altLang="zh-CN" b="1" i="0" dirty="0">
              <a:solidFill>
                <a:srgbClr val="333333"/>
              </a:solidFill>
              <a:effectLst/>
              <a:latin typeface="Helvetica Neue"/>
            </a:endParaRPr>
          </a:p>
        </p:txBody>
      </p:sp>
      <p:sp>
        <p:nvSpPr>
          <p:cNvPr id="4" name="文本框 3"/>
          <p:cNvSpPr txBox="1"/>
          <p:nvPr/>
        </p:nvSpPr>
        <p:spPr>
          <a:xfrm>
            <a:off x="252328" y="1479604"/>
            <a:ext cx="8796895"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test01():</a:t>
            </a:r>
            <a:br>
              <a:rPr lang="en-GB" altLang="zh-CN" sz="1400" dirty="0"/>
            </a:br>
            <a:r>
              <a:rPr lang="en-GB" altLang="zh-CN" sz="1400" dirty="0"/>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SGD </a:t>
            </a:r>
            <a:r>
              <a:rPr lang="zh-CN" altLang="en-US" sz="1400" i="1" dirty="0">
                <a:solidFill>
                  <a:srgbClr val="008001"/>
                </a:solidFill>
                <a:effectLst/>
              </a:rPr>
              <a:t>指定参数</a:t>
            </a:r>
            <a:r>
              <a:rPr lang="en-GB" altLang="zh-CN" sz="1400" i="1" dirty="0">
                <a:solidFill>
                  <a:srgbClr val="008001"/>
                </a:solidFill>
                <a:effectLst/>
              </a:rPr>
              <a:t>beta=0.9</a:t>
            </a:r>
            <a:br>
              <a:rPr lang="en-GB" altLang="zh-CN" sz="1400" i="1" dirty="0">
                <a:solidFill>
                  <a:srgbClr val="808080"/>
                </a:solidFill>
                <a:effectLst/>
              </a:rPr>
            </a:br>
            <a:r>
              <a:rPr lang="en-GB" altLang="zh-CN" sz="1400" i="1" dirty="0">
                <a:solidFill>
                  <a:srgbClr val="808080"/>
                </a:solidFill>
                <a:effectLst/>
              </a:rPr>
              <a:t>    </a:t>
            </a:r>
            <a:r>
              <a:rPr lang="en-GB" altLang="zh-CN" sz="1400" dirty="0"/>
              <a:t>optimizer = </a:t>
            </a:r>
            <a:r>
              <a:rPr lang="en-GB" altLang="zh-CN" sz="1400" dirty="0" err="1"/>
              <a:t>torch.optim.SGD</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 </a:t>
            </a:r>
            <a:r>
              <a:rPr lang="en-GB" altLang="zh-CN" sz="1400" dirty="0">
                <a:solidFill>
                  <a:srgbClr val="660099"/>
                </a:solidFill>
                <a:effectLst/>
              </a:rPr>
              <a:t>momentum</a:t>
            </a:r>
            <a:r>
              <a:rPr lang="en-GB" altLang="zh-CN" sz="1400" dirty="0"/>
              <a:t>=</a:t>
            </a:r>
            <a:r>
              <a:rPr lang="en-GB" altLang="zh-CN" sz="1400" dirty="0">
                <a:solidFill>
                  <a:srgbClr val="0000FF"/>
                </a:solidFill>
                <a:effectLst/>
              </a:rPr>
              <a:t>0.9</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US" altLang="zh-CN" sz="1400" i="1" dirty="0">
                <a:solidFill>
                  <a:srgbClr val="808080"/>
                </a:solidFill>
                <a:effectLst/>
              </a:rPr>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9049223" y="4208845"/>
            <a:ext cx="3029764"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dirty="0"/>
              <a:t>第</a:t>
            </a:r>
            <a:r>
              <a:rPr lang="en-US" altLang="zh-CN" sz="1400" dirty="0"/>
              <a:t>1</a:t>
            </a:r>
            <a:r>
              <a:rPr lang="zh-CN" altLang="en-US" sz="1400" dirty="0"/>
              <a:t>次</a:t>
            </a:r>
            <a:r>
              <a:rPr lang="en-US" altLang="zh-CN" sz="1400" dirty="0"/>
              <a:t>: </a:t>
            </a:r>
            <a:r>
              <a:rPr lang="zh-CN" altLang="en-US" sz="1400" dirty="0"/>
              <a:t>梯度</a:t>
            </a:r>
            <a:r>
              <a:rPr lang="en-US" altLang="zh-CN" sz="1400" dirty="0" err="1"/>
              <a:t>w.grad</a:t>
            </a:r>
            <a:r>
              <a:rPr lang="en-US" altLang="zh-CN" sz="1400" dirty="0"/>
              <a:t>: 1.0000000000, </a:t>
            </a:r>
            <a:r>
              <a:rPr lang="zh-CN" altLang="en-US" sz="1400" dirty="0"/>
              <a:t>更新后的权重</a:t>
            </a:r>
            <a:r>
              <a:rPr lang="en-US" altLang="zh-CN" sz="1400" dirty="0"/>
              <a:t>:0.9900000095</a:t>
            </a:r>
            <a:endParaRPr lang="en-US" altLang="zh-CN" sz="1400" dirty="0"/>
          </a:p>
          <a:p>
            <a:r>
              <a:rPr lang="zh-CN" altLang="en-US" sz="1400" dirty="0"/>
              <a:t>第</a:t>
            </a:r>
            <a:r>
              <a:rPr lang="en-US" altLang="zh-CN" sz="1400" dirty="0"/>
              <a:t>2</a:t>
            </a:r>
            <a:r>
              <a:rPr lang="zh-CN" altLang="en-US" sz="1400" dirty="0"/>
              <a:t>次</a:t>
            </a:r>
            <a:r>
              <a:rPr lang="en-US" altLang="zh-CN" sz="1400" dirty="0"/>
              <a:t>: </a:t>
            </a:r>
            <a:r>
              <a:rPr lang="zh-CN" altLang="en-US" sz="1400" dirty="0"/>
              <a:t>梯度</a:t>
            </a:r>
            <a:r>
              <a:rPr lang="en-US" altLang="zh-CN" sz="1400" dirty="0" err="1"/>
              <a:t>w.grad</a:t>
            </a:r>
            <a:r>
              <a:rPr lang="en-US" altLang="zh-CN" sz="1400" dirty="0"/>
              <a:t>: 0.9900000095, </a:t>
            </a:r>
            <a:r>
              <a:rPr lang="zh-CN" altLang="en-US" sz="1400" dirty="0"/>
              <a:t>更新后的权重</a:t>
            </a:r>
            <a:r>
              <a:rPr lang="en-US" altLang="zh-CN" sz="1400" dirty="0"/>
              <a:t>:0.9711000323</a:t>
            </a:r>
            <a:endParaRPr lang="zh-CN" altLang="en-US" sz="14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en-US" altLang="zh-CN" dirty="0" err="1">
                <a:solidFill>
                  <a:srgbClr val="333333"/>
                </a:solidFill>
                <a:latin typeface="Helvetica Neue"/>
              </a:rPr>
              <a:t>adaGrad</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b="0" i="0" dirty="0" err="1">
                <a:solidFill>
                  <a:srgbClr val="333333"/>
                </a:solidFill>
                <a:effectLst/>
                <a:latin typeface="Helvetica Neue"/>
              </a:rPr>
              <a:t>AdaGrad</a:t>
            </a:r>
            <a:r>
              <a:rPr lang="en-US" altLang="zh-CN" b="0" i="0" dirty="0">
                <a:solidFill>
                  <a:srgbClr val="333333"/>
                </a:solidFill>
                <a:effectLst/>
                <a:latin typeface="Helvetica Neue"/>
              </a:rPr>
              <a:t> </a:t>
            </a:r>
            <a:r>
              <a:rPr lang="zh-CN" altLang="en-US" b="0" i="0" dirty="0">
                <a:solidFill>
                  <a:srgbClr val="333333"/>
                </a:solidFill>
                <a:effectLst/>
                <a:latin typeface="Helvetica Neue"/>
              </a:rPr>
              <a:t>通过对不同的参数分量使用不同的学习率，</a:t>
            </a:r>
            <a:r>
              <a:rPr lang="en-US" altLang="zh-CN" b="1" i="0" dirty="0" err="1">
                <a:solidFill>
                  <a:srgbClr val="333333"/>
                </a:solidFill>
                <a:effectLst/>
                <a:latin typeface="Helvetica Neue"/>
              </a:rPr>
              <a:t>AdaGrad</a:t>
            </a:r>
            <a:r>
              <a:rPr lang="en-US" altLang="zh-CN" b="1" i="0" dirty="0">
                <a:solidFill>
                  <a:srgbClr val="333333"/>
                </a:solidFill>
                <a:effectLst/>
                <a:latin typeface="Helvetica Neue"/>
              </a:rPr>
              <a:t> </a:t>
            </a:r>
            <a:r>
              <a:rPr lang="zh-CN" altLang="en-US" b="1" i="0" dirty="0">
                <a:solidFill>
                  <a:srgbClr val="333333"/>
                </a:solidFill>
                <a:effectLst/>
                <a:latin typeface="Helvetica Neue"/>
              </a:rPr>
              <a:t>的学习率总体会逐渐减小</a:t>
            </a:r>
            <a:r>
              <a:rPr lang="zh-CN" altLang="en-US" b="0" i="0" dirty="0">
                <a:solidFill>
                  <a:srgbClr val="333333"/>
                </a:solidFill>
                <a:effectLst/>
                <a:latin typeface="Helvetica Neue"/>
              </a:rPr>
              <a:t>。</a:t>
            </a:r>
            <a:endParaRPr lang="zh-CN" altLang="en-US" b="0" i="0" dirty="0">
              <a:solidFill>
                <a:srgbClr val="333333"/>
              </a:solidFill>
              <a:effectLst/>
              <a:latin typeface="Helvetica Neue"/>
            </a:endParaRPr>
          </a:p>
          <a:p>
            <a:pPr algn="l"/>
            <a:r>
              <a:rPr lang="zh-CN" altLang="en-US" b="0" i="0" dirty="0">
                <a:solidFill>
                  <a:srgbClr val="333333"/>
                </a:solidFill>
                <a:effectLst/>
                <a:latin typeface="Helvetica Neue"/>
              </a:rPr>
              <a:t>其计算步骤如下：</a:t>
            </a:r>
            <a:endParaRPr lang="zh-CN" altLang="en-US" b="0" i="0" dirty="0">
              <a:solidFill>
                <a:srgbClr val="333333"/>
              </a:solidFill>
              <a:effectLst/>
              <a:latin typeface="Helvetica Neue"/>
            </a:endParaRPr>
          </a:p>
          <a:p>
            <a:pPr algn="l"/>
            <a:r>
              <a:rPr lang="en-US" altLang="zh-CN"/>
              <a:t>1. </a:t>
            </a:r>
            <a:r>
              <a:rPr lang="zh-CN" altLang="en-US"/>
              <a:t>初始化学习率</a:t>
            </a:r>
            <a:r>
              <a:rPr lang="en-US" altLang="zh-CN"/>
              <a:t> η</a:t>
            </a:r>
            <a:r>
              <a:rPr lang="zh-CN" altLang="en-US"/>
              <a:t>、初始化参数</a:t>
            </a:r>
            <a:r>
              <a:rPr lang="en-US" altLang="zh-CN"/>
              <a:t>w</a:t>
            </a:r>
            <a:r>
              <a:rPr lang="zh-CN" altLang="en-US"/>
              <a:t>、小常数</a:t>
            </a:r>
            <a:r>
              <a:rPr lang="en-US" altLang="zh-CN"/>
              <a:t> σ = 1e-10</a:t>
            </a:r>
            <a:endParaRPr lang="en-US" altLang="zh-CN"/>
          </a:p>
          <a:p>
            <a:pPr algn="l"/>
            <a:r>
              <a:rPr lang="en-US" altLang="zh-CN"/>
              <a:t>2. </a:t>
            </a:r>
            <a:r>
              <a:rPr lang="zh-CN" altLang="en-US"/>
              <a:t>初始化梯度累计变量</a:t>
            </a:r>
            <a:r>
              <a:rPr lang="en-US" altLang="zh-CN"/>
              <a:t> s = 0</a:t>
            </a:r>
            <a:endParaRPr lang="en-US" altLang="zh-CN"/>
          </a:p>
          <a:p>
            <a:pPr algn="l"/>
            <a:r>
              <a:rPr lang="en-US" altLang="zh-CN"/>
              <a:t>3. </a:t>
            </a:r>
            <a:r>
              <a:rPr lang="zh-CN" altLang="en-US"/>
              <a:t>从训练集中采样</a:t>
            </a:r>
            <a:r>
              <a:rPr lang="en-US" altLang="zh-CN"/>
              <a:t> m </a:t>
            </a:r>
            <a:r>
              <a:rPr lang="zh-CN" altLang="en-US"/>
              <a:t>个样本的小批量，计算梯度</a:t>
            </a:r>
            <a:r>
              <a:rPr lang="en-US" altLang="zh-CN"/>
              <a:t>g_t</a:t>
            </a:r>
            <a:endParaRPr lang="en-US" altLang="zh-CN"/>
          </a:p>
          <a:p>
            <a:pPr algn="l"/>
            <a:r>
              <a:rPr lang="en-US" altLang="zh-CN"/>
              <a:t>4. </a:t>
            </a:r>
            <a:r>
              <a:rPr lang="zh-CN" altLang="en-US"/>
              <a:t>累积平方梯度</a:t>
            </a:r>
            <a:r>
              <a:rPr lang="en-US" altLang="zh-CN"/>
              <a:t>: s_t = s_t-1 + g_t ⊙ g_t</a:t>
            </a:r>
            <a:r>
              <a:rPr lang="zh-CN" altLang="en-US"/>
              <a:t>，</a:t>
            </a:r>
            <a:r>
              <a:rPr lang="en-US" altLang="zh-CN"/>
              <a:t>⊙ </a:t>
            </a:r>
            <a:r>
              <a:rPr lang="zh-CN" altLang="en-US"/>
              <a:t>表示各个分量相乘</a:t>
            </a:r>
            <a:endParaRPr lang="en-US" altLang="zh-CN"/>
          </a:p>
          <a:p>
            <a:pPr algn="l"/>
            <a:r>
              <a:rPr lang="en-US" altLang="zh-CN"/>
              <a:t>5. </a:t>
            </a:r>
            <a:r>
              <a:rPr lang="zh-CN" altLang="en-US"/>
              <a:t>学习率</a:t>
            </a:r>
            <a:r>
              <a:rPr lang="en-US" altLang="zh-CN"/>
              <a:t> η </a:t>
            </a:r>
            <a:r>
              <a:rPr lang="zh-CN" altLang="en-US"/>
              <a:t>的计算公式如下：</a:t>
            </a:r>
            <a:r>
              <a:rPr lang="en-US" altLang="zh-CN"/>
              <a:t>										 </a:t>
            </a:r>
            <a:endParaRPr lang="en-US" altLang="zh-CN"/>
          </a:p>
          <a:p>
            <a:pPr algn="l"/>
            <a:r>
              <a:rPr lang="en-US" altLang="zh-CN"/>
              <a:t>6. </a:t>
            </a:r>
            <a:r>
              <a:rPr lang="zh-CN" altLang="en-US"/>
              <a:t>权重参数更新公式如下：</a:t>
            </a:r>
            <a:r>
              <a:rPr lang="en-US" altLang="zh-CN"/>
              <a:t>										         </a:t>
            </a:r>
            <a:endParaRPr lang="en-US" altLang="zh-CN"/>
          </a:p>
          <a:p>
            <a:pPr algn="l"/>
            <a:r>
              <a:rPr lang="en-US" altLang="zh-CN"/>
              <a:t>7. </a:t>
            </a:r>
            <a:r>
              <a:rPr lang="zh-CN" altLang="en-US"/>
              <a:t>重复</a:t>
            </a:r>
            <a:r>
              <a:rPr lang="en-US" altLang="zh-CN"/>
              <a:t> 3-7 </a:t>
            </a:r>
            <a:r>
              <a:rPr lang="zh-CN" altLang="en-US"/>
              <a:t>步骤</a:t>
            </a:r>
            <a:endParaRPr lang="zh-CN" altLang="en-US"/>
          </a:p>
          <a:p>
            <a:pPr algn="l"/>
            <a:r>
              <a:rPr lang="en-US" altLang="zh-CN" b="1" i="0" dirty="0" err="1">
                <a:solidFill>
                  <a:srgbClr val="333333"/>
                </a:solidFill>
                <a:effectLst/>
                <a:latin typeface="Helvetica Neue"/>
              </a:rPr>
              <a:t>AdaGrad</a:t>
            </a:r>
            <a:r>
              <a:rPr lang="en-US" altLang="zh-CN" b="1" i="0" dirty="0">
                <a:solidFill>
                  <a:srgbClr val="333333"/>
                </a:solidFill>
                <a:effectLst/>
                <a:latin typeface="Helvetica Neue"/>
              </a:rPr>
              <a:t> </a:t>
            </a:r>
            <a:r>
              <a:rPr lang="zh-CN" altLang="en-US" b="1" i="0" dirty="0">
                <a:solidFill>
                  <a:srgbClr val="333333"/>
                </a:solidFill>
                <a:effectLst/>
                <a:latin typeface="Helvetica Neue"/>
              </a:rPr>
              <a:t>缺点是可能会使得学习率过早、过量的降低，导致模型训练后期学习率太小，较难找到最优解。</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3604260" y="4362450"/>
            <a:ext cx="1304925" cy="447675"/>
          </a:xfrm>
          <a:prstGeom prst="rect">
            <a:avLst/>
          </a:prstGeom>
        </p:spPr>
      </p:pic>
      <p:pic>
        <p:nvPicPr>
          <p:cNvPr id="5" name="图片 4"/>
          <p:cNvPicPr>
            <a:picLocks noChangeAspect="1"/>
          </p:cNvPicPr>
          <p:nvPr/>
        </p:nvPicPr>
        <p:blipFill>
          <a:blip r:embed="rId2"/>
          <a:stretch>
            <a:fillRect/>
          </a:stretch>
        </p:blipFill>
        <p:spPr>
          <a:xfrm>
            <a:off x="3604260" y="5253355"/>
            <a:ext cx="2886075" cy="43815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t>
            </a:r>
            <a:r>
              <a:rPr lang="en-US" altLang="zh-CN" dirty="0" err="1">
                <a:solidFill>
                  <a:srgbClr val="333333"/>
                </a:solidFill>
                <a:latin typeface="Helvetica Neue"/>
              </a:rPr>
              <a:t>AdaGrad</a:t>
            </a:r>
            <a:endParaRPr lang="zh-CN" altLang="en-US" b="1" i="0" dirty="0">
              <a:solidFill>
                <a:srgbClr val="333333"/>
              </a:solidFill>
              <a:effectLst/>
              <a:latin typeface="Helvetica Neue"/>
            </a:endParaRPr>
          </a:p>
        </p:txBody>
      </p:sp>
      <p:sp>
        <p:nvSpPr>
          <p:cNvPr id="4" name="文本框 3"/>
          <p:cNvSpPr txBox="1"/>
          <p:nvPr/>
        </p:nvSpPr>
        <p:spPr>
          <a:xfrm>
            <a:off x="340311" y="1605555"/>
            <a:ext cx="8095769"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test02():</a:t>
            </a:r>
            <a:br>
              <a:rPr lang="en-GB" altLang="zh-CN" sz="1400" dirty="0"/>
            </a:br>
            <a:r>
              <a:rPr lang="en-GB" altLang="zh-CN" sz="1400" dirty="0">
                <a:solidFill>
                  <a:srgbClr val="008001"/>
                </a:solidFill>
              </a:rPr>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err="1">
                <a:solidFill>
                  <a:srgbClr val="008001"/>
                </a:solidFill>
                <a:effectLst/>
              </a:rPr>
              <a:t>adagrad</a:t>
            </a:r>
            <a:r>
              <a:rPr lang="zh-CN" altLang="en-US" sz="1400" i="1" dirty="0">
                <a:solidFill>
                  <a:srgbClr val="008001"/>
                </a:solidFill>
                <a:effectLst/>
              </a:rPr>
              <a:t>优化方法</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torch.optim.Adagrad</a:t>
            </a:r>
            <a:r>
              <a:rPr lang="en-GB" altLang="zh-CN" sz="1400" dirty="0"/>
              <a:t> ([w],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
        <p:nvSpPr>
          <p:cNvPr id="6" name="文本框 5"/>
          <p:cNvSpPr txBox="1"/>
          <p:nvPr/>
        </p:nvSpPr>
        <p:spPr>
          <a:xfrm>
            <a:off x="8669374" y="4526955"/>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:0.990000</a:t>
            </a:r>
            <a:r>
              <a:rPr lang="zh-CN" altLang="en-US" sz="1400" b="0" i="0" dirty="0">
                <a:solidFill>
                  <a:srgbClr val="36464E"/>
                </a:solidFill>
                <a:effectLst/>
                <a:latin typeface="Roboto Mono" pitchFamily="49" charset="0"/>
              </a:rPr>
              <a:t> 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0.990000,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:0.982965</a:t>
            </a:r>
            <a:endParaRPr lang="zh-CN" altLang="en-US" sz="14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err="1">
                <a:solidFill>
                  <a:srgbClr val="333333"/>
                </a:solidFill>
                <a:latin typeface="Helvetica Neue"/>
              </a:rPr>
              <a:t>RMSProp</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en-US" altLang="zh-CN" sz="1800" b="1" i="0" dirty="0" err="1">
                <a:solidFill>
                  <a:srgbClr val="333333"/>
                </a:solidFill>
                <a:effectLst/>
                <a:latin typeface="Helvetica Neue"/>
              </a:rPr>
              <a:t>RMSProp</a:t>
            </a:r>
            <a:r>
              <a:rPr lang="en-US" altLang="zh-CN" sz="1800" b="1" i="0" dirty="0">
                <a:solidFill>
                  <a:srgbClr val="333333"/>
                </a:solidFill>
                <a:effectLst/>
                <a:latin typeface="Helvetica Neue"/>
              </a:rPr>
              <a:t> </a:t>
            </a:r>
            <a:r>
              <a:rPr lang="zh-CN" altLang="en-US" sz="1800" b="1" i="0" dirty="0">
                <a:solidFill>
                  <a:srgbClr val="333333"/>
                </a:solidFill>
                <a:effectLst/>
                <a:latin typeface="Helvetica Neue"/>
              </a:rPr>
              <a:t>优化算法是对 </a:t>
            </a:r>
            <a:r>
              <a:rPr lang="en-US" altLang="zh-CN" sz="1800" b="1" i="0" dirty="0" err="1">
                <a:solidFill>
                  <a:srgbClr val="333333"/>
                </a:solidFill>
                <a:effectLst/>
                <a:latin typeface="Helvetica Neue"/>
              </a:rPr>
              <a:t>AdaGrad</a:t>
            </a:r>
            <a:r>
              <a:rPr lang="en-US" altLang="zh-CN" sz="1800" b="1" i="0" dirty="0">
                <a:solidFill>
                  <a:srgbClr val="333333"/>
                </a:solidFill>
                <a:effectLst/>
                <a:latin typeface="Helvetica Neue"/>
              </a:rPr>
              <a:t> </a:t>
            </a:r>
            <a:r>
              <a:rPr lang="zh-CN" altLang="en-US" sz="1800" b="1" i="0" dirty="0">
                <a:solidFill>
                  <a:srgbClr val="333333"/>
                </a:solidFill>
                <a:effectLst/>
                <a:latin typeface="Helvetica Neue"/>
              </a:rPr>
              <a:t>的优化</a:t>
            </a:r>
            <a:r>
              <a:rPr lang="en-US" altLang="zh-CN" sz="1800" b="0" i="0" dirty="0">
                <a:solidFill>
                  <a:srgbClr val="333333"/>
                </a:solidFill>
                <a:effectLst/>
                <a:latin typeface="Helvetica Neue"/>
              </a:rPr>
              <a:t>. </a:t>
            </a:r>
            <a:r>
              <a:rPr lang="zh-CN" altLang="en-US" sz="1800" b="0" i="0" dirty="0">
                <a:solidFill>
                  <a:srgbClr val="333333"/>
                </a:solidFill>
                <a:effectLst/>
                <a:latin typeface="Helvetica Neue"/>
              </a:rPr>
              <a:t>最主要的不同是，其使用</a:t>
            </a:r>
            <a:r>
              <a:rPr lang="zh-CN" altLang="en-US" sz="1800" b="1" i="0" dirty="0">
                <a:solidFill>
                  <a:srgbClr val="333333"/>
                </a:solidFill>
                <a:effectLst/>
                <a:latin typeface="Helvetica Neue"/>
              </a:rPr>
              <a:t>指数加权平均梯度</a:t>
            </a:r>
            <a:r>
              <a:rPr lang="zh-CN" altLang="en-US" sz="1800" b="0" i="0" dirty="0">
                <a:solidFill>
                  <a:srgbClr val="333333"/>
                </a:solidFill>
                <a:effectLst/>
                <a:latin typeface="Helvetica Neue"/>
              </a:rPr>
              <a:t>替换历史梯度的平方和。其计算过程如下：</a:t>
            </a:r>
            <a:endParaRPr lang="zh-CN" altLang="en-US" sz="1800" b="0" i="0" dirty="0">
              <a:solidFill>
                <a:srgbClr val="333333"/>
              </a:solidFill>
              <a:effectLst/>
              <a:latin typeface="Helvetica Neue"/>
            </a:endParaRPr>
          </a:p>
          <a:p>
            <a:pPr algn="l">
              <a:buFont typeface="+mj-lt"/>
            </a:pPr>
            <a:r>
              <a:rPr lang="en-US" altLang="zh-CN"/>
              <a:t>1. </a:t>
            </a:r>
            <a:r>
              <a:rPr lang="zh-CN" altLang="en-US"/>
              <a:t>初始化学习率</a:t>
            </a:r>
            <a:r>
              <a:rPr lang="en-US" altLang="zh-CN"/>
              <a:t> η</a:t>
            </a:r>
            <a:r>
              <a:rPr lang="zh-CN" altLang="en-US"/>
              <a:t>、初始化权重参数</a:t>
            </a:r>
            <a:r>
              <a:rPr lang="en-US" altLang="zh-CN"/>
              <a:t>w</a:t>
            </a:r>
            <a:r>
              <a:rPr lang="zh-CN" altLang="en-US"/>
              <a:t>、小常数</a:t>
            </a:r>
            <a:r>
              <a:rPr lang="en-US" altLang="zh-CN"/>
              <a:t> σ = 1e-10</a:t>
            </a:r>
            <a:endParaRPr lang="en-US" altLang="zh-CN"/>
          </a:p>
          <a:p>
            <a:pPr algn="l">
              <a:buFont typeface="+mj-lt"/>
            </a:pPr>
            <a:r>
              <a:rPr lang="en-US" altLang="zh-CN"/>
              <a:t>2. </a:t>
            </a:r>
            <a:r>
              <a:rPr lang="zh-CN" altLang="en-US"/>
              <a:t>初始化梯度累计变量</a:t>
            </a:r>
            <a:r>
              <a:rPr lang="en-US" altLang="zh-CN"/>
              <a:t> s = 0</a:t>
            </a:r>
            <a:endParaRPr lang="en-US" altLang="zh-CN"/>
          </a:p>
          <a:p>
            <a:pPr algn="l">
              <a:buFont typeface="+mj-lt"/>
            </a:pPr>
            <a:r>
              <a:rPr lang="en-US" altLang="zh-CN"/>
              <a:t>3. </a:t>
            </a:r>
            <a:r>
              <a:rPr lang="zh-CN" altLang="en-US"/>
              <a:t>从训练集中采样</a:t>
            </a:r>
            <a:r>
              <a:rPr lang="en-US" altLang="zh-CN"/>
              <a:t> m </a:t>
            </a:r>
            <a:r>
              <a:rPr lang="zh-CN" altLang="en-US"/>
              <a:t>个样本的小批量，计算梯度</a:t>
            </a:r>
            <a:r>
              <a:rPr lang="en-US" altLang="zh-CN"/>
              <a:t> g_t</a:t>
            </a:r>
            <a:endParaRPr lang="en-US" altLang="zh-CN"/>
          </a:p>
          <a:p>
            <a:pPr algn="l">
              <a:buFont typeface="+mj-lt"/>
            </a:pPr>
            <a:r>
              <a:rPr lang="en-US" altLang="zh-CN"/>
              <a:t>4. </a:t>
            </a:r>
            <a:r>
              <a:rPr lang="zh-CN" altLang="en-US"/>
              <a:t>使用指数加权平均累计历史梯度，</a:t>
            </a:r>
            <a:r>
              <a:rPr lang="en-US" altLang="zh-CN"/>
              <a:t>⊙ </a:t>
            </a:r>
            <a:r>
              <a:rPr lang="zh-CN" altLang="en-US"/>
              <a:t>表示各个分量相乘，公式如下：</a:t>
            </a:r>
            <a:endParaRPr lang="zh-CN" altLang="en-US"/>
          </a:p>
          <a:p>
            <a:pPr algn="l">
              <a:buFont typeface="+mj-lt"/>
            </a:pPr>
            <a:endParaRPr lang="en-US" altLang="zh-CN"/>
          </a:p>
          <a:p>
            <a:pPr algn="l">
              <a:buFont typeface="+mj-lt"/>
            </a:pPr>
            <a:r>
              <a:rPr lang="en-US" altLang="zh-CN"/>
              <a:t>5. </a:t>
            </a:r>
            <a:r>
              <a:rPr lang="zh-CN" altLang="en-US"/>
              <a:t>学习率</a:t>
            </a:r>
            <a:r>
              <a:rPr lang="en-US" altLang="zh-CN"/>
              <a:t> η </a:t>
            </a:r>
            <a:r>
              <a:rPr lang="zh-CN" altLang="en-US"/>
              <a:t>的计算公式如下：</a:t>
            </a:r>
            <a:endParaRPr lang="zh-CN" altLang="en-US"/>
          </a:p>
          <a:p>
            <a:pPr algn="l">
              <a:buFont typeface="+mj-lt"/>
            </a:pPr>
            <a:endParaRPr lang="en-US" altLang="zh-CN"/>
          </a:p>
          <a:p>
            <a:pPr algn="l">
              <a:buFont typeface="+mj-lt"/>
            </a:pPr>
            <a:r>
              <a:rPr lang="en-US" altLang="zh-CN"/>
              <a:t>6. </a:t>
            </a:r>
            <a:r>
              <a:rPr lang="zh-CN" altLang="en-US"/>
              <a:t>权重参数更新公式如下：</a:t>
            </a:r>
            <a:endParaRPr lang="zh-CN" altLang="en-US"/>
          </a:p>
          <a:p>
            <a:pPr algn="l">
              <a:buFont typeface="+mj-lt"/>
            </a:pPr>
            <a:endParaRPr lang="en-US" altLang="zh-CN"/>
          </a:p>
          <a:p>
            <a:pPr algn="l">
              <a:buFont typeface="+mj-lt"/>
            </a:pPr>
            <a:r>
              <a:rPr lang="en-US" altLang="zh-CN"/>
              <a:t>7. </a:t>
            </a:r>
            <a:r>
              <a:rPr lang="zh-CN" altLang="en-US"/>
              <a:t>重复</a:t>
            </a:r>
            <a:r>
              <a:rPr lang="en-US" altLang="zh-CN"/>
              <a:t> 3-7 </a:t>
            </a:r>
            <a:r>
              <a:rPr lang="zh-CN" altLang="en-US"/>
              <a:t>步骤</a:t>
            </a:r>
            <a:endParaRPr lang="zh-CN" altLang="en-US"/>
          </a:p>
          <a:p>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3768725" y="4098925"/>
            <a:ext cx="2724150" cy="361950"/>
          </a:xfrm>
          <a:prstGeom prst="rect">
            <a:avLst/>
          </a:prstGeom>
        </p:spPr>
      </p:pic>
      <p:pic>
        <p:nvPicPr>
          <p:cNvPr id="5" name="图片 4"/>
          <p:cNvPicPr>
            <a:picLocks noChangeAspect="1"/>
          </p:cNvPicPr>
          <p:nvPr/>
        </p:nvPicPr>
        <p:blipFill>
          <a:blip r:embed="rId2"/>
          <a:stretch>
            <a:fillRect/>
          </a:stretch>
        </p:blipFill>
        <p:spPr>
          <a:xfrm>
            <a:off x="3768725" y="4980940"/>
            <a:ext cx="1181100" cy="438150"/>
          </a:xfrm>
          <a:prstGeom prst="rect">
            <a:avLst/>
          </a:prstGeom>
        </p:spPr>
      </p:pic>
      <p:pic>
        <p:nvPicPr>
          <p:cNvPr id="6" name="图片 5"/>
          <p:cNvPicPr>
            <a:picLocks noChangeAspect="1"/>
          </p:cNvPicPr>
          <p:nvPr/>
        </p:nvPicPr>
        <p:blipFill>
          <a:blip r:embed="rId3"/>
          <a:stretch>
            <a:fillRect/>
          </a:stretch>
        </p:blipFill>
        <p:spPr>
          <a:xfrm>
            <a:off x="3768725" y="5755005"/>
            <a:ext cx="2686050" cy="4572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endParaRPr lang="zh-CN" altLang="en-US" b="1" i="0" dirty="0">
              <a:solidFill>
                <a:srgbClr val="333333"/>
              </a:solidFill>
              <a:effectLst/>
              <a:latin typeface="Helvetica Neue"/>
            </a:endParaRPr>
          </a:p>
        </p:txBody>
      </p:sp>
      <p:sp>
        <p:nvSpPr>
          <p:cNvPr id="4" name="文本框 3"/>
          <p:cNvSpPr txBox="1"/>
          <p:nvPr/>
        </p:nvSpPr>
        <p:spPr>
          <a:xfrm>
            <a:off x="710880" y="1457271"/>
            <a:ext cx="8095769"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test03():</a:t>
            </a:r>
            <a:br>
              <a:rPr lang="en-GB" altLang="zh-CN" sz="1400" dirty="0"/>
            </a:br>
            <a:r>
              <a:rPr lang="en-GB" altLang="zh-CN" sz="1400" dirty="0">
                <a:solidFill>
                  <a:srgbClr val="008001"/>
                </a:solidFill>
              </a:rPr>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 </a:t>
            </a:r>
            <a:r>
              <a:rPr lang="en-GB" altLang="zh-CN" sz="1400" dirty="0" err="1">
                <a:solidFill>
                  <a:srgbClr val="660099"/>
                </a:solidFill>
                <a:effectLst/>
              </a:rPr>
              <a:t>dtype</a:t>
            </a:r>
            <a:r>
              <a:rPr lang="en-GB" altLang="zh-CN" sz="1400" dirty="0"/>
              <a:t>=torch.float32)</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RMSprop</a:t>
            </a:r>
            <a:r>
              <a:rPr lang="zh-CN" altLang="en-US" sz="1400" i="1" dirty="0">
                <a:solidFill>
                  <a:srgbClr val="008001"/>
                </a:solidFill>
                <a:effectLst/>
              </a:rPr>
              <a:t>算法，其中</a:t>
            </a:r>
            <a:r>
              <a:rPr lang="en-GB" altLang="zh-CN" sz="1400" i="1" dirty="0">
                <a:solidFill>
                  <a:srgbClr val="008001"/>
                </a:solidFill>
                <a:effectLst/>
              </a:rPr>
              <a:t>alpha</a:t>
            </a:r>
            <a:r>
              <a:rPr lang="zh-CN" altLang="en-US" sz="1400" i="1" dirty="0">
                <a:solidFill>
                  <a:srgbClr val="008001"/>
                </a:solidFill>
                <a:effectLst/>
              </a:rPr>
              <a:t>对应这</a:t>
            </a:r>
            <a:r>
              <a:rPr lang="en-GB" altLang="zh-CN" sz="1400" i="1" dirty="0">
                <a:solidFill>
                  <a:srgbClr val="008001"/>
                </a:solidFill>
                <a:effectLst/>
              </a:rPr>
              <a:t>beta</a:t>
            </a:r>
            <a:br>
              <a:rPr lang="en-GB" altLang="zh-CN" sz="1400" i="1" dirty="0">
                <a:solidFill>
                  <a:srgbClr val="808080"/>
                </a:solidFill>
                <a:effectLst/>
              </a:rPr>
            </a:br>
            <a:r>
              <a:rPr lang="en-GB" altLang="zh-CN" sz="1400" i="1" dirty="0">
                <a:solidFill>
                  <a:srgbClr val="808080"/>
                </a:solidFill>
                <a:effectLst/>
              </a:rPr>
              <a:t>    </a:t>
            </a:r>
            <a:r>
              <a:rPr lang="en-GB" altLang="zh-CN" sz="1400" dirty="0"/>
              <a:t>optimizer = </a:t>
            </a:r>
            <a:r>
              <a:rPr lang="en-GB" altLang="zh-CN" sz="1400" dirty="0" err="1"/>
              <a:t>torch.optim.RMSprop</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r>
              <a:rPr lang="en-GB" altLang="zh-CN" sz="1400" dirty="0">
                <a:solidFill>
                  <a:srgbClr val="660099"/>
                </a:solidFill>
                <a:effectLst/>
              </a:rPr>
              <a:t>alpha</a:t>
            </a:r>
            <a:r>
              <a:rPr lang="en-GB" altLang="zh-CN" sz="1400" dirty="0"/>
              <a:t>=</a:t>
            </a:r>
            <a:r>
              <a:rPr lang="en-GB" altLang="zh-CN" sz="1400" dirty="0">
                <a:solidFill>
                  <a:srgbClr val="0000FF"/>
                </a:solidFill>
                <a:effectLst/>
              </a:rPr>
              <a:t>0.9</a:t>
            </a:r>
            <a:r>
              <a:rPr lang="en-GB" altLang="zh-CN" sz="1400" dirty="0"/>
              <a:t>)</a:t>
            </a:r>
            <a:br>
              <a:rPr lang="en-GB" altLang="zh-CN" sz="1400" dirty="0"/>
            </a:br>
            <a:br>
              <a:rPr lang="en-GB" altLang="zh-CN" sz="1400" dirty="0">
                <a:solidFill>
                  <a:srgbClr val="008001"/>
                </a:solidFill>
              </a:rPr>
            </a:br>
            <a:r>
              <a:rPr lang="en-GB" altLang="zh-CN" sz="1400" dirty="0">
                <a:solidFill>
                  <a:srgbClr val="008001"/>
                </a:solidFill>
              </a:rPr>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8806649" y="4231178"/>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:0.968377</a:t>
            </a:r>
            <a:r>
              <a:rPr lang="zh-CN" altLang="en-US" sz="1400" b="0" i="0" dirty="0">
                <a:solidFill>
                  <a:srgbClr val="36464E"/>
                </a:solidFill>
                <a:effectLst/>
                <a:latin typeface="Roboto Mono" pitchFamily="49" charset="0"/>
              </a:rPr>
              <a:t> 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0.968377,</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:0.945788</a:t>
            </a:r>
            <a:endParaRPr lang="zh-CN" alt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-Adam</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565" y="1554480"/>
            <a:ext cx="10699115" cy="5424805"/>
          </a:xfrm>
        </p:spPr>
        <p:txBody>
          <a:bodyPr/>
          <a:lstStyle/>
          <a:p>
            <a:pPr marL="285750" indent="-285750" algn="l">
              <a:buFont typeface="Wingdings" panose="05000000000000000000" pitchFamily="2" charset="2"/>
              <a:buChar char="l"/>
            </a:pPr>
            <a:r>
              <a:rPr lang="en-US" altLang="zh-CN"/>
              <a:t>Momentum </a:t>
            </a:r>
            <a:r>
              <a:rPr lang="zh-CN" altLang="en-US"/>
              <a:t>使用指数加权平均计算当前的梯度值</a:t>
            </a:r>
            <a:endParaRPr lang="en-US" altLang="zh-CN"/>
          </a:p>
          <a:p>
            <a:pPr marL="285750" indent="-285750" algn="l">
              <a:buFont typeface="Wingdings" panose="05000000000000000000" pitchFamily="2" charset="2"/>
              <a:buChar char="l"/>
            </a:pPr>
            <a:r>
              <a:rPr lang="en-US" altLang="zh-CN"/>
              <a:t>AdaGrad</a:t>
            </a:r>
            <a:r>
              <a:rPr lang="zh-CN" altLang="en-US"/>
              <a:t>、</a:t>
            </a:r>
            <a:r>
              <a:rPr lang="en-US" altLang="zh-CN"/>
              <a:t>RMSProp </a:t>
            </a:r>
            <a:r>
              <a:rPr lang="zh-CN" altLang="en-US"/>
              <a:t>使用自适应的学习率</a:t>
            </a:r>
            <a:endParaRPr lang="en-US" altLang="zh-CN"/>
          </a:p>
          <a:p>
            <a:pPr marL="285750" indent="-285750" algn="l">
              <a:buFont typeface="Wingdings" panose="05000000000000000000" pitchFamily="2" charset="2"/>
              <a:buChar char="l"/>
            </a:pPr>
            <a:r>
              <a:rPr lang="en-US" altLang="zh-CN"/>
              <a:t>Adam</a:t>
            </a:r>
            <a:r>
              <a:rPr lang="zh-CN" altLang="en-US"/>
              <a:t>优化算法（</a:t>
            </a:r>
            <a:r>
              <a:rPr lang="en-US" altLang="zh-CN"/>
              <a:t>Adaptive Moment Estimation</a:t>
            </a:r>
            <a:r>
              <a:rPr lang="zh-CN" altLang="en-US"/>
              <a:t>，自适应矩估计）将</a:t>
            </a:r>
            <a:r>
              <a:rPr lang="en-US" altLang="zh-CN"/>
              <a:t> Momentum </a:t>
            </a:r>
            <a:r>
              <a:rPr lang="zh-CN" altLang="en-US"/>
              <a:t>和</a:t>
            </a:r>
            <a:r>
              <a:rPr lang="en-US" altLang="zh-CN"/>
              <a:t> RMSProp </a:t>
            </a:r>
            <a:r>
              <a:rPr lang="zh-CN" altLang="en-US"/>
              <a:t>算法结合在一起</a:t>
            </a:r>
            <a:endParaRPr lang="en-US" altLang="zh-CN"/>
          </a:p>
          <a:p>
            <a:pPr marL="742950" lvl="1" indent="-285750" algn="l">
              <a:buFont typeface="Wingdings" panose="05000000000000000000" charset="0"/>
              <a:buChar char="p"/>
            </a:pPr>
            <a:r>
              <a:rPr lang="zh-CN" altLang="en-US"/>
              <a:t>修正梯度</a:t>
            </a:r>
            <a:r>
              <a:rPr lang="en-US" altLang="zh-CN"/>
              <a:t>: </a:t>
            </a:r>
            <a:r>
              <a:rPr lang="zh-CN" altLang="en-US"/>
              <a:t>使</a:t>
            </a:r>
            <a:r>
              <a:rPr lang="en-US" altLang="en-US"/>
              <a:t>⽤</a:t>
            </a:r>
            <a:r>
              <a:rPr lang="zh-CN" altLang="en-US"/>
              <a:t>梯度的指数加权平均</a:t>
            </a:r>
            <a:r>
              <a:rPr lang="en-US" altLang="zh-CN"/>
              <a:t> </a:t>
            </a:r>
            <a:endParaRPr lang="en-US" altLang="zh-CN"/>
          </a:p>
          <a:p>
            <a:pPr marL="742950" lvl="1" indent="-285750" algn="l">
              <a:buFont typeface="Wingdings" panose="05000000000000000000" charset="0"/>
              <a:buChar char="p"/>
            </a:pPr>
            <a:r>
              <a:rPr lang="zh-CN" altLang="en-US"/>
              <a:t>修正学习率</a:t>
            </a:r>
            <a:r>
              <a:rPr lang="en-US" altLang="zh-CN"/>
              <a:t>: </a:t>
            </a:r>
            <a:r>
              <a:rPr lang="zh-CN" altLang="en-US"/>
              <a:t>使</a:t>
            </a:r>
            <a:r>
              <a:rPr lang="en-US" altLang="en-US"/>
              <a:t>⽤</a:t>
            </a:r>
            <a:r>
              <a:rPr lang="zh-CN" altLang="en-US"/>
              <a:t>梯度平</a:t>
            </a:r>
            <a:r>
              <a:rPr lang="en-US" altLang="en-US"/>
              <a:t>⽅</a:t>
            </a:r>
            <a:r>
              <a:rPr lang="zh-CN" altLang="en-US"/>
              <a:t>的指数加权平均</a:t>
            </a:r>
            <a:endParaRPr lang="en-US" altLang="zh-CN"/>
          </a:p>
          <a:p>
            <a:pPr marL="285750" indent="-285750" algn="l">
              <a:buFont typeface="Wingdings" panose="05000000000000000000" pitchFamily="2" charset="2"/>
              <a:buChar char="l"/>
            </a:pPr>
            <a:r>
              <a:rPr lang="zh-CN" altLang="en-US" b="1"/>
              <a:t>原理</a:t>
            </a:r>
            <a:r>
              <a:rPr lang="zh-CN" altLang="en-US"/>
              <a:t>：</a:t>
            </a:r>
            <a:r>
              <a:rPr lang="en-US" altLang="zh-CN"/>
              <a:t>Adam </a:t>
            </a:r>
            <a:r>
              <a:rPr lang="zh-CN" altLang="en-US"/>
              <a:t>是结合了</a:t>
            </a:r>
            <a:r>
              <a:rPr lang="en-US" altLang="zh-CN"/>
              <a:t> **Momentum** </a:t>
            </a:r>
            <a:r>
              <a:rPr lang="zh-CN" altLang="en-US"/>
              <a:t>和</a:t>
            </a:r>
            <a:r>
              <a:rPr lang="en-US" altLang="zh-CN"/>
              <a:t> **RMSProp** </a:t>
            </a:r>
            <a:r>
              <a:rPr lang="zh-CN" altLang="en-US"/>
              <a:t>优化算法的优点的自适应学习率算法。它计算了梯度的一阶矩（平均值）和二阶矩（梯度的方差）的自适应估计，从而动态调整学习率。</a:t>
            </a:r>
            <a:endParaRPr lang="en-US" altLang="zh-CN"/>
          </a:p>
          <a:p>
            <a:pPr marL="285750" indent="-285750" algn="l">
              <a:buFont typeface="Wingdings" panose="05000000000000000000" pitchFamily="2" charset="2"/>
              <a:buChar char="l"/>
            </a:pPr>
            <a:r>
              <a:rPr lang="zh-CN" altLang="en-US"/>
              <a:t>梯度计算公式：</a:t>
            </a:r>
            <a:endParaRPr lang="zh-CN" altLang="en-US"/>
          </a:p>
          <a:p>
            <a:pPr algn="l">
              <a:buFont typeface="Wingdings" panose="05000000000000000000" pitchFamily="2" charset="2"/>
            </a:pPr>
            <a:endParaRPr lang="en-US" altLang="zh-CN"/>
          </a:p>
          <a:p>
            <a:pPr algn="l">
              <a:buFont typeface="Wingdings" panose="05000000000000000000" pitchFamily="2" charset="2"/>
            </a:pPr>
            <a:endParaRPr lang="en-US" altLang="zh-CN"/>
          </a:p>
          <a:p>
            <a:pPr marL="285750" indent="-285750" algn="l">
              <a:buFont typeface="Wingdings" panose="05000000000000000000" pitchFamily="2" charset="2"/>
              <a:buChar char="l"/>
            </a:pPr>
            <a:r>
              <a:rPr lang="zh-CN" altLang="en-US"/>
              <a:t>权重参数更新公式</a:t>
            </a:r>
            <a:r>
              <a:rPr lang="en-US" altLang="zh-CN"/>
              <a:t>:</a:t>
            </a:r>
            <a:endParaRPr lang="en-US" altLang="zh-CN"/>
          </a:p>
          <a:p>
            <a:pPr algn="l">
              <a:buFont typeface="Wingdings" panose="05000000000000000000" pitchFamily="2" charset="2"/>
            </a:pPr>
            <a:endParaRPr lang="en-US" altLang="zh-CN"/>
          </a:p>
          <a:p>
            <a:pPr algn="l">
              <a:buFont typeface="Wingdings" panose="05000000000000000000" pitchFamily="2" charset="2"/>
            </a:pPr>
            <a:r>
              <a:rPr lang="zh-CN" altLang="en-US"/>
              <a:t>其中，</a:t>
            </a:r>
            <a:r>
              <a:rPr lang="en-US" altLang="zh-CN"/>
              <a:t>m_t </a:t>
            </a:r>
            <a:r>
              <a:rPr lang="zh-CN" altLang="en-US"/>
              <a:t>是梯度的一阶矩估计，</a:t>
            </a:r>
            <a:r>
              <a:rPr lang="en-US" altLang="zh-CN"/>
              <a:t>s_t </a:t>
            </a:r>
            <a:r>
              <a:rPr lang="zh-CN" altLang="en-US"/>
              <a:t>是梯度的二阶矩估计，</a:t>
            </a:r>
            <a:r>
              <a:rPr lang="en-US" altLang="zh-CN"/>
              <a:t>   </a:t>
            </a:r>
            <a:r>
              <a:rPr lang="zh-CN" altLang="en-US"/>
              <a:t>和</a:t>
            </a:r>
            <a:r>
              <a:rPr lang="en-US" altLang="zh-CN"/>
              <a:t>   </a:t>
            </a:r>
            <a:r>
              <a:rPr lang="zh-CN" altLang="en-US"/>
              <a:t>是偏差校正后的估计。</a:t>
            </a:r>
            <a:endParaRPr lang="zh-CN" altLang="en-US"/>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4" name="图片 3"/>
          <p:cNvPicPr>
            <a:picLocks noChangeAspect="1"/>
          </p:cNvPicPr>
          <p:nvPr/>
        </p:nvPicPr>
        <p:blipFill>
          <a:blip r:embed="rId1"/>
          <a:stretch>
            <a:fillRect/>
          </a:stretch>
        </p:blipFill>
        <p:spPr>
          <a:xfrm>
            <a:off x="2720975" y="4390390"/>
            <a:ext cx="2867025" cy="1209675"/>
          </a:xfrm>
          <a:prstGeom prst="rect">
            <a:avLst/>
          </a:prstGeom>
        </p:spPr>
      </p:pic>
      <p:pic>
        <p:nvPicPr>
          <p:cNvPr id="5" name="图片 4"/>
          <p:cNvPicPr>
            <a:picLocks noChangeAspect="1"/>
          </p:cNvPicPr>
          <p:nvPr/>
        </p:nvPicPr>
        <p:blipFill>
          <a:blip r:embed="rId2"/>
          <a:stretch>
            <a:fillRect/>
          </a:stretch>
        </p:blipFill>
        <p:spPr>
          <a:xfrm>
            <a:off x="2877820" y="5987415"/>
            <a:ext cx="2552700" cy="400050"/>
          </a:xfrm>
          <a:prstGeom prst="rect">
            <a:avLst/>
          </a:prstGeom>
        </p:spPr>
      </p:pic>
      <p:pic>
        <p:nvPicPr>
          <p:cNvPr id="6" name="图片 5"/>
          <p:cNvPicPr>
            <a:picLocks noChangeAspect="1"/>
          </p:cNvPicPr>
          <p:nvPr/>
        </p:nvPicPr>
        <p:blipFill>
          <a:blip r:embed="rId3"/>
          <a:stretch>
            <a:fillRect/>
          </a:stretch>
        </p:blipFill>
        <p:spPr>
          <a:xfrm>
            <a:off x="6165215" y="6461125"/>
            <a:ext cx="361950" cy="228600"/>
          </a:xfrm>
          <a:prstGeom prst="rect">
            <a:avLst/>
          </a:prstGeom>
        </p:spPr>
      </p:pic>
      <p:pic>
        <p:nvPicPr>
          <p:cNvPr id="7" name="图片 6"/>
          <p:cNvPicPr>
            <a:picLocks noChangeAspect="1"/>
          </p:cNvPicPr>
          <p:nvPr/>
        </p:nvPicPr>
        <p:blipFill>
          <a:blip r:embed="rId4"/>
          <a:stretch>
            <a:fillRect/>
          </a:stretch>
        </p:blipFill>
        <p:spPr>
          <a:xfrm>
            <a:off x="6772275" y="6432550"/>
            <a:ext cx="304800" cy="257175"/>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梯度下降的优化方法</a:t>
            </a:r>
            <a:r>
              <a:rPr lang="en-US" altLang="zh-CN" dirty="0">
                <a:solidFill>
                  <a:srgbClr val="333333"/>
                </a:solidFill>
                <a:latin typeface="Helvetica Neue"/>
              </a:rPr>
              <a:t>-Adam</a:t>
            </a:r>
            <a:endParaRPr lang="zh-CN" altLang="en-US" b="1" i="0" dirty="0">
              <a:solidFill>
                <a:srgbClr val="333333"/>
              </a:solidFill>
              <a:effectLst/>
              <a:latin typeface="Helvetica Neue"/>
            </a:endParaRPr>
          </a:p>
        </p:txBody>
      </p:sp>
      <p:sp>
        <p:nvSpPr>
          <p:cNvPr id="4" name="文本框 3"/>
          <p:cNvSpPr txBox="1"/>
          <p:nvPr/>
        </p:nvSpPr>
        <p:spPr>
          <a:xfrm>
            <a:off x="252329" y="1481158"/>
            <a:ext cx="8779140" cy="483108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test04():</a:t>
            </a:r>
            <a:br>
              <a:rPr lang="en-GB" altLang="zh-CN" sz="1400" dirty="0"/>
            </a:br>
            <a:r>
              <a:rPr lang="en-GB" altLang="zh-CN" sz="1400" dirty="0"/>
              <a:t>    </a:t>
            </a:r>
            <a:r>
              <a:rPr lang="en-GB" altLang="zh-CN" sz="1400" i="1" dirty="0">
                <a:solidFill>
                  <a:srgbClr val="008001"/>
                </a:solidFill>
                <a:effectLst/>
              </a:rPr>
              <a:t># 1 </a:t>
            </a:r>
            <a:r>
              <a:rPr lang="zh-CN" altLang="en-US" sz="1400" i="1" dirty="0">
                <a:solidFill>
                  <a:srgbClr val="008001"/>
                </a:solidFill>
                <a:effectLst/>
              </a:rPr>
              <a:t>初始化权重参数</a:t>
            </a:r>
            <a:br>
              <a:rPr lang="zh-CN" altLang="en-US" sz="1400" i="1" dirty="0">
                <a:solidFill>
                  <a:srgbClr val="808080"/>
                </a:solidFill>
                <a:effectLst/>
              </a:rPr>
            </a:br>
            <a:r>
              <a:rPr lang="zh-CN" altLang="en-US" sz="1400" i="1" dirty="0">
                <a:solidFill>
                  <a:srgbClr val="808080"/>
                </a:solidFill>
                <a:effectLst/>
              </a:rPr>
              <a:t>    </a:t>
            </a:r>
            <a:r>
              <a:rPr lang="en-GB" altLang="zh-CN" sz="1400" dirty="0"/>
              <a:t>w = </a:t>
            </a:r>
            <a:r>
              <a:rPr lang="en-GB" altLang="zh-CN" sz="1400" dirty="0" err="1"/>
              <a:t>torch.tensor</a:t>
            </a:r>
            <a:r>
              <a:rPr lang="en-GB" altLang="zh-CN" sz="1400" dirty="0"/>
              <a:t>([</a:t>
            </a:r>
            <a:r>
              <a:rPr lang="en-GB" altLang="zh-CN" sz="1400" dirty="0">
                <a:solidFill>
                  <a:srgbClr val="0000FF"/>
                </a:solidFill>
                <a:effectLst/>
              </a:rPr>
              <a:t>1.0</a:t>
            </a:r>
            <a:r>
              <a:rPr lang="en-GB" altLang="zh-CN" sz="1400" dirty="0"/>
              <a:t>], </a:t>
            </a:r>
            <a:r>
              <a:rPr lang="en-GB" altLang="zh-CN" sz="1400" dirty="0" err="1">
                <a:solidFill>
                  <a:srgbClr val="660099"/>
                </a:solidFill>
                <a:effectLst/>
              </a:rPr>
              <a:t>requires_grad</a:t>
            </a:r>
            <a:r>
              <a:rPr lang="en-GB" altLang="zh-CN" sz="1400" dirty="0"/>
              <a:t>=</a:t>
            </a:r>
            <a:r>
              <a:rPr lang="en-GB" altLang="zh-CN" sz="1400" b="1" dirty="0">
                <a:solidFill>
                  <a:srgbClr val="000080"/>
                </a:solidFill>
                <a:effectLst/>
              </a:rPr>
              <a:t>True</a:t>
            </a:r>
            <a:r>
              <a:rPr lang="en-GB" altLang="zh-CN" sz="1400" dirty="0"/>
              <a:t>)</a:t>
            </a:r>
            <a:br>
              <a:rPr lang="en-GB" altLang="zh-CN" sz="1400" dirty="0"/>
            </a:br>
            <a:r>
              <a:rPr lang="en-GB" altLang="zh-CN" sz="1400" dirty="0"/>
              <a:t>    </a:t>
            </a:r>
            <a:r>
              <a:rPr lang="en-US" altLang="en-GB" sz="1400" dirty="0"/>
              <a:t>loss</a:t>
            </a:r>
            <a:r>
              <a:rPr lang="en-GB" altLang="zh-CN" sz="1400" dirty="0"/>
              <a:t> =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br>
              <a:rPr lang="en-GB" altLang="zh-CN" sz="1400" dirty="0"/>
            </a:br>
            <a:r>
              <a:rPr lang="en-GB" altLang="zh-CN" sz="1400" dirty="0"/>
              <a:t>    </a:t>
            </a:r>
            <a:r>
              <a:rPr lang="en-GB" altLang="zh-CN" sz="1400" i="1" dirty="0">
                <a:solidFill>
                  <a:srgbClr val="008001"/>
                </a:solidFill>
                <a:effectLst/>
              </a:rPr>
              <a:t># 2 </a:t>
            </a:r>
            <a:r>
              <a:rPr lang="zh-CN" altLang="en-US" sz="1400" i="1" dirty="0">
                <a:solidFill>
                  <a:srgbClr val="008001"/>
                </a:solidFill>
                <a:effectLst/>
              </a:rPr>
              <a:t>实例化优化方法：</a:t>
            </a:r>
            <a:r>
              <a:rPr lang="en-GB" altLang="zh-CN" sz="1400" i="1" dirty="0">
                <a:solidFill>
                  <a:srgbClr val="008001"/>
                </a:solidFill>
                <a:effectLst/>
              </a:rPr>
              <a:t>Adam</a:t>
            </a:r>
            <a:r>
              <a:rPr lang="zh-CN" altLang="en-US" sz="1400" i="1" dirty="0">
                <a:solidFill>
                  <a:srgbClr val="008001"/>
                </a:solidFill>
                <a:effectLst/>
              </a:rPr>
              <a:t>算法，其中</a:t>
            </a:r>
            <a:r>
              <a:rPr lang="en-GB" altLang="zh-CN" sz="1400" i="1" dirty="0">
                <a:solidFill>
                  <a:srgbClr val="008001"/>
                </a:solidFill>
                <a:effectLst/>
              </a:rPr>
              <a:t>betas</a:t>
            </a:r>
            <a:r>
              <a:rPr lang="zh-CN" altLang="en-US" sz="1400" i="1" dirty="0">
                <a:solidFill>
                  <a:srgbClr val="008001"/>
                </a:solidFill>
                <a:effectLst/>
              </a:rPr>
              <a:t>是指数加权的系数</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torch.optim.Adam</a:t>
            </a:r>
            <a:r>
              <a:rPr lang="en-GB" altLang="zh-CN" sz="1400" dirty="0"/>
              <a:t>([w], </a:t>
            </a:r>
            <a:r>
              <a:rPr lang="en-GB" altLang="zh-CN" sz="1400" dirty="0" err="1">
                <a:solidFill>
                  <a:srgbClr val="660099"/>
                </a:solidFill>
                <a:effectLst/>
              </a:rPr>
              <a:t>lr</a:t>
            </a:r>
            <a:r>
              <a:rPr lang="en-GB" altLang="zh-CN" sz="1400" dirty="0"/>
              <a:t>=</a:t>
            </a:r>
            <a:r>
              <a:rPr lang="en-GB" altLang="zh-CN" sz="1400" dirty="0">
                <a:solidFill>
                  <a:srgbClr val="0000FF"/>
                </a:solidFill>
                <a:effectLst/>
              </a:rPr>
              <a:t>0.01</a:t>
            </a:r>
            <a:r>
              <a:rPr lang="en-GB" altLang="zh-CN" sz="1400" dirty="0"/>
              <a:t>,</a:t>
            </a:r>
            <a:r>
              <a:rPr lang="en-GB" altLang="zh-CN" sz="1400" dirty="0">
                <a:solidFill>
                  <a:srgbClr val="660099"/>
                </a:solidFill>
                <a:effectLst/>
              </a:rPr>
              <a:t>betas</a:t>
            </a:r>
            <a:r>
              <a:rPr lang="en-GB" altLang="zh-CN" sz="1400" dirty="0"/>
              <a:t>=[</a:t>
            </a:r>
            <a:r>
              <a:rPr lang="en-GB" altLang="zh-CN" sz="1400" dirty="0">
                <a:solidFill>
                  <a:srgbClr val="0000FF"/>
                </a:solidFill>
                <a:effectLst/>
              </a:rPr>
              <a:t>0.9</a:t>
            </a:r>
            <a:r>
              <a:rPr lang="en-GB" altLang="zh-CN" sz="1400" dirty="0"/>
              <a:t>,</a:t>
            </a:r>
            <a:r>
              <a:rPr lang="en-GB" altLang="zh-CN" sz="1400" dirty="0">
                <a:solidFill>
                  <a:srgbClr val="0000FF"/>
                </a:solidFill>
                <a:effectLst/>
              </a:rPr>
              <a:t>0.99</a:t>
            </a:r>
            <a:r>
              <a:rPr lang="en-GB" altLang="zh-CN" sz="1400" dirty="0"/>
              <a:t>])</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3 </a:t>
            </a:r>
            <a:r>
              <a:rPr lang="zh-CN" altLang="en-US" sz="1400" i="1" dirty="0">
                <a:solidFill>
                  <a:srgbClr val="008001"/>
                </a:solidFill>
                <a:effectLst/>
              </a:rPr>
              <a:t>第</a:t>
            </a:r>
            <a:r>
              <a:rPr lang="en-US" altLang="zh-CN" sz="1400" i="1" dirty="0">
                <a:solidFill>
                  <a:srgbClr val="008001"/>
                </a:solidFill>
                <a:effectLst/>
              </a:rPr>
              <a:t>1</a:t>
            </a:r>
            <a:r>
              <a:rPr lang="zh-CN" altLang="en-US" sz="1400" i="1" dirty="0">
                <a:solidFill>
                  <a:srgbClr val="008001"/>
                </a:solidFill>
                <a:effectLst/>
              </a:rPr>
              <a:t>次更新 计算梯度，并对参数进行更新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1</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r>
              <a:rPr lang="en-GB" altLang="zh-CN" sz="1400" dirty="0"/>
              <a:t>    </a:t>
            </a:r>
            <a:r>
              <a:rPr lang="en-GB" altLang="zh-CN" sz="1400" i="1" dirty="0">
                <a:solidFill>
                  <a:srgbClr val="008001"/>
                </a:solidFill>
                <a:effectLst/>
              </a:rPr>
              <a:t># 4 </a:t>
            </a:r>
            <a:r>
              <a:rPr lang="zh-CN" altLang="en-US" sz="1400" i="1" dirty="0">
                <a:solidFill>
                  <a:srgbClr val="008001"/>
                </a:solidFill>
                <a:effectLst/>
              </a:rPr>
              <a:t>第</a:t>
            </a:r>
            <a:r>
              <a:rPr lang="en-US" altLang="zh-CN" sz="1400" i="1" dirty="0">
                <a:solidFill>
                  <a:srgbClr val="008001"/>
                </a:solidFill>
                <a:effectLst/>
              </a:rPr>
              <a:t>2</a:t>
            </a:r>
            <a:r>
              <a:rPr lang="zh-CN" altLang="en-US" sz="1400" i="1" dirty="0">
                <a:solidFill>
                  <a:srgbClr val="008001"/>
                </a:solidFill>
                <a:effectLst/>
              </a:rPr>
              <a:t>次更新 计算梯度，并对参数进行更新</a:t>
            </a:r>
            <a:br>
              <a:rPr lang="zh-CN" altLang="en-US" sz="1400" i="1" dirty="0">
                <a:solidFill>
                  <a:srgbClr val="008001"/>
                </a:solidFill>
                <a:effectLst/>
              </a:rPr>
            </a:br>
            <a:r>
              <a:rPr lang="zh-CN" altLang="en-US" sz="1400" i="1" dirty="0">
                <a:solidFill>
                  <a:srgbClr val="008001"/>
                </a:solidFill>
                <a:effectLst/>
              </a:rPr>
              <a:t>    </a:t>
            </a:r>
            <a:r>
              <a:rPr lang="en-US" altLang="zh-CN" sz="1400" i="1" dirty="0">
                <a:solidFill>
                  <a:srgbClr val="008001"/>
                </a:solidFill>
                <a:effectLst/>
              </a:rPr>
              <a:t># </a:t>
            </a:r>
            <a:r>
              <a:rPr lang="zh-CN" altLang="en-US" sz="1400" i="1" dirty="0">
                <a:solidFill>
                  <a:srgbClr val="008001"/>
                </a:solidFill>
                <a:effectLst/>
              </a:rPr>
              <a:t>使用更新后的参数机选输出结果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 </a:t>
            </a:r>
            <a:r>
              <a:rPr lang="en-GB" altLang="zh-CN" sz="1400" dirty="0"/>
              <a:t>= ((w ** </a:t>
            </a:r>
            <a:r>
              <a:rPr lang="en-GB" altLang="zh-CN" sz="1400" dirty="0">
                <a:solidFill>
                  <a:srgbClr val="0000FF"/>
                </a:solidFill>
                <a:effectLst/>
              </a:rPr>
              <a:t>2</a:t>
            </a:r>
            <a:r>
              <a:rPr lang="en-GB" altLang="zh-CN" sz="1400" dirty="0"/>
              <a:t>) / </a:t>
            </a:r>
            <a:r>
              <a:rPr lang="en-GB" altLang="zh-CN" sz="1400" dirty="0">
                <a:solidFill>
                  <a:srgbClr val="0000FF"/>
                </a:solidFill>
                <a:effectLst/>
              </a:rPr>
              <a:t>2.0</a:t>
            </a:r>
            <a:r>
              <a:rPr lang="en-GB" altLang="zh-CN" sz="1400" dirty="0"/>
              <a:t>).sum()</a:t>
            </a:r>
            <a:br>
              <a:rPr lang="en-GB" altLang="zh-CN" sz="1400" dirty="0"/>
            </a:br>
            <a:r>
              <a:rPr lang="en-GB" altLang="zh-CN" sz="1400" dirty="0"/>
              <a:t>    </a:t>
            </a:r>
            <a:r>
              <a:rPr lang="en-GB" altLang="zh-CN" sz="1400" dirty="0" err="1"/>
              <a:t>optimizer.zero_grad</a:t>
            </a:r>
            <a:r>
              <a:rPr lang="en-GB" altLang="zh-CN" sz="1400" dirty="0"/>
              <a:t>()</a:t>
            </a:r>
            <a:br>
              <a:rPr lang="en-GB" altLang="zh-CN" sz="1400" dirty="0"/>
            </a:br>
            <a:r>
              <a:rPr lang="en-GB" altLang="zh-CN" sz="1400" dirty="0"/>
              <a:t>    </a:t>
            </a:r>
            <a:r>
              <a:rPr lang="en-US" altLang="en-GB" sz="1400" dirty="0"/>
              <a:t>loss</a:t>
            </a:r>
            <a:r>
              <a:rPr lang="en-GB" altLang="zh-CN" sz="1400" dirty="0" err="1"/>
              <a:t>.backward</a:t>
            </a:r>
            <a:r>
              <a:rPr lang="en-GB" altLang="zh-CN" sz="1400" dirty="0"/>
              <a:t>()</a:t>
            </a:r>
            <a:br>
              <a:rPr lang="en-GB" altLang="zh-CN" sz="1400" dirty="0"/>
            </a:br>
            <a:r>
              <a:rPr lang="en-GB" altLang="zh-CN" sz="1400" dirty="0"/>
              <a:t>    </a:t>
            </a:r>
            <a:r>
              <a:rPr lang="en-GB" altLang="zh-CN" sz="1400" dirty="0" err="1"/>
              <a:t>optimizer.step</a:t>
            </a:r>
            <a:r>
              <a:rPr lang="en-GB" altLang="zh-CN" sz="1400" dirty="0"/>
              <a:t>()</a:t>
            </a:r>
            <a:br>
              <a:rPr lang="en-GB" altLang="zh-CN" sz="1400" dirty="0"/>
            </a:br>
            <a:r>
              <a:rPr lang="en-GB" altLang="zh-CN" sz="1400" dirty="0"/>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t>
            </a:r>
            <a:r>
              <a:rPr lang="zh-CN" altLang="en-US" sz="1400" b="1" dirty="0">
                <a:solidFill>
                  <a:srgbClr val="008000"/>
                </a:solidFill>
                <a:effectLst/>
              </a:rPr>
              <a:t>第</a:t>
            </a:r>
            <a:r>
              <a:rPr lang="en-US" altLang="zh-CN" sz="1400" b="1" dirty="0">
                <a:solidFill>
                  <a:srgbClr val="008000"/>
                </a:solidFill>
                <a:effectLst/>
              </a:rPr>
              <a:t>2</a:t>
            </a:r>
            <a:r>
              <a:rPr lang="zh-CN" altLang="en-US" sz="1400" b="1" dirty="0">
                <a:solidFill>
                  <a:srgbClr val="008000"/>
                </a:solidFill>
                <a:effectLst/>
              </a:rPr>
              <a:t>次</a:t>
            </a:r>
            <a:r>
              <a:rPr lang="en-US" altLang="zh-CN" sz="1400" b="1" dirty="0">
                <a:solidFill>
                  <a:srgbClr val="008000"/>
                </a:solidFill>
                <a:effectLst/>
              </a:rPr>
              <a:t>: </a:t>
            </a:r>
            <a:r>
              <a:rPr lang="zh-CN" altLang="en-US" sz="1400" b="1" dirty="0">
                <a:solidFill>
                  <a:srgbClr val="008000"/>
                </a:solidFill>
                <a:effectLst/>
              </a:rPr>
              <a:t>梯度</a:t>
            </a:r>
            <a:r>
              <a:rPr lang="en-GB" altLang="zh-CN" sz="1400" b="1" dirty="0" err="1">
                <a:solidFill>
                  <a:srgbClr val="008000"/>
                </a:solidFill>
                <a:effectLst/>
              </a:rPr>
              <a:t>w.grad</a:t>
            </a:r>
            <a:r>
              <a:rPr lang="en-GB" altLang="zh-CN" sz="1400" b="1" dirty="0">
                <a:solidFill>
                  <a:srgbClr val="008000"/>
                </a:solidFill>
                <a:effectLst/>
              </a:rPr>
              <a:t>: %f, </a:t>
            </a:r>
            <a:r>
              <a:rPr lang="zh-CN" altLang="en-US" sz="1400" b="1" dirty="0">
                <a:solidFill>
                  <a:srgbClr val="008000"/>
                </a:solidFill>
                <a:effectLst/>
              </a:rPr>
              <a:t>更新后的权重</a:t>
            </a:r>
            <a:r>
              <a:rPr lang="en-US" altLang="zh-CN" sz="1400" b="1" dirty="0">
                <a:solidFill>
                  <a:srgbClr val="008000"/>
                </a:solidFill>
                <a:effectLst/>
              </a:rPr>
              <a:t>:%</a:t>
            </a:r>
            <a:r>
              <a:rPr lang="en-GB" altLang="zh-CN" sz="1400" b="1" dirty="0">
                <a:solidFill>
                  <a:srgbClr val="008000"/>
                </a:solidFill>
                <a:effectLst/>
              </a:rPr>
              <a:t>f' </a:t>
            </a:r>
            <a:r>
              <a:rPr lang="en-GB" altLang="zh-CN" sz="1400" dirty="0"/>
              <a:t>% (</a:t>
            </a:r>
            <a:r>
              <a:rPr lang="en-GB" altLang="zh-CN" sz="1400" dirty="0" err="1"/>
              <a:t>w.grad.numpy</a:t>
            </a:r>
            <a:r>
              <a:rPr lang="en-GB" altLang="zh-CN" sz="1400" dirty="0"/>
              <a:t>(), </a:t>
            </a:r>
            <a:r>
              <a:rPr lang="en-GB" altLang="zh-CN" sz="1400" dirty="0" err="1"/>
              <a:t>w.detach</a:t>
            </a:r>
            <a:r>
              <a:rPr lang="en-GB" altLang="zh-CN" sz="1400" dirty="0"/>
              <a:t>().</a:t>
            </a:r>
            <a:r>
              <a:rPr lang="en-GB" altLang="zh-CN" sz="1400" dirty="0" err="1"/>
              <a:t>numpy</a:t>
            </a:r>
            <a:r>
              <a:rPr lang="en-GB" altLang="zh-CN" sz="1400" dirty="0"/>
              <a:t>()))</a:t>
            </a:r>
            <a:br>
              <a:rPr lang="en-GB" altLang="zh-CN" sz="1400" dirty="0"/>
            </a:br>
            <a:endParaRPr lang="en-US" altLang="zh-CN" sz="1400" b="1" dirty="0">
              <a:solidFill>
                <a:srgbClr val="0000FF"/>
              </a:solidFill>
              <a:latin typeface="宋体" panose="02010600030101010101" pitchFamily="2" charset="-122"/>
              <a:ea typeface="阿里巴巴普惠体" panose="00020600040101010101"/>
            </a:endParaRPr>
          </a:p>
        </p:txBody>
      </p:sp>
      <p:sp>
        <p:nvSpPr>
          <p:cNvPr id="5" name="文本框 4"/>
          <p:cNvSpPr txBox="1"/>
          <p:nvPr/>
        </p:nvSpPr>
        <p:spPr>
          <a:xfrm>
            <a:off x="9031469" y="4792066"/>
            <a:ext cx="3009320" cy="1169551"/>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1</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1.000000,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:0.990000</a:t>
            </a:r>
            <a:r>
              <a:rPr lang="zh-CN" altLang="en-US" sz="1400" b="0" i="0" dirty="0">
                <a:solidFill>
                  <a:srgbClr val="36464E"/>
                </a:solidFill>
                <a:effectLst/>
                <a:latin typeface="Roboto Mono" pitchFamily="49" charset="0"/>
              </a:rPr>
              <a:t> </a:t>
            </a:r>
            <a:endParaRPr lang="en-US" altLang="zh-CN" sz="1400" b="0" i="0" dirty="0">
              <a:solidFill>
                <a:srgbClr val="36464E"/>
              </a:solidFill>
              <a:effectLst/>
              <a:latin typeface="Roboto Mono" pitchFamily="49" charset="0"/>
            </a:endParaRPr>
          </a:p>
          <a:p>
            <a:r>
              <a:rPr lang="zh-CN" altLang="en-US" sz="1400" b="0" i="0" dirty="0">
                <a:solidFill>
                  <a:srgbClr val="36464E"/>
                </a:solidFill>
                <a:effectLst/>
                <a:latin typeface="Roboto Mono" pitchFamily="49" charset="0"/>
              </a:rPr>
              <a:t>第</a:t>
            </a:r>
            <a:r>
              <a:rPr lang="en-US" altLang="zh-CN" sz="1400" b="0" i="0" dirty="0">
                <a:solidFill>
                  <a:srgbClr val="36464E"/>
                </a:solidFill>
                <a:effectLst/>
                <a:latin typeface="Roboto Mono" pitchFamily="49" charset="0"/>
              </a:rPr>
              <a:t>2</a:t>
            </a:r>
            <a:r>
              <a:rPr lang="zh-CN" altLang="en-US" sz="1400" b="0" i="0" dirty="0">
                <a:solidFill>
                  <a:srgbClr val="36464E"/>
                </a:solidFill>
                <a:effectLst/>
                <a:latin typeface="Roboto Mono" pitchFamily="49" charset="0"/>
              </a:rPr>
              <a:t>次</a:t>
            </a:r>
            <a:r>
              <a:rPr lang="en-US" altLang="zh-CN" sz="1400" b="0" i="0" dirty="0">
                <a:effectLst/>
                <a:latin typeface="Roboto Mono" pitchFamily="49" charset="0"/>
              </a:rPr>
              <a:t>:</a:t>
            </a:r>
            <a:r>
              <a:rPr lang="zh-CN" altLang="en-US" sz="1400" b="0" i="0" dirty="0">
                <a:solidFill>
                  <a:srgbClr val="36464E"/>
                </a:solidFill>
                <a:effectLst/>
                <a:latin typeface="Roboto Mono" pitchFamily="49" charset="0"/>
              </a:rPr>
              <a:t> 梯度</a:t>
            </a:r>
            <a:r>
              <a:rPr lang="en-GB" altLang="zh-CN" sz="1400" b="0" i="0" dirty="0" err="1">
                <a:solidFill>
                  <a:srgbClr val="36464E"/>
                </a:solidFill>
                <a:effectLst/>
                <a:latin typeface="Roboto Mono" pitchFamily="49" charset="0"/>
              </a:rPr>
              <a:t>w</a:t>
            </a:r>
            <a:r>
              <a:rPr lang="en-GB" altLang="zh-CN" sz="1400" b="0" i="0" dirty="0" err="1">
                <a:effectLst/>
                <a:latin typeface="Roboto Mono" pitchFamily="49" charset="0"/>
              </a:rPr>
              <a:t>.</a:t>
            </a:r>
            <a:r>
              <a:rPr lang="en-GB" altLang="zh-CN" sz="1400" b="0" i="0" dirty="0" err="1">
                <a:solidFill>
                  <a:srgbClr val="36464E"/>
                </a:solidFill>
                <a:effectLst/>
                <a:latin typeface="Roboto Mono" pitchFamily="49" charset="0"/>
              </a:rPr>
              <a:t>grad</a:t>
            </a:r>
            <a:r>
              <a:rPr lang="en-GB" altLang="zh-CN" sz="1400" b="0" i="0" dirty="0">
                <a:effectLst/>
                <a:latin typeface="Roboto Mono" pitchFamily="49" charset="0"/>
              </a:rPr>
              <a:t>:</a:t>
            </a:r>
            <a:r>
              <a:rPr lang="en-GB" altLang="zh-CN" sz="1400" b="0" i="0" dirty="0">
                <a:solidFill>
                  <a:srgbClr val="36464E"/>
                </a:solidFill>
                <a:effectLst/>
                <a:latin typeface="Roboto Mono" pitchFamily="49" charset="0"/>
              </a:rPr>
              <a:t> </a:t>
            </a:r>
            <a:r>
              <a:rPr lang="en-GB" altLang="zh-CN" sz="1400" b="0" i="0" dirty="0">
                <a:effectLst/>
                <a:latin typeface="Roboto Mono" pitchFamily="49" charset="0"/>
              </a:rPr>
              <a:t>0.990000,</a:t>
            </a:r>
            <a:r>
              <a:rPr lang="en-GB" altLang="zh-CN" sz="1400" b="0" i="0" dirty="0">
                <a:solidFill>
                  <a:srgbClr val="36464E"/>
                </a:solidFill>
                <a:effectLst/>
                <a:latin typeface="Roboto Mono" pitchFamily="49" charset="0"/>
              </a:rPr>
              <a:t> </a:t>
            </a:r>
            <a:r>
              <a:rPr lang="zh-CN" altLang="en-US" sz="1400" b="0" i="0" dirty="0">
                <a:solidFill>
                  <a:srgbClr val="36464E"/>
                </a:solidFill>
                <a:effectLst/>
                <a:latin typeface="Roboto Mono" pitchFamily="49" charset="0"/>
              </a:rPr>
              <a:t>更新后的权重</a:t>
            </a:r>
            <a:r>
              <a:rPr lang="en-US" altLang="zh-CN" sz="1400" b="0" i="0" dirty="0">
                <a:effectLst/>
                <a:latin typeface="Roboto Mono" pitchFamily="49" charset="0"/>
              </a:rPr>
              <a:t>:0.980003</a:t>
            </a:r>
            <a:endParaRPr lang="en-US" altLang="zh-CN" sz="1400" dirty="0">
              <a:solidFill>
                <a:srgbClr val="FF0000"/>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126584" y="1173480"/>
            <a:ext cx="5760538" cy="4511040"/>
          </a:xfrm>
        </p:spPr>
        <p:txBody>
          <a:bodyPr/>
          <a:lstStyle/>
          <a:p>
            <a:pPr marL="0" indent="0">
              <a:buNone/>
            </a:pPr>
            <a:r>
              <a:rPr kumimoji="1" lang="en-US" altLang="zh-CN" dirty="0"/>
              <a:t>1.</a:t>
            </a:r>
            <a:r>
              <a:rPr kumimoji="1" lang="zh-CN" altLang="en-US" dirty="0"/>
              <a:t>梯度下降算法优化的目的？</a:t>
            </a:r>
            <a:endParaRPr kumimoji="1" lang="en-US" altLang="zh-CN" dirty="0"/>
          </a:p>
          <a:p>
            <a:pPr marL="0" indent="0" algn="l">
              <a:buNone/>
            </a:pPr>
            <a:r>
              <a:rPr lang="zh-CN" altLang="en-US" b="0" i="0" dirty="0">
                <a:solidFill>
                  <a:srgbClr val="333333"/>
                </a:solidFill>
                <a:effectLst/>
                <a:latin typeface="Alibaba PuHuiTi" pitchFamily="18" charset="-122"/>
                <a:ea typeface="Alibaba PuHuiTi" pitchFamily="18" charset="-122"/>
                <a:cs typeface="Alibaba PuHuiTi" pitchFamily="18" charset="-122"/>
              </a:rPr>
              <a:t>梯度下降优化算法中，可能会碰到平缓区域</a:t>
            </a:r>
            <a:r>
              <a:rPr lang="zh-CN" altLang="en-US" dirty="0">
                <a:solidFill>
                  <a:srgbClr val="333333"/>
                </a:solidFill>
                <a:latin typeface="Alibaba PuHuiTi" pitchFamily="18" charset="-122"/>
                <a:ea typeface="Alibaba PuHuiTi" pitchFamily="18" charset="-122"/>
                <a:cs typeface="Alibaba PuHuiTi" pitchFamily="18" charset="-122"/>
              </a:rPr>
              <a:t>，</a:t>
            </a:r>
            <a:r>
              <a:rPr lang="zh-CN" altLang="en-US" b="0" i="0" dirty="0">
                <a:solidFill>
                  <a:srgbClr val="333333"/>
                </a:solidFill>
                <a:effectLst/>
                <a:latin typeface="Alibaba PuHuiTi" pitchFamily="18" charset="-122"/>
                <a:ea typeface="Alibaba PuHuiTi" pitchFamily="18" charset="-122"/>
                <a:cs typeface="Alibaba PuHuiTi" pitchFamily="18" charset="-122"/>
              </a:rPr>
              <a:t>“鞍点”等问题</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marL="0" indent="0" algn="l">
              <a:buNone/>
            </a:pPr>
            <a:r>
              <a:rPr lang="zh-CN" altLang="en-US" b="0" i="0" dirty="0">
                <a:solidFill>
                  <a:srgbClr val="333333"/>
                </a:solidFill>
                <a:effectLst/>
                <a:latin typeface="Alibaba PuHuiTi" pitchFamily="18" charset="-122"/>
                <a:ea typeface="Alibaba PuHuiTi" pitchFamily="18" charset="-122"/>
                <a:cs typeface="Alibaba PuHuiTi" pitchFamily="18" charset="-122"/>
              </a:rPr>
              <a:t> </a:t>
            </a:r>
            <a:r>
              <a:rPr kumimoji="1" lang="en-US" altLang="zh-CN" dirty="0"/>
              <a:t>2.</a:t>
            </a:r>
            <a:r>
              <a:rPr kumimoji="1" lang="zh-CN" altLang="en-US" dirty="0"/>
              <a:t>梯度下降算法的优化有哪些？</a:t>
            </a:r>
            <a:endParaRPr kumimoji="1" lang="en-US" altLang="zh-CN" dirty="0"/>
          </a:p>
          <a:p>
            <a:pPr marL="0" indent="0">
              <a:buNone/>
            </a:pPr>
            <a:r>
              <a:rPr kumimoji="1" lang="zh-CN" altLang="en-US" dirty="0"/>
              <a:t>动量法，</a:t>
            </a:r>
            <a:r>
              <a:rPr kumimoji="1" lang="en-US" altLang="zh-CN" dirty="0" err="1"/>
              <a:t>Adagrad,RMSProp</a:t>
            </a:r>
            <a:r>
              <a:rPr kumimoji="1" lang="zh-CN" altLang="en-US" dirty="0"/>
              <a:t>，</a:t>
            </a:r>
            <a:r>
              <a:rPr kumimoji="1" lang="en-US" altLang="zh-CN" dirty="0"/>
              <a:t>Adam</a:t>
            </a:r>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a:t>
            </a:r>
            <a:r>
              <a:rPr lang="zh-CN" altLang="en-US" b="1" i="0" dirty="0">
                <a:solidFill>
                  <a:srgbClr val="333333"/>
                </a:solidFill>
                <a:effectLst/>
                <a:latin typeface="Helvetica Neue"/>
              </a:rPr>
              <a:t>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等间隔学习率衰减方式如下所示：</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10880" y="2275332"/>
            <a:ext cx="4922947" cy="3764606"/>
          </a:xfrm>
          <a:prstGeom prst="rect">
            <a:avLst/>
          </a:prstGeom>
        </p:spPr>
      </p:pic>
      <p:sp>
        <p:nvSpPr>
          <p:cNvPr id="6" name="文本框 5"/>
          <p:cNvSpPr txBox="1"/>
          <p:nvPr/>
        </p:nvSpPr>
        <p:spPr>
          <a:xfrm>
            <a:off x="6016521" y="2735336"/>
            <a:ext cx="5921479" cy="122999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step_size</a:t>
            </a:r>
            <a:r>
              <a:rPr lang="zh-CN" altLang="en-US" sz="1400" dirty="0">
                <a:solidFill>
                  <a:srgbClr val="00B050"/>
                </a:solidFill>
                <a:latin typeface="宋体" panose="02010600030101010101" pitchFamily="2" charset="-122"/>
                <a:ea typeface="阿里巴巴普惠体" panose="00020600040101010101"/>
                <a:sym typeface="+mn-ea"/>
              </a:rPr>
              <a:t>：调整间隔数</a:t>
            </a:r>
            <a:r>
              <a:rPr lang="en-US" altLang="zh-CN" sz="1400" dirty="0">
                <a:solidFill>
                  <a:srgbClr val="00B050"/>
                </a:solidFill>
                <a:latin typeface="宋体" panose="02010600030101010101" pitchFamily="2" charset="-122"/>
                <a:ea typeface="阿里巴巴普惠体" panose="00020600040101010101"/>
                <a:sym typeface="+mn-ea"/>
              </a:rPr>
              <a:t>=50</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：调整系数</a:t>
            </a:r>
            <a:r>
              <a:rPr lang="en-US" altLang="zh-CN" sz="1400" dirty="0">
                <a:solidFill>
                  <a:srgbClr val="00B050"/>
                </a:solidFill>
                <a:latin typeface="宋体" panose="02010600030101010101" pitchFamily="2" charset="-122"/>
                <a:ea typeface="阿里巴巴普惠体" panose="00020600040101010101"/>
                <a:sym typeface="+mn-ea"/>
              </a:rPr>
              <a:t>=0.5</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gamma</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lr_scheduler.StepLR</a:t>
            </a:r>
            <a:r>
              <a:rPr lang="en-US" altLang="zh-CN" sz="1400" b="1" dirty="0">
                <a:solidFill>
                  <a:srgbClr val="0000FF"/>
                </a:solidFill>
                <a:latin typeface="宋体" panose="02010600030101010101" pitchFamily="2" charset="-122"/>
                <a:ea typeface="阿里巴巴普惠体" panose="00020600040101010101"/>
              </a:rPr>
              <a:t>(optimizer, </a:t>
            </a:r>
            <a:r>
              <a:rPr lang="en-US" altLang="zh-CN" sz="1400" b="1" dirty="0" err="1">
                <a:solidFill>
                  <a:srgbClr val="0000FF"/>
                </a:solidFill>
                <a:latin typeface="宋体" panose="02010600030101010101" pitchFamily="2" charset="-122"/>
                <a:ea typeface="阿里巴巴普惠体" panose="00020600040101010101"/>
              </a:rPr>
              <a:t>step_size</a:t>
            </a:r>
            <a:r>
              <a:rPr lang="en-US" altLang="zh-CN" sz="1400" b="1" dirty="0">
                <a:solidFill>
                  <a:srgbClr val="0000FF"/>
                </a:solidFill>
                <a:latin typeface="宋体" panose="02010600030101010101" pitchFamily="2" charset="-122"/>
                <a:ea typeface="阿里巴巴普惠体" panose="00020600040101010101"/>
              </a:rPr>
              <a:t>, gamma=0.1)</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746600" y="1603087"/>
            <a:ext cx="7758208" cy="4760278"/>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test_StepLR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0.</a:t>
            </a:r>
            <a:r>
              <a:rPr lang="zh-CN" altLang="en-US" sz="1400" dirty="0">
                <a:solidFill>
                  <a:srgbClr val="00B050"/>
                </a:solidFill>
                <a:latin typeface="宋体" panose="02010600030101010101" pitchFamily="2" charset="-122"/>
                <a:ea typeface="阿里巴巴普惠体" panose="00020600040101010101"/>
              </a:rPr>
              <a:t>参数初始化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LR = 0.1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设置学习率初始化值为</a:t>
            </a:r>
            <a:r>
              <a:rPr lang="en-US" altLang="zh-CN" sz="1400" dirty="0">
                <a:solidFill>
                  <a:srgbClr val="00B050"/>
                </a:solidFill>
                <a:latin typeface="宋体" panose="02010600030101010101" pitchFamily="2" charset="-122"/>
                <a:ea typeface="阿里巴巴普惠体" panose="00020600040101010101"/>
              </a:rPr>
              <a:t>0.1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1 </a:t>
            </a:r>
            <a:r>
              <a:rPr lang="zh-CN" altLang="en-US" sz="1400" dirty="0">
                <a:solidFill>
                  <a:srgbClr val="00B050"/>
                </a:solidFill>
                <a:latin typeface="宋体" panose="02010600030101010101" pitchFamily="2" charset="-122"/>
                <a:ea typeface="阿里巴巴普惠体" panose="00020600040101010101"/>
              </a:rPr>
              <a:t>初始化参数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2.</a:t>
            </a:r>
            <a:r>
              <a:rPr lang="zh-CN" altLang="en-US" sz="1400" dirty="0">
                <a:solidFill>
                  <a:srgbClr val="00B050"/>
                </a:solidFill>
                <a:latin typeface="宋体" panose="02010600030101010101" pitchFamily="2" charset="-122"/>
                <a:ea typeface="阿里巴巴普惠体" panose="00020600040101010101"/>
              </a:rPr>
              <a:t>优化器</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3.</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optim.lr_scheduler.StepLR</a:t>
            </a:r>
            <a:r>
              <a:rPr lang="en-US" altLang="zh-CN" sz="1400" b="1" dirty="0">
                <a:solidFill>
                  <a:srgbClr val="0000FF"/>
                </a:solidFill>
                <a:latin typeface="宋体" panose="02010600030101010101" pitchFamily="2" charset="-122"/>
                <a:ea typeface="阿里巴巴普惠体" panose="00020600040101010101"/>
              </a:rPr>
              <a:t>(optimizer, </a:t>
            </a:r>
            <a:r>
              <a:rPr lang="en-US" altLang="zh-CN" sz="1400" b="1" dirty="0" err="1">
                <a:solidFill>
                  <a:srgbClr val="0000FF"/>
                </a:solidFill>
                <a:latin typeface="宋体" panose="02010600030101010101" pitchFamily="2" charset="-122"/>
                <a:ea typeface="阿里巴巴普惠体" panose="00020600040101010101"/>
              </a:rPr>
              <a:t>step_size</a:t>
            </a:r>
            <a:r>
              <a:rPr lang="en-US" altLang="zh-CN" sz="1400" b="1" dirty="0">
                <a:solidFill>
                  <a:srgbClr val="0000FF"/>
                </a:solidFill>
                <a:latin typeface="宋体" panose="02010600030101010101" pitchFamily="2" charset="-122"/>
                <a:ea typeface="阿里巴巴普惠体" panose="00020600040101010101"/>
              </a:rPr>
              <a:t>=50, gamma=0.5)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4.</a:t>
            </a:r>
            <a:r>
              <a:rPr lang="zh-CN" altLang="en-US" sz="1400" dirty="0">
                <a:solidFill>
                  <a:srgbClr val="00B050"/>
                </a:solidFill>
                <a:latin typeface="宋体" panose="02010600030101010101" pitchFamily="2" charset="-122"/>
                <a:ea typeface="阿里巴巴普惠体" panose="00020600040101010101"/>
              </a:rPr>
              <a:t>获取学习率的值和当前的</a:t>
            </a:r>
            <a:r>
              <a:rPr lang="en-US" altLang="zh-CN" sz="1400" dirty="0">
                <a:solidFill>
                  <a:srgbClr val="00B050"/>
                </a:solidFill>
                <a:latin typeface="宋体" panose="02010600030101010101" pitchFamily="2" charset="-122"/>
                <a:ea typeface="阿里巴巴普惠体" panose="00020600040101010101"/>
              </a:rPr>
              <a:t>epoch</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学习率衰减方法</a:t>
            </a:r>
            <a:r>
              <a:rPr lang="en-US" altLang="zh-CN" dirty="0">
                <a:solidFill>
                  <a:srgbClr val="333333"/>
                </a:solidFill>
                <a:latin typeface="Helvetica Neue"/>
              </a:rPr>
              <a:t>-</a:t>
            </a:r>
            <a:r>
              <a:rPr lang="zh-CN" altLang="en-US" dirty="0">
                <a:solidFill>
                  <a:srgbClr val="333333"/>
                </a:solidFill>
                <a:latin typeface="Helvetica Neue"/>
              </a:rPr>
              <a:t>等间隔学习率衰减方法</a:t>
            </a:r>
            <a:endParaRPr lang="zh-CN" altLang="en-US" b="1" i="0" dirty="0">
              <a:solidFill>
                <a:srgbClr val="333333"/>
              </a:solidFill>
              <a:effectLst/>
              <a:latin typeface="Helvetica Neue"/>
            </a:endParaRPr>
          </a:p>
        </p:txBody>
      </p:sp>
      <p:sp>
        <p:nvSpPr>
          <p:cNvPr id="4" name="文本框 3"/>
          <p:cNvSpPr txBox="1"/>
          <p:nvPr/>
        </p:nvSpPr>
        <p:spPr>
          <a:xfrm>
            <a:off x="929480" y="1457271"/>
            <a:ext cx="7758208" cy="487312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for epoch in range(</a:t>
            </a:r>
            <a:r>
              <a:rPr lang="en-US" altLang="zh-CN" sz="1200" b="1" dirty="0" err="1">
                <a:solidFill>
                  <a:srgbClr val="0000FF"/>
                </a:solidFill>
                <a:latin typeface="宋体" panose="02010600030101010101" pitchFamily="2" charset="-122"/>
                <a:ea typeface="阿里巴巴普惠体" panose="00020600040101010101"/>
              </a:rPr>
              <a:t>max_epoch</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lr_list.append</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scheduler_lr.get_last_lr</a:t>
            </a:r>
            <a:r>
              <a:rPr lang="en-US" altLang="zh-CN" sz="1200" b="1" dirty="0">
                <a:solidFill>
                  <a:srgbClr val="0000FF"/>
                </a:solidFill>
                <a:latin typeface="宋体" panose="02010600030101010101" pitchFamily="2" charset="-122"/>
                <a:ea typeface="阿里巴巴普惠体" panose="00020600040101010101"/>
              </a:rPr>
              <a:t>())</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获取当前</a:t>
            </a:r>
            <a:r>
              <a:rPr lang="en-US" altLang="zh-CN" sz="1200" dirty="0" err="1">
                <a:solidFill>
                  <a:srgbClr val="00B050"/>
                </a:solidFill>
                <a:latin typeface="宋体" panose="02010600030101010101" pitchFamily="2" charset="-122"/>
                <a:ea typeface="阿里巴巴普惠体" panose="00020600040101010101"/>
              </a:rPr>
              <a:t>lr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epoch_list.append</a:t>
            </a:r>
            <a:r>
              <a:rPr lang="en-US" altLang="zh-CN" sz="1200" b="1" dirty="0">
                <a:solidFill>
                  <a:srgbClr val="0000FF"/>
                </a:solidFill>
                <a:latin typeface="宋体" panose="02010600030101010101" pitchFamily="2" charset="-122"/>
                <a:ea typeface="阿里巴巴普惠体" panose="00020600040101010101"/>
              </a:rPr>
              <a:t>(epoch)</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获取当前的</a:t>
            </a:r>
            <a:r>
              <a:rPr lang="en-US" altLang="zh-CN" sz="1200" dirty="0">
                <a:solidFill>
                  <a:srgbClr val="00B050"/>
                </a:solidFill>
                <a:latin typeface="宋体" panose="02010600030101010101" pitchFamily="2" charset="-122"/>
                <a:ea typeface="阿里巴巴普惠体" panose="00020600040101010101"/>
              </a:rPr>
              <a:t>epoch</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for </a:t>
            </a:r>
            <a:r>
              <a:rPr lang="en-US" altLang="zh-CN" sz="1200" b="1" dirty="0" err="1">
                <a:solidFill>
                  <a:srgbClr val="0000FF"/>
                </a:solidFill>
                <a:latin typeface="宋体" panose="02010600030101010101" pitchFamily="2" charset="-122"/>
                <a:ea typeface="阿里巴巴普惠体" panose="00020600040101010101"/>
              </a:rPr>
              <a:t>i</a:t>
            </a:r>
            <a:r>
              <a:rPr lang="en-US" altLang="zh-CN" sz="1200" b="1" dirty="0">
                <a:solidFill>
                  <a:srgbClr val="0000FF"/>
                </a:solidFill>
                <a:latin typeface="宋体" panose="02010600030101010101" pitchFamily="2" charset="-122"/>
                <a:ea typeface="阿里巴巴普惠体" panose="00020600040101010101"/>
              </a:rPr>
              <a:t> in range(iteration):</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遍历每一个</a:t>
            </a:r>
            <a:r>
              <a:rPr lang="en-US" altLang="zh-CN" sz="1200" dirty="0">
                <a:solidFill>
                  <a:srgbClr val="00B050"/>
                </a:solidFill>
                <a:latin typeface="宋体" panose="02010600030101010101" pitchFamily="2" charset="-122"/>
                <a:ea typeface="阿里巴巴普惠体" panose="00020600040101010101"/>
              </a:rPr>
              <a:t>batch</a:t>
            </a:r>
            <a:r>
              <a:rPr lang="zh-CN" altLang="en-US" sz="1200" dirty="0">
                <a:solidFill>
                  <a:srgbClr val="00B050"/>
                </a:solidFill>
                <a:latin typeface="宋体" panose="02010600030101010101" pitchFamily="2" charset="-122"/>
                <a:ea typeface="阿里巴巴普惠体" panose="00020600040101010101"/>
              </a:rPr>
              <a:t>数据</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a:solidFill>
                  <a:srgbClr val="0000FF"/>
                </a:solidFill>
                <a:latin typeface="宋体" panose="02010600030101010101" pitchFamily="2" charset="-122"/>
                <a:ea typeface="阿里巴巴普惠体" panose="00020600040101010101"/>
              </a:rPr>
              <a:t>loss = ((w*x-</a:t>
            </a:r>
            <a:r>
              <a:rPr lang="en-US" altLang="zh-CN" sz="1200" b="1" dirty="0" err="1">
                <a:solidFill>
                  <a:srgbClr val="0000FF"/>
                </a:solidFill>
                <a:latin typeface="宋体" panose="02010600030101010101" pitchFamily="2" charset="-122"/>
                <a:ea typeface="阿里巴巴普惠体" panose="00020600040101010101"/>
              </a:rPr>
              <a:t>y_true</a:t>
            </a:r>
            <a:r>
              <a:rPr lang="en-US" altLang="zh-CN" sz="1200" b="1" dirty="0">
                <a:solidFill>
                  <a:srgbClr val="0000FF"/>
                </a:solidFill>
                <a:latin typeface="宋体" panose="02010600030101010101" pitchFamily="2" charset="-122"/>
                <a:ea typeface="阿里巴巴普惠体" panose="00020600040101010101"/>
              </a:rPr>
              <a:t>)**2)/2.0</a:t>
            </a:r>
            <a:r>
              <a:rPr lang="zh-CN" altLang="en-US" sz="1200" b="1" dirty="0">
                <a:solidFill>
                  <a:srgbClr val="0000FF"/>
                </a:solidFill>
                <a:latin typeface="宋体" panose="02010600030101010101" pitchFamily="2" charset="-122"/>
                <a:ea typeface="阿里巴巴普惠体" panose="00020600040101010101"/>
              </a:rPr>
              <a:t> </a:t>
            </a:r>
            <a:r>
              <a:rPr lang="en-US" altLang="zh-CN" sz="1200" dirty="0">
                <a:solidFill>
                  <a:srgbClr val="00B050"/>
                </a:solidFill>
                <a:latin typeface="宋体" panose="02010600030101010101" pitchFamily="2" charset="-122"/>
                <a:ea typeface="阿里巴巴普惠体" panose="00020600040101010101"/>
              </a:rPr>
              <a:t># </a:t>
            </a:r>
            <a:r>
              <a:rPr lang="zh-CN" altLang="en-US" sz="1200" dirty="0">
                <a:solidFill>
                  <a:srgbClr val="00B050"/>
                </a:solidFill>
                <a:latin typeface="宋体" panose="02010600030101010101" pitchFamily="2" charset="-122"/>
                <a:ea typeface="阿里巴巴普惠体" panose="00020600040101010101"/>
              </a:rPr>
              <a:t>目标函数</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optimizer.zero_grad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反向传播</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loss.backward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optimizer.step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a:t>
            </a:r>
            <a:r>
              <a:rPr lang="zh-CN" altLang="en-US" sz="1200" dirty="0">
                <a:solidFill>
                  <a:srgbClr val="00B050"/>
                </a:solidFill>
                <a:latin typeface="宋体" panose="02010600030101010101" pitchFamily="2" charset="-122"/>
                <a:ea typeface="阿里巴巴普惠体" panose="00020600040101010101"/>
              </a:rPr>
              <a:t>更新下一个</a:t>
            </a:r>
            <a:r>
              <a:rPr lang="en-US" altLang="zh-CN" sz="1200" dirty="0">
                <a:solidFill>
                  <a:srgbClr val="00B050"/>
                </a:solidFill>
                <a:latin typeface="宋体" panose="02010600030101010101" pitchFamily="2" charset="-122"/>
                <a:ea typeface="阿里巴巴普惠体" panose="00020600040101010101"/>
              </a:rPr>
              <a:t>epoch</a:t>
            </a:r>
            <a:r>
              <a:rPr lang="zh-CN" altLang="en-US" sz="1200" dirty="0">
                <a:solidFill>
                  <a:srgbClr val="00B050"/>
                </a:solidFill>
                <a:latin typeface="宋体" panose="02010600030101010101" pitchFamily="2" charset="-122"/>
                <a:ea typeface="阿里巴巴普惠体" panose="00020600040101010101"/>
              </a:rPr>
              <a:t>的学习率</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scheduler_lr.step</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dirty="0">
                <a:solidFill>
                  <a:srgbClr val="00B050"/>
                </a:solidFill>
                <a:latin typeface="宋体" panose="02010600030101010101" pitchFamily="2" charset="-122"/>
                <a:ea typeface="阿里巴巴普惠体" panose="00020600040101010101"/>
              </a:rPr>
              <a:t>    # 5.</a:t>
            </a:r>
            <a:r>
              <a:rPr lang="zh-CN" altLang="en-US" sz="1200" dirty="0">
                <a:solidFill>
                  <a:srgbClr val="00B050"/>
                </a:solidFill>
                <a:latin typeface="宋体" panose="02010600030101010101" pitchFamily="2" charset="-122"/>
                <a:ea typeface="阿里巴巴普惠体" panose="00020600040101010101"/>
              </a:rPr>
              <a:t>绘制学习率变化的曲线</a:t>
            </a:r>
            <a:endParaRPr lang="zh-CN" altLang="en-US" sz="12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plt.plot</a:t>
            </a:r>
            <a:r>
              <a:rPr lang="en-US" altLang="zh-CN" sz="1200" b="1" dirty="0">
                <a:solidFill>
                  <a:srgbClr val="0000FF"/>
                </a:solidFill>
                <a:latin typeface="宋体" panose="02010600030101010101" pitchFamily="2" charset="-122"/>
                <a:ea typeface="阿里巴巴普惠体" panose="00020600040101010101"/>
              </a:rPr>
              <a:t>(</a:t>
            </a:r>
            <a:r>
              <a:rPr lang="en-US" altLang="zh-CN" sz="1200" b="1" dirty="0" err="1">
                <a:solidFill>
                  <a:srgbClr val="0000FF"/>
                </a:solidFill>
                <a:latin typeface="宋体" panose="02010600030101010101" pitchFamily="2" charset="-122"/>
                <a:ea typeface="阿里巴巴普惠体" panose="00020600040101010101"/>
              </a:rPr>
              <a:t>epoch_list</a:t>
            </a: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lr_list</a:t>
            </a:r>
            <a:r>
              <a:rPr lang="en-US" altLang="zh-CN" sz="1200" b="1" dirty="0">
                <a:solidFill>
                  <a:srgbClr val="0000FF"/>
                </a:solidFill>
                <a:latin typeface="宋体" panose="02010600030101010101" pitchFamily="2" charset="-122"/>
                <a:ea typeface="阿里巴巴普惠体" panose="00020600040101010101"/>
              </a:rPr>
              <a:t>, label="Step LR Scheduler")</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plt.xlabel</a:t>
            </a:r>
            <a:r>
              <a:rPr lang="en-US" altLang="zh-CN" sz="1200" b="1" dirty="0">
                <a:solidFill>
                  <a:srgbClr val="0000FF"/>
                </a:solidFill>
                <a:latin typeface="宋体" panose="02010600030101010101" pitchFamily="2" charset="-122"/>
                <a:ea typeface="阿里巴巴普惠体" panose="00020600040101010101"/>
              </a:rPr>
              <a:t>("Epoch")</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plt.ylabel</a:t>
            </a:r>
            <a:r>
              <a:rPr lang="en-US" altLang="zh-CN" sz="1200" b="1" dirty="0">
                <a:solidFill>
                  <a:srgbClr val="0000FF"/>
                </a:solidFill>
                <a:latin typeface="宋体" panose="02010600030101010101" pitchFamily="2" charset="-122"/>
                <a:ea typeface="阿里巴巴普惠体" panose="00020600040101010101"/>
              </a:rPr>
              <a:t>("Learning rate")</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plt.legend</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200" b="1" dirty="0">
                <a:solidFill>
                  <a:srgbClr val="0000FF"/>
                </a:solidFill>
                <a:latin typeface="宋体" panose="02010600030101010101" pitchFamily="2" charset="-122"/>
                <a:ea typeface="阿里巴巴普惠体" panose="00020600040101010101"/>
              </a:rPr>
              <a:t>    </a:t>
            </a:r>
            <a:r>
              <a:rPr lang="en-US" altLang="zh-CN" sz="1200" b="1" dirty="0" err="1">
                <a:solidFill>
                  <a:srgbClr val="0000FF"/>
                </a:solidFill>
                <a:latin typeface="宋体" panose="02010600030101010101" pitchFamily="2" charset="-122"/>
                <a:ea typeface="阿里巴巴普惠体" panose="00020600040101010101"/>
              </a:rPr>
              <a:t>plt.show</a:t>
            </a:r>
            <a:r>
              <a:rPr lang="en-US" altLang="zh-CN" sz="1200" b="1" dirty="0">
                <a:solidFill>
                  <a:srgbClr val="0000FF"/>
                </a:solidFill>
                <a:latin typeface="宋体" panose="02010600030101010101" pitchFamily="2" charset="-122"/>
                <a:ea typeface="阿里巴巴普惠体" panose="00020600040101010101"/>
              </a:rPr>
              <a:t>()</a:t>
            </a:r>
            <a:endParaRPr lang="en-US" altLang="zh-CN" sz="12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指定间隔学习率衰减的效果如下：</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380999" y="2260002"/>
            <a:ext cx="4945809" cy="3657917"/>
          </a:xfrm>
          <a:prstGeom prst="rect">
            <a:avLst/>
          </a:prstGeom>
        </p:spPr>
      </p:pic>
      <p:sp>
        <p:nvSpPr>
          <p:cNvPr id="5" name="文本框 4"/>
          <p:cNvSpPr txBox="1"/>
          <p:nvPr/>
        </p:nvSpPr>
        <p:spPr>
          <a:xfrm>
            <a:off x="6060280" y="2902645"/>
            <a:ext cx="5750720" cy="144526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milestones</a:t>
            </a:r>
            <a:r>
              <a:rPr lang="zh-CN" altLang="en-US" sz="1400" dirty="0">
                <a:solidFill>
                  <a:srgbClr val="00B050"/>
                </a:solidFill>
                <a:latin typeface="宋体" panose="02010600030101010101" pitchFamily="2" charset="-122"/>
                <a:ea typeface="阿里巴巴普惠体" panose="00020600040101010101"/>
                <a:sym typeface="+mn-ea"/>
              </a:rPr>
              <a:t>：设定调整轮次</a:t>
            </a:r>
            <a:r>
              <a:rPr lang="en-US" altLang="zh-CN" sz="1400" dirty="0">
                <a:solidFill>
                  <a:srgbClr val="00B050"/>
                </a:solidFill>
                <a:latin typeface="宋体" panose="02010600030101010101" pitchFamily="2" charset="-122"/>
                <a:ea typeface="阿里巴巴普惠体" panose="00020600040101010101"/>
                <a:sym typeface="+mn-ea"/>
              </a:rPr>
              <a:t>:[50, 125, 160]</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：调整系数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 gamma</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optim.lr_scheduler.MultiStepLR</a:t>
            </a:r>
            <a:r>
              <a:rPr lang="en-US" altLang="zh-CN" sz="1400" b="1" dirty="0">
                <a:solidFill>
                  <a:srgbClr val="0000FF"/>
                </a:solidFill>
                <a:latin typeface="宋体" panose="02010600030101010101" pitchFamily="2" charset="-122"/>
                <a:ea typeface="阿里巴巴普惠体" panose="00020600040101010101"/>
              </a:rPr>
              <a:t>(optimizer, milestones, gamma=0.1)</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4" name="文本框 3"/>
          <p:cNvSpPr txBox="1"/>
          <p:nvPr/>
        </p:nvSpPr>
        <p:spPr>
          <a:xfrm>
            <a:off x="1203800" y="1594743"/>
            <a:ext cx="6817175" cy="465768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test_MultiStepLR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torch.manual_seed</a:t>
            </a:r>
            <a:r>
              <a:rPr lang="en-US" altLang="zh-CN" sz="1400" b="1" dirty="0">
                <a:solidFill>
                  <a:srgbClr val="0000FF"/>
                </a:solidFill>
                <a:latin typeface="宋体" panose="02010600030101010101" pitchFamily="2" charset="-122"/>
                <a:ea typeface="阿里巴巴普惠体" panose="00020600040101010101"/>
              </a:rPr>
              <a:t>(1)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LR = 0.1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weights = </a:t>
            </a:r>
            <a:r>
              <a:rPr lang="en-US" altLang="zh-CN" sz="1400" b="1" dirty="0" err="1">
                <a:solidFill>
                  <a:srgbClr val="0000FF"/>
                </a:solidFill>
                <a:latin typeface="宋体" panose="02010600030101010101" pitchFamily="2" charset="-122"/>
                <a:ea typeface="阿里巴巴普惠体" panose="00020600040101010101"/>
              </a:rPr>
              <a:t>torch.randn</a:t>
            </a:r>
            <a:r>
              <a:rPr lang="en-US" altLang="zh-CN" sz="1400" b="1" dirty="0">
                <a:solidFill>
                  <a:srgbClr val="0000FF"/>
                </a:solidFill>
                <a:latin typeface="宋体" panose="02010600030101010101" pitchFamily="2" charset="-122"/>
                <a:ea typeface="阿里巴巴普惠体" panose="00020600040101010101"/>
              </a:rPr>
              <a:t>((1),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target = </a:t>
            </a:r>
            <a:r>
              <a:rPr lang="en-US" altLang="zh-CN" sz="1400" b="1" dirty="0" err="1">
                <a:solidFill>
                  <a:srgbClr val="0000FF"/>
                </a:solidFill>
                <a:latin typeface="宋体" panose="02010600030101010101" pitchFamily="2" charset="-122"/>
                <a:ea typeface="阿里巴巴普惠体" panose="00020600040101010101"/>
              </a:rPr>
              <a:t>torch.zeros</a:t>
            </a:r>
            <a:r>
              <a:rPr lang="en-US" altLang="zh-CN" sz="1400" b="1" dirty="0">
                <a:solidFill>
                  <a:srgbClr val="0000FF"/>
                </a:solidFill>
                <a:latin typeface="宋体" panose="02010600030101010101" pitchFamily="2" charset="-122"/>
                <a:ea typeface="阿里巴巴普惠体" panose="00020600040101010101"/>
              </a:rPr>
              <a:t>((1))</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print('weights---&gt;', weights, 'target---&gt;', target)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([weights],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设定调整时刻数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milestones = [50, 125, 160]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optim.lr_scheduler.MultiStepLR</a:t>
            </a:r>
            <a:r>
              <a:rPr lang="en-US" altLang="zh-CN" sz="1400" b="1" dirty="0">
                <a:solidFill>
                  <a:srgbClr val="0000FF"/>
                </a:solidFill>
                <a:latin typeface="宋体" panose="02010600030101010101" pitchFamily="2" charset="-122"/>
                <a:ea typeface="阿里巴巴普惠体" panose="00020600040101010101"/>
              </a:rPr>
              <a:t>(optimizer, milestones=milestones, gamma=0.5)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dirty="0">
                <a:solidFill>
                  <a:srgbClr val="333333"/>
                </a:solidFill>
                <a:latin typeface="Helvetica Neue"/>
              </a:rPr>
              <a:t>指定</a:t>
            </a:r>
            <a:r>
              <a:rPr lang="zh-CN" altLang="en-US" b="1" i="0" dirty="0">
                <a:solidFill>
                  <a:srgbClr val="333333"/>
                </a:solidFill>
                <a:effectLst/>
                <a:latin typeface="Helvetica Neue"/>
              </a:rPr>
              <a:t>间隔学习率衰减</a:t>
            </a:r>
            <a:endParaRPr lang="en-US" altLang="zh-CN" b="1" i="0" dirty="0">
              <a:solidFill>
                <a:srgbClr val="333333"/>
              </a:solidFill>
              <a:effectLst/>
              <a:latin typeface="Helvetica Neue"/>
            </a:endParaRPr>
          </a:p>
        </p:txBody>
      </p:sp>
      <p:sp>
        <p:nvSpPr>
          <p:cNvPr id="4" name="文本框 3"/>
          <p:cNvSpPr txBox="1"/>
          <p:nvPr/>
        </p:nvSpPr>
        <p:spPr>
          <a:xfrm>
            <a:off x="710880" y="1461651"/>
            <a:ext cx="9214146" cy="539634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epoch in range(</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lr_list.append</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scheduler_lr.get_last_lr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epoch_list.append</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a:t>
            </a:r>
            <a:r>
              <a:rPr lang="en-US" altLang="zh-CN" sz="1400" b="1" dirty="0" err="1">
                <a:solidFill>
                  <a:srgbClr val="0000FF"/>
                </a:solidFill>
                <a:latin typeface="宋体" panose="02010600030101010101" pitchFamily="2" charset="-122"/>
                <a:ea typeface="阿里巴巴普惠体" panose="00020600040101010101"/>
              </a:rPr>
              <a:t>i</a:t>
            </a:r>
            <a:r>
              <a:rPr lang="en-US" altLang="zh-CN" sz="1400" b="1" dirty="0">
                <a:solidFill>
                  <a:srgbClr val="0000FF"/>
                </a:solidFill>
                <a:latin typeface="宋体" panose="02010600030101010101" pitchFamily="2" charset="-122"/>
                <a:ea typeface="阿里巴巴普惠体" panose="00020600040101010101"/>
              </a:rPr>
              <a:t> in range(iteration):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loss = </a:t>
            </a:r>
            <a:r>
              <a:rPr lang="en-US" altLang="zh-CN" sz="1400" b="1" dirty="0" err="1">
                <a:solidFill>
                  <a:srgbClr val="0000FF"/>
                </a:solidFill>
                <a:latin typeface="宋体" panose="02010600030101010101" pitchFamily="2" charset="-122"/>
                <a:ea typeface="阿里巴巴普惠体" panose="00020600040101010101"/>
              </a:rPr>
              <a:t>torch.pow</a:t>
            </a:r>
            <a:r>
              <a:rPr lang="en-US" altLang="zh-CN" sz="1400" b="1" dirty="0">
                <a:solidFill>
                  <a:srgbClr val="0000FF"/>
                </a:solidFill>
                <a:latin typeface="宋体" panose="02010600030101010101" pitchFamily="2" charset="-122"/>
                <a:ea typeface="阿里巴巴普惠体" panose="00020600040101010101"/>
              </a:rPr>
              <a:t>((weights - target), 2)</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optimizer.zero_grad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反向传播</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loss.backward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参数更新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更新下一个</a:t>
            </a:r>
            <a:r>
              <a:rPr lang="en-US" altLang="zh-CN" sz="1400" dirty="0">
                <a:solidFill>
                  <a:srgbClr val="00B050"/>
                </a:solidFill>
                <a:latin typeface="宋体" panose="02010600030101010101" pitchFamily="2" charset="-122"/>
                <a:ea typeface="阿里巴巴普惠体" panose="00020600040101010101"/>
              </a:rPr>
              <a:t>epoch</a:t>
            </a:r>
            <a:r>
              <a:rPr lang="zh-CN" altLang="en-US" sz="1400" dirty="0">
                <a:solidFill>
                  <a:srgbClr val="00B050"/>
                </a:solidFill>
                <a:latin typeface="宋体" panose="02010600030101010101" pitchFamily="2" charset="-122"/>
                <a:ea typeface="阿里巴巴普惠体" panose="00020600040101010101"/>
              </a:rPr>
              <a:t>的学习率</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label="Multi Step LR Scheduler\</a:t>
            </a:r>
            <a:r>
              <a:rPr lang="en-US" altLang="zh-CN" sz="1400" b="1" dirty="0" err="1">
                <a:solidFill>
                  <a:srgbClr val="0000FF"/>
                </a:solidFill>
                <a:latin typeface="宋体" panose="02010600030101010101" pitchFamily="2" charset="-122"/>
                <a:ea typeface="阿里巴巴普惠体" panose="00020600040101010101"/>
              </a:rPr>
              <a:t>nmilestones</a:t>
            </a:r>
            <a:r>
              <a:rPr lang="en-US" altLang="zh-CN" sz="1400" b="1" dirty="0">
                <a:solidFill>
                  <a:srgbClr val="0000FF"/>
                </a:solidFill>
                <a:latin typeface="宋体" panose="02010600030101010101" pitchFamily="2" charset="-122"/>
                <a:ea typeface="阿里巴巴普惠体" panose="00020600040101010101"/>
              </a:rPr>
              <a:t>:{}".format(milestones))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plt.xlabel</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plt.ylabel</a:t>
            </a:r>
            <a:r>
              <a:rPr lang="en-US" altLang="zh-CN" sz="1400" b="1" dirty="0">
                <a:solidFill>
                  <a:srgbClr val="0000FF"/>
                </a:solidFill>
                <a:latin typeface="宋体" panose="02010600030101010101" pitchFamily="2" charset="-122"/>
                <a:ea typeface="阿里巴巴普惠体" panose="00020600040101010101"/>
              </a:rPr>
              <a:t>("Learning rate")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plt.legend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dirty="0">
                <a:solidFill>
                  <a:srgbClr val="333333"/>
                </a:solidFill>
                <a:latin typeface="Helvetica Neue"/>
              </a:rPr>
              <a:t>按指数</a:t>
            </a:r>
            <a:r>
              <a:rPr lang="zh-CN" altLang="en-US" b="0" i="0" dirty="0">
                <a:solidFill>
                  <a:srgbClr val="333333"/>
                </a:solidFill>
                <a:effectLst/>
                <a:latin typeface="Helvetica Neue"/>
              </a:rPr>
              <a:t>学习率衰减的效果如下：</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710880" y="1974461"/>
            <a:ext cx="4808637" cy="3589331"/>
          </a:xfrm>
          <a:prstGeom prst="rect">
            <a:avLst/>
          </a:prstGeom>
        </p:spPr>
      </p:pic>
      <p:sp>
        <p:nvSpPr>
          <p:cNvPr id="6" name="文本框 5"/>
          <p:cNvSpPr txBox="1"/>
          <p:nvPr/>
        </p:nvSpPr>
        <p:spPr>
          <a:xfrm>
            <a:off x="6096000" y="2480022"/>
            <a:ext cx="4985672" cy="122999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gamma</a:t>
            </a:r>
            <a:r>
              <a:rPr lang="zh-CN" altLang="en-US" sz="1400" dirty="0">
                <a:solidFill>
                  <a:srgbClr val="00B050"/>
                </a:solidFill>
                <a:latin typeface="宋体" panose="02010600030101010101" pitchFamily="2" charset="-122"/>
                <a:ea typeface="阿里巴巴普惠体" panose="00020600040101010101"/>
                <a:sym typeface="+mn-ea"/>
              </a:rPr>
              <a:t>：指数的底</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zh-CN" altLang="en-US" sz="1400" dirty="0">
                <a:solidFill>
                  <a:srgbClr val="00B050"/>
                </a:solidFill>
                <a:latin typeface="宋体" panose="02010600030101010101" pitchFamily="2" charset="-122"/>
                <a:ea typeface="阿里巴巴普惠体" panose="00020600040101010101"/>
                <a:sym typeface="+mn-ea"/>
              </a:rPr>
              <a:t>调整方式</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lr</a:t>
            </a:r>
            <a:r>
              <a:rPr lang="en-US" altLang="zh-CN" sz="1400" dirty="0">
                <a:solidFill>
                  <a:srgbClr val="00B050"/>
                </a:solidFill>
                <a:latin typeface="宋体" panose="02010600030101010101" pitchFamily="2" charset="-122"/>
                <a:ea typeface="阿里巴巴普惠体" panose="00020600040101010101"/>
                <a:sym typeface="+mn-ea"/>
              </a:rPr>
              <a:t>∗ </a:t>
            </a:r>
            <a:r>
              <a:rPr lang="en-US" altLang="zh-CN" sz="1400" dirty="0" err="1">
                <a:solidFill>
                  <a:srgbClr val="00B050"/>
                </a:solidFill>
                <a:latin typeface="宋体" panose="02010600030101010101" pitchFamily="2" charset="-122"/>
                <a:ea typeface="阿里巴巴普惠体" panose="00020600040101010101"/>
                <a:sym typeface="+mn-ea"/>
              </a:rPr>
              <a:t>gamma^epoch</a:t>
            </a:r>
            <a:endParaRPr lang="en-US" altLang="zh-CN" sz="1400" b="1" dirty="0" err="1">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err="1">
                <a:solidFill>
                  <a:srgbClr val="0000FF"/>
                </a:solidFill>
                <a:latin typeface="宋体" panose="02010600030101010101" pitchFamily="2" charset="-122"/>
                <a:ea typeface="阿里巴巴普惠体" panose="00020600040101010101"/>
              </a:rPr>
              <a:t>optim.lr_scheduler.ExponentialLR</a:t>
            </a:r>
            <a:r>
              <a:rPr lang="en-US" altLang="zh-CN" sz="1400" b="1" dirty="0">
                <a:solidFill>
                  <a:srgbClr val="0000FF"/>
                </a:solidFill>
                <a:latin typeface="宋体" panose="02010600030101010101" pitchFamily="2" charset="-122"/>
                <a:ea typeface="阿里巴巴普惠体" panose="00020600040101010101"/>
              </a:rPr>
              <a:t>(optimizer, gamma)</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sp>
        <p:nvSpPr>
          <p:cNvPr id="4" name="文本框 3"/>
          <p:cNvSpPr txBox="1"/>
          <p:nvPr/>
        </p:nvSpPr>
        <p:spPr>
          <a:xfrm>
            <a:off x="1698432" y="1618478"/>
            <a:ext cx="6817175" cy="5078313"/>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a:t>
            </a:r>
            <a:r>
              <a:rPr lang="en-US" altLang="zh-CN" sz="1400" b="1" dirty="0" err="1">
                <a:solidFill>
                  <a:srgbClr val="0000FF"/>
                </a:solidFill>
                <a:latin typeface="宋体" panose="02010600030101010101" pitchFamily="2" charset="-122"/>
                <a:ea typeface="阿里巴巴普惠体" panose="00020600040101010101"/>
              </a:rPr>
              <a:t>test_ExponentialLR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0.</a:t>
            </a:r>
            <a:r>
              <a:rPr lang="zh-CN" altLang="en-US" sz="1400" dirty="0">
                <a:solidFill>
                  <a:srgbClr val="00B050"/>
                </a:solidFill>
                <a:latin typeface="宋体" panose="02010600030101010101" pitchFamily="2" charset="-122"/>
                <a:ea typeface="阿里巴巴普惠体" panose="00020600040101010101"/>
              </a:rPr>
              <a:t>参数初始化</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LR = 0.1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设置学习率初始化值为</a:t>
            </a:r>
            <a:r>
              <a:rPr lang="en-US" altLang="zh-CN" sz="1400" dirty="0">
                <a:solidFill>
                  <a:srgbClr val="00B050"/>
                </a:solidFill>
                <a:latin typeface="宋体" panose="02010600030101010101" pitchFamily="2" charset="-122"/>
                <a:ea typeface="阿里巴巴普惠体" panose="00020600040101010101"/>
              </a:rPr>
              <a:t>0.1</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iteration = 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 = 200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1 </a:t>
            </a:r>
            <a:r>
              <a:rPr lang="zh-CN" altLang="en-US" sz="1400" dirty="0">
                <a:solidFill>
                  <a:srgbClr val="00B050"/>
                </a:solidFill>
                <a:latin typeface="宋体" panose="02010600030101010101" pitchFamily="2" charset="-122"/>
                <a:ea typeface="阿里巴巴普惠体" panose="00020600040101010101"/>
              </a:rPr>
              <a:t>初始化参数</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x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w = </a:t>
            </a:r>
            <a:r>
              <a:rPr lang="en-US" altLang="zh-CN" sz="1400" b="1" dirty="0" err="1">
                <a:solidFill>
                  <a:srgbClr val="0000FF"/>
                </a:solidFill>
                <a:latin typeface="宋体" panose="02010600030101010101" pitchFamily="2" charset="-122"/>
                <a:ea typeface="阿里巴巴普惠体" panose="00020600040101010101"/>
              </a:rPr>
              <a:t>torch.tensor</a:t>
            </a:r>
            <a:r>
              <a:rPr lang="en-US" altLang="zh-CN" sz="1400" b="1" dirty="0">
                <a:solidFill>
                  <a:srgbClr val="0000FF"/>
                </a:solidFill>
                <a:latin typeface="宋体" panose="02010600030101010101" pitchFamily="2" charset="-122"/>
                <a:ea typeface="阿里巴巴普惠体" panose="00020600040101010101"/>
              </a:rPr>
              <a:t>([1.0], </a:t>
            </a:r>
            <a:r>
              <a:rPr lang="en-US" altLang="zh-CN" sz="1400" b="1" dirty="0" err="1">
                <a:solidFill>
                  <a:srgbClr val="0000FF"/>
                </a:solidFill>
                <a:latin typeface="宋体" panose="02010600030101010101" pitchFamily="2" charset="-122"/>
                <a:ea typeface="阿里巴巴普惠体" panose="00020600040101010101"/>
              </a:rPr>
              <a:t>requires_grad</a:t>
            </a:r>
            <a:r>
              <a:rPr lang="en-US" altLang="zh-CN" sz="1400" b="1" dirty="0">
                <a:solidFill>
                  <a:srgbClr val="0000FF"/>
                </a:solidFill>
                <a:latin typeface="宋体" panose="02010600030101010101" pitchFamily="2" charset="-122"/>
                <a:ea typeface="阿里巴巴普惠体" panose="00020600040101010101"/>
              </a:rPr>
              <a:t>=True)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2.</a:t>
            </a:r>
            <a:r>
              <a:rPr lang="zh-CN" altLang="en-US" sz="1400" dirty="0">
                <a:solidFill>
                  <a:srgbClr val="00B050"/>
                </a:solidFill>
                <a:latin typeface="宋体" panose="02010600030101010101" pitchFamily="2" charset="-122"/>
                <a:ea typeface="阿里巴巴普惠体" panose="00020600040101010101"/>
              </a:rPr>
              <a:t>优化器</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optimizer = </a:t>
            </a:r>
            <a:r>
              <a:rPr lang="en-US" altLang="zh-CN" sz="1400" b="1" dirty="0" err="1">
                <a:solidFill>
                  <a:srgbClr val="0000FF"/>
                </a:solidFill>
                <a:latin typeface="宋体" panose="02010600030101010101" pitchFamily="2" charset="-122"/>
                <a:ea typeface="阿里巴巴普惠体" panose="00020600040101010101"/>
              </a:rPr>
              <a:t>optim.SGD</a:t>
            </a:r>
            <a:r>
              <a:rPr lang="en-US" altLang="zh-CN" sz="1400" b="1" dirty="0">
                <a:solidFill>
                  <a:srgbClr val="0000FF"/>
                </a:solidFill>
                <a:latin typeface="宋体" panose="02010600030101010101" pitchFamily="2" charset="-122"/>
                <a:ea typeface="阿里巴巴普惠体" panose="00020600040101010101"/>
              </a:rPr>
              <a:t>([w], </a:t>
            </a:r>
            <a:r>
              <a:rPr lang="en-US" altLang="zh-CN" sz="1400" b="1" dirty="0" err="1">
                <a:solidFill>
                  <a:srgbClr val="0000FF"/>
                </a:solidFill>
                <a:latin typeface="宋体" panose="02010600030101010101" pitchFamily="2" charset="-122"/>
                <a:ea typeface="阿里巴巴普惠体" panose="00020600040101010101"/>
              </a:rPr>
              <a:t>lr</a:t>
            </a:r>
            <a:r>
              <a:rPr lang="en-US" altLang="zh-CN" sz="1400" b="1" dirty="0">
                <a:solidFill>
                  <a:srgbClr val="0000FF"/>
                </a:solidFill>
                <a:latin typeface="宋体" panose="02010600030101010101" pitchFamily="2" charset="-122"/>
                <a:ea typeface="阿里巴巴普惠体" panose="00020600040101010101"/>
              </a:rPr>
              <a:t>=LR, momentum=0.9)</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3.</a:t>
            </a:r>
            <a:r>
              <a:rPr lang="zh-CN" altLang="en-US" sz="1400" dirty="0">
                <a:solidFill>
                  <a:srgbClr val="00B050"/>
                </a:solidFill>
                <a:latin typeface="宋体" panose="02010600030101010101" pitchFamily="2" charset="-122"/>
                <a:ea typeface="阿里巴巴普惠体" panose="00020600040101010101"/>
              </a:rPr>
              <a:t>设置学习率下降策略</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gamma = 0.95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a:t>
            </a:r>
            <a:r>
              <a:rPr lang="en-US" altLang="zh-CN" sz="1400" b="1" dirty="0">
                <a:solidFill>
                  <a:srgbClr val="0000FF"/>
                </a:solidFill>
                <a:latin typeface="宋体" panose="02010600030101010101" pitchFamily="2" charset="-122"/>
                <a:ea typeface="阿里巴巴普惠体" panose="00020600040101010101"/>
              </a:rPr>
              <a:t> = </a:t>
            </a:r>
            <a:r>
              <a:rPr lang="en-US" altLang="zh-CN" sz="1400" b="1" dirty="0" err="1">
                <a:solidFill>
                  <a:srgbClr val="0000FF"/>
                </a:solidFill>
                <a:latin typeface="宋体" panose="02010600030101010101" pitchFamily="2" charset="-122"/>
                <a:ea typeface="阿里巴巴普惠体" panose="00020600040101010101"/>
              </a:rPr>
              <a:t>optim.lr_scheduler.ExponentialLR</a:t>
            </a:r>
            <a:r>
              <a:rPr lang="en-US" altLang="zh-CN" sz="1400" b="1" dirty="0">
                <a:solidFill>
                  <a:srgbClr val="0000FF"/>
                </a:solidFill>
                <a:latin typeface="宋体" panose="02010600030101010101" pitchFamily="2" charset="-122"/>
                <a:ea typeface="阿里巴巴普惠体" panose="00020600040101010101"/>
              </a:rPr>
              <a:t>(optimizer, gamma=gamma)</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4.</a:t>
            </a:r>
            <a:r>
              <a:rPr lang="zh-CN" altLang="en-US" sz="1400" dirty="0">
                <a:solidFill>
                  <a:srgbClr val="00B050"/>
                </a:solidFill>
                <a:latin typeface="宋体" panose="02010600030101010101" pitchFamily="2" charset="-122"/>
                <a:ea typeface="阿里巴巴普惠体" panose="00020600040101010101"/>
              </a:rPr>
              <a:t>获取学习率的值和当前的</a:t>
            </a:r>
            <a:r>
              <a:rPr lang="en-US" altLang="zh-CN" sz="1400" dirty="0">
                <a:solidFill>
                  <a:srgbClr val="00B050"/>
                </a:solidFill>
                <a:latin typeface="宋体" panose="02010600030101010101" pitchFamily="2" charset="-122"/>
                <a:ea typeface="阿里巴巴普惠体" panose="00020600040101010101"/>
              </a:rPr>
              <a:t>epoch</a:t>
            </a:r>
            <a:endParaRPr lang="en-US" altLang="zh-CN"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 list(), list()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学习率优化方法</a:t>
            </a:r>
            <a:r>
              <a:rPr lang="en-US" altLang="zh-CN" dirty="0">
                <a:solidFill>
                  <a:srgbClr val="333333"/>
                </a:solidFill>
                <a:latin typeface="Helvetica Neue"/>
              </a:rPr>
              <a:t>-</a:t>
            </a:r>
            <a:r>
              <a:rPr lang="zh-CN" altLang="en-US" b="1" i="0" dirty="0">
                <a:solidFill>
                  <a:srgbClr val="333333"/>
                </a:solidFill>
                <a:effectLst/>
                <a:latin typeface="Helvetica Neue"/>
              </a:rPr>
              <a:t>按指数学习率衰减</a:t>
            </a:r>
            <a:endParaRPr lang="zh-CN" altLang="en-US" b="1" i="0" dirty="0">
              <a:solidFill>
                <a:srgbClr val="333333"/>
              </a:solidFill>
              <a:effectLst/>
              <a:latin typeface="Helvetica Neue"/>
            </a:endParaRPr>
          </a:p>
        </p:txBody>
      </p:sp>
      <p:sp>
        <p:nvSpPr>
          <p:cNvPr id="4" name="文本框 3"/>
          <p:cNvSpPr txBox="1"/>
          <p:nvPr/>
        </p:nvSpPr>
        <p:spPr>
          <a:xfrm>
            <a:off x="1606992" y="1451015"/>
            <a:ext cx="6817175" cy="5396349"/>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for epoch in range(</a:t>
            </a:r>
            <a:r>
              <a:rPr lang="en-US" altLang="zh-CN" sz="1400" b="1" dirty="0" err="1">
                <a:solidFill>
                  <a:srgbClr val="0000FF"/>
                </a:solidFill>
                <a:latin typeface="宋体" panose="02010600030101010101" pitchFamily="2" charset="-122"/>
                <a:ea typeface="阿里巴巴普惠体" panose="00020600040101010101"/>
              </a:rPr>
              <a:t>max_epoch</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lr_list.append</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scheduler_lr.get_last_lr</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epoch_list.append</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for </a:t>
            </a:r>
            <a:r>
              <a:rPr lang="en-US" altLang="zh-CN" sz="1400" b="1" dirty="0" err="1">
                <a:solidFill>
                  <a:srgbClr val="0000FF"/>
                </a:solidFill>
                <a:latin typeface="宋体" panose="02010600030101010101" pitchFamily="2" charset="-122"/>
                <a:ea typeface="阿里巴巴普惠体" panose="00020600040101010101"/>
              </a:rPr>
              <a:t>i</a:t>
            </a:r>
            <a:r>
              <a:rPr lang="en-US" altLang="zh-CN" sz="1400" b="1" dirty="0">
                <a:solidFill>
                  <a:srgbClr val="0000FF"/>
                </a:solidFill>
                <a:latin typeface="宋体" panose="02010600030101010101" pitchFamily="2" charset="-122"/>
                <a:ea typeface="阿里巴巴普惠体" panose="00020600040101010101"/>
              </a:rPr>
              <a:t> in range(iteration):</a:t>
            </a:r>
            <a:r>
              <a:rPr lang="zh-CN" altLang="en-US" sz="1400" b="1" dirty="0">
                <a:solidFill>
                  <a:srgbClr val="0000FF"/>
                </a:solidFill>
                <a:latin typeface="宋体" panose="02010600030101010101" pitchFamily="2" charset="-122"/>
                <a:ea typeface="阿里巴巴普惠体" panose="00020600040101010101"/>
              </a:rPr>
              <a:t>  </a:t>
            </a:r>
            <a:r>
              <a:rPr lang="en-US" altLang="zh-CN" sz="1400" dirty="0">
                <a:solidFill>
                  <a:srgbClr val="00B050"/>
                </a:solidFill>
                <a:latin typeface="宋体" panose="02010600030101010101" pitchFamily="2" charset="-122"/>
                <a:ea typeface="阿里巴巴普惠体" panose="00020600040101010101"/>
              </a:rPr>
              <a:t># </a:t>
            </a:r>
            <a:r>
              <a:rPr lang="zh-CN" altLang="en-US" sz="1400" dirty="0">
                <a:solidFill>
                  <a:srgbClr val="00B050"/>
                </a:solidFill>
                <a:latin typeface="宋体" panose="02010600030101010101" pitchFamily="2" charset="-122"/>
                <a:ea typeface="阿里巴巴普惠体" panose="00020600040101010101"/>
              </a:rPr>
              <a:t>遍历每一个</a:t>
            </a:r>
            <a:r>
              <a:rPr lang="en-US" altLang="zh-CN" sz="1400" dirty="0">
                <a:solidFill>
                  <a:srgbClr val="00B050"/>
                </a:solidFill>
                <a:latin typeface="宋体" panose="02010600030101010101" pitchFamily="2" charset="-122"/>
                <a:ea typeface="阿里巴巴普惠体" panose="00020600040101010101"/>
              </a:rPr>
              <a:t>batch</a:t>
            </a:r>
            <a:r>
              <a:rPr lang="zh-CN" altLang="en-US" sz="1400" dirty="0">
                <a:solidFill>
                  <a:srgbClr val="00B050"/>
                </a:solidFill>
                <a:latin typeface="宋体" panose="02010600030101010101" pitchFamily="2" charset="-122"/>
                <a:ea typeface="阿里巴巴普惠体" panose="00020600040101010101"/>
              </a:rPr>
              <a:t>数据</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loss = ((w*x-</a:t>
            </a:r>
            <a:r>
              <a:rPr lang="en-US" altLang="zh-CN" sz="1400" b="1" dirty="0" err="1">
                <a:solidFill>
                  <a:srgbClr val="0000FF"/>
                </a:solidFill>
                <a:latin typeface="宋体" panose="02010600030101010101" pitchFamily="2" charset="-122"/>
                <a:ea typeface="阿里巴巴普惠体" panose="00020600040101010101"/>
              </a:rPr>
              <a:t>y_true</a:t>
            </a:r>
            <a:r>
              <a:rPr lang="en-US" altLang="zh-CN" sz="1400" b="1" dirty="0">
                <a:solidFill>
                  <a:srgbClr val="0000FF"/>
                </a:solidFill>
                <a:latin typeface="宋体" panose="02010600030101010101" pitchFamily="2" charset="-122"/>
                <a:ea typeface="阿里巴巴普惠体" panose="00020600040101010101"/>
              </a:rPr>
              <a:t>)**2)/2.0</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optimizer.zero_grad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反向传播</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loss.backward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optimizer.step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更新下一个</a:t>
            </a:r>
            <a:r>
              <a:rPr lang="en-US" altLang="zh-CN" sz="1400" dirty="0">
                <a:solidFill>
                  <a:srgbClr val="00B050"/>
                </a:solidFill>
                <a:latin typeface="宋体" panose="02010600030101010101" pitchFamily="2" charset="-122"/>
                <a:ea typeface="阿里巴巴普惠体" panose="00020600040101010101"/>
              </a:rPr>
              <a:t>epoch</a:t>
            </a:r>
            <a:r>
              <a:rPr lang="zh-CN" altLang="en-US" sz="1400" dirty="0">
                <a:solidFill>
                  <a:srgbClr val="00B050"/>
                </a:solidFill>
                <a:latin typeface="宋体" panose="02010600030101010101" pitchFamily="2" charset="-122"/>
                <a:ea typeface="阿里巴巴普惠体" panose="00020600040101010101"/>
              </a:rPr>
              <a:t>的学习率</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scheduler_lr.step</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5.</a:t>
            </a:r>
            <a:r>
              <a:rPr lang="zh-CN" altLang="en-US" sz="1400" dirty="0">
                <a:solidFill>
                  <a:srgbClr val="00B050"/>
                </a:solidFill>
                <a:latin typeface="宋体" panose="02010600030101010101" pitchFamily="2" charset="-122"/>
                <a:ea typeface="阿里巴巴普惠体" panose="00020600040101010101"/>
              </a:rPr>
              <a:t>绘制学习率变化的曲线</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plt.plot</a:t>
            </a:r>
            <a:r>
              <a:rPr lang="en-US" altLang="zh-CN" sz="1400" b="1" dirty="0">
                <a:solidFill>
                  <a:srgbClr val="0000FF"/>
                </a:solidFill>
                <a:latin typeface="宋体" panose="02010600030101010101" pitchFamily="2" charset="-122"/>
                <a:ea typeface="阿里巴巴普惠体" panose="00020600040101010101"/>
              </a:rPr>
              <a:t>(</a:t>
            </a:r>
            <a:r>
              <a:rPr lang="en-US" altLang="zh-CN" sz="1400" b="1" dirty="0" err="1">
                <a:solidFill>
                  <a:srgbClr val="0000FF"/>
                </a:solidFill>
                <a:latin typeface="宋体" panose="02010600030101010101" pitchFamily="2" charset="-122"/>
                <a:ea typeface="阿里巴巴普惠体" panose="00020600040101010101"/>
              </a:rPr>
              <a:t>epoch_list</a:t>
            </a: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lr_list</a:t>
            </a:r>
            <a:r>
              <a:rPr lang="en-US" altLang="zh-CN" sz="1400" b="1" dirty="0">
                <a:solidFill>
                  <a:srgbClr val="0000FF"/>
                </a:solidFill>
                <a:latin typeface="宋体" panose="02010600030101010101" pitchFamily="2" charset="-122"/>
                <a:ea typeface="阿里巴巴普惠体" panose="00020600040101010101"/>
              </a:rPr>
              <a:t>, label="Multi Step LR Scheduler")</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plt.xlabel</a:t>
            </a:r>
            <a:r>
              <a:rPr lang="en-US" altLang="zh-CN" sz="1400" b="1" dirty="0">
                <a:solidFill>
                  <a:srgbClr val="0000FF"/>
                </a:solidFill>
                <a:latin typeface="宋体" panose="02010600030101010101" pitchFamily="2" charset="-122"/>
                <a:ea typeface="阿里巴巴普惠体" panose="00020600040101010101"/>
              </a:rPr>
              <a:t>("Epoch")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plt.ylabel</a:t>
            </a:r>
            <a:r>
              <a:rPr lang="en-US" altLang="zh-CN" sz="1400" b="1" dirty="0">
                <a:solidFill>
                  <a:srgbClr val="0000FF"/>
                </a:solidFill>
                <a:latin typeface="宋体" panose="02010600030101010101" pitchFamily="2" charset="-122"/>
                <a:ea typeface="阿里巴巴普惠体" panose="00020600040101010101"/>
              </a:rPr>
              <a:t>("Learning rate")</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plt.legend</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a:t>
            </a:r>
            <a:r>
              <a:rPr lang="en-US" altLang="zh-CN" sz="1400" b="1" dirty="0" err="1">
                <a:solidFill>
                  <a:srgbClr val="0000FF"/>
                </a:solidFill>
                <a:latin typeface="宋体" panose="02010600030101010101" pitchFamily="2" charset="-122"/>
                <a:ea typeface="阿里巴巴普惠体" panose="00020600040101010101"/>
              </a:rPr>
              <a:t>plt.show</a:t>
            </a:r>
            <a:r>
              <a:rPr lang="en-US" altLang="zh-CN" sz="1400" b="1" dirty="0">
                <a:solidFill>
                  <a:srgbClr val="0000FF"/>
                </a:solidFill>
                <a:latin typeface="宋体" panose="02010600030101010101" pitchFamily="2" charset="-122"/>
                <a:ea typeface="阿里巴巴普惠体" panose="00020600040101010101"/>
              </a:rPr>
              <a:t>()</a:t>
            </a:r>
            <a:endParaRPr lang="en-US" altLang="zh-CN" sz="1400" dirty="0">
              <a:solidFill>
                <a:srgbClr val="00B050"/>
              </a:solidFill>
              <a:latin typeface="宋体" panose="02010600030101010101" pitchFamily="2" charset="-122"/>
              <a:ea typeface="阿里巴巴普惠体" panose="00020600040101010101"/>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lgn="l">
              <a:buNone/>
            </a:pPr>
            <a:r>
              <a:rPr lang="en-US" altLang="zh-CN" dirty="0">
                <a:latin typeface="Roboto" panose="02000000000000000000" pitchFamily="2" charset="0"/>
              </a:rPr>
              <a:t>1.</a:t>
            </a:r>
            <a:r>
              <a:rPr lang="zh-CN" altLang="en-US" b="0" i="0" dirty="0">
                <a:effectLst/>
                <a:latin typeface="Roboto" panose="02000000000000000000" pitchFamily="2" charset="0"/>
              </a:rPr>
              <a:t>学习率调整的策略有哪些？</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等间隔衰减</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指定间隔衰减</a:t>
            </a:r>
            <a:endParaRPr lang="zh-CN" altLang="en-US" b="0" i="0" dirty="0">
              <a:effectLst/>
              <a:latin typeface="Roboto" panose="02000000000000000000" pitchFamily="2" charset="0"/>
            </a:endParaRPr>
          </a:p>
          <a:p>
            <a:pPr algn="l">
              <a:buFont typeface="Wingdings" panose="05000000000000000000" pitchFamily="2" charset="2"/>
              <a:buChar char="l"/>
            </a:pPr>
            <a:r>
              <a:rPr lang="zh-CN" altLang="en-US" b="0" i="0" dirty="0">
                <a:effectLst/>
                <a:latin typeface="Roboto" panose="02000000000000000000" pitchFamily="2" charset="0"/>
              </a:rPr>
              <a:t>指数衰减</a:t>
            </a:r>
            <a:endParaRPr lang="zh-CN" altLang="en-US" b="0" i="0" dirty="0">
              <a:effectLst/>
              <a:latin typeface="Roboto" panose="02000000000000000000" pitchFamily="2" charset="0"/>
            </a:endParaRPr>
          </a:p>
          <a:p>
            <a:endParaRPr kumimoji="1"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olidFill>
                  <a:srgbClr val="C00000"/>
                </a:solidFill>
                <a:sym typeface="+mn-ea"/>
              </a:rPr>
              <a:t>正则化方法</a:t>
            </a:r>
            <a:endParaRPr kumimoji="1" lang="zh-CN" altLang="en-US" sz="1600" dirty="0">
              <a:solidFill>
                <a:srgbClr val="C00000"/>
              </a:solidFill>
              <a:sym typeface="+mn-ea"/>
            </a:endParaRPr>
          </a:p>
          <a:p>
            <a:pPr algn="l"/>
            <a:r>
              <a:rPr kumimoji="1" lang="zh-CN" altLang="en-US" sz="1600" dirty="0">
                <a:sym typeface="+mn-ea"/>
              </a:rPr>
              <a:t>案例</a:t>
            </a:r>
            <a:r>
              <a:rPr kumimoji="1" lang="en-US" altLang="zh-CN" sz="1600" dirty="0">
                <a:sym typeface="+mn-ea"/>
              </a:rPr>
              <a:t>-</a:t>
            </a:r>
            <a:r>
              <a:rPr kumimoji="1" lang="zh-CN" altLang="en-US" sz="1600" dirty="0">
                <a:sym typeface="+mn-ea"/>
              </a:rPr>
              <a:t>价格分类案例</a:t>
            </a:r>
            <a:endParaRPr kumimoji="1" lang="en-US" altLang="zh-CN" sz="1600" dirty="0">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443009" y="3891915"/>
            <a:ext cx="410210" cy="41021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b="0" i="0" dirty="0">
                <a:solidFill>
                  <a:srgbClr val="333333"/>
                </a:solidFill>
                <a:effectLst/>
                <a:latin typeface="Helvetica Neue"/>
              </a:rPr>
              <a:t>知道正则化的作用</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掌握随机失活</a:t>
            </a:r>
            <a:r>
              <a:rPr lang="en-US" altLang="zh-CN" b="0" i="0" dirty="0" err="1">
                <a:solidFill>
                  <a:srgbClr val="333333"/>
                </a:solidFill>
                <a:effectLst/>
                <a:latin typeface="Helvetica Neue"/>
              </a:rPr>
              <a:t>DropOut</a:t>
            </a:r>
            <a:r>
              <a:rPr lang="zh-CN" altLang="en-US" b="0" i="0" dirty="0">
                <a:solidFill>
                  <a:srgbClr val="333333"/>
                </a:solidFill>
                <a:effectLst/>
                <a:latin typeface="Helvetica Neue"/>
              </a:rPr>
              <a:t>策略</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知道</a:t>
            </a:r>
            <a:r>
              <a:rPr lang="en-US" altLang="zh-CN" b="0" i="0" dirty="0">
                <a:solidFill>
                  <a:srgbClr val="333333"/>
                </a:solidFill>
                <a:effectLst/>
                <a:latin typeface="Helvetica Neue"/>
              </a:rPr>
              <a:t>BN</a:t>
            </a:r>
            <a:r>
              <a:rPr lang="zh-CN" altLang="en-US" b="0" i="0" dirty="0">
                <a:solidFill>
                  <a:srgbClr val="333333"/>
                </a:solidFill>
                <a:effectLst/>
                <a:latin typeface="Helvetica Neue"/>
              </a:rPr>
              <a:t>层的作用</a:t>
            </a:r>
            <a:endParaRPr lang="zh-CN" altLang="en-US" b="0" i="0" dirty="0">
              <a:solidFill>
                <a:srgbClr val="333333"/>
              </a:solidFill>
              <a:effectLst/>
              <a:latin typeface="Helvetica Neue"/>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pPr algn="l"/>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在设计机器学习算法时希望在新样本上的泛化能力强。许多机器学习算法都采用相关的策略来减小测试误差，这些策略被统称为正则化。</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神经网络强大的表示能力经常遇到过拟合，所以需要使用不同形式的正则化策略。</a:t>
            </a:r>
            <a:endParaRPr lang="zh-CN" altLang="en-US" b="0" i="0" dirty="0">
              <a:solidFill>
                <a:srgbClr val="333333"/>
              </a:solidFill>
              <a:effectLst/>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目前在深度学习中使用较多的策略有</a:t>
            </a:r>
            <a:r>
              <a:rPr lang="zh-CN" altLang="en-US" b="1" i="0" dirty="0">
                <a:solidFill>
                  <a:srgbClr val="333333"/>
                </a:solidFill>
                <a:effectLst/>
                <a:latin typeface="Helvetica Neue"/>
              </a:rPr>
              <a:t>范数惩罚，</a:t>
            </a:r>
            <a:r>
              <a:rPr lang="en-US" altLang="zh-CN" b="1" i="0" dirty="0" err="1">
                <a:solidFill>
                  <a:srgbClr val="333333"/>
                </a:solidFill>
                <a:effectLst/>
                <a:latin typeface="Helvetica Neue"/>
              </a:rPr>
              <a:t>DropOut</a:t>
            </a:r>
            <a:r>
              <a:rPr lang="zh-CN" altLang="en-US" b="1" dirty="0">
                <a:solidFill>
                  <a:srgbClr val="333333"/>
                </a:solidFill>
                <a:latin typeface="Helvetica Neue"/>
              </a:rPr>
              <a:t>，特殊的网络层</a:t>
            </a:r>
            <a:r>
              <a:rPr lang="zh-CN" altLang="en-US" b="1" i="0" dirty="0">
                <a:solidFill>
                  <a:srgbClr val="333333"/>
                </a:solidFill>
                <a:effectLst/>
                <a:latin typeface="Helvetica Neue"/>
              </a:rPr>
              <a:t>等</a:t>
            </a:r>
            <a:r>
              <a:rPr lang="zh-CN" altLang="en-US" b="0" i="0" dirty="0">
                <a:solidFill>
                  <a:srgbClr val="333333"/>
                </a:solidFill>
                <a:effectLst/>
                <a:latin typeface="Helvetica Neue"/>
              </a:rPr>
              <a:t>，接下来我们对其进行详细的介绍。</a:t>
            </a:r>
            <a:endParaRPr lang="zh-CN" altLang="en-US" b="0" i="0" dirty="0">
              <a:solidFill>
                <a:srgbClr val="333333"/>
              </a:solidFill>
              <a:effectLst/>
              <a:latin typeface="Helvetica Neue"/>
            </a:endParaRPr>
          </a:p>
          <a:p>
            <a:endParaRPr lang="en-US" altLang="zh-CN" b="1" i="0" dirty="0">
              <a:solidFill>
                <a:srgbClr val="333333"/>
              </a:solidFill>
              <a:effectLst/>
              <a:latin typeface="Helvetica Neue"/>
            </a:endParaRPr>
          </a:p>
        </p:txBody>
      </p:sp>
      <p:pic>
        <p:nvPicPr>
          <p:cNvPr id="6" name="图片 5"/>
          <p:cNvPicPr>
            <a:picLocks noChangeAspect="1"/>
          </p:cNvPicPr>
          <p:nvPr/>
        </p:nvPicPr>
        <p:blipFill>
          <a:blip r:embed="rId1"/>
          <a:stretch>
            <a:fillRect/>
          </a:stretch>
        </p:blipFill>
        <p:spPr>
          <a:xfrm>
            <a:off x="2387279" y="1457271"/>
            <a:ext cx="7485957" cy="2352729"/>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a:solidFill>
                  <a:srgbClr val="333333"/>
                </a:solidFill>
                <a:effectLst/>
                <a:latin typeface="Helvetica Neue"/>
              </a:rPr>
              <a:t>Dropout</a:t>
            </a:r>
            <a:r>
              <a:rPr lang="zh-CN" altLang="en-US" b="1" i="0" dirty="0">
                <a:solidFill>
                  <a:srgbClr val="333333"/>
                </a:solidFill>
                <a:effectLst/>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在神经网络</a:t>
            </a:r>
            <a:r>
              <a:rPr lang="zh-CN" altLang="en-US" dirty="0">
                <a:solidFill>
                  <a:srgbClr val="333333"/>
                </a:solidFill>
                <a:latin typeface="Helvetica Neue"/>
              </a:rPr>
              <a:t>中</a:t>
            </a:r>
            <a:r>
              <a:rPr lang="zh-CN" altLang="en-US" b="0" i="0" dirty="0">
                <a:solidFill>
                  <a:srgbClr val="333333"/>
                </a:solidFill>
                <a:effectLst/>
                <a:latin typeface="Helvetica Neue"/>
              </a:rPr>
              <a:t>模型参数较多，在数据量不足的情况下，很容易过拟合。</a:t>
            </a:r>
            <a:r>
              <a:rPr lang="en-US" altLang="zh-CN" b="0" i="0" dirty="0">
                <a:solidFill>
                  <a:srgbClr val="333333"/>
                </a:solidFill>
                <a:effectLst/>
                <a:latin typeface="Helvetica Neue"/>
              </a:rPr>
              <a:t>Dropout</a:t>
            </a:r>
            <a:r>
              <a:rPr lang="zh-CN" altLang="en-US" b="0" i="0" dirty="0">
                <a:solidFill>
                  <a:srgbClr val="333333"/>
                </a:solidFill>
                <a:effectLst/>
                <a:latin typeface="Helvetica Neue"/>
              </a:rPr>
              <a:t>（随机失活）是一个简单有效的正则化方法。</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marL="285750" indent="-285750" algn="l">
              <a:buFont typeface="Arial" panose="020B0604020202020204" pitchFamily="34" charset="0"/>
              <a:buChar char="•"/>
            </a:pPr>
            <a:r>
              <a:rPr lang="zh-CN" altLang="en-US" b="0" i="0" dirty="0">
                <a:solidFill>
                  <a:srgbClr val="333333"/>
                </a:solidFill>
                <a:effectLst/>
                <a:latin typeface="Helvetica Neue"/>
              </a:rPr>
              <a:t>在训练过程中，</a:t>
            </a:r>
            <a:r>
              <a:rPr lang="en-US" altLang="zh-CN" b="0" i="0" dirty="0">
                <a:solidFill>
                  <a:srgbClr val="333333"/>
                </a:solidFill>
                <a:effectLst/>
                <a:latin typeface="Helvetica Neue"/>
              </a:rPr>
              <a:t>Dropout</a:t>
            </a:r>
            <a:r>
              <a:rPr lang="zh-CN" altLang="en-US" b="0" i="0" dirty="0">
                <a:solidFill>
                  <a:srgbClr val="333333"/>
                </a:solidFill>
                <a:effectLst/>
                <a:latin typeface="Helvetica Neue"/>
              </a:rPr>
              <a:t>的实现是</a:t>
            </a:r>
            <a:r>
              <a:rPr lang="zh-CN" altLang="en-US" b="1" i="0" dirty="0">
                <a:solidFill>
                  <a:srgbClr val="333333"/>
                </a:solidFill>
                <a:effectLst/>
                <a:latin typeface="Helvetica Neue"/>
              </a:rPr>
              <a:t>让神经元以超参数</a:t>
            </a:r>
            <a:r>
              <a:rPr lang="en-US" altLang="zh-CN" b="1" i="0" dirty="0">
                <a:solidFill>
                  <a:srgbClr val="333333"/>
                </a:solidFill>
                <a:effectLst/>
                <a:latin typeface="Helvetica Neue"/>
              </a:rPr>
              <a:t>p</a:t>
            </a:r>
            <a:r>
              <a:rPr lang="zh-CN" altLang="en-US" b="1" i="0" dirty="0">
                <a:solidFill>
                  <a:srgbClr val="333333"/>
                </a:solidFill>
                <a:effectLst/>
                <a:latin typeface="Helvetica Neue"/>
              </a:rPr>
              <a:t>的概率停止工作或者激活被置为</a:t>
            </a:r>
            <a:r>
              <a:rPr lang="en-US" altLang="zh-CN" b="1" i="0" dirty="0">
                <a:solidFill>
                  <a:srgbClr val="333333"/>
                </a:solidFill>
                <a:effectLst/>
                <a:latin typeface="Helvetica Neue"/>
              </a:rPr>
              <a:t>0,</a:t>
            </a:r>
            <a:r>
              <a:rPr lang="zh-CN" altLang="en-US" b="1" i="0" dirty="0">
                <a:solidFill>
                  <a:srgbClr val="333333"/>
                </a:solidFill>
                <a:effectLst/>
                <a:latin typeface="Helvetica Neue"/>
              </a:rPr>
              <a:t>未被置为</a:t>
            </a:r>
            <a:r>
              <a:rPr lang="en-US" altLang="zh-CN" b="1" i="0" dirty="0">
                <a:solidFill>
                  <a:srgbClr val="333333"/>
                </a:solidFill>
                <a:effectLst/>
                <a:latin typeface="Helvetica Neue"/>
              </a:rPr>
              <a:t>0</a:t>
            </a:r>
            <a:r>
              <a:rPr lang="zh-CN" altLang="en-US" b="1" i="0" dirty="0">
                <a:solidFill>
                  <a:srgbClr val="333333"/>
                </a:solidFill>
                <a:effectLst/>
                <a:latin typeface="Helvetica Neue"/>
              </a:rPr>
              <a:t>的进行缩放，缩放比例为</a:t>
            </a:r>
            <a:r>
              <a:rPr lang="en-US" altLang="zh-CN" b="1" i="0" dirty="0">
                <a:solidFill>
                  <a:srgbClr val="333333"/>
                </a:solidFill>
                <a:effectLst/>
                <a:latin typeface="Helvetica Neue"/>
              </a:rPr>
              <a:t>1/(1-p)</a:t>
            </a:r>
            <a:r>
              <a:rPr lang="zh-CN" altLang="en-US" b="0" i="0" dirty="0">
                <a:solidFill>
                  <a:srgbClr val="333333"/>
                </a:solidFill>
                <a:effectLst/>
                <a:latin typeface="Helvetica Neue"/>
              </a:rPr>
              <a:t>。训练过程可以认为是对完整的神经网络的一些子集进行训练，每次基于输入数据只更新子网络的参数。</a:t>
            </a:r>
            <a:endParaRPr lang="en-US" altLang="zh-CN" b="0" i="0" dirty="0">
              <a:solidFill>
                <a:srgbClr val="333333"/>
              </a:solidFill>
              <a:effectLst/>
              <a:latin typeface="Helvetica Neue"/>
            </a:endParaRPr>
          </a:p>
          <a:p>
            <a:pPr marL="285750" indent="-285750" algn="l">
              <a:buFont typeface="Arial" panose="020B0604020202020204" pitchFamily="34" charset="0"/>
              <a:buChar char="•"/>
            </a:pPr>
            <a:r>
              <a:rPr lang="zh-CN" altLang="en-US" b="1" i="0" dirty="0">
                <a:solidFill>
                  <a:srgbClr val="333333"/>
                </a:solidFill>
                <a:effectLst/>
                <a:latin typeface="Helvetica Neue"/>
              </a:rPr>
              <a:t>在测试过程中，随机失活不起作用</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algn="l"/>
            <a:endParaRPr lang="zh-CN" altLang="en-US" b="0" i="0" dirty="0">
              <a:solidFill>
                <a:srgbClr val="333333"/>
              </a:solidFill>
              <a:effectLst/>
              <a:latin typeface="Helvetica Neue"/>
            </a:endParaRPr>
          </a:p>
          <a:p>
            <a:pPr algn="l"/>
            <a:endParaRPr lang="en-US" altLang="zh-CN"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a:p>
            <a:endParaRPr lang="en-US" altLang="zh-CN" b="1" dirty="0">
              <a:solidFill>
                <a:srgbClr val="333333"/>
              </a:solidFill>
              <a:latin typeface="Helvetica Neue"/>
            </a:endParaRPr>
          </a:p>
          <a:p>
            <a:endParaRPr lang="en-US" altLang="zh-CN" b="1" i="0" dirty="0">
              <a:solidFill>
                <a:srgbClr val="333333"/>
              </a:solidFill>
              <a:effectLst/>
              <a:latin typeface="Helvetica Neue"/>
            </a:endParaRPr>
          </a:p>
        </p:txBody>
      </p:sp>
      <p:pic>
        <p:nvPicPr>
          <p:cNvPr id="5" name="图片 4"/>
          <p:cNvPicPr>
            <a:picLocks noChangeAspect="1"/>
          </p:cNvPicPr>
          <p:nvPr/>
        </p:nvPicPr>
        <p:blipFill>
          <a:blip r:embed="rId1"/>
          <a:stretch>
            <a:fillRect/>
          </a:stretch>
        </p:blipFill>
        <p:spPr>
          <a:xfrm>
            <a:off x="2767500" y="2023850"/>
            <a:ext cx="6035563" cy="2133785"/>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en-US" altLang="zh-CN" b="1" i="0" dirty="0">
                <a:solidFill>
                  <a:srgbClr val="333333"/>
                </a:solidFill>
                <a:effectLst/>
                <a:latin typeface="Helvetica Neue"/>
              </a:rPr>
              <a:t>Dropout</a:t>
            </a:r>
            <a:r>
              <a:rPr lang="zh-CN" altLang="en-US" b="1" i="0" dirty="0">
                <a:solidFill>
                  <a:srgbClr val="333333"/>
                </a:solidFill>
                <a:effectLst/>
                <a:latin typeface="Helvetica Neue"/>
              </a:rPr>
              <a:t>正则化</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b="0" i="0" dirty="0">
                <a:solidFill>
                  <a:srgbClr val="333333"/>
                </a:solidFill>
                <a:effectLst/>
                <a:latin typeface="Helvetica Neue"/>
              </a:rPr>
              <a:t>上述代码将 </a:t>
            </a:r>
            <a:r>
              <a:rPr lang="en-US" altLang="zh-CN" b="0" i="0" dirty="0">
                <a:solidFill>
                  <a:srgbClr val="333333"/>
                </a:solidFill>
                <a:effectLst/>
                <a:latin typeface="Helvetica Neue"/>
              </a:rPr>
              <a:t>Dropout </a:t>
            </a:r>
            <a:r>
              <a:rPr lang="zh-CN" altLang="en-US" b="0" i="0" dirty="0">
                <a:solidFill>
                  <a:srgbClr val="333333"/>
                </a:solidFill>
                <a:effectLst/>
                <a:latin typeface="Helvetica Neue"/>
              </a:rPr>
              <a:t>层的概率 </a:t>
            </a:r>
            <a:r>
              <a:rPr lang="en-US" altLang="zh-CN" b="0" i="0" dirty="0">
                <a:solidFill>
                  <a:srgbClr val="333333"/>
                </a:solidFill>
                <a:effectLst/>
                <a:latin typeface="Helvetica Neue"/>
              </a:rPr>
              <a:t>p </a:t>
            </a:r>
            <a:r>
              <a:rPr lang="zh-CN" altLang="en-US" b="0" i="0" dirty="0">
                <a:solidFill>
                  <a:srgbClr val="333333"/>
                </a:solidFill>
                <a:effectLst/>
                <a:latin typeface="Helvetica Neue"/>
              </a:rPr>
              <a:t>设置为 </a:t>
            </a:r>
            <a:r>
              <a:rPr lang="en-US" altLang="zh-CN" b="0" i="0" dirty="0">
                <a:solidFill>
                  <a:srgbClr val="333333"/>
                </a:solidFill>
                <a:effectLst/>
                <a:latin typeface="Helvetica Neue"/>
              </a:rPr>
              <a:t>0.4</a:t>
            </a:r>
            <a:r>
              <a:rPr lang="zh-CN" altLang="en-US" b="0" i="0" dirty="0">
                <a:solidFill>
                  <a:srgbClr val="333333"/>
                </a:solidFill>
                <a:effectLst/>
                <a:latin typeface="Helvetica Neue"/>
              </a:rPr>
              <a:t>，此时经过 </a:t>
            </a:r>
            <a:r>
              <a:rPr lang="en-US" altLang="zh-CN" b="0" i="0" dirty="0">
                <a:solidFill>
                  <a:srgbClr val="333333"/>
                </a:solidFill>
                <a:effectLst/>
                <a:latin typeface="Helvetica Neue"/>
              </a:rPr>
              <a:t>Dropout </a:t>
            </a:r>
            <a:r>
              <a:rPr lang="zh-CN" altLang="en-US" b="0" i="0" dirty="0">
                <a:solidFill>
                  <a:srgbClr val="333333"/>
                </a:solidFill>
                <a:effectLst/>
                <a:latin typeface="Helvetica Neue"/>
              </a:rPr>
              <a:t>层计算的张量中就出现了很多 </a:t>
            </a:r>
            <a:r>
              <a:rPr lang="en-US" altLang="zh-CN" b="0" i="0" dirty="0">
                <a:solidFill>
                  <a:srgbClr val="333333"/>
                </a:solidFill>
                <a:effectLst/>
                <a:latin typeface="Helvetica Neue"/>
              </a:rPr>
              <a:t>0 , </a:t>
            </a:r>
            <a:r>
              <a:rPr lang="zh-CN" altLang="en-US" b="0" i="0" dirty="0">
                <a:solidFill>
                  <a:srgbClr val="333333"/>
                </a:solidFill>
                <a:effectLst/>
                <a:latin typeface="Helvetica Neue"/>
              </a:rPr>
              <a:t>未变为</a:t>
            </a:r>
            <a:r>
              <a:rPr lang="en-US" altLang="zh-CN" b="0" i="0" dirty="0">
                <a:solidFill>
                  <a:srgbClr val="333333"/>
                </a:solidFill>
                <a:effectLst/>
                <a:latin typeface="Helvetica Neue"/>
              </a:rPr>
              <a:t>0</a:t>
            </a:r>
            <a:r>
              <a:rPr lang="zh-CN" altLang="en-US" b="0" i="0" dirty="0">
                <a:solidFill>
                  <a:srgbClr val="333333"/>
                </a:solidFill>
                <a:effectLst/>
                <a:latin typeface="Helvetica Neue"/>
              </a:rPr>
              <a:t>的按照      （</a:t>
            </a:r>
            <a:r>
              <a:rPr lang="en-US" altLang="zh-CN" b="0" i="0" dirty="0">
                <a:solidFill>
                  <a:srgbClr val="333333"/>
                </a:solidFill>
                <a:effectLst/>
                <a:latin typeface="Helvetica Neue"/>
              </a:rPr>
              <a:t>1/(1-0.4)</a:t>
            </a:r>
            <a:r>
              <a:rPr lang="zh-CN" altLang="en-US" b="0" i="0" dirty="0">
                <a:solidFill>
                  <a:srgbClr val="333333"/>
                </a:solidFill>
                <a:effectLst/>
                <a:latin typeface="Helvetica Neue"/>
              </a:rPr>
              <a:t>）进行处理。</a:t>
            </a:r>
            <a:endParaRPr lang="en-US" altLang="zh-CN" b="1" i="0" dirty="0">
              <a:solidFill>
                <a:srgbClr val="333333"/>
              </a:solidFill>
              <a:effectLst/>
              <a:latin typeface="Helvetica Neue"/>
            </a:endParaRPr>
          </a:p>
        </p:txBody>
      </p:sp>
      <p:sp>
        <p:nvSpPr>
          <p:cNvPr id="4" name="文本框 3"/>
          <p:cNvSpPr txBox="1"/>
          <p:nvPr/>
        </p:nvSpPr>
        <p:spPr>
          <a:xfrm>
            <a:off x="746600" y="1442031"/>
            <a:ext cx="6346868"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import </a:t>
            </a:r>
            <a:r>
              <a:rPr lang="en-US" altLang="zh-CN" sz="1400" b="1" dirty="0" err="1">
                <a:solidFill>
                  <a:srgbClr val="0000FF"/>
                </a:solidFill>
                <a:latin typeface="宋体" panose="02010600030101010101" pitchFamily="2" charset="-122"/>
                <a:ea typeface="阿里巴巴普惠体" panose="00020600040101010101"/>
              </a:rPr>
              <a:t>torch.nn</a:t>
            </a:r>
            <a:r>
              <a:rPr lang="en-US" altLang="zh-CN" sz="1400" b="1" dirty="0">
                <a:solidFill>
                  <a:srgbClr val="0000FF"/>
                </a:solidFill>
                <a:latin typeface="宋体" panose="02010600030101010101" pitchFamily="2" charset="-122"/>
                <a:ea typeface="阿里巴巴普惠体" panose="00020600040101010101"/>
              </a:rPr>
              <a:t> as </a:t>
            </a:r>
            <a:r>
              <a:rPr lang="en-US" altLang="zh-CN" sz="1400" b="1" dirty="0" err="1">
                <a:solidFill>
                  <a:srgbClr val="0000FF"/>
                </a:solidFill>
                <a:latin typeface="宋体" panose="02010600030101010101" pitchFamily="2" charset="-122"/>
                <a:ea typeface="阿里巴巴普惠体" panose="00020600040101010101"/>
              </a:rPr>
              <a:t>nn</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def test():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初始化随机失活层</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dropout = </a:t>
            </a:r>
            <a:r>
              <a:rPr lang="en-US" altLang="zh-CN" sz="1400" b="1" dirty="0" err="1">
                <a:solidFill>
                  <a:srgbClr val="0000FF"/>
                </a:solidFill>
                <a:latin typeface="宋体" panose="02010600030101010101" pitchFamily="2" charset="-122"/>
                <a:ea typeface="阿里巴巴普惠体" panose="00020600040101010101"/>
              </a:rPr>
              <a:t>nn.Dropout</a:t>
            </a:r>
            <a:r>
              <a:rPr lang="en-US" altLang="zh-CN" sz="1400" b="1" dirty="0">
                <a:solidFill>
                  <a:srgbClr val="0000FF"/>
                </a:solidFill>
                <a:latin typeface="宋体" panose="02010600030101010101" pitchFamily="2" charset="-122"/>
                <a:ea typeface="阿里巴巴普惠体" panose="00020600040101010101"/>
              </a:rPr>
              <a:t>(p=0.4)</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dirty="0">
                <a:solidFill>
                  <a:srgbClr val="00B050"/>
                </a:solidFill>
                <a:latin typeface="宋体" panose="02010600030101010101" pitchFamily="2" charset="-122"/>
                <a:ea typeface="阿里巴巴普惠体" panose="00020600040101010101"/>
              </a:rPr>
              <a:t>    # </a:t>
            </a:r>
            <a:r>
              <a:rPr lang="zh-CN" altLang="en-US" sz="1400" dirty="0">
                <a:solidFill>
                  <a:srgbClr val="00B050"/>
                </a:solidFill>
                <a:latin typeface="宋体" panose="02010600030101010101" pitchFamily="2" charset="-122"/>
                <a:ea typeface="阿里巴巴普惠体" panose="00020600040101010101"/>
              </a:rPr>
              <a:t>初始化输入数据</a:t>
            </a:r>
            <a:r>
              <a:rPr lang="en-US" altLang="zh-CN" sz="1400" dirty="0">
                <a:solidFill>
                  <a:srgbClr val="00B050"/>
                </a:solidFill>
                <a:latin typeface="宋体" panose="02010600030101010101" pitchFamily="2" charset="-122"/>
                <a:ea typeface="阿里巴巴普惠体" panose="00020600040101010101"/>
              </a:rPr>
              <a:t>:</a:t>
            </a:r>
            <a:r>
              <a:rPr lang="zh-CN" altLang="en-US" sz="1400" dirty="0">
                <a:solidFill>
                  <a:srgbClr val="00B050"/>
                </a:solidFill>
                <a:latin typeface="宋体" panose="02010600030101010101" pitchFamily="2" charset="-122"/>
                <a:ea typeface="阿里巴巴普惠体" panose="00020600040101010101"/>
              </a:rPr>
              <a:t>表示某一层的</a:t>
            </a:r>
            <a:r>
              <a:rPr lang="en-US" altLang="zh-CN" sz="1400" dirty="0">
                <a:solidFill>
                  <a:srgbClr val="00B050"/>
                </a:solidFill>
                <a:latin typeface="宋体" panose="02010600030101010101" pitchFamily="2" charset="-122"/>
                <a:ea typeface="阿里巴巴普惠体" panose="00020600040101010101"/>
              </a:rPr>
              <a:t>weight</a:t>
            </a:r>
            <a:r>
              <a:rPr lang="zh-CN" altLang="en-US" sz="1400" dirty="0">
                <a:solidFill>
                  <a:srgbClr val="00B050"/>
                </a:solidFill>
                <a:latin typeface="宋体" panose="02010600030101010101" pitchFamily="2" charset="-122"/>
                <a:ea typeface="阿里巴巴普惠体" panose="00020600040101010101"/>
              </a:rPr>
              <a:t>信息</a:t>
            </a:r>
            <a:endParaRPr lang="zh-CN" altLang="en-US" sz="1400" dirty="0">
              <a:solidFill>
                <a:srgbClr val="00B050"/>
              </a:solidFill>
              <a:latin typeface="宋体" panose="02010600030101010101" pitchFamily="2" charset="-122"/>
              <a:ea typeface="阿里巴巴普惠体" panose="00020600040101010101"/>
            </a:endParaRPr>
          </a:p>
          <a:p>
            <a:pPr>
              <a:spcBef>
                <a:spcPts val="360"/>
              </a:spcBef>
              <a:spcAft>
                <a:spcPts val="360"/>
              </a:spcAft>
            </a:pPr>
            <a:r>
              <a:rPr lang="zh-CN" altLang="en-US" sz="1400" b="1" dirty="0">
                <a:solidFill>
                  <a:srgbClr val="0000FF"/>
                </a:solidFill>
                <a:latin typeface="宋体" panose="02010600030101010101" pitchFamily="2" charset="-122"/>
                <a:ea typeface="阿里巴巴普惠体" panose="00020600040101010101"/>
              </a:rPr>
              <a:t>    </a:t>
            </a:r>
            <a:r>
              <a:rPr lang="en-US" altLang="zh-CN" sz="1400" b="1" dirty="0">
                <a:solidFill>
                  <a:srgbClr val="0000FF"/>
                </a:solidFill>
                <a:latin typeface="宋体" panose="02010600030101010101" pitchFamily="2" charset="-122"/>
                <a:ea typeface="阿里巴巴普惠体" panose="00020600040101010101"/>
              </a:rPr>
              <a:t>inputs = </a:t>
            </a:r>
            <a:r>
              <a:rPr lang="en-US" altLang="zh-CN" sz="1400" b="1" dirty="0" err="1">
                <a:solidFill>
                  <a:srgbClr val="0000FF"/>
                </a:solidFill>
                <a:latin typeface="宋体" panose="02010600030101010101" pitchFamily="2" charset="-122"/>
                <a:ea typeface="阿里巴巴普惠体" panose="00020600040101010101"/>
              </a:rPr>
              <a:t>torch.randint</a:t>
            </a:r>
            <a:r>
              <a:rPr lang="en-US" altLang="zh-CN" sz="1400" b="1" dirty="0">
                <a:solidFill>
                  <a:srgbClr val="0000FF"/>
                </a:solidFill>
                <a:latin typeface="宋体" panose="02010600030101010101" pitchFamily="2" charset="-122"/>
                <a:ea typeface="阿里巴巴普惠体" panose="00020600040101010101"/>
              </a:rPr>
              <a:t>(0, 10, size=[1, 4]).float()</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layer = </a:t>
            </a:r>
            <a:r>
              <a:rPr lang="en-US" altLang="zh-CN" sz="1400" b="1" dirty="0" err="1">
                <a:solidFill>
                  <a:srgbClr val="0000FF"/>
                </a:solidFill>
                <a:latin typeface="宋体" panose="02010600030101010101" pitchFamily="2" charset="-122"/>
                <a:ea typeface="阿里巴巴普惠体" panose="00020600040101010101"/>
              </a:rPr>
              <a:t>nn.Linear</a:t>
            </a:r>
            <a:r>
              <a:rPr lang="en-US" altLang="zh-CN" sz="1400" b="1" dirty="0">
                <a:solidFill>
                  <a:srgbClr val="0000FF"/>
                </a:solidFill>
                <a:latin typeface="宋体" panose="02010600030101010101" pitchFamily="2" charset="-122"/>
                <a:ea typeface="阿里巴巴普惠体" panose="00020600040101010101"/>
              </a:rPr>
              <a:t>(4,5)</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layer(inputs)</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torch.relu(y)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zh-CN" altLang="en-US" sz="1400" b="1" dirty="0">
                <a:solidFill>
                  <a:srgbClr val="0000FF"/>
                </a:solidFill>
                <a:latin typeface="宋体" panose="02010600030101010101" pitchFamily="2" charset="-122"/>
                <a:ea typeface="阿里巴巴普惠体" panose="00020600040101010101"/>
              </a:rPr>
              <a:t>未失活</a:t>
            </a:r>
            <a:r>
              <a:rPr lang="en-US" altLang="zh-CN" sz="1400" b="1" dirty="0">
                <a:solidFill>
                  <a:srgbClr val="0000FF"/>
                </a:solidFill>
                <a:latin typeface="宋体" panose="02010600030101010101" pitchFamily="2" charset="-122"/>
                <a:ea typeface="阿里巴巴普惠体" panose="00020600040101010101"/>
              </a:rPr>
              <a:t>FC</a:t>
            </a:r>
            <a:r>
              <a:rPr lang="zh-CN" altLang="en-US" sz="1400" b="1" dirty="0">
                <a:solidFill>
                  <a:srgbClr val="0000FF"/>
                </a:solidFill>
                <a:latin typeface="宋体" panose="02010600030101010101" pitchFamily="2" charset="-122"/>
                <a:ea typeface="阿里巴巴普惠体" panose="00020600040101010101"/>
              </a:rPr>
              <a:t>层的输出结果：</a:t>
            </a:r>
            <a:r>
              <a:rPr lang="en-US" altLang="zh-CN" sz="1400" b="1" dirty="0">
                <a:solidFill>
                  <a:srgbClr val="0000FF"/>
                </a:solidFill>
                <a:latin typeface="宋体" panose="02010600030101010101" pitchFamily="2" charset="-122"/>
                <a:ea typeface="阿里巴巴普惠体" panose="00020600040101010101"/>
              </a:rPr>
              <a:t>\n", 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y =  dropout(y)</a:t>
            </a:r>
            <a:endParaRPr lang="en-US" altLang="zh-CN" sz="1400" b="1" dirty="0">
              <a:solidFill>
                <a:srgbClr val="0000FF"/>
              </a:solidFill>
              <a:latin typeface="宋体" panose="02010600030101010101" pitchFamily="2" charset="-122"/>
              <a:ea typeface="阿里巴巴普惠体" panose="00020600040101010101"/>
            </a:endParaRPr>
          </a:p>
          <a:p>
            <a:pPr>
              <a:spcBef>
                <a:spcPts val="360"/>
              </a:spcBef>
              <a:spcAft>
                <a:spcPts val="360"/>
              </a:spcAft>
            </a:pPr>
            <a:r>
              <a:rPr lang="en-US" altLang="zh-CN" sz="1400" b="1" dirty="0">
                <a:solidFill>
                  <a:srgbClr val="0000FF"/>
                </a:solidFill>
                <a:latin typeface="宋体" panose="02010600030101010101" pitchFamily="2" charset="-122"/>
                <a:ea typeface="阿里巴巴普惠体" panose="00020600040101010101"/>
              </a:rPr>
              <a:t>    print("</a:t>
            </a:r>
            <a:r>
              <a:rPr lang="zh-CN" altLang="en-US" sz="1400" b="1" dirty="0">
                <a:solidFill>
                  <a:srgbClr val="0000FF"/>
                </a:solidFill>
                <a:latin typeface="宋体" panose="02010600030101010101" pitchFamily="2" charset="-122"/>
                <a:ea typeface="阿里巴巴普惠体" panose="00020600040101010101"/>
              </a:rPr>
              <a:t>失活后</a:t>
            </a:r>
            <a:r>
              <a:rPr lang="en-US" altLang="zh-CN" sz="1400" b="1" dirty="0">
                <a:solidFill>
                  <a:srgbClr val="0000FF"/>
                </a:solidFill>
                <a:latin typeface="宋体" panose="02010600030101010101" pitchFamily="2" charset="-122"/>
                <a:ea typeface="阿里巴巴普惠体" panose="00020600040101010101"/>
              </a:rPr>
              <a:t>FC</a:t>
            </a:r>
            <a:r>
              <a:rPr lang="zh-CN" altLang="en-US" sz="1400" b="1" dirty="0">
                <a:solidFill>
                  <a:srgbClr val="0000FF"/>
                </a:solidFill>
                <a:latin typeface="宋体" panose="02010600030101010101" pitchFamily="2" charset="-122"/>
                <a:ea typeface="阿里巴巴普惠体" panose="00020600040101010101"/>
              </a:rPr>
              <a:t>层的输出结果：</a:t>
            </a:r>
            <a:r>
              <a:rPr lang="en-US" altLang="zh-CN" sz="1400" b="1" dirty="0">
                <a:solidFill>
                  <a:srgbClr val="0000FF"/>
                </a:solidFill>
                <a:latin typeface="宋体" panose="02010600030101010101" pitchFamily="2" charset="-122"/>
                <a:ea typeface="阿里巴巴普惠体" panose="00020600040101010101"/>
              </a:rPr>
              <a:t>\n", y)</a:t>
            </a:r>
            <a:endParaRPr lang="en-US" altLang="zh-CN" sz="1400" dirty="0">
              <a:solidFill>
                <a:srgbClr val="00B050"/>
              </a:solidFill>
              <a:latin typeface="宋体" panose="02010600030101010101" pitchFamily="2" charset="-122"/>
              <a:ea typeface="阿里巴巴普惠体" panose="00020600040101010101"/>
            </a:endParaRPr>
          </a:p>
        </p:txBody>
      </p:sp>
      <p:sp>
        <p:nvSpPr>
          <p:cNvPr id="6" name="文本框 5"/>
          <p:cNvSpPr txBox="1"/>
          <p:nvPr/>
        </p:nvSpPr>
        <p:spPr>
          <a:xfrm>
            <a:off x="7093468" y="3865360"/>
            <a:ext cx="5098532" cy="1814830"/>
          </a:xfrm>
          <a:prstGeom prst="rect">
            <a:avLst/>
          </a:prstGeom>
          <a:noFill/>
        </p:spPr>
        <p:txBody>
          <a:bodyPr wrap="square">
            <a:spAutoFit/>
          </a:bodyPr>
          <a:lstStyle/>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zh-CN" altLang="en-US" sz="1400" dirty="0"/>
              <a:t>未失活</a:t>
            </a:r>
            <a:r>
              <a:rPr lang="en-US" altLang="zh-CN" sz="1400" dirty="0"/>
              <a:t>FC</a:t>
            </a:r>
            <a:r>
              <a:rPr lang="zh-CN" altLang="en-US" sz="1400" dirty="0"/>
              <a:t>层的输出结果：</a:t>
            </a:r>
            <a:endParaRPr lang="zh-CN" altLang="en-US" sz="1400" dirty="0"/>
          </a:p>
          <a:p>
            <a:r>
              <a:rPr lang="en-US" altLang="zh-CN" sz="1400" dirty="0"/>
              <a:t> tensor([[0.0000, 1.8033, 1.4608, 4.5189, 6.9116]], grad_fn=&lt;ReluBackward0&gt;)</a:t>
            </a:r>
            <a:endParaRPr lang="en-US" altLang="zh-CN" sz="1400" dirty="0"/>
          </a:p>
          <a:p>
            <a:endParaRPr lang="en-US" altLang="zh-CN" sz="1400" dirty="0"/>
          </a:p>
          <a:p>
            <a:r>
              <a:rPr lang="zh-CN" altLang="en-US" sz="1400" dirty="0"/>
              <a:t>失活后</a:t>
            </a:r>
            <a:r>
              <a:rPr lang="en-US" altLang="zh-CN" sz="1400" dirty="0"/>
              <a:t>FC</a:t>
            </a:r>
            <a:r>
              <a:rPr lang="zh-CN" altLang="en-US" sz="1400" dirty="0"/>
              <a:t>层的输出结果：</a:t>
            </a:r>
            <a:endParaRPr lang="zh-CN" altLang="en-US" sz="1400" dirty="0"/>
          </a:p>
          <a:p>
            <a:r>
              <a:rPr lang="en-US" altLang="zh-CN" sz="1400" dirty="0"/>
              <a:t> tensor([[ 0.0000,  3.0055,  2.4346,  7.5315, 11.5193]], grad_fn=&lt;MulBackward0&gt;)</a:t>
            </a:r>
            <a:endParaRPr lang="en-US" altLang="zh-CN" sz="14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批量归一化</a:t>
            </a:r>
            <a:r>
              <a:rPr lang="en-US" altLang="zh-CN" b="1" i="0" dirty="0">
                <a:solidFill>
                  <a:srgbClr val="333333"/>
                </a:solidFill>
                <a:effectLst/>
                <a:latin typeface="Helvetica Neue"/>
              </a:rPr>
              <a:t>(</a:t>
            </a:r>
            <a:r>
              <a:rPr lang="en-US" altLang="zh-CN"/>
              <a:t>Batch Normalization</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1" dirty="0">
              <a:solidFill>
                <a:srgbClr val="333333"/>
              </a:solidFill>
              <a:latin typeface="Helvetica Neue"/>
            </a:endParaRPr>
          </a:p>
          <a:p>
            <a:pPr algn="l"/>
            <a:endParaRPr lang="en-US" altLang="zh-CN" b="1"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先对数据标准化，再对数据重构（缩放</a:t>
            </a:r>
            <a:r>
              <a:rPr lang="en-US" altLang="zh-CN" b="0" i="0" dirty="0">
                <a:solidFill>
                  <a:srgbClr val="333333"/>
                </a:solidFill>
                <a:effectLst/>
                <a:latin typeface="Helvetica Neue"/>
              </a:rPr>
              <a:t>+</a:t>
            </a:r>
            <a:r>
              <a:rPr lang="zh-CN" altLang="en-US" b="0" i="0" dirty="0">
                <a:solidFill>
                  <a:srgbClr val="333333"/>
                </a:solidFill>
                <a:effectLst/>
                <a:latin typeface="Helvetica Neue"/>
              </a:rPr>
              <a:t>平移），如下所示：</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λ </a:t>
            </a:r>
            <a:r>
              <a:rPr lang="zh-CN" altLang="en-US" b="0" i="0" dirty="0">
                <a:solidFill>
                  <a:srgbClr val="333333"/>
                </a:solidFill>
                <a:effectLst/>
                <a:latin typeface="Helvetica Neue"/>
              </a:rPr>
              <a:t>和 </a:t>
            </a:r>
            <a:r>
              <a:rPr lang="en-US" altLang="zh-CN" b="0" i="0" dirty="0">
                <a:solidFill>
                  <a:srgbClr val="333333"/>
                </a:solidFill>
                <a:effectLst/>
                <a:latin typeface="Helvetica Neue"/>
              </a:rPr>
              <a:t>β </a:t>
            </a:r>
            <a:r>
              <a:rPr lang="zh-CN" altLang="en-US" b="0" i="0" dirty="0">
                <a:solidFill>
                  <a:srgbClr val="333333"/>
                </a:solidFill>
                <a:effectLst/>
                <a:latin typeface="Helvetica Neue"/>
              </a:rPr>
              <a:t>是可学习的参数，它相当于对标准化后的值做了一个</a:t>
            </a:r>
            <a:r>
              <a:rPr lang="zh-CN" altLang="en-US" b="1" i="0" dirty="0">
                <a:solidFill>
                  <a:srgbClr val="333333"/>
                </a:solidFill>
                <a:effectLst/>
                <a:latin typeface="Helvetica Neue"/>
              </a:rPr>
              <a:t>线性变换</a:t>
            </a:r>
            <a:r>
              <a:rPr lang="zh-CN" altLang="en-US" b="0" i="0" dirty="0">
                <a:solidFill>
                  <a:srgbClr val="333333"/>
                </a:solidFill>
                <a:effectLst/>
                <a:latin typeface="Helvetica Neue"/>
              </a:rPr>
              <a:t>，</a:t>
            </a:r>
            <a:r>
              <a:rPr lang="en-US" altLang="zh-CN" b="1" i="0" dirty="0">
                <a:solidFill>
                  <a:srgbClr val="333333"/>
                </a:solidFill>
                <a:effectLst/>
                <a:latin typeface="Helvetica Neue"/>
              </a:rPr>
              <a:t>λ </a:t>
            </a:r>
            <a:r>
              <a:rPr lang="zh-CN" altLang="en-US" b="1" i="0" dirty="0">
                <a:solidFill>
                  <a:srgbClr val="333333"/>
                </a:solidFill>
                <a:effectLst/>
                <a:latin typeface="Helvetica Neue"/>
              </a:rPr>
              <a:t>为系数，</a:t>
            </a:r>
            <a:r>
              <a:rPr lang="en-US" altLang="zh-CN" b="1" i="0" dirty="0">
                <a:solidFill>
                  <a:srgbClr val="333333"/>
                </a:solidFill>
                <a:effectLst/>
                <a:latin typeface="Helvetica Neue"/>
              </a:rPr>
              <a:t>β </a:t>
            </a:r>
            <a:r>
              <a:rPr lang="zh-CN" altLang="en-US" b="1" i="0" dirty="0">
                <a:solidFill>
                  <a:srgbClr val="333333"/>
                </a:solidFill>
                <a:effectLst/>
                <a:latin typeface="Helvetica Neue"/>
              </a:rPr>
              <a:t>为偏置；</a:t>
            </a:r>
            <a:endParaRPr lang="en-US" altLang="zh-CN" dirty="0">
              <a:solidFill>
                <a:srgbClr val="333333"/>
              </a:solidFill>
              <a:latin typeface="Helvetica Neue"/>
            </a:endParaRPr>
          </a:p>
          <a:p>
            <a:pPr marL="342900" indent="-342900" algn="l">
              <a:buFont typeface="+mj-lt"/>
              <a:buAutoNum type="arabicPeriod"/>
            </a:pPr>
            <a:r>
              <a:rPr lang="en-US" altLang="zh-CN" b="0" i="0" dirty="0">
                <a:solidFill>
                  <a:srgbClr val="333333"/>
                </a:solidFill>
                <a:effectLst/>
                <a:latin typeface="Helvetica Neue"/>
              </a:rPr>
              <a:t>eps </a:t>
            </a:r>
            <a:r>
              <a:rPr lang="zh-CN" altLang="en-US" b="0" i="0" dirty="0">
                <a:solidFill>
                  <a:srgbClr val="333333"/>
                </a:solidFill>
                <a:effectLst/>
                <a:latin typeface="Helvetica Neue"/>
              </a:rPr>
              <a:t>通常指为 </a:t>
            </a:r>
            <a:r>
              <a:rPr lang="en-US" altLang="zh-CN" b="0" i="0" dirty="0">
                <a:solidFill>
                  <a:srgbClr val="333333"/>
                </a:solidFill>
                <a:effectLst/>
                <a:latin typeface="Helvetica Neue"/>
              </a:rPr>
              <a:t>1e-5</a:t>
            </a:r>
            <a:r>
              <a:rPr lang="zh-CN" altLang="en-US" b="0" i="0" dirty="0">
                <a:solidFill>
                  <a:srgbClr val="333333"/>
                </a:solidFill>
                <a:effectLst/>
                <a:latin typeface="Helvetica Neue"/>
              </a:rPr>
              <a:t>，避免分母为 </a:t>
            </a:r>
            <a:r>
              <a:rPr lang="en-US" altLang="zh-CN" b="0" i="0" dirty="0">
                <a:solidFill>
                  <a:srgbClr val="333333"/>
                </a:solidFill>
                <a:effectLst/>
                <a:latin typeface="Helvetica Neue"/>
              </a:rPr>
              <a:t>0</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E(x) </a:t>
            </a:r>
            <a:r>
              <a:rPr lang="zh-CN" altLang="en-US" b="0" i="0" dirty="0">
                <a:solidFill>
                  <a:srgbClr val="333333"/>
                </a:solidFill>
                <a:effectLst/>
                <a:latin typeface="Helvetica Neue"/>
              </a:rPr>
              <a:t>表示变量的均值；</a:t>
            </a:r>
            <a:endParaRPr lang="en-US" altLang="zh-CN" b="0" i="0" dirty="0">
              <a:solidFill>
                <a:srgbClr val="333333"/>
              </a:solidFill>
              <a:effectLst/>
              <a:latin typeface="Helvetica Neue"/>
            </a:endParaRPr>
          </a:p>
          <a:p>
            <a:pPr marL="342900" indent="-342900" algn="l">
              <a:buFont typeface="+mj-lt"/>
              <a:buAutoNum type="arabicPeriod"/>
            </a:pPr>
            <a:r>
              <a:rPr lang="en-US" altLang="zh-CN" b="0" i="0" dirty="0">
                <a:solidFill>
                  <a:srgbClr val="333333"/>
                </a:solidFill>
                <a:effectLst/>
                <a:latin typeface="Helvetica Neue"/>
              </a:rPr>
              <a:t>Var(x) </a:t>
            </a:r>
            <a:r>
              <a:rPr lang="zh-CN" altLang="en-US" b="0" i="0" dirty="0">
                <a:solidFill>
                  <a:srgbClr val="333333"/>
                </a:solidFill>
                <a:effectLst/>
                <a:latin typeface="Helvetica Neue"/>
              </a:rPr>
              <a:t>表示变量的方差；</a:t>
            </a:r>
            <a:endParaRPr lang="zh-CN" altLang="en-US" b="0" i="0" dirty="0">
              <a:solidFill>
                <a:srgbClr val="333333"/>
              </a:solidFill>
              <a:effectLst/>
              <a:latin typeface="Helvetica Neue"/>
            </a:endParaRPr>
          </a:p>
          <a:p>
            <a:pPr algn="l"/>
            <a:r>
              <a:rPr lang="zh-CN" altLang="en-US" b="1" i="0" dirty="0">
                <a:solidFill>
                  <a:srgbClr val="333333"/>
                </a:solidFill>
                <a:effectLst/>
                <a:latin typeface="Helvetica Neue"/>
              </a:rPr>
              <a:t>批量归一化层在计算机视觉领域使用较多</a:t>
            </a:r>
            <a:r>
              <a:rPr lang="zh-CN" altLang="en-US" b="0" i="0" dirty="0">
                <a:solidFill>
                  <a:srgbClr val="333333"/>
                </a:solidFill>
                <a:effectLst/>
                <a:latin typeface="Helvetica Neue"/>
              </a:rPr>
              <a:t>。</a:t>
            </a:r>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pic>
        <p:nvPicPr>
          <p:cNvPr id="7" name="图片 6"/>
          <p:cNvPicPr>
            <a:picLocks noChangeAspect="1"/>
          </p:cNvPicPr>
          <p:nvPr/>
        </p:nvPicPr>
        <p:blipFill>
          <a:blip r:embed="rId1"/>
          <a:stretch>
            <a:fillRect/>
          </a:stretch>
        </p:blipFill>
        <p:spPr>
          <a:xfrm>
            <a:off x="1368353" y="1660815"/>
            <a:ext cx="8576229" cy="1768185"/>
          </a:xfrm>
          <a:prstGeom prst="rect">
            <a:avLst/>
          </a:prstGeom>
        </p:spPr>
      </p:pic>
      <p:pic>
        <p:nvPicPr>
          <p:cNvPr id="9" name="图片 8"/>
          <p:cNvPicPr>
            <a:picLocks noChangeAspect="1"/>
          </p:cNvPicPr>
          <p:nvPr/>
        </p:nvPicPr>
        <p:blipFill>
          <a:blip r:embed="rId2"/>
          <a:stretch>
            <a:fillRect/>
          </a:stretch>
        </p:blipFill>
        <p:spPr>
          <a:xfrm>
            <a:off x="3205216" y="4031767"/>
            <a:ext cx="2611384" cy="666936"/>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批量归一化</a:t>
            </a:r>
            <a:r>
              <a:rPr lang="en-US" altLang="zh-CN" b="1" i="0" dirty="0">
                <a:solidFill>
                  <a:srgbClr val="333333"/>
                </a:solidFill>
                <a:effectLst/>
                <a:latin typeface="Helvetica Neue"/>
              </a:rPr>
              <a:t>(</a:t>
            </a:r>
            <a:r>
              <a:rPr lang="en-US" altLang="zh-CN"/>
              <a:t>Batch Normalization</a:t>
            </a:r>
            <a:r>
              <a:rPr lang="en-US" altLang="zh-CN" b="1" i="0" dirty="0">
                <a:solidFill>
                  <a:srgbClr val="333333"/>
                </a:solidFill>
                <a:effectLst/>
                <a:latin typeface="Helvetica Neue"/>
              </a:rPr>
              <a:t>)</a:t>
            </a:r>
            <a:endParaRPr lang="en-US" altLang="zh-CN" b="1" i="0" dirty="0">
              <a:solidFill>
                <a:srgbClr val="333333"/>
              </a:solidFill>
              <a:effectLst/>
              <a:latin typeface="Helvetica Neue"/>
            </a:endParaRPr>
          </a:p>
        </p:txBody>
      </p:sp>
      <p:sp>
        <p:nvSpPr>
          <p:cNvPr id="5" name="文本框 4"/>
          <p:cNvSpPr txBox="1"/>
          <p:nvPr/>
        </p:nvSpPr>
        <p:spPr>
          <a:xfrm>
            <a:off x="746600" y="1599511"/>
            <a:ext cx="6346868" cy="4215765"/>
          </a:xfrm>
          <a:prstGeom prst="rect">
            <a:avLst/>
          </a:prstGeom>
          <a:solidFill>
            <a:srgbClr val="FFFFE4"/>
          </a:solidFill>
          <a:ln>
            <a:solidFill>
              <a:schemeClr val="tx1"/>
            </a:solidFill>
          </a:ln>
        </p:spPr>
        <p:txBody>
          <a:bodyPr wrap="square">
            <a:spAutoFit/>
          </a:bodyPr>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import torch</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import torch.nn as nn</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FontTx/>
              <a:buNone/>
            </a:pPr>
            <a:r>
              <a:rPr lang="en-US" altLang="zh-CN" sz="1400" b="1" dirty="0">
                <a:solidFill>
                  <a:srgbClr val="0000FF"/>
                </a:solidFill>
                <a:latin typeface="宋体" panose="02010600030101010101" pitchFamily="2" charset="-122"/>
                <a:ea typeface="阿里巴巴普惠体" panose="00020600040101010101"/>
              </a:rPr>
              <a:t>m = nn.BatchNorm2d(2, eps=1e-05, momentum=0.1, affine=True) </a:t>
            </a:r>
            <a:r>
              <a:rPr lang="en-US" altLang="zh-CN" sz="1400" dirty="0">
                <a:solidFill>
                  <a:srgbClr val="00B050"/>
                </a:solidFill>
                <a:latin typeface="宋体" panose="02010600030101010101" pitchFamily="2" charset="-122"/>
                <a:ea typeface="阿里巴巴普惠体" panose="00020600040101010101"/>
              </a:rPr>
              <a:t> # affine参数设为True表示weight和bias将被使用</a:t>
            </a:r>
            <a:endParaRPr lang="en-US" altLang="zh-CN" sz="1400" dirty="0">
              <a:solidFill>
                <a:srgbClr val="00B050"/>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input = torch.randn(1, 2, 3, 4)</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print("input--&gt;", input)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output = m(input)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print("output--&gt;", output)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print(output.size())</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print(m.weight)</a:t>
            </a:r>
            <a:endParaRPr lang="en-US" altLang="zh-CN" sz="1400" b="1" dirty="0">
              <a:solidFill>
                <a:srgbClr val="0000FF"/>
              </a:solidFill>
              <a:latin typeface="宋体" panose="02010600030101010101" pitchFamily="2" charset="-122"/>
              <a:ea typeface="阿里巴巴普惠体" panose="00020600040101010101"/>
            </a:endParaRPr>
          </a:p>
          <a:p>
            <a:pPr algn="l">
              <a:spcBef>
                <a:spcPts val="360"/>
              </a:spcBef>
              <a:spcAft>
                <a:spcPts val="360"/>
              </a:spcAft>
              <a:buClrTx/>
              <a:buSzTx/>
              <a:buNone/>
            </a:pPr>
            <a:r>
              <a:rPr lang="en-US" altLang="zh-CN" sz="1400" b="1" dirty="0">
                <a:solidFill>
                  <a:srgbClr val="0000FF"/>
                </a:solidFill>
                <a:latin typeface="宋体" panose="02010600030101010101" pitchFamily="2" charset="-122"/>
                <a:ea typeface="阿里巴巴普惠体" panose="00020600040101010101"/>
              </a:rPr>
              <a:t>print(m.bias)</a:t>
            </a:r>
            <a:endParaRPr lang="en-US" altLang="zh-CN" sz="1400" b="1" dirty="0">
              <a:solidFill>
                <a:srgbClr val="0000FF"/>
              </a:solidFill>
              <a:latin typeface="宋体" panose="02010600030101010101" pitchFamily="2" charset="-122"/>
              <a:ea typeface="阿里巴巴普惠体" panose="00020600040101010101"/>
            </a:endParaRPr>
          </a:p>
        </p:txBody>
      </p:sp>
      <p:sp>
        <p:nvSpPr>
          <p:cNvPr id="6" name="文本框 5"/>
          <p:cNvSpPr txBox="1"/>
          <p:nvPr/>
        </p:nvSpPr>
        <p:spPr>
          <a:xfrm>
            <a:off x="7093468" y="1599680"/>
            <a:ext cx="5098532" cy="4615815"/>
          </a:xfrm>
          <a:prstGeom prst="rect">
            <a:avLst/>
          </a:prstGeom>
          <a:noFill/>
        </p:spPr>
        <p:txBody>
          <a:bodyPr wrap="square">
            <a:spAutoFit/>
          </a:bodyPr>
          <a:p>
            <a:r>
              <a:rPr lang="zh-CN" altLang="en-US" sz="1400" dirty="0">
                <a:solidFill>
                  <a:srgbClr val="FF0000"/>
                </a:solidFill>
              </a:rPr>
              <a:t>输出结果</a:t>
            </a:r>
            <a:r>
              <a:rPr lang="en-US" altLang="zh-CN" sz="1400" dirty="0">
                <a:solidFill>
                  <a:srgbClr val="FF0000"/>
                </a:solidFill>
              </a:rPr>
              <a:t>:</a:t>
            </a:r>
            <a:endParaRPr lang="en-US" altLang="zh-CN" sz="1400" dirty="0">
              <a:solidFill>
                <a:srgbClr val="FF0000"/>
              </a:solidFill>
            </a:endParaRPr>
          </a:p>
          <a:p>
            <a:r>
              <a:rPr lang="en-US" altLang="zh-CN" sz="1400" dirty="0"/>
              <a:t>input--&gt; tensor([[[[-0.2751, -1.2183, -0.5106, -0.1540],</a:t>
            </a:r>
            <a:endParaRPr lang="en-US" altLang="zh-CN" sz="1400" dirty="0"/>
          </a:p>
          <a:p>
            <a:r>
              <a:rPr lang="en-US" altLang="zh-CN" sz="1400" dirty="0"/>
              <a:t>          [-0.4585, -0.5989, -0.6063,  0.5986],</a:t>
            </a:r>
            <a:endParaRPr lang="en-US" altLang="zh-CN" sz="1400" dirty="0"/>
          </a:p>
          <a:p>
            <a:r>
              <a:rPr lang="en-US" altLang="zh-CN" sz="1400" dirty="0"/>
              <a:t>          [-0.4745,  0.1496, -1.1266, -1.2377]],</a:t>
            </a:r>
            <a:endParaRPr lang="en-US" altLang="zh-CN" sz="1400" dirty="0"/>
          </a:p>
          <a:p>
            <a:endParaRPr lang="en-US" altLang="zh-CN" sz="1400" dirty="0"/>
          </a:p>
          <a:p>
            <a:r>
              <a:rPr lang="en-US" altLang="zh-CN" sz="1400" dirty="0"/>
              <a:t>         [[ 0.2580,  1.2065,  1.4598,  0.8387],</a:t>
            </a:r>
            <a:endParaRPr lang="en-US" altLang="zh-CN" sz="1400" dirty="0"/>
          </a:p>
          <a:p>
            <a:r>
              <a:rPr lang="en-US" altLang="zh-CN" sz="1400" dirty="0"/>
              <a:t>          [-0.4586,  0.8938, -0.3328,  0.1192],</a:t>
            </a:r>
            <a:endParaRPr lang="en-US" altLang="zh-CN" sz="1400" dirty="0"/>
          </a:p>
          <a:p>
            <a:r>
              <a:rPr lang="en-US" altLang="zh-CN" sz="1400" dirty="0"/>
              <a:t>          [-0.3265, -0.6263,  0.0419, -1.2231]]]])</a:t>
            </a:r>
            <a:endParaRPr lang="en-US" altLang="zh-CN" sz="1400" dirty="0"/>
          </a:p>
          <a:p>
            <a:r>
              <a:rPr lang="en-US" altLang="zh-CN" sz="1400" dirty="0"/>
              <a:t>output--&gt; tensor([[[[ 0.4164, -1.3889, -0.0343,  0.6484],</a:t>
            </a:r>
            <a:endParaRPr lang="en-US" altLang="zh-CN" sz="1400" dirty="0"/>
          </a:p>
          <a:p>
            <a:r>
              <a:rPr lang="en-US" altLang="zh-CN" sz="1400" dirty="0"/>
              <a:t>          [ 0.0655, -0.2032, -0.2175,  2.0889],</a:t>
            </a:r>
            <a:endParaRPr lang="en-US" altLang="zh-CN" sz="1400" dirty="0"/>
          </a:p>
          <a:p>
            <a:r>
              <a:rPr lang="en-US" altLang="zh-CN" sz="1400" dirty="0"/>
              <a:t>          [ 0.0349,  1.2294, -1.2134, -1.4262]],</a:t>
            </a:r>
            <a:endParaRPr lang="en-US" altLang="zh-CN" sz="1400" dirty="0"/>
          </a:p>
          <a:p>
            <a:endParaRPr lang="en-US" altLang="zh-CN" sz="1400" dirty="0"/>
          </a:p>
          <a:p>
            <a:r>
              <a:rPr lang="en-US" altLang="zh-CN" sz="1400" dirty="0"/>
              <a:t>         [[ 0.1340,  1.3582,  1.6853,  0.8835],</a:t>
            </a:r>
            <a:endParaRPr lang="en-US" altLang="zh-CN" sz="1400" dirty="0"/>
          </a:p>
          <a:p>
            <a:r>
              <a:rPr lang="en-US" altLang="zh-CN" sz="1400" dirty="0"/>
              <a:t>          [-0.7910,  0.9546, -0.6287, -0.0452],</a:t>
            </a:r>
            <a:endParaRPr lang="en-US" altLang="zh-CN" sz="1400" dirty="0"/>
          </a:p>
          <a:p>
            <a:r>
              <a:rPr lang="en-US" altLang="zh-CN" sz="1400" dirty="0"/>
              <a:t>          [-0.6205, -1.0075, -0.1449, -1.7779]]]],</a:t>
            </a:r>
            <a:endParaRPr lang="en-US" altLang="zh-CN" sz="1400" dirty="0"/>
          </a:p>
          <a:p>
            <a:r>
              <a:rPr lang="en-US" altLang="zh-CN" sz="1400" dirty="0"/>
              <a:t>       grad_fn=&lt;NativeBatchNormBackward0&gt;)</a:t>
            </a:r>
            <a:endParaRPr lang="en-US" altLang="zh-CN" sz="1400" dirty="0"/>
          </a:p>
          <a:p>
            <a:r>
              <a:rPr lang="en-US" altLang="zh-CN" sz="1400" dirty="0"/>
              <a:t>torch.Size([1, 2, 3, 4])</a:t>
            </a:r>
            <a:endParaRPr lang="en-US" altLang="zh-CN" sz="1400" dirty="0"/>
          </a:p>
          <a:p>
            <a:r>
              <a:rPr lang="en-US" altLang="zh-CN" sz="1400" dirty="0"/>
              <a:t>Parameter containing:</a:t>
            </a:r>
            <a:endParaRPr lang="en-US" altLang="zh-CN" sz="1400" dirty="0"/>
          </a:p>
          <a:p>
            <a:r>
              <a:rPr lang="en-US" altLang="zh-CN" sz="1400" dirty="0"/>
              <a:t>tensor([1., 1.], requires_grad=True)</a:t>
            </a:r>
            <a:endParaRPr lang="en-US" altLang="zh-CN" sz="1400" dirty="0"/>
          </a:p>
          <a:p>
            <a:r>
              <a:rPr lang="en-US" altLang="zh-CN" sz="1400" dirty="0"/>
              <a:t>Parameter containing:</a:t>
            </a:r>
            <a:endParaRPr lang="en-US" altLang="zh-CN" sz="1400" dirty="0"/>
          </a:p>
          <a:p>
            <a:r>
              <a:rPr lang="en-US" altLang="zh-CN" sz="1400" dirty="0"/>
              <a:t>tensor([0., 0.], requires_grad=True)</a:t>
            </a:r>
            <a:endParaRPr lang="en-US" altLang="zh-CN"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460760" y="842629"/>
            <a:ext cx="7731240" cy="5172741"/>
          </a:xfrm>
        </p:spPr>
        <p:txBody>
          <a:bodyPr/>
          <a:lstStyle/>
          <a:p>
            <a:pPr marL="0" indent="0">
              <a:buNone/>
            </a:pPr>
            <a:r>
              <a:rPr lang="en-US" altLang="zh-CN" sz="1600" b="0" i="0" dirty="0">
                <a:solidFill>
                  <a:srgbClr val="333333"/>
                </a:solidFill>
                <a:effectLst/>
                <a:latin typeface="Helvetica Neue"/>
              </a:rPr>
              <a:t>1</a:t>
            </a:r>
            <a:r>
              <a:rPr lang="zh-CN" altLang="en-US" sz="1600" b="0" i="0" dirty="0">
                <a:solidFill>
                  <a:srgbClr val="333333"/>
                </a:solidFill>
                <a:effectLst/>
                <a:latin typeface="Helvetica Neue"/>
              </a:rPr>
              <a:t>、正则化的作用</a:t>
            </a:r>
            <a:endParaRPr lang="en-US" altLang="zh-CN" sz="1600" b="0" i="0" dirty="0">
              <a:solidFill>
                <a:srgbClr val="333333"/>
              </a:solidFill>
              <a:effectLst/>
              <a:latin typeface="Helvetica Neue"/>
            </a:endParaRPr>
          </a:p>
          <a:p>
            <a:pPr marL="0" algn="l">
              <a:buNone/>
            </a:pPr>
            <a:r>
              <a:rPr lang="zh-CN" altLang="en-US" sz="1600" b="0" i="0" dirty="0">
                <a:effectLst/>
                <a:latin typeface="Roboto" panose="02000000000000000000" pitchFamily="2" charset="0"/>
              </a:rPr>
              <a:t>缓解过拟合</a:t>
            </a:r>
            <a:endParaRPr lang="zh-CN" altLang="en-US" sz="1600" b="0" i="0" dirty="0">
              <a:effectLst/>
              <a:latin typeface="Roboto" panose="02000000000000000000" pitchFamily="2" charset="0"/>
            </a:endParaRPr>
          </a:p>
          <a:p>
            <a:pPr marL="0" indent="0">
              <a:buNone/>
            </a:pPr>
            <a:r>
              <a:rPr lang="en-US" altLang="zh-CN" sz="1600" b="0" i="0" dirty="0">
                <a:solidFill>
                  <a:srgbClr val="333333"/>
                </a:solidFill>
                <a:effectLst/>
                <a:latin typeface="Helvetica Neue"/>
              </a:rPr>
              <a:t>2</a:t>
            </a:r>
            <a:r>
              <a:rPr lang="zh-CN" altLang="en-US" sz="1600" b="0" i="0" dirty="0">
                <a:solidFill>
                  <a:srgbClr val="333333"/>
                </a:solidFill>
                <a:effectLst/>
                <a:latin typeface="Helvetica Neue"/>
              </a:rPr>
              <a:t>、随机失活</a:t>
            </a:r>
            <a:r>
              <a:rPr lang="en-US" altLang="zh-CN" sz="1600" b="0" i="0" dirty="0" err="1">
                <a:solidFill>
                  <a:srgbClr val="333333"/>
                </a:solidFill>
                <a:effectLst/>
                <a:latin typeface="Helvetica Neue"/>
              </a:rPr>
              <a:t>DropOut</a:t>
            </a:r>
            <a:r>
              <a:rPr lang="zh-CN" altLang="en-US" sz="1600" b="0" i="0" dirty="0">
                <a:solidFill>
                  <a:srgbClr val="333333"/>
                </a:solidFill>
                <a:effectLst/>
                <a:latin typeface="Helvetica Neue"/>
              </a:rPr>
              <a:t>策略</a:t>
            </a:r>
            <a:endParaRPr lang="en-US" altLang="zh-CN" sz="1600" b="0" i="0" dirty="0">
              <a:solidFill>
                <a:srgbClr val="333333"/>
              </a:solidFill>
              <a:effectLst/>
              <a:latin typeface="Helvetica Neue"/>
            </a:endParaRPr>
          </a:p>
          <a:p>
            <a:pPr marL="0" indent="0">
              <a:buNone/>
            </a:pPr>
            <a:r>
              <a:rPr lang="zh-CN" altLang="en-US" sz="1600" b="0" i="0" dirty="0">
                <a:effectLst/>
                <a:latin typeface="Roboto" panose="02000000000000000000" pitchFamily="2" charset="0"/>
              </a:rPr>
              <a:t>让神经元以超参数</a:t>
            </a:r>
            <a:r>
              <a:rPr lang="en-GB" altLang="zh-CN" sz="1600" b="0" i="0" dirty="0">
                <a:effectLst/>
                <a:latin typeface="Roboto" panose="02000000000000000000" pitchFamily="2" charset="0"/>
              </a:rPr>
              <a:t>p</a:t>
            </a:r>
            <a:r>
              <a:rPr lang="zh-CN" altLang="en-US" sz="1600" b="0" i="0" dirty="0">
                <a:effectLst/>
                <a:latin typeface="Roboto" panose="02000000000000000000" pitchFamily="2" charset="0"/>
              </a:rPr>
              <a:t>的概率停止工作或者激活被置为</a:t>
            </a:r>
            <a:r>
              <a:rPr lang="en-US" altLang="zh-CN" sz="1600" b="0" i="0" dirty="0">
                <a:effectLst/>
                <a:latin typeface="Roboto" panose="02000000000000000000" pitchFamily="2" charset="0"/>
              </a:rPr>
              <a:t>0</a:t>
            </a:r>
            <a:endParaRPr lang="en-US" altLang="zh-CN" sz="1600" b="0" i="0" dirty="0">
              <a:solidFill>
                <a:srgbClr val="333333"/>
              </a:solidFill>
              <a:effectLst/>
              <a:latin typeface="Helvetica Neue"/>
            </a:endParaRPr>
          </a:p>
          <a:p>
            <a:pPr marL="0" indent="0">
              <a:buNone/>
            </a:pPr>
            <a:r>
              <a:rPr lang="en-US" altLang="zh-CN" sz="1600" b="0" i="0" dirty="0">
                <a:solidFill>
                  <a:srgbClr val="333333"/>
                </a:solidFill>
                <a:effectLst/>
                <a:latin typeface="Helvetica Neue"/>
              </a:rPr>
              <a:t>3</a:t>
            </a:r>
            <a:r>
              <a:rPr lang="zh-CN" altLang="en-US" sz="1600" b="0" i="0" dirty="0">
                <a:solidFill>
                  <a:srgbClr val="333333"/>
                </a:solidFill>
                <a:effectLst/>
                <a:latin typeface="Helvetica Neue"/>
              </a:rPr>
              <a:t>、</a:t>
            </a:r>
            <a:r>
              <a:rPr lang="en-US" altLang="zh-CN" sz="1600" dirty="0">
                <a:solidFill>
                  <a:srgbClr val="333333"/>
                </a:solidFill>
                <a:latin typeface="Helvetica Neue"/>
              </a:rPr>
              <a:t>BN</a:t>
            </a:r>
            <a:r>
              <a:rPr lang="zh-CN" altLang="en-US" sz="1600" dirty="0">
                <a:solidFill>
                  <a:srgbClr val="333333"/>
                </a:solidFill>
                <a:latin typeface="Helvetica Neue"/>
              </a:rPr>
              <a:t>层是什么？</a:t>
            </a:r>
            <a:endParaRPr lang="en-US" altLang="zh-CN" sz="1600" dirty="0">
              <a:solidFill>
                <a:srgbClr val="333333"/>
              </a:solidFill>
              <a:latin typeface="Helvetica Neue"/>
            </a:endParaRPr>
          </a:p>
          <a:p>
            <a:pPr marL="0" algn="l">
              <a:buNone/>
            </a:pPr>
            <a:r>
              <a:rPr lang="zh-CN" altLang="en-US" sz="1600" b="0" i="0" dirty="0">
                <a:effectLst/>
                <a:latin typeface="Roboto" panose="02000000000000000000" pitchFamily="2" charset="0"/>
              </a:rPr>
              <a:t>对数据标准化，再对数据重构（缩放+</a:t>
            </a:r>
            <a:r>
              <a:rPr lang="zh-CN" altLang="en-US" sz="1600" dirty="0">
                <a:effectLst/>
                <a:latin typeface="Roboto" panose="02000000000000000000" pitchFamily="2" charset="0"/>
              </a:rPr>
              <a:t>平移）</a:t>
            </a:r>
            <a:endParaRPr lang="zh-CN" altLang="en-US" sz="1600" b="0" i="0" dirty="0">
              <a:effectLst/>
              <a:latin typeface="Roboto" panose="0200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81819" y="1826580"/>
            <a:ext cx="5973445" cy="3204839"/>
          </a:xfrm>
        </p:spPr>
        <p:txBody>
          <a:bodyPr/>
          <a:lstStyle/>
          <a:p>
            <a:pPr algn="l"/>
            <a:r>
              <a:rPr kumimoji="1" lang="zh-CN" altLang="en-US" sz="1600" dirty="0">
                <a:solidFill>
                  <a:schemeClr val="tx1"/>
                </a:solidFill>
                <a:sym typeface="+mn-ea"/>
              </a:rPr>
              <a:t>神经网络</a:t>
            </a:r>
            <a:endParaRPr kumimoji="1" lang="en-US" altLang="zh-CN" sz="1600" dirty="0">
              <a:solidFill>
                <a:schemeClr val="tx1"/>
              </a:solidFill>
              <a:sym typeface="+mn-ea"/>
            </a:endParaRPr>
          </a:p>
          <a:p>
            <a:pPr algn="l"/>
            <a:r>
              <a:rPr kumimoji="1" lang="zh-CN" altLang="en-US" sz="1600" dirty="0">
                <a:sym typeface="+mn-ea"/>
              </a:rPr>
              <a:t>损失函数</a:t>
            </a:r>
            <a:endParaRPr kumimoji="1" lang="en-US" altLang="zh-CN" sz="1600" dirty="0">
              <a:sym typeface="+mn-ea"/>
            </a:endParaRPr>
          </a:p>
          <a:p>
            <a:pPr algn="l"/>
            <a:r>
              <a:rPr kumimoji="1" lang="zh-CN" altLang="en-US" sz="1600" dirty="0">
                <a:sym typeface="+mn-ea"/>
              </a:rPr>
              <a:t>网络优化方法</a:t>
            </a:r>
            <a:endParaRPr kumimoji="1" lang="en-US" altLang="zh-CN" sz="1600" dirty="0">
              <a:sym typeface="+mn-ea"/>
            </a:endParaRPr>
          </a:p>
          <a:p>
            <a:pPr algn="l"/>
            <a:r>
              <a:rPr kumimoji="1" lang="zh-CN" altLang="en-US" sz="1600" dirty="0">
                <a:sym typeface="+mn-ea"/>
              </a:rPr>
              <a:t>正则化方法</a:t>
            </a:r>
            <a:endParaRPr kumimoji="1" lang="zh-CN" altLang="en-US" sz="1600" dirty="0">
              <a:sym typeface="+mn-ea"/>
            </a:endParaRPr>
          </a:p>
          <a:p>
            <a:pPr algn="l"/>
            <a:r>
              <a:rPr kumimoji="1" lang="zh-CN" altLang="en-US" sz="1600" dirty="0">
                <a:solidFill>
                  <a:srgbClr val="C00000"/>
                </a:solidFill>
                <a:sym typeface="+mn-ea"/>
              </a:rPr>
              <a:t>案例</a:t>
            </a:r>
            <a:r>
              <a:rPr kumimoji="1" lang="en-US" altLang="zh-CN" sz="1600" dirty="0">
                <a:solidFill>
                  <a:srgbClr val="C00000"/>
                </a:solidFill>
                <a:sym typeface="+mn-ea"/>
              </a:rPr>
              <a:t>-</a:t>
            </a:r>
            <a:r>
              <a:rPr kumimoji="1" lang="zh-CN" altLang="en-US" sz="1600" dirty="0">
                <a:solidFill>
                  <a:srgbClr val="C00000"/>
                </a:solidFill>
                <a:sym typeface="+mn-ea"/>
              </a:rPr>
              <a:t>价格分类案例</a:t>
            </a:r>
            <a:endParaRPr kumimoji="1" lang="en-US" altLang="zh-CN" sz="1600" dirty="0">
              <a:solidFill>
                <a:srgbClr val="C00000"/>
              </a:solidFill>
              <a:sym typeface="+mn-ea"/>
            </a:endParaRPr>
          </a:p>
        </p:txBody>
      </p:sp>
      <p:pic>
        <p:nvPicPr>
          <p:cNvPr id="4" name="图片 3" descr="303b32313537333932333bbcfdcdb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531274" y="4425315"/>
            <a:ext cx="410210" cy="41021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801883" y="1575237"/>
            <a:ext cx="6298565" cy="2792576"/>
          </a:xfrm>
        </p:spPr>
        <p:txBody>
          <a:bodyPr/>
          <a:lstStyle/>
          <a:p>
            <a:r>
              <a:rPr lang="zh-CN" altLang="en-US" b="0" i="0" dirty="0">
                <a:solidFill>
                  <a:srgbClr val="333333"/>
                </a:solidFill>
                <a:effectLst/>
                <a:latin typeface="Helvetica Neue"/>
              </a:rPr>
              <a:t>掌握构建分类模型流程</a:t>
            </a:r>
            <a:endParaRPr lang="en-US" altLang="zh-CN" b="0" i="0" dirty="0">
              <a:solidFill>
                <a:srgbClr val="333333"/>
              </a:solidFill>
              <a:effectLst/>
              <a:latin typeface="Helvetica Neue"/>
            </a:endParaRPr>
          </a:p>
          <a:p>
            <a:r>
              <a:rPr lang="zh-CN" altLang="en-US" dirty="0">
                <a:solidFill>
                  <a:srgbClr val="333333"/>
                </a:solidFill>
                <a:latin typeface="Helvetica Neue"/>
              </a:rPr>
              <a:t>动手实践整个过程</a:t>
            </a:r>
            <a:br>
              <a:rPr lang="zh-CN" altLang="en-US" dirty="0"/>
            </a:br>
            <a:endParaRPr lang="zh-CN" altLang="en-US" b="0" i="0" dirty="0">
              <a:solidFill>
                <a:srgbClr val="333333"/>
              </a:solidFill>
              <a:effectLst/>
              <a:latin typeface="Helvetica Neue"/>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需求分析</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小明创办了一家手机公司，他不知道如何估算手机产品的价格。为了解决这个问题，他收集了多家公司的手机销售数据。</a:t>
            </a:r>
            <a:r>
              <a:rPr lang="zh-CN" altLang="en-US" b="0" i="0" dirty="0">
                <a:effectLst/>
                <a:latin typeface="Roboto" panose="02000000000000000000" pitchFamily="2" charset="0"/>
              </a:rPr>
              <a:t>该数据为二手手机的各个性能的数据，最后根据这些性能得到</a:t>
            </a:r>
            <a:r>
              <a:rPr lang="en-US" altLang="zh-CN" b="0" i="0" dirty="0">
                <a:effectLst/>
                <a:latin typeface="Roboto" panose="02000000000000000000" pitchFamily="2" charset="0"/>
              </a:rPr>
              <a:t>4</a:t>
            </a:r>
            <a:r>
              <a:rPr lang="zh-CN" altLang="en-US" b="0" i="0" dirty="0">
                <a:effectLst/>
                <a:latin typeface="Roboto" panose="02000000000000000000" pitchFamily="2" charset="0"/>
              </a:rPr>
              <a:t>个价格区间，作为这些二手手机售出的价格区间。主要包括：</a:t>
            </a:r>
            <a:endParaRPr lang="zh-CN" altLang="en-US"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pic>
        <p:nvPicPr>
          <p:cNvPr id="4" name="图片 3"/>
          <p:cNvPicPr>
            <a:picLocks noChangeAspect="1"/>
          </p:cNvPicPr>
          <p:nvPr/>
        </p:nvPicPr>
        <p:blipFill>
          <a:blip r:embed="rId1"/>
          <a:stretch>
            <a:fillRect/>
          </a:stretch>
        </p:blipFill>
        <p:spPr>
          <a:xfrm>
            <a:off x="3578225" y="2311554"/>
            <a:ext cx="5035550" cy="4546446"/>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需求分析</a:t>
            </a:r>
            <a:endParaRPr lang="en-US" altLang="zh-CN"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我们需要帮助小明找出手机的功能（例如：</a:t>
            </a:r>
            <a:r>
              <a:rPr lang="en-US" altLang="zh-CN" b="0" i="0" dirty="0">
                <a:solidFill>
                  <a:srgbClr val="333333"/>
                </a:solidFill>
                <a:effectLst/>
                <a:latin typeface="Alibaba PuHuiTi" pitchFamily="18" charset="-122"/>
                <a:ea typeface="Alibaba PuHuiTi" pitchFamily="18" charset="-122"/>
                <a:cs typeface="Alibaba PuHuiTi" pitchFamily="18" charset="-122"/>
              </a:rPr>
              <a:t>RAM</a:t>
            </a:r>
            <a:r>
              <a:rPr lang="zh-CN" altLang="en-US" b="0" i="0" dirty="0">
                <a:solidFill>
                  <a:srgbClr val="333333"/>
                </a:solidFill>
                <a:effectLst/>
                <a:latin typeface="Alibaba PuHuiTi" pitchFamily="18" charset="-122"/>
                <a:ea typeface="Alibaba PuHuiTi" pitchFamily="18" charset="-122"/>
                <a:cs typeface="Alibaba PuHuiTi" pitchFamily="18" charset="-122"/>
              </a:rPr>
              <a:t>等）与其售价之间的某种关系。我们可以使用机器学习的方法来解决这个问题，也可以构建一个全连接的网络。</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需要注意的是</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在这个问题中，我们</a:t>
            </a:r>
            <a:r>
              <a:rPr lang="zh-CN" altLang="en-US" b="1" i="0" dirty="0">
                <a:solidFill>
                  <a:srgbClr val="333333"/>
                </a:solidFill>
                <a:effectLst/>
                <a:latin typeface="Alibaba PuHuiTi" pitchFamily="18" charset="-122"/>
                <a:ea typeface="Alibaba PuHuiTi" pitchFamily="18" charset="-122"/>
                <a:cs typeface="Alibaba PuHuiTi" pitchFamily="18" charset="-122"/>
              </a:rPr>
              <a:t>不需要预测实际价格</a:t>
            </a:r>
            <a:r>
              <a:rPr lang="zh-CN" altLang="en-US" b="0" i="0" dirty="0">
                <a:solidFill>
                  <a:srgbClr val="333333"/>
                </a:solidFill>
                <a:effectLst/>
                <a:latin typeface="Alibaba PuHuiTi" pitchFamily="18" charset="-122"/>
                <a:ea typeface="Alibaba PuHuiTi" pitchFamily="18" charset="-122"/>
                <a:cs typeface="Alibaba PuHuiTi" pitchFamily="18" charset="-122"/>
              </a:rPr>
              <a:t>，而是</a:t>
            </a:r>
            <a:r>
              <a:rPr lang="zh-CN" altLang="en-US" b="1" i="0" dirty="0">
                <a:solidFill>
                  <a:srgbClr val="333333"/>
                </a:solidFill>
                <a:effectLst/>
                <a:latin typeface="Alibaba PuHuiTi" pitchFamily="18" charset="-122"/>
                <a:ea typeface="Alibaba PuHuiTi" pitchFamily="18" charset="-122"/>
                <a:cs typeface="Alibaba PuHuiTi" pitchFamily="18" charset="-122"/>
              </a:rPr>
              <a:t>一个价格范围</a:t>
            </a:r>
            <a:r>
              <a:rPr lang="zh-CN" altLang="en-US" b="0" i="0" dirty="0">
                <a:solidFill>
                  <a:srgbClr val="333333"/>
                </a:solidFill>
                <a:effectLst/>
                <a:latin typeface="Alibaba PuHuiTi" pitchFamily="18" charset="-122"/>
                <a:ea typeface="Alibaba PuHuiTi" pitchFamily="18" charset="-122"/>
                <a:cs typeface="Alibaba PuHuiTi" pitchFamily="18" charset="-122"/>
              </a:rPr>
              <a:t>，它的范围</a:t>
            </a:r>
            <a:r>
              <a:rPr lang="zh-CN" altLang="en-US" b="1" i="0" dirty="0">
                <a:solidFill>
                  <a:srgbClr val="333333"/>
                </a:solidFill>
                <a:effectLst/>
                <a:latin typeface="Alibaba PuHuiTi" pitchFamily="18" charset="-122"/>
                <a:ea typeface="Alibaba PuHuiTi" pitchFamily="18" charset="-122"/>
                <a:cs typeface="Alibaba PuHuiTi" pitchFamily="18" charset="-122"/>
              </a:rPr>
              <a:t>使用 </a:t>
            </a:r>
            <a:r>
              <a:rPr lang="en-US" altLang="zh-CN" b="1" i="0" dirty="0">
                <a:solidFill>
                  <a:srgbClr val="333333"/>
                </a:solidFill>
                <a:effectLst/>
                <a:latin typeface="Alibaba PuHuiTi" pitchFamily="18" charset="-122"/>
                <a:ea typeface="Alibaba PuHuiTi" pitchFamily="18" charset="-122"/>
                <a:cs typeface="Alibaba PuHuiTi" pitchFamily="18" charset="-122"/>
              </a:rPr>
              <a:t>0</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1</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2</a:t>
            </a:r>
            <a:r>
              <a:rPr lang="zh-CN" altLang="en-US" b="1" i="0" dirty="0">
                <a:solidFill>
                  <a:srgbClr val="333333"/>
                </a:solidFill>
                <a:effectLst/>
                <a:latin typeface="Alibaba PuHuiTi" pitchFamily="18" charset="-122"/>
                <a:ea typeface="Alibaba PuHuiTi" pitchFamily="18" charset="-122"/>
                <a:cs typeface="Alibaba PuHuiTi" pitchFamily="18" charset="-122"/>
              </a:rPr>
              <a:t>、</a:t>
            </a:r>
            <a:r>
              <a:rPr lang="en-US" altLang="zh-CN" b="1" i="0" dirty="0">
                <a:solidFill>
                  <a:srgbClr val="333333"/>
                </a:solidFill>
                <a:effectLst/>
                <a:latin typeface="Alibaba PuHuiTi" pitchFamily="18" charset="-122"/>
                <a:ea typeface="Alibaba PuHuiTi" pitchFamily="18" charset="-122"/>
                <a:cs typeface="Alibaba PuHuiTi" pitchFamily="18" charset="-122"/>
              </a:rPr>
              <a:t>3 </a:t>
            </a:r>
            <a:r>
              <a:rPr lang="zh-CN" altLang="en-US" b="1" i="0" dirty="0">
                <a:solidFill>
                  <a:srgbClr val="333333"/>
                </a:solidFill>
                <a:effectLst/>
                <a:latin typeface="Alibaba PuHuiTi" pitchFamily="18" charset="-122"/>
                <a:ea typeface="Alibaba PuHuiTi" pitchFamily="18" charset="-122"/>
                <a:cs typeface="Alibaba PuHuiTi" pitchFamily="18" charset="-122"/>
              </a:rPr>
              <a:t>来表示</a:t>
            </a:r>
            <a:r>
              <a:rPr lang="zh-CN" altLang="en-US" b="0" i="0" dirty="0">
                <a:solidFill>
                  <a:srgbClr val="333333"/>
                </a:solidFill>
                <a:effectLst/>
                <a:latin typeface="Alibaba PuHuiTi" pitchFamily="18" charset="-122"/>
                <a:ea typeface="Alibaba PuHuiTi" pitchFamily="18" charset="-122"/>
                <a:cs typeface="Alibaba PuHuiTi" pitchFamily="18" charset="-122"/>
              </a:rPr>
              <a:t>，所以该问题也是一个</a:t>
            </a:r>
            <a:r>
              <a:rPr lang="zh-CN" altLang="en-US" b="1" i="0" dirty="0">
                <a:solidFill>
                  <a:srgbClr val="333333"/>
                </a:solidFill>
                <a:effectLst/>
                <a:latin typeface="Alibaba PuHuiTi" pitchFamily="18" charset="-122"/>
                <a:ea typeface="Alibaba PuHuiTi" pitchFamily="18" charset="-122"/>
                <a:cs typeface="Alibaba PuHuiTi" pitchFamily="18" charset="-122"/>
              </a:rPr>
              <a:t>分类问题</a:t>
            </a:r>
            <a:r>
              <a:rPr lang="zh-CN" altLang="en-US" b="0" i="0" dirty="0">
                <a:solidFill>
                  <a:srgbClr val="333333"/>
                </a:solidFill>
                <a:effectLst/>
                <a:latin typeface="Alibaba PuHuiTi" pitchFamily="18" charset="-122"/>
                <a:ea typeface="Alibaba PuHuiTi" pitchFamily="18" charset="-122"/>
                <a:cs typeface="Alibaba PuHuiTi" pitchFamily="18" charset="-122"/>
              </a:rPr>
              <a:t>。</a:t>
            </a:r>
            <a:r>
              <a:rPr lang="zh-CN" altLang="en-US" b="0" i="0" dirty="0">
                <a:effectLst/>
                <a:latin typeface="Alibaba PuHuiTi" pitchFamily="18" charset="-122"/>
                <a:ea typeface="Alibaba PuHuiTi" pitchFamily="18" charset="-122"/>
                <a:cs typeface="Alibaba PuHuiTi" pitchFamily="18" charset="-122"/>
              </a:rPr>
              <a:t>接下来我们还是按照四个步骤来完成这个任务：</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准备训练集数据</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构建要使用的模型</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模型训练</a:t>
            </a:r>
            <a:endParaRPr lang="zh-CN" altLang="en-US" b="0" i="0" dirty="0">
              <a:effectLst/>
              <a:latin typeface="Alibaba PuHuiTi" pitchFamily="18" charset="-122"/>
              <a:ea typeface="Alibaba PuHuiTi" pitchFamily="18" charset="-122"/>
              <a:cs typeface="Alibaba PuHuiTi" pitchFamily="18" charset="-122"/>
            </a:endParaRPr>
          </a:p>
          <a:p>
            <a:pPr marL="285750" indent="-285750" algn="l">
              <a:buFont typeface="Wingdings" panose="05000000000000000000" pitchFamily="2" charset="2"/>
              <a:buChar char="l"/>
            </a:pPr>
            <a:r>
              <a:rPr lang="zh-CN" altLang="en-US" b="0" i="0" dirty="0">
                <a:effectLst/>
                <a:latin typeface="Alibaba PuHuiTi" pitchFamily="18" charset="-122"/>
                <a:ea typeface="Alibaba PuHuiTi" pitchFamily="18" charset="-122"/>
                <a:cs typeface="Alibaba PuHuiTi" pitchFamily="18" charset="-122"/>
              </a:rPr>
              <a:t>模型预测评估</a:t>
            </a:r>
            <a:endParaRPr lang="zh-CN" altLang="en-US" b="0" i="0" dirty="0">
              <a:effectLst/>
              <a:latin typeface="Alibaba PuHuiTi" pitchFamily="18" charset="-122"/>
              <a:ea typeface="Alibaba PuHuiTi" pitchFamily="18" charset="-122"/>
              <a:cs typeface="Alibaba PuHuiTi" pitchFamily="18" charset="-122"/>
            </a:endParaRPr>
          </a:p>
          <a:p>
            <a:pPr algn="l"/>
            <a:endParaRPr lang="zh-CN" altLang="en-US"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导入所需的工具包</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1229200" y="1866585"/>
            <a:ext cx="5600268" cy="404271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400" dirty="0">
                <a:solidFill>
                  <a:srgbClr val="00B050"/>
                </a:solidFill>
                <a:latin typeface="Alibaba PuHuiTi" pitchFamily="18" charset="-122"/>
                <a:ea typeface="Alibaba PuHuiTi" pitchFamily="18" charset="-122"/>
                <a:cs typeface="Alibaba PuHuiTi" pitchFamily="18" charset="-122"/>
              </a:rPr>
              <a:t># </a:t>
            </a:r>
            <a:r>
              <a:rPr lang="zh-CN" altLang="en-US" sz="1400" dirty="0">
                <a:solidFill>
                  <a:srgbClr val="00B050"/>
                </a:solidFill>
                <a:latin typeface="Alibaba PuHuiTi" pitchFamily="18" charset="-122"/>
                <a:ea typeface="Alibaba PuHuiTi" pitchFamily="18" charset="-122"/>
                <a:cs typeface="Alibaba PuHuiTi" pitchFamily="18" charset="-122"/>
              </a:rPr>
              <a:t>导入相关模块</a:t>
            </a:r>
            <a:endParaRPr lang="en-US" altLang="zh-CN" sz="1400" dirty="0">
              <a:solidFill>
                <a:srgbClr val="00B050"/>
              </a:solidFill>
              <a:latin typeface="Alibaba PuHuiTi" pitchFamily="18" charset="-122"/>
              <a:ea typeface="Alibaba PuHuiTi" pitchFamily="18" charset="-122"/>
              <a:cs typeface="Alibaba PuHuiTi" pitchFamily="18" charset="-122"/>
            </a:endParaRPr>
          </a:p>
          <a:p>
            <a:pPr>
              <a:lnSpc>
                <a:spcPct val="150000"/>
              </a:lnSpc>
              <a:spcBef>
                <a:spcPts val="360"/>
              </a:spcBef>
              <a:spcAft>
                <a:spcPts val="360"/>
              </a:spcAft>
            </a:pP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torch</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torch.utils.data</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TensorDataset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torch.utils.data</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DataLoader</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torch.nn</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nn</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torch.optim</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optim</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sklearn.datasets</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make_regression</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from </a:t>
            </a:r>
            <a:r>
              <a:rPr lang="en-GB" altLang="zh-CN" sz="1400" dirty="0" err="1">
                <a:latin typeface="Alibaba PuHuiTi" pitchFamily="18" charset="-122"/>
                <a:ea typeface="Alibaba PuHuiTi" pitchFamily="18" charset="-122"/>
                <a:cs typeface="Alibaba PuHuiTi" pitchFamily="18" charset="-122"/>
              </a:rPr>
              <a:t>sklearn.model_selection</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train_test_split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matplotlib.pyplot</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err="1">
                <a:latin typeface="Alibaba PuHuiTi" pitchFamily="18" charset="-122"/>
                <a:ea typeface="Alibaba PuHuiTi" pitchFamily="18" charset="-122"/>
                <a:cs typeface="Alibaba PuHuiTi" pitchFamily="18" charset="-122"/>
              </a:rPr>
              <a:t>plt</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err="1">
                <a:latin typeface="Alibaba PuHuiTi" pitchFamily="18" charset="-122"/>
                <a:ea typeface="Alibaba PuHuiTi" pitchFamily="18" charset="-122"/>
                <a:cs typeface="Alibaba PuHuiTi" pitchFamily="18" charset="-122"/>
              </a:rPr>
              <a:t>numpy</a:t>
            </a:r>
            <a:r>
              <a:rPr lang="en-GB" altLang="zh-CN" sz="1400" dirty="0">
                <a:latin typeface="Alibaba PuHuiTi" pitchFamily="18" charset="-122"/>
                <a:ea typeface="Alibaba PuHuiTi" pitchFamily="18" charset="-122"/>
                <a:cs typeface="Alibaba PuHuiTi" pitchFamily="18" charset="-122"/>
              </a:rPr>
              <a:t>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a:latin typeface="Alibaba PuHuiTi" pitchFamily="18" charset="-122"/>
                <a:ea typeface="Alibaba PuHuiTi" pitchFamily="18" charset="-122"/>
                <a:cs typeface="Alibaba PuHuiTi" pitchFamily="18" charset="-122"/>
              </a:rPr>
              <a:t>np</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pandas </a:t>
            </a:r>
            <a:r>
              <a:rPr lang="en-GB" altLang="zh-CN" sz="1400" b="1" dirty="0">
                <a:solidFill>
                  <a:srgbClr val="000080"/>
                </a:solidFill>
                <a:effectLst/>
                <a:latin typeface="Alibaba PuHuiTi" pitchFamily="18" charset="-122"/>
                <a:ea typeface="Alibaba PuHuiTi" pitchFamily="18" charset="-122"/>
                <a:cs typeface="Alibaba PuHuiTi" pitchFamily="18" charset="-122"/>
              </a:rPr>
              <a:t>as </a:t>
            </a:r>
            <a:r>
              <a:rPr lang="en-GB" altLang="zh-CN" sz="1400" dirty="0">
                <a:latin typeface="Alibaba PuHuiTi" pitchFamily="18" charset="-122"/>
                <a:ea typeface="Alibaba PuHuiTi" pitchFamily="18" charset="-122"/>
                <a:cs typeface="Alibaba PuHuiTi" pitchFamily="18" charset="-122"/>
              </a:rPr>
              <a:t>pd</a:t>
            </a:r>
            <a:br>
              <a:rPr lang="en-GB" altLang="zh-CN" sz="1400" dirty="0">
                <a:latin typeface="Alibaba PuHuiTi" pitchFamily="18" charset="-122"/>
                <a:ea typeface="Alibaba PuHuiTi" pitchFamily="18" charset="-122"/>
                <a:cs typeface="Alibaba PuHuiTi" pitchFamily="18" charset="-122"/>
              </a:rPr>
            </a:br>
            <a:r>
              <a:rPr lang="en-GB" altLang="zh-CN" sz="1400" b="1" dirty="0">
                <a:solidFill>
                  <a:srgbClr val="000080"/>
                </a:solidFill>
                <a:effectLst/>
                <a:latin typeface="Alibaba PuHuiTi" pitchFamily="18" charset="-122"/>
                <a:ea typeface="Alibaba PuHuiTi" pitchFamily="18" charset="-122"/>
                <a:cs typeface="Alibaba PuHuiTi" pitchFamily="18" charset="-122"/>
              </a:rPr>
              <a:t>import </a:t>
            </a:r>
            <a:r>
              <a:rPr lang="en-GB" altLang="zh-CN" sz="1400" dirty="0">
                <a:latin typeface="Alibaba PuHuiTi" pitchFamily="18" charset="-122"/>
                <a:ea typeface="Alibaba PuHuiTi" pitchFamily="18" charset="-122"/>
                <a:cs typeface="Alibaba PuHuiTi" pitchFamily="18" charset="-122"/>
              </a:rPr>
              <a:t>time</a:t>
            </a:r>
            <a:endParaRPr lang="en-US" altLang="zh-CN" sz="1400" b="1" dirty="0">
              <a:solidFill>
                <a:srgbClr val="0000FF"/>
              </a:solidFill>
              <a:latin typeface="Alibaba PuHuiTi" pitchFamily="18" charset="-122"/>
              <a:ea typeface="Alibaba PuHuiTi" pitchFamily="18" charset="-122"/>
              <a:cs typeface="Alibaba PuHuiTi" pitchFamily="18"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构建数据集</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10880" y="1457271"/>
            <a:ext cx="10698800" cy="5400729"/>
          </a:xfrm>
        </p:spPr>
        <p:txBody>
          <a:bodyPr/>
          <a:lstStyle/>
          <a:p>
            <a:pPr algn="l"/>
            <a:r>
              <a:rPr lang="zh-CN" altLang="en-US" b="0" i="0" dirty="0">
                <a:solidFill>
                  <a:srgbClr val="333333"/>
                </a:solidFill>
                <a:effectLst/>
                <a:latin typeface="Alibaba PuHuiTi" pitchFamily="18" charset="-122"/>
                <a:ea typeface="Alibaba PuHuiTi" pitchFamily="18" charset="-122"/>
                <a:cs typeface="Alibaba PuHuiTi" pitchFamily="18" charset="-122"/>
              </a:rPr>
              <a:t>数据共有 </a:t>
            </a:r>
            <a:r>
              <a:rPr lang="en-US" altLang="zh-CN" b="0" i="0" dirty="0">
                <a:solidFill>
                  <a:srgbClr val="333333"/>
                </a:solidFill>
                <a:effectLst/>
                <a:latin typeface="Alibaba PuHuiTi" pitchFamily="18" charset="-122"/>
                <a:ea typeface="Alibaba PuHuiTi" pitchFamily="18" charset="-122"/>
                <a:cs typeface="Alibaba PuHuiTi" pitchFamily="18" charset="-122"/>
              </a:rPr>
              <a:t>2000 </a:t>
            </a:r>
            <a:r>
              <a:rPr lang="zh-CN" altLang="en-US" b="0" i="0" dirty="0">
                <a:solidFill>
                  <a:srgbClr val="333333"/>
                </a:solidFill>
                <a:effectLst/>
                <a:latin typeface="Alibaba PuHuiTi" pitchFamily="18" charset="-122"/>
                <a:ea typeface="Alibaba PuHuiTi" pitchFamily="18" charset="-122"/>
                <a:cs typeface="Alibaba PuHuiTi" pitchFamily="18" charset="-122"/>
              </a:rPr>
              <a:t>条</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其中 </a:t>
            </a:r>
            <a:r>
              <a:rPr lang="en-US" altLang="zh-CN" b="0" i="0" dirty="0">
                <a:solidFill>
                  <a:srgbClr val="333333"/>
                </a:solidFill>
                <a:effectLst/>
                <a:latin typeface="Alibaba PuHuiTi" pitchFamily="18" charset="-122"/>
                <a:ea typeface="Alibaba PuHuiTi" pitchFamily="18" charset="-122"/>
                <a:cs typeface="Alibaba PuHuiTi" pitchFamily="18" charset="-122"/>
              </a:rPr>
              <a:t>1600 </a:t>
            </a:r>
            <a:r>
              <a:rPr lang="zh-CN" altLang="en-US" b="0" i="0" dirty="0">
                <a:solidFill>
                  <a:srgbClr val="333333"/>
                </a:solidFill>
                <a:effectLst/>
                <a:latin typeface="Alibaba PuHuiTi" pitchFamily="18" charset="-122"/>
                <a:ea typeface="Alibaba PuHuiTi" pitchFamily="18" charset="-122"/>
                <a:cs typeface="Alibaba PuHuiTi" pitchFamily="18" charset="-122"/>
              </a:rPr>
              <a:t>条数据作为训练集</a:t>
            </a:r>
            <a:r>
              <a:rPr lang="en-US" altLang="zh-CN" b="0" i="0" dirty="0">
                <a:solidFill>
                  <a:srgbClr val="333333"/>
                </a:solidFill>
                <a:effectLst/>
                <a:latin typeface="Alibaba PuHuiTi" pitchFamily="18" charset="-122"/>
                <a:ea typeface="Alibaba PuHuiTi" pitchFamily="18" charset="-122"/>
                <a:cs typeface="Alibaba PuHuiTi" pitchFamily="18" charset="-122"/>
              </a:rPr>
              <a:t>, 400 </a:t>
            </a:r>
            <a:r>
              <a:rPr lang="zh-CN" altLang="en-US" b="0" i="0" dirty="0">
                <a:solidFill>
                  <a:srgbClr val="333333"/>
                </a:solidFill>
                <a:effectLst/>
                <a:latin typeface="Alibaba PuHuiTi" pitchFamily="18" charset="-122"/>
                <a:ea typeface="Alibaba PuHuiTi" pitchFamily="18" charset="-122"/>
                <a:cs typeface="Alibaba PuHuiTi" pitchFamily="18" charset="-122"/>
              </a:rPr>
              <a:t>条数据用作测试集。 我们使用 </a:t>
            </a:r>
            <a:r>
              <a:rPr lang="en-US" altLang="zh-CN" b="0" i="0" dirty="0" err="1">
                <a:solidFill>
                  <a:srgbClr val="333333"/>
                </a:solidFill>
                <a:effectLst/>
                <a:latin typeface="Alibaba PuHuiTi" pitchFamily="18" charset="-122"/>
                <a:ea typeface="Alibaba PuHuiTi" pitchFamily="18" charset="-122"/>
                <a:cs typeface="Alibaba PuHuiTi" pitchFamily="18" charset="-122"/>
              </a:rPr>
              <a:t>sklearn</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的数据集划分工作来完成。并使用 </a:t>
            </a:r>
            <a:r>
              <a:rPr lang="en-US" altLang="zh-CN" b="0" i="0" dirty="0" err="1">
                <a:solidFill>
                  <a:srgbClr val="333333"/>
                </a:solidFill>
                <a:effectLst/>
                <a:latin typeface="Alibaba PuHuiTi" pitchFamily="18" charset="-122"/>
                <a:ea typeface="Alibaba PuHuiTi" pitchFamily="18" charset="-122"/>
                <a:cs typeface="Alibaba PuHuiTi" pitchFamily="18" charset="-122"/>
              </a:rPr>
              <a:t>PyTorch</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的 </a:t>
            </a:r>
            <a:r>
              <a:rPr lang="en-US" altLang="zh-CN" b="0" i="0" dirty="0" err="1">
                <a:solidFill>
                  <a:srgbClr val="333333"/>
                </a:solidFill>
                <a:effectLst/>
                <a:latin typeface="Alibaba PuHuiTi" pitchFamily="18" charset="-122"/>
                <a:ea typeface="Alibaba PuHuiTi" pitchFamily="18" charset="-122"/>
                <a:cs typeface="Alibaba PuHuiTi" pitchFamily="18" charset="-122"/>
              </a:rPr>
              <a:t>TensorDataset</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来将数据集构建为 </a:t>
            </a:r>
            <a:r>
              <a:rPr lang="en-US" altLang="zh-CN" b="0" i="0" dirty="0">
                <a:solidFill>
                  <a:srgbClr val="333333"/>
                </a:solidFill>
                <a:effectLst/>
                <a:latin typeface="Alibaba PuHuiTi" pitchFamily="18" charset="-122"/>
                <a:ea typeface="Alibaba PuHuiTi" pitchFamily="18" charset="-122"/>
                <a:cs typeface="Alibaba PuHuiTi" pitchFamily="18" charset="-122"/>
              </a:rPr>
              <a:t>Dataset </a:t>
            </a:r>
            <a:r>
              <a:rPr lang="zh-CN" altLang="en-US" b="0" i="0" dirty="0">
                <a:solidFill>
                  <a:srgbClr val="333333"/>
                </a:solidFill>
                <a:effectLst/>
                <a:latin typeface="Alibaba PuHuiTi" pitchFamily="18" charset="-122"/>
                <a:ea typeface="Alibaba PuHuiTi" pitchFamily="18" charset="-122"/>
                <a:cs typeface="Alibaba PuHuiTi" pitchFamily="18" charset="-122"/>
              </a:rPr>
              <a:t>对象，方便构造数据集加载对象。</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2529864" y="2376476"/>
            <a:ext cx="7132271" cy="3539430"/>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构建数据集</a:t>
            </a:r>
            <a:br>
              <a:rPr lang="zh-CN" altLang="en-US" sz="1400" i="1" dirty="0">
                <a:solidFill>
                  <a:srgbClr val="808080"/>
                </a:solidFill>
                <a:effectLst/>
              </a:rPr>
            </a:br>
            <a:r>
              <a:rPr lang="en-GB" altLang="zh-CN" sz="1400" b="1" dirty="0">
                <a:solidFill>
                  <a:srgbClr val="000080"/>
                </a:solidFill>
                <a:effectLst/>
              </a:rPr>
              <a:t>def </a:t>
            </a:r>
            <a:r>
              <a:rPr lang="en-GB" altLang="zh-CN" sz="1400" dirty="0" err="1"/>
              <a:t>create_dataset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使用</a:t>
            </a:r>
            <a:r>
              <a:rPr lang="en-GB" altLang="zh-CN" sz="1400" i="1" dirty="0">
                <a:solidFill>
                  <a:srgbClr val="008001"/>
                </a:solidFill>
                <a:effectLst/>
              </a:rPr>
              <a:t>pandas</a:t>
            </a:r>
            <a:r>
              <a:rPr lang="zh-CN" altLang="en-US" sz="1400" i="1" dirty="0">
                <a:solidFill>
                  <a:srgbClr val="008001"/>
                </a:solidFill>
                <a:effectLst/>
              </a:rPr>
              <a:t>读取数据</a:t>
            </a:r>
            <a:br>
              <a:rPr lang="zh-CN" altLang="en-US" sz="1400" i="1" dirty="0">
                <a:solidFill>
                  <a:srgbClr val="808080"/>
                </a:solidFill>
                <a:effectLst/>
              </a:rPr>
            </a:br>
            <a:r>
              <a:rPr lang="zh-CN" altLang="en-US" sz="1400" i="1" dirty="0">
                <a:solidFill>
                  <a:srgbClr val="808080"/>
                </a:solidFill>
                <a:effectLst/>
              </a:rPr>
              <a:t>    </a:t>
            </a:r>
            <a:r>
              <a:rPr lang="en-GB" altLang="zh-CN" sz="1400" dirty="0"/>
              <a:t>data = </a:t>
            </a:r>
            <a:r>
              <a:rPr lang="en-GB" altLang="zh-CN" sz="1400" dirty="0" err="1"/>
              <a:t>pd.read_csv</a:t>
            </a:r>
            <a:r>
              <a:rPr lang="en-GB" altLang="zh-CN" sz="1400" dirty="0"/>
              <a:t>(</a:t>
            </a:r>
            <a:r>
              <a:rPr lang="en-GB" altLang="zh-CN" sz="1400" b="1" dirty="0">
                <a:solidFill>
                  <a:srgbClr val="008000"/>
                </a:solidFill>
                <a:effectLst/>
              </a:rPr>
              <a:t>'data/</a:t>
            </a:r>
            <a:r>
              <a:rPr lang="zh-CN" altLang="en-US" sz="1400" b="1" dirty="0">
                <a:solidFill>
                  <a:srgbClr val="008000"/>
                </a:solidFill>
                <a:effectLst/>
              </a:rPr>
              <a:t>手机价格预测</a:t>
            </a:r>
            <a:r>
              <a:rPr lang="en-US" altLang="zh-CN" sz="1400" b="1" dirty="0">
                <a:solidFill>
                  <a:srgbClr val="008000"/>
                </a:solidFill>
                <a:effectLst/>
              </a:rPr>
              <a:t>.</a:t>
            </a:r>
            <a:r>
              <a:rPr lang="en-GB" altLang="zh-CN" sz="1400" b="1" dirty="0">
                <a:solidFill>
                  <a:srgbClr val="008000"/>
                </a:solidFill>
                <a:effectLst/>
              </a:rPr>
              <a:t>csv'</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特征值和目标值</a:t>
            </a:r>
            <a:br>
              <a:rPr lang="zh-CN" altLang="en-US" sz="1400" i="1" dirty="0">
                <a:solidFill>
                  <a:srgbClr val="808080"/>
                </a:solidFill>
                <a:effectLst/>
              </a:rPr>
            </a:br>
            <a:r>
              <a:rPr lang="zh-CN" altLang="en-US" sz="1400" i="1" dirty="0">
                <a:solidFill>
                  <a:srgbClr val="808080"/>
                </a:solidFill>
                <a:effectLst/>
              </a:rPr>
              <a:t>    </a:t>
            </a:r>
            <a:r>
              <a:rPr lang="en-GB" altLang="zh-CN" sz="1400" dirty="0"/>
              <a:t>x, y = </a:t>
            </a:r>
            <a:r>
              <a:rPr lang="en-GB" altLang="zh-CN" sz="1400" dirty="0" err="1"/>
              <a:t>data.iloc</a:t>
            </a:r>
            <a:r>
              <a:rPr lang="en-GB" altLang="zh-CN" sz="1400" dirty="0"/>
              <a:t>[:, :-</a:t>
            </a:r>
            <a:r>
              <a:rPr lang="en-GB" altLang="zh-CN" sz="1400" dirty="0">
                <a:solidFill>
                  <a:srgbClr val="0000FF"/>
                </a:solidFill>
                <a:effectLst/>
              </a:rPr>
              <a:t>1</a:t>
            </a:r>
            <a:r>
              <a:rPr lang="en-GB" altLang="zh-CN" sz="1400" dirty="0"/>
              <a:t>], </a:t>
            </a:r>
            <a:r>
              <a:rPr lang="en-GB" altLang="zh-CN" sz="1400" dirty="0" err="1"/>
              <a:t>data.iloc</a:t>
            </a:r>
            <a:r>
              <a:rPr lang="en-GB" altLang="zh-CN" sz="1400" dirty="0"/>
              <a:t>[:, -</a:t>
            </a:r>
            <a:r>
              <a:rPr lang="en-GB" altLang="zh-CN" sz="1400" dirty="0">
                <a:solidFill>
                  <a:srgbClr val="0000FF"/>
                </a:solidFill>
                <a:effectLst/>
              </a:rPr>
              <a:t>1</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类型转换：特征值，目标值</a:t>
            </a:r>
            <a:br>
              <a:rPr lang="zh-CN" altLang="en-US" sz="1400" i="1" dirty="0">
                <a:solidFill>
                  <a:srgbClr val="808080"/>
                </a:solidFill>
                <a:effectLst/>
              </a:rPr>
            </a:br>
            <a:r>
              <a:rPr lang="zh-CN" altLang="en-US" sz="1400" i="1" dirty="0">
                <a:solidFill>
                  <a:srgbClr val="808080"/>
                </a:solidFill>
                <a:effectLst/>
              </a:rPr>
              <a:t>    </a:t>
            </a:r>
            <a:r>
              <a:rPr lang="en-GB" altLang="zh-CN" sz="1400" dirty="0"/>
              <a:t>x = </a:t>
            </a:r>
            <a:r>
              <a:rPr lang="en-GB" altLang="zh-CN" sz="1400" dirty="0" err="1"/>
              <a:t>x.astype</a:t>
            </a:r>
            <a:r>
              <a:rPr lang="en-GB" altLang="zh-CN" sz="1400" dirty="0"/>
              <a:t>(np.float32)</a:t>
            </a:r>
            <a:br>
              <a:rPr lang="en-GB" altLang="zh-CN" sz="1400" dirty="0"/>
            </a:br>
            <a:r>
              <a:rPr lang="en-GB" altLang="zh-CN" sz="1400" dirty="0"/>
              <a:t>    y = </a:t>
            </a:r>
            <a:r>
              <a:rPr lang="en-GB" altLang="zh-CN" sz="1400" dirty="0" err="1"/>
              <a:t>y.astype</a:t>
            </a:r>
            <a:r>
              <a:rPr lang="en-GB" altLang="zh-CN" sz="1400" dirty="0"/>
              <a:t>(np.int64)</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数据集划分</a:t>
            </a:r>
            <a:br>
              <a:rPr lang="zh-CN" altLang="en-US" sz="1400" i="1" dirty="0">
                <a:solidFill>
                  <a:srgbClr val="808080"/>
                </a:solidFill>
                <a:effectLst/>
              </a:rPr>
            </a:br>
            <a:r>
              <a:rPr lang="zh-CN" altLang="en-US" sz="1400" i="1" dirty="0">
                <a:solidFill>
                  <a:srgbClr val="808080"/>
                </a:solidFill>
                <a:effectLst/>
              </a:rPr>
              <a:t>    </a:t>
            </a:r>
            <a:r>
              <a:rPr lang="en-GB" altLang="zh-CN" sz="1400" dirty="0" err="1"/>
              <a:t>x_train</a:t>
            </a:r>
            <a:r>
              <a:rPr lang="en-GB" altLang="zh-CN" sz="1400" dirty="0"/>
              <a:t>, </a:t>
            </a:r>
            <a:r>
              <a:rPr lang="en-GB" altLang="zh-CN" sz="1400" dirty="0" err="1"/>
              <a:t>x_valid</a:t>
            </a:r>
            <a:r>
              <a:rPr lang="en-GB" altLang="zh-CN" sz="1400" dirty="0"/>
              <a:t>, </a:t>
            </a:r>
            <a:r>
              <a:rPr lang="en-GB" altLang="zh-CN" sz="1400" dirty="0" err="1"/>
              <a:t>y_train</a:t>
            </a:r>
            <a:r>
              <a:rPr lang="en-GB" altLang="zh-CN" sz="1400" dirty="0"/>
              <a:t>, </a:t>
            </a:r>
            <a:r>
              <a:rPr lang="en-GB" altLang="zh-CN" sz="1400" dirty="0" err="1"/>
              <a:t>y_valid</a:t>
            </a:r>
            <a:r>
              <a:rPr lang="en-GB" altLang="zh-CN" sz="1400" dirty="0"/>
              <a:t> = </a:t>
            </a:r>
            <a:r>
              <a:rPr lang="en-GB" altLang="zh-CN" sz="1400" dirty="0" err="1"/>
              <a:t>train_test_split</a:t>
            </a:r>
            <a:r>
              <a:rPr lang="en-GB" altLang="zh-CN" sz="1400" dirty="0"/>
              <a:t>(x, y, </a:t>
            </a:r>
            <a:r>
              <a:rPr lang="en-GB" altLang="zh-CN" sz="1400" dirty="0" err="1">
                <a:solidFill>
                  <a:srgbClr val="660099"/>
                </a:solidFill>
                <a:effectLst/>
              </a:rPr>
              <a:t>train_size</a:t>
            </a:r>
            <a:r>
              <a:rPr lang="en-GB" altLang="zh-CN" sz="1400" dirty="0"/>
              <a:t>=</a:t>
            </a:r>
            <a:r>
              <a:rPr lang="en-GB" altLang="zh-CN" sz="1400" dirty="0">
                <a:solidFill>
                  <a:srgbClr val="0000FF"/>
                </a:solidFill>
                <a:effectLst/>
              </a:rPr>
              <a:t>0.8</a:t>
            </a:r>
            <a:r>
              <a:rPr lang="en-GB" altLang="zh-CN" sz="1400" dirty="0"/>
              <a:t>, </a:t>
            </a:r>
            <a:r>
              <a:rPr lang="en-GB" altLang="zh-CN" sz="1400" dirty="0" err="1">
                <a:solidFill>
                  <a:srgbClr val="660099"/>
                </a:solidFill>
                <a:effectLst/>
              </a:rPr>
              <a:t>random_state</a:t>
            </a:r>
            <a:r>
              <a:rPr lang="en-GB" altLang="zh-CN" sz="1400" dirty="0"/>
              <a:t>=</a:t>
            </a:r>
            <a:r>
              <a:rPr lang="en-GB" altLang="zh-CN" sz="1400" dirty="0">
                <a:solidFill>
                  <a:srgbClr val="0000FF"/>
                </a:solidFill>
                <a:effectLst/>
              </a:rPr>
              <a:t>88</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构建数据集</a:t>
            </a:r>
            <a:r>
              <a:rPr lang="en-US" altLang="zh-CN" sz="1400" i="1" dirty="0">
                <a:solidFill>
                  <a:srgbClr val="008001"/>
                </a:solidFill>
                <a:effectLst/>
              </a:rPr>
              <a:t>,</a:t>
            </a:r>
            <a:r>
              <a:rPr lang="zh-CN" altLang="en-US" sz="1400" i="1" dirty="0">
                <a:solidFill>
                  <a:srgbClr val="008001"/>
                </a:solidFill>
                <a:effectLst/>
              </a:rPr>
              <a:t>转换为</a:t>
            </a:r>
            <a:r>
              <a:rPr lang="en-GB" altLang="zh-CN" sz="1400" i="1" dirty="0" err="1">
                <a:solidFill>
                  <a:srgbClr val="008001"/>
                </a:solidFill>
                <a:effectLst/>
              </a:rPr>
              <a:t>pytorch</a:t>
            </a:r>
            <a:r>
              <a:rPr lang="zh-CN" altLang="en-US" sz="1400" i="1" dirty="0">
                <a:solidFill>
                  <a:srgbClr val="008001"/>
                </a:solidFill>
                <a:effectLst/>
              </a:rPr>
              <a:t>的形式</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 </a:t>
            </a:r>
            <a:r>
              <a:rPr lang="en-GB" altLang="zh-CN" sz="1400" dirty="0" err="1"/>
              <a:t>TensorDataset</a:t>
            </a:r>
            <a:r>
              <a:rPr lang="en-GB" altLang="zh-CN" sz="1400" dirty="0"/>
              <a:t>(</a:t>
            </a:r>
            <a:r>
              <a:rPr lang="en-GB" altLang="zh-CN" sz="1400" dirty="0" err="1"/>
              <a:t>torch.from_numpy</a:t>
            </a:r>
            <a:r>
              <a:rPr lang="en-GB" altLang="zh-CN" sz="1400" dirty="0"/>
              <a:t>(</a:t>
            </a:r>
            <a:r>
              <a:rPr lang="en-GB" altLang="zh-CN" sz="1400" dirty="0" err="1"/>
              <a:t>x_train.values</a:t>
            </a:r>
            <a:r>
              <a:rPr lang="en-GB" altLang="zh-CN" sz="1400" dirty="0"/>
              <a:t>), </a:t>
            </a:r>
            <a:r>
              <a:rPr lang="en-GB" altLang="zh-CN" sz="1400" dirty="0" err="1"/>
              <a:t>torch.tensor</a:t>
            </a:r>
            <a:r>
              <a:rPr lang="en-GB" altLang="zh-CN" sz="1400" dirty="0"/>
              <a:t>(</a:t>
            </a:r>
            <a:r>
              <a:rPr lang="en-GB" altLang="zh-CN" sz="1400" dirty="0" err="1"/>
              <a:t>y_train.values</a:t>
            </a:r>
            <a:r>
              <a:rPr lang="en-GB" altLang="zh-CN" sz="1400" dirty="0"/>
              <a:t>))</a:t>
            </a:r>
            <a:br>
              <a:rPr lang="en-GB" altLang="zh-CN" sz="1400" dirty="0"/>
            </a:br>
            <a:r>
              <a:rPr lang="en-GB" altLang="zh-CN" sz="1400" dirty="0"/>
              <a:t>    </a:t>
            </a:r>
            <a:r>
              <a:rPr lang="en-GB" altLang="zh-CN" sz="1400" dirty="0" err="1"/>
              <a:t>valid_dataset</a:t>
            </a:r>
            <a:r>
              <a:rPr lang="en-GB" altLang="zh-CN" sz="1400" dirty="0"/>
              <a:t> = </a:t>
            </a:r>
            <a:r>
              <a:rPr lang="en-GB" altLang="zh-CN" sz="1400" dirty="0" err="1"/>
              <a:t>TensorDataset</a:t>
            </a:r>
            <a:r>
              <a:rPr lang="en-GB" altLang="zh-CN" sz="1400" dirty="0"/>
              <a:t>(</a:t>
            </a:r>
            <a:r>
              <a:rPr lang="en-GB" altLang="zh-CN" sz="1400" dirty="0" err="1"/>
              <a:t>torch.from_numpy</a:t>
            </a:r>
            <a:r>
              <a:rPr lang="en-GB" altLang="zh-CN" sz="1400" dirty="0"/>
              <a:t>(</a:t>
            </a:r>
            <a:r>
              <a:rPr lang="en-GB" altLang="zh-CN" sz="1400" dirty="0" err="1"/>
              <a:t>x_valid.values</a:t>
            </a:r>
            <a:r>
              <a:rPr lang="en-GB" altLang="zh-CN" sz="1400" dirty="0"/>
              <a:t>), </a:t>
            </a:r>
            <a:r>
              <a:rPr lang="en-GB" altLang="zh-CN" sz="1400" dirty="0" err="1"/>
              <a:t>torch.tensor</a:t>
            </a:r>
            <a:r>
              <a:rPr lang="en-GB" altLang="zh-CN" sz="1400" dirty="0"/>
              <a:t>(</a:t>
            </a:r>
            <a:r>
              <a:rPr lang="en-GB" altLang="zh-CN" sz="1400" dirty="0" err="1"/>
              <a:t>y_valid.values</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返回结果</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return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x_train.shape</a:t>
            </a:r>
            <a:r>
              <a:rPr lang="en-GB" altLang="zh-CN" sz="1400" dirty="0"/>
              <a:t>[</a:t>
            </a:r>
            <a:r>
              <a:rPr lang="en-GB" altLang="zh-CN" sz="1400" dirty="0">
                <a:solidFill>
                  <a:srgbClr val="0000FF"/>
                </a:solidFill>
                <a:effectLst/>
              </a:rPr>
              <a:t>1</a:t>
            </a:r>
            <a:r>
              <a:rPr lang="en-GB" altLang="zh-CN" sz="1400" dirty="0"/>
              <a:t>], </a:t>
            </a:r>
            <a:r>
              <a:rPr lang="en-GB" altLang="zh-CN" sz="1400" dirty="0" err="1">
                <a:solidFill>
                  <a:srgbClr val="000080"/>
                </a:solidFill>
                <a:effectLst/>
              </a:rPr>
              <a:t>len</a:t>
            </a:r>
            <a:r>
              <a:rPr lang="en-GB" altLang="zh-CN" sz="1400" dirty="0"/>
              <a:t>(</a:t>
            </a:r>
            <a:r>
              <a:rPr lang="en-GB" altLang="zh-CN" sz="1400" dirty="0" err="1"/>
              <a:t>np.unique</a:t>
            </a:r>
            <a:r>
              <a:rPr lang="en-GB" altLang="zh-CN" sz="1400" dirty="0"/>
              <a:t>(y))</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获取数据的结果</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dirty="0">
                <a:solidFill>
                  <a:srgbClr val="333333"/>
                </a:solidFill>
                <a:latin typeface="Alibaba PuHuiTi" pitchFamily="18" charset="-122"/>
                <a:ea typeface="Alibaba PuHuiTi" pitchFamily="18" charset="-122"/>
                <a:cs typeface="Alibaba PuHuiTi" pitchFamily="18" charset="-122"/>
              </a:rPr>
              <a:t>输出结果为：</a:t>
            </a:r>
            <a:endParaRPr lang="en-US" altLang="zh-CN" dirty="0">
              <a:solidFill>
                <a:srgbClr val="333333"/>
              </a:solidFill>
              <a:latin typeface="Alibaba PuHuiTi" pitchFamily="18" charset="-122"/>
              <a:ea typeface="Alibaba PuHuiTi" pitchFamily="18" charset="-122"/>
              <a:cs typeface="Alibaba PuHuiTi" pitchFamily="18" charset="-122"/>
            </a:endParaRPr>
          </a:p>
          <a:p>
            <a:pPr algn="l"/>
            <a:r>
              <a:rPr lang="zh-CN" altLang="en-US" b="0" i="0" dirty="0">
                <a:solidFill>
                  <a:srgbClr val="36464E"/>
                </a:solidFill>
                <a:effectLst/>
                <a:latin typeface="Alibaba PuHuiTi" pitchFamily="18" charset="-122"/>
                <a:ea typeface="Alibaba PuHuiTi" pitchFamily="18" charset="-122"/>
                <a:cs typeface="Alibaba PuHuiTi" pitchFamily="18" charset="-122"/>
              </a:rPr>
              <a:t>输入特征数： </a:t>
            </a:r>
            <a:r>
              <a:rPr lang="en-US" altLang="zh-CN" b="0" i="0" dirty="0">
                <a:effectLst/>
                <a:latin typeface="Alibaba PuHuiTi" pitchFamily="18" charset="-122"/>
                <a:ea typeface="Alibaba PuHuiTi" pitchFamily="18" charset="-122"/>
                <a:cs typeface="Alibaba PuHuiTi" pitchFamily="18" charset="-122"/>
              </a:rPr>
              <a:t>20</a:t>
            </a:r>
            <a:r>
              <a:rPr lang="zh-CN" altLang="en-US" b="0" i="0" dirty="0">
                <a:solidFill>
                  <a:srgbClr val="36464E"/>
                </a:solidFill>
                <a:effectLst/>
                <a:latin typeface="Alibaba PuHuiTi" pitchFamily="18" charset="-122"/>
                <a:ea typeface="Alibaba PuHuiTi" pitchFamily="18" charset="-122"/>
                <a:cs typeface="Alibaba PuHuiTi" pitchFamily="18" charset="-122"/>
              </a:rPr>
              <a:t> </a:t>
            </a:r>
            <a:endParaRPr lang="en-US" altLang="zh-CN" b="0" i="0" dirty="0">
              <a:solidFill>
                <a:srgbClr val="36464E"/>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6464E"/>
                </a:solidFill>
                <a:effectLst/>
                <a:latin typeface="Alibaba PuHuiTi" pitchFamily="18" charset="-122"/>
                <a:ea typeface="Alibaba PuHuiTi" pitchFamily="18" charset="-122"/>
                <a:cs typeface="Alibaba PuHuiTi" pitchFamily="18" charset="-122"/>
              </a:rPr>
              <a:t>分类个数： </a:t>
            </a:r>
            <a:r>
              <a:rPr lang="en-US" altLang="zh-CN" b="0" i="0" dirty="0">
                <a:effectLst/>
                <a:latin typeface="Alibaba PuHuiTi" pitchFamily="18" charset="-122"/>
                <a:ea typeface="Alibaba PuHuiTi" pitchFamily="18" charset="-122"/>
                <a:cs typeface="Alibaba PuHuiTi" pitchFamily="18" charset="-122"/>
              </a:rPr>
              <a:t>4</a:t>
            </a:r>
            <a:endParaRPr lang="en-US" altLang="zh-CN" dirty="0">
              <a:solidFill>
                <a:srgbClr val="333333"/>
              </a:solidFill>
              <a:latin typeface="Alibaba PuHuiTi" pitchFamily="18" charset="-122"/>
              <a:ea typeface="Alibaba PuHuiTi" pitchFamily="18" charset="-122"/>
              <a:cs typeface="Alibaba PuHuiTi" pitchFamily="18" charset="-122"/>
            </a:endParaRPr>
          </a:p>
          <a:p>
            <a:pPr algn="l"/>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1886467" y="1732615"/>
            <a:ext cx="7558157" cy="1896801"/>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if </a:t>
            </a:r>
            <a:r>
              <a:rPr lang="en-GB" altLang="zh-CN" sz="1600" dirty="0"/>
              <a:t>__name__ == </a:t>
            </a:r>
            <a:r>
              <a:rPr lang="en-GB" altLang="zh-CN" sz="1600" b="1" dirty="0">
                <a:solidFill>
                  <a:srgbClr val="008000"/>
                </a:solidFill>
                <a:effectLst/>
              </a:rPr>
              <a:t>'__main__'</a:t>
            </a:r>
            <a:r>
              <a:rPr lang="en-GB" altLang="zh-CN" sz="1600" dirty="0"/>
              <a:t>:</a:t>
            </a:r>
            <a:br>
              <a:rPr lang="en-GB" altLang="zh-CN" sz="1600" dirty="0"/>
            </a:br>
            <a:r>
              <a:rPr lang="en-GB" altLang="zh-CN" sz="1600" dirty="0"/>
              <a:t>    </a:t>
            </a:r>
            <a:r>
              <a:rPr lang="en-GB" altLang="zh-CN" sz="1600" i="1" dirty="0">
                <a:solidFill>
                  <a:srgbClr val="808080"/>
                </a:solidFill>
                <a:effectLst/>
              </a:rPr>
              <a:t># </a:t>
            </a:r>
            <a:r>
              <a:rPr lang="zh-CN" altLang="en-US" sz="1600" i="1" dirty="0">
                <a:solidFill>
                  <a:srgbClr val="808080"/>
                </a:solidFill>
                <a:effectLst/>
              </a:rPr>
              <a:t>获取数据</a:t>
            </a:r>
            <a:br>
              <a:rPr lang="zh-CN" altLang="en-US" sz="1600" i="1" dirty="0">
                <a:solidFill>
                  <a:srgbClr val="808080"/>
                </a:solidFill>
                <a:effectLst/>
              </a:rPr>
            </a:br>
            <a:r>
              <a:rPr lang="zh-CN" altLang="en-US" sz="1600" i="1" dirty="0">
                <a:solidFill>
                  <a:srgbClr val="808080"/>
                </a:solidFill>
                <a:effectLst/>
              </a:rPr>
              <a:t>    </a:t>
            </a:r>
            <a:r>
              <a:rPr lang="en-GB" altLang="zh-CN" sz="1600" dirty="0" err="1"/>
              <a:t>train_dataset</a:t>
            </a:r>
            <a:r>
              <a:rPr lang="en-GB" altLang="zh-CN" sz="1600" dirty="0"/>
              <a:t>, </a:t>
            </a:r>
            <a:r>
              <a:rPr lang="en-GB" altLang="zh-CN" sz="1600" dirty="0" err="1"/>
              <a:t>valid_dataset</a:t>
            </a:r>
            <a:r>
              <a:rPr lang="en-GB" altLang="zh-CN" sz="1600" dirty="0"/>
              <a:t>, </a:t>
            </a:r>
            <a:r>
              <a:rPr lang="en-GB" altLang="zh-CN" sz="1600" dirty="0" err="1"/>
              <a:t>input_dim</a:t>
            </a:r>
            <a:r>
              <a:rPr lang="en-GB" altLang="zh-CN" sz="1600" dirty="0"/>
              <a:t>, </a:t>
            </a:r>
            <a:r>
              <a:rPr lang="en-GB" altLang="zh-CN" sz="1600" dirty="0" err="1"/>
              <a:t>class_num</a:t>
            </a:r>
            <a:r>
              <a:rPr lang="en-GB" altLang="zh-CN" sz="1600" dirty="0"/>
              <a:t> = </a:t>
            </a:r>
            <a:r>
              <a:rPr lang="en-GB" altLang="zh-CN" sz="1600" dirty="0" err="1"/>
              <a:t>create_dataset</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输入特征数：</a:t>
            </a:r>
            <a:r>
              <a:rPr lang="en-US" altLang="zh-CN" sz="1600" b="1" dirty="0">
                <a:solidFill>
                  <a:srgbClr val="008000"/>
                </a:solidFill>
                <a:effectLst/>
              </a:rPr>
              <a:t>"</a:t>
            </a:r>
            <a:r>
              <a:rPr lang="en-US" altLang="zh-CN" sz="1600" dirty="0"/>
              <a:t>, </a:t>
            </a:r>
            <a:r>
              <a:rPr lang="en-GB" altLang="zh-CN" sz="1600" dirty="0" err="1"/>
              <a:t>input_dim</a:t>
            </a:r>
            <a:r>
              <a:rPr lang="en-GB" altLang="zh-CN" sz="1600" dirty="0"/>
              <a:t>)</a:t>
            </a:r>
            <a:br>
              <a:rPr lang="en-GB" altLang="zh-CN" sz="1600" dirty="0"/>
            </a:br>
            <a:r>
              <a:rPr lang="en-GB" altLang="zh-CN" sz="1600" dirty="0"/>
              <a:t>    </a:t>
            </a:r>
            <a:r>
              <a:rPr lang="en-GB" altLang="zh-CN" sz="1600" dirty="0">
                <a:solidFill>
                  <a:srgbClr val="000080"/>
                </a:solidFill>
                <a:effectLst/>
              </a:rPr>
              <a:t>print</a:t>
            </a:r>
            <a:r>
              <a:rPr lang="en-GB" altLang="zh-CN" sz="1600" dirty="0"/>
              <a:t>(</a:t>
            </a:r>
            <a:r>
              <a:rPr lang="en-GB" altLang="zh-CN" sz="1600" b="1" dirty="0">
                <a:solidFill>
                  <a:srgbClr val="008000"/>
                </a:solidFill>
                <a:effectLst/>
              </a:rPr>
              <a:t>"</a:t>
            </a:r>
            <a:r>
              <a:rPr lang="zh-CN" altLang="en-US" sz="1600" b="1" dirty="0">
                <a:solidFill>
                  <a:srgbClr val="008000"/>
                </a:solidFill>
                <a:effectLst/>
              </a:rPr>
              <a:t>分类个数：</a:t>
            </a:r>
            <a:r>
              <a:rPr lang="en-US" altLang="zh-CN" sz="1600" b="1" dirty="0">
                <a:solidFill>
                  <a:srgbClr val="008000"/>
                </a:solidFill>
                <a:effectLst/>
              </a:rPr>
              <a:t>"</a:t>
            </a:r>
            <a:r>
              <a:rPr lang="en-US" altLang="zh-CN" sz="1600" dirty="0"/>
              <a:t>, </a:t>
            </a:r>
            <a:r>
              <a:rPr lang="en-GB" altLang="zh-CN" sz="1600" dirty="0" err="1"/>
              <a:t>class_num</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770036"/>
            <a:ext cx="10698800" cy="3317928"/>
          </a:xfrm>
        </p:spPr>
        <p:txBody>
          <a:bodyPr/>
          <a:lstStyle/>
          <a:p>
            <a:r>
              <a:rPr lang="zh-CN" altLang="en-US" dirty="0">
                <a:effectLst/>
                <a:latin typeface="Alibaba PuHuiTi" pitchFamily="18" charset="-122"/>
                <a:ea typeface="Alibaba PuHuiTi" pitchFamily="18" charset="-122"/>
                <a:cs typeface="Alibaba PuHuiTi" pitchFamily="18" charset="-122"/>
              </a:rPr>
              <a:t>构建全连接神经网络来进行手机价格分类，该网络主要由三个线性层来构建，使用</a:t>
            </a:r>
            <a:r>
              <a:rPr lang="en-GB" altLang="zh-CN" dirty="0" err="1">
                <a:effectLst/>
                <a:latin typeface="Alibaba PuHuiTi" pitchFamily="18" charset="-122"/>
                <a:ea typeface="Alibaba PuHuiTi" pitchFamily="18" charset="-122"/>
                <a:cs typeface="Alibaba PuHuiTi" pitchFamily="18" charset="-122"/>
              </a:rPr>
              <a:t>relu</a:t>
            </a:r>
            <a:r>
              <a:rPr lang="zh-CN" altLang="en-US" dirty="0">
                <a:effectLst/>
                <a:latin typeface="Alibaba PuHuiTi" pitchFamily="18" charset="-122"/>
                <a:ea typeface="Alibaba PuHuiTi" pitchFamily="18" charset="-122"/>
                <a:cs typeface="Alibaba PuHuiTi" pitchFamily="18" charset="-122"/>
              </a:rPr>
              <a:t>激活函数。</a:t>
            </a:r>
            <a:endParaRPr lang="zh-CN" altLang="en-US" dirty="0">
              <a:effectLst/>
              <a:latin typeface="Alibaba PuHuiTi" pitchFamily="18" charset="-122"/>
              <a:ea typeface="Alibaba PuHuiTi" pitchFamily="18" charset="-122"/>
              <a:cs typeface="Alibaba PuHuiTi" pitchFamily="18" charset="-122"/>
            </a:endParaRPr>
          </a:p>
          <a:p>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r>
              <a:rPr lang="zh-CN" altLang="en-US" b="0" i="0" dirty="0">
                <a:solidFill>
                  <a:srgbClr val="333333"/>
                </a:solidFill>
                <a:effectLst/>
                <a:latin typeface="Alibaba PuHuiTi" pitchFamily="18" charset="-122"/>
                <a:ea typeface="Alibaba PuHuiTi" pitchFamily="18" charset="-122"/>
                <a:cs typeface="Alibaba PuHuiTi" pitchFamily="18" charset="-122"/>
              </a:rPr>
              <a:t>网络共有 </a:t>
            </a:r>
            <a:r>
              <a:rPr lang="en-US" altLang="zh-CN" b="0" i="0" dirty="0">
                <a:solidFill>
                  <a:srgbClr val="333333"/>
                </a:solidFill>
                <a:effectLst/>
                <a:latin typeface="Alibaba PuHuiTi" pitchFamily="18" charset="-122"/>
                <a:ea typeface="Alibaba PuHuiTi" pitchFamily="18" charset="-122"/>
                <a:cs typeface="Alibaba PuHuiTi" pitchFamily="18" charset="-122"/>
              </a:rPr>
              <a:t>3 </a:t>
            </a:r>
            <a:r>
              <a:rPr lang="zh-CN" altLang="en-US" b="0" i="0" dirty="0">
                <a:solidFill>
                  <a:srgbClr val="333333"/>
                </a:solidFill>
                <a:effectLst/>
                <a:latin typeface="Alibaba PuHuiTi" pitchFamily="18" charset="-122"/>
                <a:ea typeface="Alibaba PuHuiTi" pitchFamily="18" charset="-122"/>
                <a:cs typeface="Alibaba PuHuiTi" pitchFamily="18" charset="-122"/>
              </a:rPr>
              <a:t>个全连接层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具体信息如下</a:t>
            </a:r>
            <a:r>
              <a:rPr lang="en-US" altLang="zh-CN" b="0" i="0" dirty="0">
                <a:solidFill>
                  <a:srgbClr val="333333"/>
                </a:solidFill>
                <a:effectLst/>
                <a:latin typeface="Alibaba PuHuiTi" pitchFamily="18" charset="-122"/>
                <a:ea typeface="Alibaba PuHuiTi" pitchFamily="18" charset="-122"/>
                <a:cs typeface="Alibaba PuHuiTi" pitchFamily="18" charset="-122"/>
              </a:rPr>
              <a:t>:</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第一层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20,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128</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第二层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128,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256</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buFont typeface="+mj-lt"/>
              <a:buAutoNum type="arabicPeriod"/>
            </a:pPr>
            <a:r>
              <a:rPr lang="zh-CN" altLang="en-US" b="0" i="0" dirty="0">
                <a:solidFill>
                  <a:srgbClr val="333333"/>
                </a:solidFill>
                <a:effectLst/>
                <a:latin typeface="Alibaba PuHuiTi" pitchFamily="18" charset="-122"/>
                <a:ea typeface="Alibaba PuHuiTi" pitchFamily="18" charset="-122"/>
                <a:cs typeface="Alibaba PuHuiTi" pitchFamily="18" charset="-122"/>
              </a:rPr>
              <a:t>第三层</a:t>
            </a:r>
            <a:r>
              <a:rPr lang="en-US" altLang="zh-CN" b="0" i="0" dirty="0">
                <a:solidFill>
                  <a:srgbClr val="333333"/>
                </a:solidFill>
                <a:effectLst/>
                <a:latin typeface="Alibaba PuHuiTi" pitchFamily="18" charset="-122"/>
                <a:ea typeface="Alibaba PuHuiTi" pitchFamily="18" charset="-122"/>
                <a:cs typeface="Alibaba PuHuiTi" pitchFamily="18" charset="-122"/>
              </a:rPr>
              <a:t>: </a:t>
            </a:r>
            <a:r>
              <a:rPr lang="zh-CN" altLang="en-US" b="0" i="0" dirty="0">
                <a:solidFill>
                  <a:srgbClr val="333333"/>
                </a:solidFill>
                <a:effectLst/>
                <a:latin typeface="Alibaba PuHuiTi" pitchFamily="18" charset="-122"/>
                <a:ea typeface="Alibaba PuHuiTi" pitchFamily="18" charset="-122"/>
                <a:cs typeface="Alibaba PuHuiTi" pitchFamily="18" charset="-122"/>
              </a:rPr>
              <a:t>输入为维度为 </a:t>
            </a:r>
            <a:r>
              <a:rPr lang="en-US" altLang="zh-CN" b="0" i="0" dirty="0">
                <a:solidFill>
                  <a:srgbClr val="333333"/>
                </a:solidFill>
                <a:effectLst/>
                <a:latin typeface="Alibaba PuHuiTi" pitchFamily="18" charset="-122"/>
                <a:ea typeface="Alibaba PuHuiTi" pitchFamily="18" charset="-122"/>
                <a:cs typeface="Alibaba PuHuiTi" pitchFamily="18" charset="-122"/>
              </a:rPr>
              <a:t>256, </a:t>
            </a:r>
            <a:r>
              <a:rPr lang="zh-CN" altLang="en-US" b="0" i="0" dirty="0">
                <a:solidFill>
                  <a:srgbClr val="333333"/>
                </a:solidFill>
                <a:effectLst/>
                <a:latin typeface="Alibaba PuHuiTi" pitchFamily="18" charset="-122"/>
                <a:ea typeface="Alibaba PuHuiTi" pitchFamily="18" charset="-122"/>
                <a:cs typeface="Alibaba PuHuiTi" pitchFamily="18" charset="-122"/>
              </a:rPr>
              <a:t>输出维度为</a:t>
            </a:r>
            <a:r>
              <a:rPr lang="en-US" altLang="zh-CN" b="0" i="0" dirty="0">
                <a:solidFill>
                  <a:srgbClr val="333333"/>
                </a:solidFill>
                <a:effectLst/>
                <a:latin typeface="Alibaba PuHuiTi" pitchFamily="18" charset="-122"/>
                <a:ea typeface="Alibaba PuHuiTi" pitchFamily="18" charset="-122"/>
                <a:cs typeface="Alibaba PuHuiTi" pitchFamily="18" charset="-122"/>
              </a:rPr>
              <a:t>: 4</a:t>
            </a:r>
            <a:endParaRPr lang="en-US" altLang="zh-CN" b="0" i="0" dirty="0">
              <a:solidFill>
                <a:srgbClr val="333333"/>
              </a:solidFill>
              <a:effectLst/>
              <a:latin typeface="Alibaba PuHuiTi" pitchFamily="18" charset="-122"/>
              <a:ea typeface="Alibaba PuHuiTi" pitchFamily="18" charset="-122"/>
              <a:cs typeface="Alibaba PuHuiTi" pitchFamily="18" charset="-122"/>
            </a:endParaRPr>
          </a:p>
          <a:p>
            <a:pPr algn="l"/>
            <a:endParaRPr lang="en-US" altLang="zh-CN" dirty="0">
              <a:solidFill>
                <a:srgbClr val="333333"/>
              </a:solidFill>
              <a:latin typeface="Helvetica Neue"/>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5" name="文本框 4"/>
          <p:cNvSpPr txBox="1"/>
          <p:nvPr/>
        </p:nvSpPr>
        <p:spPr>
          <a:xfrm>
            <a:off x="2615881" y="1716450"/>
            <a:ext cx="5636654" cy="45243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600" i="1" dirty="0">
                <a:solidFill>
                  <a:srgbClr val="008001"/>
                </a:solidFill>
                <a:effectLst/>
              </a:rPr>
              <a:t># </a:t>
            </a:r>
            <a:r>
              <a:rPr lang="zh-CN" altLang="en-US" sz="1600" i="1" dirty="0">
                <a:solidFill>
                  <a:srgbClr val="008001"/>
                </a:solidFill>
                <a:effectLst/>
              </a:rPr>
              <a:t>构建网络模型</a:t>
            </a:r>
            <a:br>
              <a:rPr lang="zh-CN" altLang="en-US" sz="1600" i="1" dirty="0">
                <a:solidFill>
                  <a:srgbClr val="808080"/>
                </a:solidFill>
                <a:effectLst/>
              </a:rPr>
            </a:br>
            <a:r>
              <a:rPr lang="en-GB" altLang="zh-CN" sz="1600" b="1" dirty="0">
                <a:solidFill>
                  <a:srgbClr val="000080"/>
                </a:solidFill>
                <a:effectLst/>
              </a:rPr>
              <a:t>class </a:t>
            </a:r>
            <a:r>
              <a:rPr lang="en-GB" altLang="zh-CN" sz="1600" dirty="0" err="1"/>
              <a:t>PhonePriceModel</a:t>
            </a:r>
            <a:r>
              <a:rPr lang="en-GB" altLang="zh-CN" sz="1600" dirty="0"/>
              <a:t>(</a:t>
            </a:r>
            <a:r>
              <a:rPr lang="en-GB" altLang="zh-CN" sz="1600" dirty="0" err="1"/>
              <a:t>nn.Module</a:t>
            </a:r>
            <a:r>
              <a:rPr lang="en-GB" altLang="zh-CN" sz="1600" dirty="0"/>
              <a:t>):</a:t>
            </a:r>
            <a:br>
              <a:rPr lang="en-GB" altLang="zh-CN" sz="1600" dirty="0"/>
            </a:br>
            <a:r>
              <a:rPr lang="en-GB" altLang="zh-CN" sz="1600" dirty="0"/>
              <a:t>    </a:t>
            </a:r>
            <a:r>
              <a:rPr lang="en-GB" altLang="zh-CN" sz="1600" b="1" dirty="0">
                <a:solidFill>
                  <a:srgbClr val="000080"/>
                </a:solidFill>
                <a:effectLst/>
              </a:rPr>
              <a:t>def </a:t>
            </a:r>
            <a:r>
              <a:rPr lang="en-GB" altLang="zh-CN" sz="1600" dirty="0">
                <a:solidFill>
                  <a:srgbClr val="B200B2"/>
                </a:solidFill>
                <a:effectLst/>
              </a:rPr>
              <a:t>__</a:t>
            </a:r>
            <a:r>
              <a:rPr lang="en-GB" altLang="zh-CN" sz="1600" dirty="0" err="1">
                <a:solidFill>
                  <a:srgbClr val="B200B2"/>
                </a:solidFill>
                <a:effectLst/>
              </a:rPr>
              <a:t>init</a:t>
            </a:r>
            <a:r>
              <a:rPr lang="en-GB" altLang="zh-CN" sz="1600" dirty="0">
                <a:solidFill>
                  <a:srgbClr val="B200B2"/>
                </a:solidFill>
                <a:effectLst/>
              </a:rPr>
              <a:t>__</a:t>
            </a:r>
            <a:r>
              <a:rPr lang="en-GB" altLang="zh-CN" sz="1600" dirty="0"/>
              <a:t>(</a:t>
            </a:r>
            <a:r>
              <a:rPr lang="en-GB" altLang="zh-CN" sz="1600" dirty="0">
                <a:solidFill>
                  <a:srgbClr val="94558D"/>
                </a:solidFill>
                <a:effectLst/>
              </a:rPr>
              <a:t>self</a:t>
            </a:r>
            <a:r>
              <a:rPr lang="en-GB" altLang="zh-CN" sz="1600" dirty="0"/>
              <a:t>, </a:t>
            </a:r>
            <a:r>
              <a:rPr lang="en-GB" altLang="zh-CN" sz="1600" dirty="0" err="1"/>
              <a:t>input_dim</a:t>
            </a:r>
            <a:r>
              <a:rPr lang="en-GB" altLang="zh-CN" sz="1600" dirty="0"/>
              <a:t>, </a:t>
            </a:r>
            <a:r>
              <a:rPr lang="en-GB" altLang="zh-CN" sz="1600" dirty="0" err="1"/>
              <a:t>output_dim</a:t>
            </a:r>
            <a:r>
              <a:rPr lang="en-GB" altLang="zh-CN" sz="1600" dirty="0"/>
              <a:t>):</a:t>
            </a:r>
            <a:br>
              <a:rPr lang="en-GB" altLang="zh-CN" sz="1600" dirty="0"/>
            </a:br>
            <a:r>
              <a:rPr lang="en-GB" altLang="zh-CN" sz="1600" dirty="0"/>
              <a:t>        </a:t>
            </a:r>
            <a:r>
              <a:rPr lang="en-GB" altLang="zh-CN" sz="1600" dirty="0">
                <a:solidFill>
                  <a:srgbClr val="000080"/>
                </a:solidFill>
                <a:effectLst/>
              </a:rPr>
              <a:t>super</a:t>
            </a:r>
            <a:r>
              <a:rPr lang="en-GB" altLang="zh-CN" sz="1600" dirty="0"/>
              <a:t>(</a:t>
            </a:r>
            <a:r>
              <a:rPr lang="en-GB" altLang="zh-CN" sz="1600" dirty="0" err="1"/>
              <a:t>PhonePriceModel</a:t>
            </a:r>
            <a:r>
              <a:rPr lang="en-GB" altLang="zh-CN" sz="1600" dirty="0"/>
              <a:t>, </a:t>
            </a:r>
            <a:r>
              <a:rPr lang="en-GB" altLang="zh-CN" sz="1600" dirty="0">
                <a:solidFill>
                  <a:srgbClr val="94558D"/>
                </a:solidFill>
                <a:effectLst/>
              </a:rPr>
              <a:t>self</a:t>
            </a:r>
            <a:r>
              <a:rPr lang="en-GB" altLang="zh-CN" sz="1600" dirty="0"/>
              <a:t>).</a:t>
            </a:r>
            <a:r>
              <a:rPr lang="en-GB" altLang="zh-CN" sz="1600" dirty="0">
                <a:solidFill>
                  <a:srgbClr val="B200B2"/>
                </a:solidFill>
                <a:effectLst/>
              </a:rPr>
              <a:t>__</a:t>
            </a:r>
            <a:r>
              <a:rPr lang="en-GB" altLang="zh-CN" sz="1600" dirty="0" err="1">
                <a:solidFill>
                  <a:srgbClr val="B200B2"/>
                </a:solidFill>
                <a:effectLst/>
              </a:rPr>
              <a:t>init</a:t>
            </a:r>
            <a:r>
              <a:rPr lang="en-GB" altLang="zh-CN" sz="1600" dirty="0">
                <a:solidFill>
                  <a:srgbClr val="B200B2"/>
                </a:solidFill>
                <a:effectLst/>
              </a:rPr>
              <a:t>__</a:t>
            </a:r>
            <a:r>
              <a:rPr lang="en-GB" altLang="zh-CN" sz="1600" dirty="0"/>
              <a:t>()</a:t>
            </a:r>
            <a:br>
              <a:rPr lang="en-GB" altLang="zh-CN" sz="1600" dirty="0"/>
            </a:br>
            <a:r>
              <a:rPr lang="en-GB" altLang="zh-CN" sz="1600" dirty="0"/>
              <a:t>        </a:t>
            </a:r>
            <a:r>
              <a:rPr lang="en-GB" altLang="zh-CN" sz="1600" i="1" dirty="0">
                <a:solidFill>
                  <a:srgbClr val="008001"/>
                </a:solidFill>
                <a:effectLst/>
              </a:rPr>
              <a:t># 1. </a:t>
            </a:r>
            <a:r>
              <a:rPr lang="zh-CN" altLang="en-US" sz="1600" i="1" dirty="0">
                <a:solidFill>
                  <a:srgbClr val="008001"/>
                </a:solidFill>
                <a:effectLst/>
              </a:rPr>
              <a:t>第一层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20, </a:t>
            </a:r>
            <a:r>
              <a:rPr lang="zh-CN" altLang="en-US" sz="1600" i="1" dirty="0">
                <a:solidFill>
                  <a:srgbClr val="008001"/>
                </a:solidFill>
                <a:effectLst/>
              </a:rPr>
              <a:t>输出维度为</a:t>
            </a:r>
            <a:r>
              <a:rPr lang="en-US" altLang="zh-CN" sz="1600" i="1" dirty="0">
                <a:solidFill>
                  <a:srgbClr val="008001"/>
                </a:solidFill>
                <a:effectLst/>
              </a:rPr>
              <a:t>: 128</a:t>
            </a:r>
            <a:br>
              <a:rPr lang="en-US" altLang="zh-CN" sz="1600" i="1" dirty="0">
                <a:solidFill>
                  <a:srgbClr val="808080"/>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.linear1 = </a:t>
            </a:r>
            <a:r>
              <a:rPr lang="en-GB" altLang="zh-CN" sz="1600" dirty="0" err="1"/>
              <a:t>nn.Linear</a:t>
            </a:r>
            <a:r>
              <a:rPr lang="en-GB" altLang="zh-CN" sz="1600" dirty="0"/>
              <a:t>(</a:t>
            </a:r>
            <a:r>
              <a:rPr lang="en-GB" altLang="zh-CN" sz="1600" dirty="0" err="1"/>
              <a:t>input_dim</a:t>
            </a:r>
            <a:r>
              <a:rPr lang="en-GB" altLang="zh-CN" sz="1600" dirty="0"/>
              <a:t>, </a:t>
            </a:r>
            <a:r>
              <a:rPr lang="en-GB" altLang="zh-CN" sz="1600" dirty="0">
                <a:solidFill>
                  <a:srgbClr val="0000FF"/>
                </a:solidFill>
                <a:effectLst/>
              </a:rPr>
              <a:t>128</a:t>
            </a:r>
            <a:r>
              <a:rPr lang="en-GB" altLang="zh-CN" sz="1600" dirty="0"/>
              <a:t>)</a:t>
            </a:r>
            <a:br>
              <a:rPr lang="en-GB" altLang="zh-CN" sz="1600" dirty="0"/>
            </a:br>
            <a:r>
              <a:rPr lang="en-GB" altLang="zh-CN" sz="1600" dirty="0"/>
              <a:t>        </a:t>
            </a:r>
            <a:r>
              <a:rPr lang="en-GB" altLang="zh-CN" sz="1600" i="1" dirty="0">
                <a:solidFill>
                  <a:srgbClr val="008001"/>
                </a:solidFill>
                <a:effectLst/>
              </a:rPr>
              <a:t># 2. </a:t>
            </a:r>
            <a:r>
              <a:rPr lang="zh-CN" altLang="en-US" sz="1600" i="1" dirty="0">
                <a:solidFill>
                  <a:srgbClr val="008001"/>
                </a:solidFill>
                <a:effectLst/>
              </a:rPr>
              <a:t>第二层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128, </a:t>
            </a:r>
            <a:r>
              <a:rPr lang="zh-CN" altLang="en-US" sz="1600" i="1" dirty="0">
                <a:solidFill>
                  <a:srgbClr val="008001"/>
                </a:solidFill>
                <a:effectLst/>
              </a:rPr>
              <a:t>输出维度为</a:t>
            </a:r>
            <a:r>
              <a:rPr lang="en-US" altLang="zh-CN" sz="1600" i="1" dirty="0">
                <a:solidFill>
                  <a:srgbClr val="008001"/>
                </a:solidFill>
                <a:effectLst/>
              </a:rPr>
              <a:t>: 256</a:t>
            </a:r>
            <a:br>
              <a:rPr lang="en-US" altLang="zh-CN" sz="1600" i="1" dirty="0">
                <a:solidFill>
                  <a:srgbClr val="808080"/>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.linear2 = </a:t>
            </a:r>
            <a:r>
              <a:rPr lang="en-GB" altLang="zh-CN" sz="1600" dirty="0" err="1"/>
              <a:t>nn.Linear</a:t>
            </a:r>
            <a:r>
              <a:rPr lang="en-GB" altLang="zh-CN" sz="1600" dirty="0"/>
              <a:t>(</a:t>
            </a:r>
            <a:r>
              <a:rPr lang="en-GB" altLang="zh-CN" sz="1600" dirty="0">
                <a:solidFill>
                  <a:srgbClr val="0000FF"/>
                </a:solidFill>
                <a:effectLst/>
              </a:rPr>
              <a:t>128</a:t>
            </a:r>
            <a:r>
              <a:rPr lang="en-GB" altLang="zh-CN" sz="1600" dirty="0"/>
              <a:t>, </a:t>
            </a:r>
            <a:r>
              <a:rPr lang="en-GB" altLang="zh-CN" sz="1600" dirty="0">
                <a:solidFill>
                  <a:srgbClr val="0000FF"/>
                </a:solidFill>
                <a:effectLst/>
              </a:rPr>
              <a:t>256</a:t>
            </a:r>
            <a:r>
              <a:rPr lang="en-GB" altLang="zh-CN" sz="1600" dirty="0"/>
              <a:t>)</a:t>
            </a:r>
            <a:br>
              <a:rPr lang="en-GB" altLang="zh-CN" sz="1600" dirty="0"/>
            </a:br>
            <a:r>
              <a:rPr lang="en-GB" altLang="zh-CN" sz="1600" dirty="0"/>
              <a:t>        </a:t>
            </a:r>
            <a:r>
              <a:rPr lang="en-GB" altLang="zh-CN" sz="1600" i="1" dirty="0">
                <a:solidFill>
                  <a:srgbClr val="008001"/>
                </a:solidFill>
                <a:effectLst/>
              </a:rPr>
              <a:t># 3. </a:t>
            </a:r>
            <a:r>
              <a:rPr lang="zh-CN" altLang="en-US" sz="1600" i="1" dirty="0">
                <a:solidFill>
                  <a:srgbClr val="008001"/>
                </a:solidFill>
                <a:effectLst/>
              </a:rPr>
              <a:t>第三层</a:t>
            </a:r>
            <a:r>
              <a:rPr lang="en-US" altLang="zh-CN" sz="1600" i="1" dirty="0">
                <a:solidFill>
                  <a:srgbClr val="008001"/>
                </a:solidFill>
                <a:effectLst/>
              </a:rPr>
              <a:t>: </a:t>
            </a:r>
            <a:r>
              <a:rPr lang="zh-CN" altLang="en-US" sz="1600" i="1" dirty="0">
                <a:solidFill>
                  <a:srgbClr val="008001"/>
                </a:solidFill>
                <a:effectLst/>
              </a:rPr>
              <a:t>输入为维度为 </a:t>
            </a:r>
            <a:r>
              <a:rPr lang="en-US" altLang="zh-CN" sz="1600" i="1" dirty="0">
                <a:solidFill>
                  <a:srgbClr val="008001"/>
                </a:solidFill>
                <a:effectLst/>
              </a:rPr>
              <a:t>256, </a:t>
            </a:r>
            <a:r>
              <a:rPr lang="zh-CN" altLang="en-US" sz="1600" i="1" dirty="0">
                <a:solidFill>
                  <a:srgbClr val="008001"/>
                </a:solidFill>
                <a:effectLst/>
              </a:rPr>
              <a:t>输出维度为</a:t>
            </a:r>
            <a:r>
              <a:rPr lang="en-US" altLang="zh-CN" sz="1600" i="1" dirty="0">
                <a:solidFill>
                  <a:srgbClr val="008001"/>
                </a:solidFill>
                <a:effectLst/>
              </a:rPr>
              <a:t>: 4</a:t>
            </a:r>
            <a:br>
              <a:rPr lang="en-US" altLang="zh-CN" sz="1600" i="1" dirty="0">
                <a:solidFill>
                  <a:srgbClr val="008001"/>
                </a:solidFill>
                <a:effectLst/>
              </a:rPr>
            </a:br>
            <a:r>
              <a:rPr lang="en-US" altLang="zh-CN" sz="1600" i="1" dirty="0">
                <a:solidFill>
                  <a:srgbClr val="808080"/>
                </a:solidFill>
                <a:effectLst/>
              </a:rPr>
              <a:t>        </a:t>
            </a:r>
            <a:r>
              <a:rPr lang="en-GB" altLang="zh-CN" sz="1600" dirty="0">
                <a:solidFill>
                  <a:srgbClr val="94558D"/>
                </a:solidFill>
                <a:effectLst/>
              </a:rPr>
              <a:t>self</a:t>
            </a:r>
            <a:r>
              <a:rPr lang="en-GB" altLang="zh-CN" sz="1600" dirty="0"/>
              <a:t>.linear3 = </a:t>
            </a:r>
            <a:r>
              <a:rPr lang="en-GB" altLang="zh-CN" sz="1600" dirty="0" err="1"/>
              <a:t>nn.Linear</a:t>
            </a:r>
            <a:r>
              <a:rPr lang="en-GB" altLang="zh-CN" sz="1600" dirty="0"/>
              <a:t>(</a:t>
            </a:r>
            <a:r>
              <a:rPr lang="en-GB" altLang="zh-CN" sz="1600" dirty="0">
                <a:solidFill>
                  <a:srgbClr val="0000FF"/>
                </a:solidFill>
                <a:effectLst/>
              </a:rPr>
              <a:t>256</a:t>
            </a:r>
            <a:r>
              <a:rPr lang="en-GB" altLang="zh-CN" sz="1600" dirty="0"/>
              <a:t>, </a:t>
            </a:r>
            <a:r>
              <a:rPr lang="en-GB" altLang="zh-CN" sz="1600" dirty="0" err="1"/>
              <a:t>output_dim</a:t>
            </a:r>
            <a:r>
              <a:rPr lang="en-GB" altLang="zh-CN" sz="1600" dirty="0"/>
              <a:t>)</a:t>
            </a:r>
            <a:br>
              <a:rPr lang="en-GB" altLang="zh-CN" sz="1600" dirty="0"/>
            </a:br>
            <a:br>
              <a:rPr lang="en-GB" altLang="zh-CN" sz="1600" dirty="0"/>
            </a:br>
            <a:r>
              <a:rPr lang="en-GB" altLang="zh-CN" sz="1600" dirty="0"/>
              <a:t>    </a:t>
            </a:r>
            <a:r>
              <a:rPr lang="en-GB" altLang="zh-CN" sz="1600" b="1" dirty="0">
                <a:solidFill>
                  <a:srgbClr val="000080"/>
                </a:solidFill>
                <a:effectLst/>
              </a:rPr>
              <a:t>def </a:t>
            </a:r>
            <a:r>
              <a:rPr lang="en-GB" altLang="zh-CN" sz="1600" dirty="0"/>
              <a:t>forward(</a:t>
            </a:r>
            <a:r>
              <a:rPr lang="en-GB" altLang="zh-CN" sz="1600" dirty="0">
                <a:solidFill>
                  <a:srgbClr val="94558D"/>
                </a:solidFill>
                <a:effectLst/>
              </a:rPr>
              <a:t>self</a:t>
            </a:r>
            <a:r>
              <a:rPr lang="en-GB" altLang="zh-CN" sz="1600" dirty="0"/>
              <a:t>, x):</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前向传播过程</a:t>
            </a:r>
            <a:br>
              <a:rPr lang="zh-CN" altLang="en-US" sz="1600" i="1" dirty="0">
                <a:solidFill>
                  <a:srgbClr val="808080"/>
                </a:solidFill>
                <a:effectLst/>
              </a:rPr>
            </a:br>
            <a:r>
              <a:rPr lang="zh-CN" altLang="en-US" sz="1600" i="1" dirty="0">
                <a:solidFill>
                  <a:srgbClr val="808080"/>
                </a:solidFill>
                <a:effectLst/>
              </a:rPr>
              <a:t>        </a:t>
            </a:r>
            <a:r>
              <a:rPr lang="en-GB" altLang="zh-CN" sz="1600" dirty="0"/>
              <a:t>x = </a:t>
            </a:r>
            <a:r>
              <a:rPr lang="en-GB" altLang="zh-CN" sz="1600" dirty="0" err="1"/>
              <a:t>torch.relu</a:t>
            </a:r>
            <a:r>
              <a:rPr lang="en-GB" altLang="zh-CN" sz="1600" dirty="0"/>
              <a:t>(</a:t>
            </a:r>
            <a:r>
              <a:rPr lang="en-GB" altLang="zh-CN" sz="1600" dirty="0">
                <a:solidFill>
                  <a:srgbClr val="94558D"/>
                </a:solidFill>
                <a:effectLst/>
              </a:rPr>
              <a:t>self</a:t>
            </a:r>
            <a:r>
              <a:rPr lang="en-GB" altLang="zh-CN" sz="1600" dirty="0"/>
              <a:t>.linear1(x))</a:t>
            </a:r>
            <a:br>
              <a:rPr lang="en-GB" altLang="zh-CN" sz="1600" dirty="0"/>
            </a:br>
            <a:r>
              <a:rPr lang="en-GB" altLang="zh-CN" sz="1600" dirty="0"/>
              <a:t>        x = </a:t>
            </a:r>
            <a:r>
              <a:rPr lang="en-GB" altLang="zh-CN" sz="1600" dirty="0" err="1"/>
              <a:t>torch.relu</a:t>
            </a:r>
            <a:r>
              <a:rPr lang="en-GB" altLang="zh-CN" sz="1600" dirty="0"/>
              <a:t>(</a:t>
            </a:r>
            <a:r>
              <a:rPr lang="en-GB" altLang="zh-CN" sz="1600" dirty="0">
                <a:solidFill>
                  <a:srgbClr val="94558D"/>
                </a:solidFill>
                <a:effectLst/>
              </a:rPr>
              <a:t>self</a:t>
            </a:r>
            <a:r>
              <a:rPr lang="en-GB" altLang="zh-CN" sz="1600" dirty="0"/>
              <a:t>.linear2(x))</a:t>
            </a:r>
            <a:br>
              <a:rPr lang="en-GB" altLang="zh-CN" sz="1600" dirty="0"/>
            </a:br>
            <a:r>
              <a:rPr lang="en-GB" altLang="zh-CN" sz="1600" dirty="0"/>
              <a:t>        output = </a:t>
            </a:r>
            <a:r>
              <a:rPr lang="en-GB" altLang="zh-CN" sz="1600" dirty="0">
                <a:solidFill>
                  <a:srgbClr val="94558D"/>
                </a:solidFill>
                <a:effectLst/>
              </a:rPr>
              <a:t>self</a:t>
            </a:r>
            <a:r>
              <a:rPr lang="en-GB" altLang="zh-CN" sz="1600" dirty="0"/>
              <a:t>.linear3(x)</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获取数据结果</a:t>
            </a:r>
            <a:br>
              <a:rPr lang="zh-CN" altLang="en-US" sz="1600" i="1" dirty="0">
                <a:solidFill>
                  <a:srgbClr val="808080"/>
                </a:solidFill>
                <a:effectLst/>
              </a:rPr>
            </a:br>
            <a:r>
              <a:rPr lang="zh-CN" altLang="en-US" sz="1600" i="1" dirty="0">
                <a:solidFill>
                  <a:srgbClr val="808080"/>
                </a:solidFill>
                <a:effectLst/>
              </a:rPr>
              <a:t>        </a:t>
            </a:r>
            <a:r>
              <a:rPr lang="en-GB" altLang="zh-CN" sz="1600" b="1" dirty="0">
                <a:solidFill>
                  <a:srgbClr val="000080"/>
                </a:solidFill>
                <a:effectLst/>
              </a:rPr>
              <a:t>return </a:t>
            </a:r>
            <a:r>
              <a:rPr lang="en-GB" altLang="zh-CN" sz="1600" dirty="0"/>
              <a:t>output</a:t>
            </a:r>
            <a:endParaRPr lang="en-US" altLang="zh-CN" sz="16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构建分类网络模型</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82320" y="1457271"/>
            <a:ext cx="10698800" cy="3317928"/>
          </a:xfrm>
        </p:spPr>
        <p:txBody>
          <a:bodyPr/>
          <a:lstStyle/>
          <a:p>
            <a:pPr algn="l"/>
            <a:r>
              <a:rPr lang="zh-CN" altLang="en-US" dirty="0">
                <a:solidFill>
                  <a:srgbClr val="333333"/>
                </a:solidFill>
                <a:latin typeface="Helvetica Neue"/>
              </a:rPr>
              <a:t>模型实例化：</a:t>
            </a:r>
            <a:endParaRPr lang="en-US" altLang="zh-CN" dirty="0">
              <a:solidFill>
                <a:srgbClr val="333333"/>
              </a:solidFill>
              <a:latin typeface="Helvetica Neue"/>
            </a:endParaRPr>
          </a:p>
          <a:p>
            <a:pPr algn="l"/>
            <a:endParaRPr lang="en-US" altLang="zh-CN" dirty="0">
              <a:solidFill>
                <a:srgbClr val="333333"/>
              </a:solidFill>
              <a:latin typeface="Helvetica Neue"/>
            </a:endParaRPr>
          </a:p>
        </p:txBody>
      </p:sp>
      <p:sp>
        <p:nvSpPr>
          <p:cNvPr id="4" name="文本框 3"/>
          <p:cNvSpPr txBox="1"/>
          <p:nvPr/>
        </p:nvSpPr>
        <p:spPr>
          <a:xfrm>
            <a:off x="2290126" y="2150691"/>
            <a:ext cx="5636654" cy="1527469"/>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600" b="1" dirty="0">
                <a:solidFill>
                  <a:srgbClr val="000080"/>
                </a:solidFill>
                <a:effectLst/>
              </a:rPr>
              <a:t>if </a:t>
            </a:r>
            <a:r>
              <a:rPr lang="en-GB" altLang="zh-CN" sz="1600" dirty="0"/>
              <a:t>__name__ == </a:t>
            </a:r>
            <a:r>
              <a:rPr lang="en-GB" altLang="zh-CN" sz="1600" b="1" dirty="0">
                <a:solidFill>
                  <a:srgbClr val="008000"/>
                </a:solidFill>
                <a:effectLst/>
              </a:rPr>
              <a:t>'__main__'</a:t>
            </a:r>
            <a:r>
              <a:rPr lang="en-GB" altLang="zh-CN" sz="1600" dirty="0"/>
              <a:t>:</a:t>
            </a:r>
            <a:br>
              <a:rPr lang="en-GB" altLang="zh-CN" sz="1600" dirty="0"/>
            </a:br>
            <a:r>
              <a:rPr lang="en-GB" altLang="zh-CN" sz="1600" dirty="0"/>
              <a:t>    </a:t>
            </a:r>
            <a:r>
              <a:rPr lang="en-GB" altLang="zh-CN" sz="1600" i="1" dirty="0">
                <a:solidFill>
                  <a:srgbClr val="008001"/>
                </a:solidFill>
                <a:effectLst/>
              </a:rPr>
              <a:t># </a:t>
            </a:r>
            <a:r>
              <a:rPr lang="zh-CN" altLang="en-US" sz="1600" i="1" dirty="0">
                <a:solidFill>
                  <a:srgbClr val="008001"/>
                </a:solidFill>
                <a:effectLst/>
              </a:rPr>
              <a:t>模型实例化</a:t>
            </a:r>
            <a:br>
              <a:rPr lang="zh-CN" altLang="en-US" sz="1600" i="1" dirty="0">
                <a:solidFill>
                  <a:srgbClr val="808080"/>
                </a:solidFill>
                <a:effectLst/>
              </a:rPr>
            </a:br>
            <a:r>
              <a:rPr lang="zh-CN" altLang="en-US" sz="1600" i="1" dirty="0">
                <a:solidFill>
                  <a:srgbClr val="808080"/>
                </a:solidFill>
                <a:effectLst/>
              </a:rPr>
              <a:t>    </a:t>
            </a:r>
            <a:r>
              <a:rPr lang="en-GB" altLang="zh-CN" sz="1600" dirty="0"/>
              <a:t>model = </a:t>
            </a:r>
            <a:r>
              <a:rPr lang="en-GB" altLang="zh-CN" sz="1600" dirty="0" err="1"/>
              <a:t>PhonePriceModel</a:t>
            </a:r>
            <a:r>
              <a:rPr lang="en-GB" altLang="zh-CN" sz="1600" dirty="0"/>
              <a:t>(</a:t>
            </a:r>
            <a:r>
              <a:rPr lang="en-GB" altLang="zh-CN" sz="1600" dirty="0" err="1"/>
              <a:t>input_dim</a:t>
            </a:r>
            <a:r>
              <a:rPr lang="en-GB" altLang="zh-CN" sz="1600" dirty="0"/>
              <a:t>, </a:t>
            </a:r>
            <a:r>
              <a:rPr lang="en-GB" altLang="zh-CN" sz="1600" dirty="0" err="1"/>
              <a:t>class_num</a:t>
            </a:r>
            <a:r>
              <a:rPr lang="en-GB" altLang="zh-CN" sz="1600" dirty="0"/>
              <a:t>)</a:t>
            </a:r>
            <a:br>
              <a:rPr lang="en-GB" altLang="zh-CN" sz="1600" dirty="0"/>
            </a:br>
            <a:r>
              <a:rPr lang="en-GB" altLang="zh-CN" sz="1600" dirty="0"/>
              <a:t>    summary(</a:t>
            </a:r>
            <a:r>
              <a:rPr lang="en-GB" altLang="zh-CN" sz="1600" dirty="0" err="1"/>
              <a:t>model,</a:t>
            </a:r>
            <a:r>
              <a:rPr lang="en-GB" altLang="zh-CN" sz="1600" dirty="0" err="1">
                <a:solidFill>
                  <a:srgbClr val="660099"/>
                </a:solidFill>
                <a:effectLst/>
              </a:rPr>
              <a:t>input_size</a:t>
            </a:r>
            <a:r>
              <a:rPr lang="en-GB" altLang="zh-CN" sz="1600" dirty="0"/>
              <a:t>=(</a:t>
            </a:r>
            <a:r>
              <a:rPr lang="en-GB" altLang="zh-CN" sz="1600" dirty="0" err="1"/>
              <a:t>input_dim</a:t>
            </a:r>
            <a:r>
              <a:rPr lang="en-GB" altLang="zh-CN" sz="1600" dirty="0"/>
              <a:t>,),</a:t>
            </a:r>
            <a:r>
              <a:rPr lang="en-GB" altLang="zh-CN" sz="1600" dirty="0" err="1">
                <a:solidFill>
                  <a:srgbClr val="660099"/>
                </a:solidFill>
                <a:effectLst/>
              </a:rPr>
              <a:t>batch_size</a:t>
            </a:r>
            <a:r>
              <a:rPr lang="en-GB" altLang="zh-CN" sz="1600" dirty="0"/>
              <a:t>= </a:t>
            </a:r>
            <a:r>
              <a:rPr lang="en-GB" altLang="zh-CN" sz="1600" dirty="0">
                <a:solidFill>
                  <a:srgbClr val="0000FF"/>
                </a:solidFill>
                <a:effectLst/>
              </a:rPr>
              <a:t>16</a:t>
            </a:r>
            <a:r>
              <a:rPr lang="en-GB" altLang="zh-CN" sz="1600" dirty="0"/>
              <a:t>)</a:t>
            </a:r>
            <a:endParaRPr lang="en-US" altLang="zh-CN" sz="1600" b="1" dirty="0">
              <a:solidFill>
                <a:srgbClr val="0000FF"/>
              </a:solidFill>
              <a:latin typeface="宋体" panose="02010600030101010101" pitchFamily="2" charset="-122"/>
              <a:ea typeface="阿里巴巴普惠体" panose="00020600040101010101"/>
            </a:endParaRPr>
          </a:p>
        </p:txBody>
      </p:sp>
      <p:pic>
        <p:nvPicPr>
          <p:cNvPr id="5" name="图片 4"/>
          <p:cNvPicPr>
            <a:picLocks noChangeAspect="1"/>
          </p:cNvPicPr>
          <p:nvPr/>
        </p:nvPicPr>
        <p:blipFill>
          <a:blip r:embed="rId1"/>
          <a:stretch>
            <a:fillRect/>
          </a:stretch>
        </p:blipFill>
        <p:spPr>
          <a:xfrm>
            <a:off x="2289885" y="3678022"/>
            <a:ext cx="6038850" cy="3179978"/>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模型训练</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solidFill>
                  <a:srgbClr val="333333"/>
                </a:solidFill>
                <a:effectLst/>
                <a:latin typeface="Helvetica Neue"/>
              </a:rPr>
              <a:t>网络编写完成之后，我们需要编写训练函数。所谓的训练函数，指的是输入数据读取、送入网络、计算损失、更新参数的流程，该流程较为固定。我们使用的是多分类交叉生损失函数、使用 </a:t>
            </a:r>
            <a:r>
              <a:rPr lang="en-US" altLang="zh-CN" b="0" i="0" dirty="0">
                <a:solidFill>
                  <a:srgbClr val="333333"/>
                </a:solidFill>
                <a:effectLst/>
                <a:latin typeface="Helvetica Neue"/>
              </a:rPr>
              <a:t>SGD </a:t>
            </a:r>
            <a:r>
              <a:rPr lang="zh-CN" altLang="en-US" b="0" i="0" dirty="0">
                <a:solidFill>
                  <a:srgbClr val="333333"/>
                </a:solidFill>
                <a:effectLst/>
                <a:latin typeface="Helvetica Neue"/>
              </a:rPr>
              <a:t>优化方法。最终，将训练好的模型持久化到磁盘中。</a:t>
            </a:r>
            <a:endParaRPr lang="en-US" altLang="zh-CN" dirty="0">
              <a:solidFill>
                <a:srgbClr val="333333"/>
              </a:solidFill>
              <a:latin typeface="Helvetica Neue"/>
            </a:endParaRPr>
          </a:p>
        </p:txBody>
      </p:sp>
      <p:sp>
        <p:nvSpPr>
          <p:cNvPr id="5" name="文本框 4"/>
          <p:cNvSpPr txBox="1"/>
          <p:nvPr/>
        </p:nvSpPr>
        <p:spPr>
          <a:xfrm>
            <a:off x="2194400" y="2261201"/>
            <a:ext cx="6994728" cy="4707890"/>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模型训练过程</a:t>
            </a:r>
            <a:br>
              <a:rPr lang="zh-CN" altLang="en-US" sz="1400" i="1" dirty="0">
                <a:solidFill>
                  <a:srgbClr val="808080"/>
                </a:solidFill>
                <a:effectLst/>
              </a:rPr>
            </a:br>
            <a:r>
              <a:rPr lang="en-GB" altLang="zh-CN" sz="1400" b="1" dirty="0">
                <a:solidFill>
                  <a:srgbClr val="000080"/>
                </a:solidFill>
                <a:effectLst/>
              </a:rPr>
              <a:t>def </a:t>
            </a:r>
            <a:r>
              <a:rPr lang="en-GB" altLang="zh-CN" sz="1400" dirty="0"/>
              <a:t>train(</a:t>
            </a:r>
            <a:r>
              <a:rPr lang="en-GB" altLang="zh-CN" sz="1400" dirty="0" err="1"/>
              <a:t>train_dataset,input_dim,class_num</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固定随机数种子</a:t>
            </a:r>
            <a:br>
              <a:rPr lang="zh-CN" altLang="en-US" sz="1400" i="1" dirty="0">
                <a:solidFill>
                  <a:srgbClr val="808080"/>
                </a:solidFill>
                <a:effectLst/>
              </a:rPr>
            </a:br>
            <a:r>
              <a:rPr lang="zh-CN" altLang="en-US" sz="1400" i="1" dirty="0">
                <a:solidFill>
                  <a:srgbClr val="808080"/>
                </a:solidFill>
                <a:effectLst/>
              </a:rPr>
              <a:t>    </a:t>
            </a:r>
            <a:r>
              <a:rPr lang="en-GB" altLang="zh-CN" sz="1400" dirty="0" err="1"/>
              <a:t>torch.manual_seed</a:t>
            </a:r>
            <a:r>
              <a:rPr lang="en-GB" altLang="zh-CN" sz="1400" dirty="0"/>
              <a:t>(</a:t>
            </a:r>
            <a:r>
              <a:rPr lang="en-GB" altLang="zh-CN" sz="1400" dirty="0">
                <a:solidFill>
                  <a:srgbClr val="0000FF"/>
                </a:solidFill>
                <a:effectLst/>
              </a:rPr>
              <a:t>0</a:t>
            </a:r>
            <a:r>
              <a:rPr lang="en-GB" altLang="zh-CN" sz="1400" dirty="0"/>
              <a:t>)</a:t>
            </a:r>
            <a:endParaRPr lang="en-GB" altLang="zh-CN" sz="1400" dirty="0"/>
          </a:p>
          <a:p>
            <a:pPr>
              <a:lnSpc>
                <a:spcPct val="150000"/>
              </a:lnSpc>
              <a:spcBef>
                <a:spcPts val="360"/>
              </a:spcBef>
              <a:spcAft>
                <a:spcPts val="360"/>
              </a:spcAft>
            </a:pPr>
            <a:r>
              <a:rPr lang="en-GB" altLang="zh-CN" sz="1400" dirty="0"/>
              <a:t> </a:t>
            </a:r>
            <a:r>
              <a:rPr lang="en-US" altLang="en-GB" sz="1400" dirty="0"/>
              <a:t>   </a:t>
            </a:r>
            <a:r>
              <a:rPr lang="en-GB" altLang="zh-CN" sz="1400" i="1" dirty="0">
                <a:solidFill>
                  <a:srgbClr val="008001"/>
                </a:solidFill>
                <a:effectLst/>
                <a:sym typeface="+mn-ea"/>
              </a:rPr>
              <a:t># </a:t>
            </a:r>
            <a:r>
              <a:rPr lang="zh-CN" altLang="en-US" sz="1400" i="1" dirty="0">
                <a:solidFill>
                  <a:srgbClr val="008001"/>
                </a:solidFill>
                <a:effectLst/>
                <a:sym typeface="+mn-ea"/>
              </a:rPr>
              <a:t>初始化数据加载器</a:t>
            </a:r>
            <a:br>
              <a:rPr lang="zh-CN" altLang="en-US" sz="1400" i="1" dirty="0">
                <a:solidFill>
                  <a:srgbClr val="808080"/>
                </a:solidFill>
                <a:effectLst/>
                <a:sym typeface="+mn-ea"/>
              </a:rPr>
            </a:br>
            <a:r>
              <a:rPr lang="zh-CN" altLang="en-US" sz="1400" i="1" dirty="0">
                <a:solidFill>
                  <a:srgbClr val="808080"/>
                </a:solidFill>
                <a:effectLst/>
                <a:sym typeface="+mn-ea"/>
              </a:rPr>
              <a:t>    </a:t>
            </a:r>
            <a:r>
              <a:rPr lang="en-GB" altLang="zh-CN" sz="1400" dirty="0" err="1">
                <a:sym typeface="+mn-ea"/>
              </a:rPr>
              <a:t>dataloader</a:t>
            </a:r>
            <a:r>
              <a:rPr lang="en-GB" altLang="zh-CN" sz="1400" dirty="0">
                <a:sym typeface="+mn-ea"/>
              </a:rPr>
              <a:t> = </a:t>
            </a:r>
            <a:r>
              <a:rPr lang="en-GB" altLang="zh-CN" sz="1400" dirty="0" err="1">
                <a:sym typeface="+mn-ea"/>
              </a:rPr>
              <a:t>DataLoader</a:t>
            </a:r>
            <a:r>
              <a:rPr lang="en-GB" altLang="zh-CN" sz="1400" dirty="0">
                <a:sym typeface="+mn-ea"/>
              </a:rPr>
              <a:t>(</a:t>
            </a:r>
            <a:r>
              <a:rPr lang="en-GB" altLang="zh-CN" sz="1400" dirty="0" err="1">
                <a:sym typeface="+mn-ea"/>
              </a:rPr>
              <a:t>train_dataset</a:t>
            </a:r>
            <a:r>
              <a:rPr lang="en-GB" altLang="zh-CN" sz="1400" dirty="0">
                <a:sym typeface="+mn-ea"/>
              </a:rPr>
              <a:t>, </a:t>
            </a:r>
            <a:r>
              <a:rPr lang="en-GB" altLang="zh-CN" sz="1400" dirty="0">
                <a:solidFill>
                  <a:srgbClr val="660099"/>
                </a:solidFill>
                <a:effectLst/>
                <a:sym typeface="+mn-ea"/>
              </a:rPr>
              <a:t>shuffle</a:t>
            </a:r>
            <a:r>
              <a:rPr lang="en-GB" altLang="zh-CN" sz="1400" dirty="0">
                <a:sym typeface="+mn-ea"/>
              </a:rPr>
              <a:t>=</a:t>
            </a:r>
            <a:r>
              <a:rPr lang="en-GB" altLang="zh-CN" sz="1400" b="1" dirty="0">
                <a:solidFill>
                  <a:srgbClr val="000080"/>
                </a:solidFill>
                <a:effectLst/>
                <a:sym typeface="+mn-ea"/>
              </a:rPr>
              <a:t>True</a:t>
            </a:r>
            <a:r>
              <a:rPr lang="en-GB" altLang="zh-CN" sz="1400" dirty="0">
                <a:sym typeface="+mn-ea"/>
              </a:rPr>
              <a:t>, </a:t>
            </a:r>
            <a:r>
              <a:rPr lang="en-GB" altLang="zh-CN" sz="1400" dirty="0" err="1">
                <a:solidFill>
                  <a:srgbClr val="660099"/>
                </a:solidFill>
                <a:effectLst/>
                <a:sym typeface="+mn-ea"/>
              </a:rPr>
              <a:t>batch_size</a:t>
            </a:r>
            <a:r>
              <a:rPr lang="en-GB" altLang="zh-CN" sz="1400" dirty="0">
                <a:sym typeface="+mn-ea"/>
              </a:rPr>
              <a:t>=</a:t>
            </a:r>
            <a:r>
              <a:rPr lang="en-GB" altLang="zh-CN" sz="1400" dirty="0">
                <a:solidFill>
                  <a:srgbClr val="0000FF"/>
                </a:solidFill>
                <a:effectLst/>
                <a:sym typeface="+mn-ea"/>
              </a:rPr>
              <a:t>8</a:t>
            </a:r>
            <a:r>
              <a:rPr lang="en-GB" altLang="zh-CN" sz="1400" dirty="0">
                <a:sym typeface="+mn-ea"/>
              </a:rPr>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初始化模型</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PhonePriceModel</a:t>
            </a:r>
            <a:r>
              <a:rPr lang="en-GB" altLang="zh-CN" sz="1400" dirty="0"/>
              <a:t>(</a:t>
            </a:r>
            <a:r>
              <a:rPr lang="en-GB" altLang="zh-CN" sz="1400" dirty="0" err="1"/>
              <a:t>input_dim</a:t>
            </a:r>
            <a:r>
              <a:rPr lang="en-GB" altLang="zh-CN" sz="1400" dirty="0"/>
              <a:t>, </a:t>
            </a:r>
            <a:r>
              <a:rPr lang="en-GB" altLang="zh-CN" sz="1400" dirty="0" err="1"/>
              <a:t>class_num</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损失函数</a:t>
            </a:r>
            <a:br>
              <a:rPr lang="zh-CN" altLang="en-US" sz="1400" i="1" dirty="0">
                <a:solidFill>
                  <a:srgbClr val="808080"/>
                </a:solidFill>
                <a:effectLst/>
              </a:rPr>
            </a:br>
            <a:r>
              <a:rPr lang="zh-CN" altLang="en-US" sz="1400" i="1" dirty="0">
                <a:solidFill>
                  <a:srgbClr val="808080"/>
                </a:solidFill>
                <a:effectLst/>
              </a:rPr>
              <a:t>    </a:t>
            </a:r>
            <a:r>
              <a:rPr lang="en-GB" altLang="zh-CN" sz="1400" dirty="0"/>
              <a:t>criterion = </a:t>
            </a:r>
            <a:r>
              <a:rPr lang="en-GB" altLang="zh-CN" sz="1400" dirty="0" err="1"/>
              <a:t>nn.CrossEntropyLoss</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优化方法</a:t>
            </a:r>
            <a:br>
              <a:rPr lang="zh-CN" altLang="en-US" sz="1400" i="1" dirty="0">
                <a:solidFill>
                  <a:srgbClr val="808080"/>
                </a:solidFill>
                <a:effectLst/>
              </a:rPr>
            </a:br>
            <a:r>
              <a:rPr lang="zh-CN" altLang="en-US" sz="1400" i="1" dirty="0">
                <a:solidFill>
                  <a:srgbClr val="808080"/>
                </a:solidFill>
                <a:effectLst/>
              </a:rPr>
              <a:t>    </a:t>
            </a:r>
            <a:r>
              <a:rPr lang="en-GB" altLang="zh-CN" sz="1400" dirty="0"/>
              <a:t>optimizer = </a:t>
            </a:r>
            <a:r>
              <a:rPr lang="en-GB" altLang="zh-CN" sz="1400" dirty="0" err="1"/>
              <a:t>optim.SGD</a:t>
            </a:r>
            <a:r>
              <a:rPr lang="en-GB" altLang="zh-CN" sz="1400" dirty="0"/>
              <a:t>(</a:t>
            </a:r>
            <a:r>
              <a:rPr lang="en-GB" altLang="zh-CN" sz="1400" dirty="0" err="1"/>
              <a:t>model.parameters</a:t>
            </a:r>
            <a:r>
              <a:rPr lang="en-GB" altLang="zh-CN" sz="1400" dirty="0"/>
              <a:t>(), </a:t>
            </a:r>
            <a:r>
              <a:rPr lang="en-GB" altLang="zh-CN" sz="1400" dirty="0" err="1">
                <a:solidFill>
                  <a:srgbClr val="660099"/>
                </a:solidFill>
                <a:effectLst/>
              </a:rPr>
              <a:t>lr</a:t>
            </a:r>
            <a:r>
              <a:rPr lang="en-GB" altLang="zh-CN" sz="1400" dirty="0"/>
              <a:t>=</a:t>
            </a:r>
            <a:r>
              <a:rPr lang="en-GB" altLang="zh-CN" sz="1400" dirty="0">
                <a:solidFill>
                  <a:srgbClr val="0000FF"/>
                </a:solidFill>
                <a:effectLst/>
              </a:rPr>
              <a:t>1e-3</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训练轮数</a:t>
            </a:r>
            <a:br>
              <a:rPr lang="zh-CN" altLang="en-US" sz="1400" i="1" dirty="0">
                <a:solidFill>
                  <a:srgbClr val="808080"/>
                </a:solidFill>
                <a:effectLst/>
              </a:rPr>
            </a:br>
            <a:r>
              <a:rPr lang="zh-CN" altLang="en-US" sz="1400" i="1" dirty="0">
                <a:solidFill>
                  <a:srgbClr val="808080"/>
                </a:solidFill>
                <a:effectLst/>
              </a:rPr>
              <a:t>    </a:t>
            </a:r>
            <a:r>
              <a:rPr lang="en-GB" altLang="zh-CN" sz="1400" dirty="0" err="1"/>
              <a:t>num_epoch</a:t>
            </a:r>
            <a:r>
              <a:rPr lang="en-GB" altLang="zh-CN" sz="1400" dirty="0"/>
              <a:t> = </a:t>
            </a:r>
            <a:r>
              <a:rPr lang="en-GB" altLang="zh-CN" sz="1400" dirty="0">
                <a:solidFill>
                  <a:srgbClr val="0000FF"/>
                </a:solidFill>
                <a:effectLst/>
              </a:rPr>
              <a:t>50</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编写训练函数</a:t>
            </a:r>
            <a:endParaRPr lang="zh-CN" altLang="en-US" b="1" i="0" dirty="0">
              <a:solidFill>
                <a:srgbClr val="333333"/>
              </a:solidFill>
              <a:effectLst/>
              <a:latin typeface="Helvetica Neue"/>
            </a:endParaRPr>
          </a:p>
        </p:txBody>
      </p:sp>
      <p:sp>
        <p:nvSpPr>
          <p:cNvPr id="5" name="文本框 4"/>
          <p:cNvSpPr txBox="1"/>
          <p:nvPr/>
        </p:nvSpPr>
        <p:spPr>
          <a:xfrm>
            <a:off x="2562916" y="939724"/>
            <a:ext cx="8918204" cy="569277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US" altLang="zh-CN" sz="1400" i="1" dirty="0">
                <a:solidFill>
                  <a:srgbClr val="008001"/>
                </a:solidFill>
                <a:effectLst/>
              </a:rPr>
              <a:t># </a:t>
            </a:r>
            <a:r>
              <a:rPr lang="zh-CN" altLang="en-US" sz="1400" i="1" dirty="0">
                <a:solidFill>
                  <a:srgbClr val="008001"/>
                </a:solidFill>
                <a:effectLst/>
              </a:rPr>
              <a:t>遍历每个轮次的数据</a:t>
            </a:r>
            <a:br>
              <a:rPr lang="zh-CN" altLang="en-US" sz="1400" i="1" dirty="0">
                <a:solidFill>
                  <a:srgbClr val="808080"/>
                </a:solidFill>
                <a:effectLst/>
              </a:rPr>
            </a:br>
            <a:r>
              <a:rPr lang="en-GB" altLang="zh-CN" sz="1400" b="1" dirty="0">
                <a:solidFill>
                  <a:srgbClr val="000080"/>
                </a:solidFill>
                <a:effectLst/>
              </a:rPr>
              <a:t>for </a:t>
            </a:r>
            <a:r>
              <a:rPr lang="en-GB" altLang="zh-CN" sz="1400" dirty="0" err="1"/>
              <a:t>epoch_idx</a:t>
            </a:r>
            <a:r>
              <a:rPr lang="en-GB" altLang="zh-CN" sz="1400" dirty="0"/>
              <a:t> </a:t>
            </a:r>
            <a:r>
              <a:rPr lang="en-GB" altLang="zh-CN" sz="1400" b="1" dirty="0">
                <a:solidFill>
                  <a:srgbClr val="000080"/>
                </a:solidFill>
                <a:effectLst/>
              </a:rPr>
              <a:t>in </a:t>
            </a:r>
            <a:r>
              <a:rPr lang="en-GB" altLang="zh-CN" sz="1400" dirty="0">
                <a:solidFill>
                  <a:srgbClr val="000080"/>
                </a:solidFill>
                <a:effectLst/>
              </a:rPr>
              <a:t>range</a:t>
            </a:r>
            <a:r>
              <a:rPr lang="en-GB" altLang="zh-CN" sz="1400" dirty="0"/>
              <a:t>(</a:t>
            </a:r>
            <a:r>
              <a:rPr lang="en-GB" altLang="zh-CN" sz="1400" dirty="0" err="1"/>
              <a:t>num_epoch</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训练时间</a:t>
            </a:r>
            <a:br>
              <a:rPr lang="zh-CN" altLang="en-US" sz="1400" i="1" dirty="0">
                <a:solidFill>
                  <a:srgbClr val="808080"/>
                </a:solidFill>
                <a:effectLst/>
              </a:rPr>
            </a:br>
            <a:r>
              <a:rPr lang="zh-CN" altLang="en-US" sz="1400" i="1" dirty="0">
                <a:solidFill>
                  <a:srgbClr val="808080"/>
                </a:solidFill>
                <a:effectLst/>
              </a:rPr>
              <a:t>    </a:t>
            </a:r>
            <a:r>
              <a:rPr lang="en-GB" altLang="zh-CN" sz="1400" dirty="0"/>
              <a:t>start = </a:t>
            </a:r>
            <a:r>
              <a:rPr lang="en-GB" altLang="zh-CN" sz="1400" dirty="0" err="1"/>
              <a:t>time.time</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计算损失</a:t>
            </a:r>
            <a:br>
              <a:rPr lang="zh-CN" altLang="en-US" sz="1400" i="1" dirty="0">
                <a:solidFill>
                  <a:srgbClr val="808080"/>
                </a:solidFill>
                <a:effectLst/>
              </a:rPr>
            </a:br>
            <a:r>
              <a:rPr lang="zh-CN" altLang="en-US" sz="1400" i="1" dirty="0">
                <a:solidFill>
                  <a:srgbClr val="808080"/>
                </a:solidFill>
                <a:effectLst/>
              </a:rPr>
              <a:t>    </a:t>
            </a:r>
            <a:r>
              <a:rPr lang="en-GB" altLang="zh-CN" sz="1400" dirty="0" err="1"/>
              <a:t>total_loss</a:t>
            </a:r>
            <a:r>
              <a:rPr lang="en-GB" altLang="zh-CN" sz="1400" dirty="0"/>
              <a:t> = </a:t>
            </a:r>
            <a:r>
              <a:rPr lang="en-GB" altLang="zh-CN" sz="1400" dirty="0">
                <a:solidFill>
                  <a:srgbClr val="0000FF"/>
                </a:solidFill>
                <a:effectLst/>
              </a:rPr>
              <a:t>0.0</a:t>
            </a:r>
            <a:br>
              <a:rPr lang="en-GB" altLang="zh-CN" sz="1400" dirty="0">
                <a:solidFill>
                  <a:srgbClr val="0000FF"/>
                </a:solidFill>
                <a:effectLst/>
              </a:rPr>
            </a:br>
            <a:r>
              <a:rPr lang="en-GB" altLang="zh-CN" sz="1400" dirty="0">
                <a:solidFill>
                  <a:srgbClr val="0000FF"/>
                </a:solidFill>
                <a:effectLst/>
              </a:rPr>
              <a:t>    </a:t>
            </a:r>
            <a:r>
              <a:rPr lang="en-GB" altLang="zh-CN" sz="1400" dirty="0" err="1"/>
              <a:t>total_num</a:t>
            </a:r>
            <a:r>
              <a:rPr lang="en-GB" altLang="zh-CN" sz="1400" dirty="0"/>
              <a:t> = </a:t>
            </a:r>
            <a:r>
              <a:rPr lang="en-US" altLang="en-GB" sz="1400" dirty="0"/>
              <a:t>0</a:t>
            </a:r>
            <a:br>
              <a:rPr lang="en-GB" altLang="zh-CN" sz="1400" dirty="0">
                <a:solidFill>
                  <a:srgbClr val="0000FF"/>
                </a:solidFill>
                <a:effectLst/>
              </a:rPr>
            </a:br>
            <a:r>
              <a:rPr lang="en-GB" altLang="zh-CN" sz="1400" dirty="0">
                <a:solidFill>
                  <a:srgbClr val="008001"/>
                </a:solidFill>
                <a:effectLst/>
              </a:rPr>
              <a:t>    </a:t>
            </a:r>
            <a:r>
              <a:rPr lang="en-GB" altLang="zh-CN" sz="1400" i="1" dirty="0">
                <a:solidFill>
                  <a:srgbClr val="008001"/>
                </a:solidFill>
                <a:effectLst/>
              </a:rPr>
              <a:t># </a:t>
            </a:r>
            <a:r>
              <a:rPr lang="zh-CN" altLang="en-US" sz="1400" i="1" dirty="0">
                <a:solidFill>
                  <a:srgbClr val="008001"/>
                </a:solidFill>
                <a:effectLst/>
              </a:rPr>
              <a:t>遍历每个</a:t>
            </a:r>
            <a:r>
              <a:rPr lang="en-GB" altLang="zh-CN" sz="1400" i="1" dirty="0">
                <a:solidFill>
                  <a:srgbClr val="008001"/>
                </a:solidFill>
                <a:effectLst/>
              </a:rPr>
              <a:t>batch</a:t>
            </a:r>
            <a:r>
              <a:rPr lang="zh-CN" altLang="en-US" sz="1400" i="1" dirty="0">
                <a:solidFill>
                  <a:srgbClr val="008001"/>
                </a:solidFill>
                <a:effectLst/>
              </a:rPr>
              <a:t>数据进行处理</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x, y </a:t>
            </a:r>
            <a:r>
              <a:rPr lang="en-GB" altLang="zh-CN" sz="1400" b="1" dirty="0">
                <a:solidFill>
                  <a:srgbClr val="000080"/>
                </a:solidFill>
                <a:effectLst/>
              </a:rPr>
              <a:t>in </a:t>
            </a:r>
            <a:r>
              <a:rPr lang="en-GB" altLang="zh-CN" sz="1400" dirty="0" err="1"/>
              <a:t>dataloader</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将数据送入网络中进行预测</a:t>
            </a:r>
            <a:br>
              <a:rPr lang="zh-CN" altLang="en-US" sz="1400" i="1" dirty="0">
                <a:solidFill>
                  <a:srgbClr val="808080"/>
                </a:solidFill>
                <a:effectLst/>
              </a:rPr>
            </a:br>
            <a:r>
              <a:rPr lang="zh-CN" altLang="en-US" sz="1400" i="1" dirty="0">
                <a:solidFill>
                  <a:srgbClr val="808080"/>
                </a:solidFill>
                <a:effectLst/>
              </a:rPr>
              <a:t>        </a:t>
            </a:r>
            <a:r>
              <a:rPr lang="en-GB" altLang="zh-CN" sz="1400" dirty="0"/>
              <a:t>output = model(x)</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计算损失</a:t>
            </a:r>
            <a:br>
              <a:rPr lang="zh-CN" altLang="en-US" sz="1400" i="1" dirty="0">
                <a:solidFill>
                  <a:srgbClr val="808080"/>
                </a:solidFill>
                <a:effectLst/>
              </a:rPr>
            </a:br>
            <a:r>
              <a:rPr lang="zh-CN" altLang="en-US" sz="1400" i="1" dirty="0">
                <a:solidFill>
                  <a:srgbClr val="808080"/>
                </a:solidFill>
                <a:effectLst/>
              </a:rPr>
              <a:t>        </a:t>
            </a:r>
            <a:r>
              <a:rPr lang="en-GB" altLang="zh-CN" sz="1400" dirty="0"/>
              <a:t>loss = criterion(output, y)</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梯度清零</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optimizer.zero_grad</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反向传播</a:t>
            </a:r>
            <a:br>
              <a:rPr lang="zh-CN" altLang="en-US" sz="1400" i="1" dirty="0">
                <a:solidFill>
                  <a:srgbClr val="808080"/>
                </a:solidFill>
                <a:effectLst/>
              </a:rPr>
            </a:br>
            <a:r>
              <a:rPr lang="zh-CN" altLang="en-US" sz="1400" i="1" dirty="0">
                <a:solidFill>
                  <a:srgbClr val="808080"/>
                </a:solidFill>
                <a:effectLst/>
              </a:rPr>
              <a:t>        </a:t>
            </a:r>
            <a:r>
              <a:rPr lang="en-GB" altLang="zh-CN" sz="1400" dirty="0" err="1"/>
              <a:t>loss.backward</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参数更新</a:t>
            </a:r>
            <a:br>
              <a:rPr lang="zh-CN" altLang="en-US" sz="1400" i="1" dirty="0">
                <a:solidFill>
                  <a:srgbClr val="808080"/>
                </a:solidFill>
                <a:effectLst/>
              </a:rPr>
            </a:br>
            <a:r>
              <a:rPr lang="zh-CN" altLang="en-US" sz="1400" i="1" dirty="0">
                <a:solidFill>
                  <a:srgbClr val="808080"/>
                </a:solidFill>
                <a:effectLst/>
              </a:rPr>
              <a:t>        </a:t>
            </a:r>
            <a:r>
              <a:rPr lang="en-GB" altLang="zh-CN" sz="1400" dirty="0" err="1"/>
              <a:t>optimizer.step</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损失计算</a:t>
            </a:r>
            <a:br>
              <a:rPr lang="zh-CN" altLang="en-US" sz="1400" i="1" dirty="0">
                <a:solidFill>
                  <a:srgbClr val="808080"/>
                </a:solidFill>
                <a:effectLst/>
              </a:rPr>
            </a:br>
            <a:r>
              <a:rPr lang="zh-CN" altLang="en-US" sz="1400" i="1" dirty="0">
                <a:solidFill>
                  <a:srgbClr val="808080"/>
                </a:solidFill>
                <a:effectLst/>
              </a:rPr>
              <a:t>        </a:t>
            </a:r>
            <a:r>
              <a:rPr lang="en-GB" altLang="zh-CN" sz="1400" dirty="0" err="1"/>
              <a:t>total_num</a:t>
            </a:r>
            <a:r>
              <a:rPr lang="en-GB" altLang="zh-CN" sz="1400" dirty="0"/>
              <a:t> += </a:t>
            </a:r>
            <a:r>
              <a:rPr lang="en-GB" altLang="zh-CN" sz="1400" dirty="0">
                <a:solidFill>
                  <a:srgbClr val="0000FF"/>
                </a:solidFill>
                <a:effectLst/>
              </a:rPr>
              <a:t>1</a:t>
            </a:r>
            <a:br>
              <a:rPr lang="en-GB" altLang="zh-CN" sz="1400" dirty="0">
                <a:solidFill>
                  <a:srgbClr val="0000FF"/>
                </a:solidFill>
                <a:effectLst/>
              </a:rPr>
            </a:br>
            <a:r>
              <a:rPr lang="en-GB" altLang="zh-CN" sz="1400" dirty="0">
                <a:solidFill>
                  <a:srgbClr val="0000FF"/>
                </a:solidFill>
                <a:effectLst/>
              </a:rPr>
              <a:t>        </a:t>
            </a:r>
            <a:r>
              <a:rPr lang="en-GB" altLang="zh-CN" sz="1400" dirty="0" err="1"/>
              <a:t>total_loss</a:t>
            </a:r>
            <a:r>
              <a:rPr lang="en-GB" altLang="zh-CN" sz="1400" dirty="0"/>
              <a:t> += </a:t>
            </a:r>
            <a:r>
              <a:rPr lang="en-GB" altLang="zh-CN" sz="1400" dirty="0" err="1"/>
              <a:t>loss.item</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打印损失变换结果</a:t>
            </a:r>
            <a:br>
              <a:rPr lang="zh-CN" altLang="en-US" sz="1400" i="1" dirty="0">
                <a:solidFill>
                  <a:srgbClr val="808080"/>
                </a:solidFill>
                <a:effectLst/>
              </a:rPr>
            </a:br>
            <a:r>
              <a:rPr lang="zh-CN" altLang="en-US" sz="1400" i="1" dirty="0">
                <a:solidFill>
                  <a:srgbClr val="808080"/>
                </a:solidFill>
                <a:effectLst/>
              </a:rPr>
              <a:t>    </a:t>
            </a:r>
            <a:r>
              <a:rPr lang="en-GB" altLang="zh-CN" sz="1400" dirty="0">
                <a:solidFill>
                  <a:srgbClr val="000080"/>
                </a:solidFill>
                <a:effectLst/>
              </a:rPr>
              <a:t>print</a:t>
            </a:r>
            <a:r>
              <a:rPr lang="en-GB" altLang="zh-CN" sz="1400" dirty="0"/>
              <a:t>(</a:t>
            </a:r>
            <a:r>
              <a:rPr lang="en-GB" altLang="zh-CN" sz="1400" b="1" dirty="0">
                <a:solidFill>
                  <a:srgbClr val="008000"/>
                </a:solidFill>
                <a:effectLst/>
              </a:rPr>
              <a:t>'epoch: %4s loss: %.2f, time: %.2fs' </a:t>
            </a:r>
            <a:r>
              <a:rPr lang="en-GB" altLang="zh-CN" sz="1400" dirty="0"/>
              <a:t>%(</a:t>
            </a:r>
            <a:r>
              <a:rPr lang="en-GB" altLang="zh-CN" sz="1400" dirty="0" err="1"/>
              <a:t>epoch_idx</a:t>
            </a:r>
            <a:r>
              <a:rPr lang="en-GB" altLang="zh-CN" sz="1400" dirty="0"/>
              <a:t> + </a:t>
            </a:r>
            <a:r>
              <a:rPr lang="en-GB" altLang="zh-CN" sz="1400" dirty="0">
                <a:solidFill>
                  <a:srgbClr val="0000FF"/>
                </a:solidFill>
                <a:effectLst/>
              </a:rPr>
              <a:t>1</a:t>
            </a:r>
            <a:r>
              <a:rPr lang="en-GB" altLang="zh-CN" sz="1400" dirty="0"/>
              <a:t>, </a:t>
            </a:r>
            <a:r>
              <a:rPr lang="en-GB" altLang="zh-CN" sz="1400" dirty="0" err="1"/>
              <a:t>total_loss</a:t>
            </a:r>
            <a:r>
              <a:rPr lang="en-GB" altLang="zh-CN" sz="1400" dirty="0"/>
              <a:t> / </a:t>
            </a:r>
            <a:r>
              <a:rPr lang="en-GB" altLang="zh-CN" sz="1400" dirty="0" err="1"/>
              <a:t>total_num</a:t>
            </a:r>
            <a:r>
              <a:rPr lang="en-GB" altLang="zh-CN" sz="1400" dirty="0"/>
              <a:t>, </a:t>
            </a:r>
            <a:r>
              <a:rPr lang="en-GB" altLang="zh-CN" sz="1400" dirty="0" err="1"/>
              <a:t>time.time</a:t>
            </a:r>
            <a:r>
              <a:rPr lang="en-GB" altLang="zh-CN" sz="1400" dirty="0"/>
              <a:t>() - start))</a:t>
            </a:r>
            <a:br>
              <a:rPr lang="en-GB" altLang="zh-CN" sz="1400" dirty="0"/>
            </a:br>
            <a:r>
              <a:rPr lang="en-GB" altLang="zh-CN" sz="1400" i="1" dirty="0">
                <a:solidFill>
                  <a:srgbClr val="008001"/>
                </a:solidFill>
                <a:effectLst/>
              </a:rPr>
              <a:t># </a:t>
            </a:r>
            <a:r>
              <a:rPr lang="zh-CN" altLang="en-US" sz="1400" i="1" dirty="0">
                <a:solidFill>
                  <a:srgbClr val="008001"/>
                </a:solidFill>
                <a:effectLst/>
              </a:rPr>
              <a:t>模型保存</a:t>
            </a:r>
            <a:br>
              <a:rPr lang="zh-CN" altLang="en-US" sz="1400" i="1" dirty="0">
                <a:solidFill>
                  <a:srgbClr val="808080"/>
                </a:solidFill>
                <a:effectLst/>
              </a:rPr>
            </a:br>
            <a:r>
              <a:rPr lang="en-GB" altLang="zh-CN" sz="1400" dirty="0" err="1"/>
              <a:t>torch.save</a:t>
            </a:r>
            <a:r>
              <a:rPr lang="en-GB" altLang="zh-CN" sz="1400" dirty="0"/>
              <a:t>(</a:t>
            </a:r>
            <a:r>
              <a:rPr lang="en-GB" altLang="zh-CN" sz="1400" dirty="0" err="1"/>
              <a:t>model.state_dict</a:t>
            </a:r>
            <a:r>
              <a:rPr lang="en-GB" altLang="zh-CN" sz="1400" dirty="0"/>
              <a:t>(), </a:t>
            </a:r>
            <a:r>
              <a:rPr lang="en-GB" altLang="zh-CN" sz="1400" b="1" dirty="0">
                <a:solidFill>
                  <a:srgbClr val="008000"/>
                </a:solidFill>
                <a:effectLst/>
              </a:rPr>
              <a:t>'model/</a:t>
            </a:r>
            <a:r>
              <a:rPr lang="en-GB" altLang="zh-CN" sz="1400" b="1" dirty="0" err="1">
                <a:solidFill>
                  <a:srgbClr val="008000"/>
                </a:solidFill>
                <a:effectLst/>
              </a:rPr>
              <a:t>phone.pth</a:t>
            </a:r>
            <a:r>
              <a:rPr lang="en-GB" altLang="zh-CN" sz="1400" b="1" dirty="0">
                <a:solidFill>
                  <a:srgbClr val="008000"/>
                </a:solidFill>
                <a:effectLst/>
              </a:rPr>
              <a:t>'</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dirty="0">
                <a:solidFill>
                  <a:srgbClr val="333333"/>
                </a:solidFill>
                <a:latin typeface="Helvetica Neue"/>
              </a:rPr>
              <a:t>模型训练</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dirty="0">
                <a:solidFill>
                  <a:srgbClr val="333333"/>
                </a:solidFill>
                <a:latin typeface="Helvetica Neue"/>
              </a:rPr>
              <a:t>调用训练函数：</a:t>
            </a:r>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endParaRPr lang="en-US" altLang="zh-CN" dirty="0">
              <a:solidFill>
                <a:srgbClr val="333333"/>
              </a:solidFill>
              <a:latin typeface="Helvetica Neue"/>
            </a:endParaRPr>
          </a:p>
          <a:p>
            <a:pPr algn="l"/>
            <a:r>
              <a:rPr lang="zh-CN" altLang="en-US" dirty="0">
                <a:solidFill>
                  <a:srgbClr val="333333"/>
                </a:solidFill>
                <a:latin typeface="Helvetica Neue"/>
              </a:rPr>
              <a:t>训练结果如下所示：</a:t>
            </a:r>
            <a:endParaRPr lang="en-US" altLang="zh-CN" dirty="0">
              <a:solidFill>
                <a:srgbClr val="333333"/>
              </a:solidFill>
              <a:latin typeface="Helvetica Neue"/>
            </a:endParaRPr>
          </a:p>
        </p:txBody>
      </p:sp>
      <p:sp>
        <p:nvSpPr>
          <p:cNvPr id="5" name="文本框 4"/>
          <p:cNvSpPr txBox="1"/>
          <p:nvPr/>
        </p:nvSpPr>
        <p:spPr>
          <a:xfrm>
            <a:off x="2571966" y="1766671"/>
            <a:ext cx="6994728" cy="1671291"/>
          </a:xfrm>
          <a:prstGeom prst="rect">
            <a:avLst/>
          </a:prstGeom>
          <a:solidFill>
            <a:srgbClr val="FFFFE4"/>
          </a:solidFill>
          <a:ln>
            <a:solidFill>
              <a:schemeClr val="tx1"/>
            </a:solidFill>
          </a:ln>
        </p:spPr>
        <p:txBody>
          <a:bodyPr wrap="square">
            <a:spAutoFit/>
          </a:bodyPr>
          <a:lstStyle/>
          <a:p>
            <a:pPr>
              <a:lnSpc>
                <a:spcPct val="150000"/>
              </a:lnSpc>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获取数据</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input_dim</a:t>
            </a:r>
            <a:r>
              <a:rPr lang="en-GB" altLang="zh-CN" sz="1400" dirty="0"/>
              <a:t>, </a:t>
            </a:r>
            <a:r>
              <a:rPr lang="en-GB" altLang="zh-CN" sz="1400" dirty="0" err="1"/>
              <a:t>class_num</a:t>
            </a:r>
            <a:r>
              <a:rPr lang="en-GB" altLang="zh-CN" sz="1400" dirty="0"/>
              <a:t> = </a:t>
            </a:r>
            <a:r>
              <a:rPr lang="en-GB" altLang="zh-CN" sz="1400" dirty="0" err="1"/>
              <a:t>create_dataset</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模型训练过程</a:t>
            </a:r>
            <a:br>
              <a:rPr lang="zh-CN" altLang="en-US" sz="1400" i="1" dirty="0">
                <a:solidFill>
                  <a:srgbClr val="808080"/>
                </a:solidFill>
                <a:effectLst/>
              </a:rPr>
            </a:br>
            <a:r>
              <a:rPr lang="zh-CN" altLang="en-US" sz="1400" i="1" dirty="0">
                <a:solidFill>
                  <a:srgbClr val="808080"/>
                </a:solidFill>
                <a:effectLst/>
              </a:rPr>
              <a:t>    </a:t>
            </a:r>
            <a:r>
              <a:rPr lang="en-GB" altLang="zh-CN" sz="1400" dirty="0"/>
              <a:t>train(</a:t>
            </a:r>
            <a:r>
              <a:rPr lang="en-GB" altLang="zh-CN" sz="1400" dirty="0" err="1"/>
              <a:t>train_dataset,input_dim,class_num</a:t>
            </a:r>
            <a:r>
              <a:rPr lang="en-GB" altLang="zh-CN" sz="1400" dirty="0"/>
              <a:t> )</a:t>
            </a:r>
            <a:endParaRPr lang="en-US" altLang="zh-CN" sz="1400" b="1" dirty="0">
              <a:solidFill>
                <a:srgbClr val="0000FF"/>
              </a:solidFill>
              <a:latin typeface="宋体" panose="02010600030101010101" pitchFamily="2" charset="-122"/>
              <a:ea typeface="阿里巴巴普惠体" panose="00020600040101010101"/>
            </a:endParaRPr>
          </a:p>
        </p:txBody>
      </p:sp>
      <p:pic>
        <p:nvPicPr>
          <p:cNvPr id="4" name="图片 3"/>
          <p:cNvPicPr>
            <a:picLocks noChangeAspect="1"/>
          </p:cNvPicPr>
          <p:nvPr/>
        </p:nvPicPr>
        <p:blipFill>
          <a:blip r:embed="rId1"/>
          <a:stretch>
            <a:fillRect/>
          </a:stretch>
        </p:blipFill>
        <p:spPr>
          <a:xfrm>
            <a:off x="2851150" y="4078613"/>
            <a:ext cx="4254500" cy="23368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algn="l"/>
            <a:r>
              <a:rPr lang="zh-CN" altLang="en-US" b="1" i="0" dirty="0">
                <a:solidFill>
                  <a:srgbClr val="333333"/>
                </a:solidFill>
                <a:effectLst/>
                <a:latin typeface="Helvetica Neue"/>
              </a:rPr>
              <a:t>编写评估函数</a:t>
            </a:r>
            <a:endParaRPr lang="zh-CN" altLang="en-US" b="1" i="0" dirty="0">
              <a:solidFill>
                <a:srgbClr val="333333"/>
              </a:solidFill>
              <a:effectLst/>
              <a:latin typeface="Helvetica Neue"/>
            </a:endParaRPr>
          </a:p>
        </p:txBody>
      </p:sp>
      <p:sp>
        <p:nvSpPr>
          <p:cNvPr id="3" name="文本占位符 2"/>
          <p:cNvSpPr>
            <a:spLocks noGrp="1"/>
          </p:cNvSpPr>
          <p:nvPr>
            <p:ph type="body" sz="quarter" idx="11"/>
          </p:nvPr>
        </p:nvSpPr>
        <p:spPr>
          <a:xfrm>
            <a:off x="746600" y="1457271"/>
            <a:ext cx="10698800" cy="5400729"/>
          </a:xfrm>
        </p:spPr>
        <p:txBody>
          <a:bodyPr/>
          <a:lstStyle/>
          <a:p>
            <a:pPr algn="l"/>
            <a:r>
              <a:rPr lang="zh-CN" altLang="en-US" b="0" i="0" dirty="0">
                <a:effectLst/>
                <a:latin typeface="Roboto" panose="02000000000000000000" pitchFamily="2" charset="0"/>
              </a:rPr>
              <a:t>使用训练好的模型，对未知的样本的进行预测的过程。我们这里使用前面单独划分出来的验证集来进行评估</a:t>
            </a:r>
            <a:r>
              <a:rPr lang="zh-CN" altLang="en-US" b="0" i="0" dirty="0">
                <a:solidFill>
                  <a:srgbClr val="333333"/>
                </a:solidFill>
                <a:effectLst/>
                <a:latin typeface="Helvetica Neue"/>
              </a:rPr>
              <a:t>。</a:t>
            </a:r>
            <a:endParaRPr lang="en-US" altLang="zh-CN" dirty="0">
              <a:solidFill>
                <a:srgbClr val="333333"/>
              </a:solidFill>
              <a:latin typeface="Helvetica Neue"/>
            </a:endParaRPr>
          </a:p>
        </p:txBody>
      </p:sp>
      <p:sp>
        <p:nvSpPr>
          <p:cNvPr id="5" name="文本框 4"/>
          <p:cNvSpPr txBox="1"/>
          <p:nvPr/>
        </p:nvSpPr>
        <p:spPr>
          <a:xfrm>
            <a:off x="995600" y="1975096"/>
            <a:ext cx="5467430" cy="4615815"/>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def </a:t>
            </a:r>
            <a:r>
              <a:rPr lang="en-GB" altLang="zh-CN" sz="1400" dirty="0"/>
              <a:t>test(</a:t>
            </a:r>
            <a:r>
              <a:rPr lang="en-GB" altLang="zh-CN" sz="1400" dirty="0" err="1"/>
              <a:t>valid_dataset,input_dim,class_num</a:t>
            </a:r>
            <a:r>
              <a:rPr lang="en-GB" altLang="zh-CN" sz="1400" dirty="0"/>
              <a:t>):</a:t>
            </a:r>
            <a:br>
              <a:rPr lang="en-GB" altLang="zh-CN" sz="1400" dirty="0"/>
            </a:b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加载模型和训练好的网络参数</a:t>
            </a:r>
            <a:br>
              <a:rPr lang="zh-CN" altLang="en-US" sz="1400" i="1" dirty="0">
                <a:solidFill>
                  <a:srgbClr val="808080"/>
                </a:solidFill>
                <a:effectLst/>
              </a:rPr>
            </a:br>
            <a:r>
              <a:rPr lang="zh-CN" altLang="en-US" sz="1400" i="1" dirty="0">
                <a:solidFill>
                  <a:srgbClr val="808080"/>
                </a:solidFill>
                <a:effectLst/>
              </a:rPr>
              <a:t>    </a:t>
            </a:r>
            <a:r>
              <a:rPr lang="en-GB" altLang="zh-CN" sz="1400" dirty="0"/>
              <a:t>model = </a:t>
            </a:r>
            <a:r>
              <a:rPr lang="en-GB" altLang="zh-CN" sz="1400" dirty="0" err="1"/>
              <a:t>PhonePriceModel</a:t>
            </a:r>
            <a:r>
              <a:rPr lang="en-GB" altLang="zh-CN" sz="1400" dirty="0"/>
              <a:t>(</a:t>
            </a:r>
            <a:r>
              <a:rPr lang="en-GB" altLang="zh-CN" sz="1400" dirty="0" err="1"/>
              <a:t>input_dim</a:t>
            </a:r>
            <a:r>
              <a:rPr lang="en-GB" altLang="zh-CN" sz="1400" dirty="0"/>
              <a:t>, </a:t>
            </a:r>
            <a:r>
              <a:rPr lang="en-GB" altLang="zh-CN" sz="1400" dirty="0" err="1"/>
              <a:t>class_num</a:t>
            </a:r>
            <a:r>
              <a:rPr lang="en-GB" altLang="zh-CN" sz="1400" dirty="0"/>
              <a:t>)</a:t>
            </a:r>
            <a:br>
              <a:rPr lang="en-GB" altLang="zh-CN" sz="1400" dirty="0"/>
            </a:br>
            <a:r>
              <a:rPr lang="en-GB" altLang="zh-CN" sz="1400" dirty="0"/>
              <a:t>    </a:t>
            </a:r>
            <a:r>
              <a:rPr lang="en-GB" altLang="zh-CN" sz="1400" dirty="0" err="1"/>
              <a:t>model.load_state_dict</a:t>
            </a:r>
            <a:r>
              <a:rPr lang="en-GB" altLang="zh-CN" sz="1400" dirty="0"/>
              <a:t>(</a:t>
            </a:r>
            <a:r>
              <a:rPr lang="en-GB" altLang="zh-CN" sz="1400" dirty="0" err="1"/>
              <a:t>torch.load</a:t>
            </a:r>
            <a:r>
              <a:rPr lang="en-GB" altLang="zh-CN" sz="1400" dirty="0"/>
              <a:t>(</a:t>
            </a:r>
            <a:r>
              <a:rPr lang="en-GB" altLang="zh-CN" sz="1400" b="1" dirty="0">
                <a:solidFill>
                  <a:srgbClr val="008000"/>
                </a:solidFill>
                <a:effectLst/>
              </a:rPr>
              <a:t>'</a:t>
            </a:r>
            <a:r>
              <a:rPr lang="en-US" altLang="en-GB" sz="1400" b="1" dirty="0">
                <a:solidFill>
                  <a:srgbClr val="008000"/>
                </a:solidFill>
                <a:effectLst/>
              </a:rPr>
              <a:t>model</a:t>
            </a:r>
            <a:r>
              <a:rPr lang="en-GB" altLang="zh-CN" sz="1400" b="1" dirty="0">
                <a:solidFill>
                  <a:srgbClr val="008000"/>
                </a:solidFill>
                <a:effectLst/>
              </a:rPr>
              <a:t>/</a:t>
            </a:r>
            <a:r>
              <a:rPr lang="en-GB" altLang="zh-CN" sz="1400" b="1" dirty="0" err="1">
                <a:solidFill>
                  <a:srgbClr val="008000"/>
                </a:solidFill>
                <a:effectLst/>
              </a:rPr>
              <a:t>phone.pth</a:t>
            </a:r>
            <a:r>
              <a:rPr lang="en-GB" altLang="zh-CN" sz="1400" b="1" dirty="0">
                <a:solidFill>
                  <a:srgbClr val="008000"/>
                </a:solidFill>
                <a:effectLst/>
              </a:rPr>
              <a:t>'</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构建加载器</a:t>
            </a:r>
            <a:br>
              <a:rPr lang="zh-CN" altLang="en-US" sz="1400" i="1" dirty="0">
                <a:solidFill>
                  <a:srgbClr val="808080"/>
                </a:solidFill>
                <a:effectLst/>
              </a:rPr>
            </a:br>
            <a:r>
              <a:rPr lang="zh-CN" altLang="en-US" sz="1400" i="1" dirty="0">
                <a:solidFill>
                  <a:srgbClr val="808080"/>
                </a:solidFill>
                <a:effectLst/>
              </a:rPr>
              <a:t>    </a:t>
            </a:r>
            <a:r>
              <a:rPr lang="en-GB" altLang="zh-CN" sz="1400" dirty="0" err="1"/>
              <a:t>dataloader</a:t>
            </a:r>
            <a:r>
              <a:rPr lang="en-GB" altLang="zh-CN" sz="1400" dirty="0"/>
              <a:t> = </a:t>
            </a:r>
            <a:r>
              <a:rPr lang="en-GB" altLang="zh-CN" sz="1400" dirty="0" err="1"/>
              <a:t>DataLoader</a:t>
            </a:r>
            <a:r>
              <a:rPr lang="en-GB" altLang="zh-CN" sz="1400" dirty="0"/>
              <a:t>(</a:t>
            </a:r>
            <a:r>
              <a:rPr lang="en-GB" altLang="zh-CN" sz="1400" dirty="0" err="1"/>
              <a:t>valid_dataset</a:t>
            </a:r>
            <a:r>
              <a:rPr lang="en-GB" altLang="zh-CN" sz="1400" dirty="0"/>
              <a:t>, </a:t>
            </a:r>
            <a:r>
              <a:rPr lang="en-GB" altLang="zh-CN" sz="1400" dirty="0" err="1">
                <a:solidFill>
                  <a:srgbClr val="660099"/>
                </a:solidFill>
                <a:effectLst/>
              </a:rPr>
              <a:t>batch_size</a:t>
            </a:r>
            <a:r>
              <a:rPr lang="en-GB" altLang="zh-CN" sz="1400" dirty="0"/>
              <a:t>=</a:t>
            </a:r>
            <a:r>
              <a:rPr lang="en-GB" altLang="zh-CN" sz="1400" dirty="0">
                <a:solidFill>
                  <a:srgbClr val="0000FF"/>
                </a:solidFill>
                <a:effectLst/>
              </a:rPr>
              <a:t>8</a:t>
            </a:r>
            <a:r>
              <a:rPr lang="en-GB" altLang="zh-CN" sz="1400" dirty="0"/>
              <a:t>, </a:t>
            </a:r>
            <a:r>
              <a:rPr lang="en-GB" altLang="zh-CN" sz="1400" dirty="0">
                <a:solidFill>
                  <a:srgbClr val="660099"/>
                </a:solidFill>
                <a:effectLst/>
              </a:rPr>
              <a:t>shuffle</a:t>
            </a:r>
            <a:r>
              <a:rPr lang="en-GB" altLang="zh-CN" sz="1400" dirty="0"/>
              <a:t>=</a:t>
            </a:r>
            <a:r>
              <a:rPr lang="en-GB" altLang="zh-CN" sz="1400" b="1" dirty="0">
                <a:solidFill>
                  <a:srgbClr val="000080"/>
                </a:solidFill>
                <a:effectLst/>
              </a:rPr>
              <a:t>False</a:t>
            </a:r>
            <a:r>
              <a:rPr lang="en-GB" altLang="zh-CN" sz="1400" dirty="0"/>
              <a:t>)</a:t>
            </a:r>
            <a:br>
              <a:rPr lang="en-GB" altLang="zh-CN" sz="1400" dirty="0"/>
            </a:b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评估测试集</a:t>
            </a:r>
            <a:br>
              <a:rPr lang="zh-CN" altLang="en-US" sz="1400" i="1" dirty="0">
                <a:solidFill>
                  <a:srgbClr val="808080"/>
                </a:solidFill>
                <a:effectLst/>
              </a:rPr>
            </a:br>
            <a:r>
              <a:rPr lang="zh-CN" altLang="en-US" sz="1400" i="1" dirty="0">
                <a:solidFill>
                  <a:srgbClr val="808080"/>
                </a:solidFill>
                <a:effectLst/>
              </a:rPr>
              <a:t>    </a:t>
            </a:r>
            <a:r>
              <a:rPr lang="en-GB" altLang="zh-CN" sz="1400" dirty="0"/>
              <a:t>correct = </a:t>
            </a:r>
            <a:r>
              <a:rPr lang="en-GB" altLang="zh-CN" sz="1400" dirty="0">
                <a:solidFill>
                  <a:srgbClr val="0000FF"/>
                </a:solidFill>
                <a:effectLst/>
              </a:rPr>
              <a:t>0</a:t>
            </a:r>
            <a:br>
              <a:rPr lang="en-GB" altLang="zh-CN" sz="1400" dirty="0">
                <a:solidFill>
                  <a:srgbClr val="0000FF"/>
                </a:solidFill>
                <a:effectLst/>
              </a:rPr>
            </a:br>
            <a:r>
              <a:rPr lang="en-GB" altLang="zh-CN" sz="1400" dirty="0">
                <a:solidFill>
                  <a:srgbClr val="0000FF"/>
                </a:solidFill>
                <a:effectLst/>
              </a:rPr>
              <a:t>    </a:t>
            </a:r>
            <a:r>
              <a:rPr lang="en-GB" altLang="zh-CN" sz="1400" i="1" dirty="0">
                <a:solidFill>
                  <a:srgbClr val="008001"/>
                </a:solidFill>
                <a:effectLst/>
              </a:rPr>
              <a:t># </a:t>
            </a:r>
            <a:r>
              <a:rPr lang="zh-CN" altLang="en-US" sz="1400" i="1" dirty="0">
                <a:solidFill>
                  <a:srgbClr val="008001"/>
                </a:solidFill>
                <a:effectLst/>
              </a:rPr>
              <a:t>遍历测试集中的数据</a:t>
            </a:r>
            <a:br>
              <a:rPr lang="zh-CN" altLang="en-US" sz="1400" i="1" dirty="0">
                <a:solidFill>
                  <a:srgbClr val="808080"/>
                </a:solidFill>
                <a:effectLst/>
              </a:rPr>
            </a:br>
            <a:r>
              <a:rPr lang="zh-CN" altLang="en-US" sz="1400" i="1" dirty="0">
                <a:solidFill>
                  <a:srgbClr val="808080"/>
                </a:solidFill>
                <a:effectLst/>
              </a:rPr>
              <a:t>    </a:t>
            </a:r>
            <a:r>
              <a:rPr lang="en-GB" altLang="zh-CN" sz="1400" b="1" dirty="0">
                <a:solidFill>
                  <a:srgbClr val="000080"/>
                </a:solidFill>
                <a:effectLst/>
              </a:rPr>
              <a:t>for </a:t>
            </a:r>
            <a:r>
              <a:rPr lang="en-GB" altLang="zh-CN" sz="1400" dirty="0"/>
              <a:t>x, y </a:t>
            </a:r>
            <a:r>
              <a:rPr lang="en-GB" altLang="zh-CN" sz="1400" b="1" dirty="0">
                <a:solidFill>
                  <a:srgbClr val="000080"/>
                </a:solidFill>
                <a:effectLst/>
              </a:rPr>
              <a:t>in </a:t>
            </a:r>
            <a:r>
              <a:rPr lang="en-GB" altLang="zh-CN" sz="1400" dirty="0" err="1"/>
              <a:t>dataloader</a:t>
            </a:r>
            <a:r>
              <a:rPr lang="en-GB" altLang="zh-CN" sz="1400" dirty="0"/>
              <a:t>:</a:t>
            </a:r>
            <a:br>
              <a:rPr lang="en-GB" altLang="zh-CN" sz="1400" dirty="0"/>
            </a:br>
            <a:r>
              <a:rPr lang="en-GB" altLang="zh-CN" sz="1400" dirty="0">
                <a:solidFill>
                  <a:srgbClr val="008001"/>
                </a:solidFill>
              </a:rPr>
              <a:t>        </a:t>
            </a:r>
            <a:r>
              <a:rPr lang="en-GB" altLang="zh-CN" sz="1400" i="1" dirty="0">
                <a:solidFill>
                  <a:srgbClr val="008001"/>
                </a:solidFill>
                <a:effectLst/>
              </a:rPr>
              <a:t>#  </a:t>
            </a:r>
            <a:r>
              <a:rPr lang="zh-CN" altLang="en-US" sz="1400" i="1" dirty="0">
                <a:solidFill>
                  <a:srgbClr val="008001"/>
                </a:solidFill>
                <a:effectLst/>
              </a:rPr>
              <a:t>将其送入网络中</a:t>
            </a:r>
            <a:br>
              <a:rPr lang="zh-CN" altLang="en-US" sz="1400" i="1" dirty="0">
                <a:solidFill>
                  <a:srgbClr val="808080"/>
                </a:solidFill>
                <a:effectLst/>
              </a:rPr>
            </a:br>
            <a:r>
              <a:rPr lang="zh-CN" altLang="en-US" sz="1400" i="1" dirty="0">
                <a:solidFill>
                  <a:srgbClr val="808080"/>
                </a:solidFill>
                <a:effectLst/>
              </a:rPr>
              <a:t>        </a:t>
            </a:r>
            <a:r>
              <a:rPr lang="en-GB" altLang="zh-CN" sz="1400" dirty="0"/>
              <a:t>output = model(x)</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获取类别结果</a:t>
            </a:r>
            <a:br>
              <a:rPr lang="zh-CN" altLang="en-US" sz="1400" i="1" dirty="0">
                <a:solidFill>
                  <a:srgbClr val="808080"/>
                </a:solidFill>
                <a:effectLst/>
              </a:rPr>
            </a:br>
            <a:r>
              <a:rPr lang="zh-CN" altLang="en-US" sz="1400" i="1" dirty="0">
                <a:solidFill>
                  <a:srgbClr val="808080"/>
                </a:solidFill>
                <a:effectLst/>
              </a:rPr>
              <a:t>        </a:t>
            </a:r>
            <a:r>
              <a:rPr lang="en-GB" altLang="zh-CN" sz="1400" dirty="0" err="1"/>
              <a:t>y_pred</a:t>
            </a:r>
            <a:r>
              <a:rPr lang="en-GB" altLang="zh-CN" sz="1400" dirty="0"/>
              <a:t> = </a:t>
            </a:r>
            <a:r>
              <a:rPr lang="en-GB" altLang="zh-CN" sz="1400" dirty="0" err="1"/>
              <a:t>torch.argmax</a:t>
            </a:r>
            <a:r>
              <a:rPr lang="en-GB" altLang="zh-CN" sz="1400" dirty="0"/>
              <a:t>(output, </a:t>
            </a:r>
            <a:r>
              <a:rPr lang="en-GB" altLang="zh-CN" sz="1400" dirty="0">
                <a:solidFill>
                  <a:srgbClr val="660099"/>
                </a:solidFill>
                <a:effectLst/>
              </a:rPr>
              <a:t>dim</a:t>
            </a:r>
            <a:r>
              <a:rPr lang="en-GB" altLang="zh-CN" sz="1400" dirty="0"/>
              <a:t>=</a:t>
            </a:r>
            <a:r>
              <a:rPr lang="en-GB" altLang="zh-CN" sz="1400" dirty="0">
                <a:solidFill>
                  <a:srgbClr val="0000FF"/>
                </a:solidFill>
                <a:effectLst/>
              </a:rPr>
              <a:t>1</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获取预测正确的个数</a:t>
            </a:r>
            <a:br>
              <a:rPr lang="zh-CN" altLang="en-US" sz="1400" i="1" dirty="0">
                <a:solidFill>
                  <a:srgbClr val="808080"/>
                </a:solidFill>
                <a:effectLst/>
              </a:rPr>
            </a:br>
            <a:r>
              <a:rPr lang="zh-CN" altLang="en-US" sz="1400" i="1" dirty="0">
                <a:solidFill>
                  <a:srgbClr val="808080"/>
                </a:solidFill>
                <a:effectLst/>
              </a:rPr>
              <a:t>        </a:t>
            </a:r>
            <a:r>
              <a:rPr lang="en-GB" altLang="zh-CN" sz="1400" dirty="0"/>
              <a:t>correct += (</a:t>
            </a:r>
            <a:r>
              <a:rPr lang="en-GB" altLang="zh-CN" sz="1400" dirty="0" err="1"/>
              <a:t>y_pred</a:t>
            </a:r>
            <a:r>
              <a:rPr lang="en-GB" altLang="zh-CN" sz="1400" dirty="0"/>
              <a:t> == y).sum()</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求预测精度</a:t>
            </a:r>
            <a:br>
              <a:rPr lang="zh-CN" altLang="en-US" sz="1400" i="1" dirty="0">
                <a:solidFill>
                  <a:srgbClr val="808080"/>
                </a:solidFill>
                <a:effectLst/>
              </a:rPr>
            </a:br>
            <a:r>
              <a:rPr lang="zh-CN" altLang="en-US" sz="1400" i="1" dirty="0">
                <a:solidFill>
                  <a:srgbClr val="808080"/>
                </a:solidFill>
                <a:effectLst/>
              </a:rPr>
              <a:t>    </a:t>
            </a:r>
            <a:r>
              <a:rPr lang="en-GB" altLang="zh-CN" sz="1400" dirty="0">
                <a:solidFill>
                  <a:srgbClr val="000080"/>
                </a:solidFill>
                <a:effectLst/>
              </a:rPr>
              <a:t>print</a:t>
            </a:r>
            <a:r>
              <a:rPr lang="en-GB" altLang="zh-CN" sz="1400" dirty="0"/>
              <a:t>(</a:t>
            </a:r>
            <a:r>
              <a:rPr lang="en-GB" altLang="zh-CN" sz="1400" b="1" dirty="0">
                <a:solidFill>
                  <a:srgbClr val="008000"/>
                </a:solidFill>
                <a:effectLst/>
              </a:rPr>
              <a:t>'Acc: %.5f' </a:t>
            </a:r>
            <a:r>
              <a:rPr lang="en-GB" altLang="zh-CN" sz="1400" dirty="0"/>
              <a:t>% (</a:t>
            </a:r>
            <a:r>
              <a:rPr lang="en-GB" altLang="zh-CN" sz="1400" dirty="0" err="1"/>
              <a:t>correct.item</a:t>
            </a:r>
            <a:r>
              <a:rPr lang="en-GB" altLang="zh-CN" sz="1400" dirty="0"/>
              <a:t>() / </a:t>
            </a:r>
            <a:r>
              <a:rPr lang="en-GB" altLang="zh-CN" sz="1400" dirty="0" err="1">
                <a:solidFill>
                  <a:srgbClr val="000080"/>
                </a:solidFill>
                <a:effectLst/>
              </a:rPr>
              <a:t>len</a:t>
            </a:r>
            <a:r>
              <a:rPr lang="en-GB" altLang="zh-CN" sz="1400" dirty="0"/>
              <a:t>(</a:t>
            </a:r>
            <a:r>
              <a:rPr lang="en-GB" altLang="zh-CN" sz="1400" dirty="0" err="1"/>
              <a:t>valid_dataset</a:t>
            </a:r>
            <a:r>
              <a:rPr lang="en-GB" altLang="zh-CN" sz="1400" dirty="0"/>
              <a:t>)))</a:t>
            </a:r>
            <a:endParaRPr lang="en-US" altLang="zh-CN" sz="1400" b="1" dirty="0">
              <a:solidFill>
                <a:srgbClr val="0000FF"/>
              </a:solidFill>
              <a:latin typeface="宋体" panose="02010600030101010101" pitchFamily="2" charset="-122"/>
              <a:ea typeface="阿里巴巴普惠体" panose="00020600040101010101"/>
            </a:endParaRPr>
          </a:p>
        </p:txBody>
      </p:sp>
      <p:sp>
        <p:nvSpPr>
          <p:cNvPr id="4" name="文本框 3"/>
          <p:cNvSpPr txBox="1"/>
          <p:nvPr/>
        </p:nvSpPr>
        <p:spPr>
          <a:xfrm>
            <a:off x="8472467" y="5625531"/>
            <a:ext cx="3719533" cy="583565"/>
          </a:xfrm>
          <a:prstGeom prst="rect">
            <a:avLst/>
          </a:prstGeom>
          <a:noFill/>
        </p:spPr>
        <p:txBody>
          <a:bodyPr wrap="square">
            <a:spAutoFit/>
          </a:bodyPr>
          <a:lstStyle/>
          <a:p>
            <a:r>
              <a:rPr lang="zh-CN" altLang="en-US" sz="1600" dirty="0">
                <a:solidFill>
                  <a:srgbClr val="FF0000"/>
                </a:solidFill>
              </a:rPr>
              <a:t>输出结果</a:t>
            </a:r>
            <a:r>
              <a:rPr lang="en-US" altLang="zh-CN" sz="1600" dirty="0">
                <a:solidFill>
                  <a:srgbClr val="FF0000"/>
                </a:solidFill>
              </a:rPr>
              <a:t>:</a:t>
            </a:r>
            <a:endParaRPr lang="en-US" altLang="zh-CN" sz="1600" dirty="0">
              <a:solidFill>
                <a:srgbClr val="FF0000"/>
              </a:solidFill>
            </a:endParaRPr>
          </a:p>
          <a:p>
            <a:r>
              <a:rPr lang="en-US" altLang="zh-CN" sz="1600" dirty="0"/>
              <a:t>Acc: 0.64250</a:t>
            </a:r>
            <a:endParaRPr lang="en-US" altLang="zh-CN" sz="1600" dirty="0"/>
          </a:p>
        </p:txBody>
      </p:sp>
      <p:sp>
        <p:nvSpPr>
          <p:cNvPr id="6" name="文本框 5"/>
          <p:cNvSpPr txBox="1"/>
          <p:nvPr/>
        </p:nvSpPr>
        <p:spPr>
          <a:xfrm>
            <a:off x="6462870" y="1974461"/>
            <a:ext cx="5467430" cy="1169551"/>
          </a:xfrm>
          <a:prstGeom prst="rect">
            <a:avLst/>
          </a:prstGeom>
          <a:solidFill>
            <a:srgbClr val="FFFFE4"/>
          </a:solidFill>
          <a:ln>
            <a:solidFill>
              <a:schemeClr val="tx1"/>
            </a:solidFill>
          </a:ln>
        </p:spPr>
        <p:txBody>
          <a:bodyPr wrap="square">
            <a:spAutoFit/>
          </a:bodyPr>
          <a:lstStyle/>
          <a:p>
            <a:pPr>
              <a:spcBef>
                <a:spcPts val="360"/>
              </a:spcBef>
              <a:spcAft>
                <a:spcPts val="360"/>
              </a:spcAft>
            </a:pPr>
            <a:r>
              <a:rPr lang="en-GB" altLang="zh-CN" sz="1400" b="1" dirty="0">
                <a:solidFill>
                  <a:srgbClr val="000080"/>
                </a:solidFill>
                <a:effectLst/>
              </a:rPr>
              <a:t>if </a:t>
            </a:r>
            <a:r>
              <a:rPr lang="en-GB" altLang="zh-CN" sz="1400" dirty="0"/>
              <a:t>__name__ == </a:t>
            </a:r>
            <a:r>
              <a:rPr lang="en-GB" altLang="zh-CN" sz="1400" b="1" dirty="0">
                <a:solidFill>
                  <a:srgbClr val="008000"/>
                </a:solidFill>
                <a:effectLst/>
              </a:rPr>
              <a:t>'__main__'</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获取数据</a:t>
            </a:r>
            <a:br>
              <a:rPr lang="zh-CN" altLang="en-US" sz="1400" i="1" dirty="0">
                <a:solidFill>
                  <a:srgbClr val="808080"/>
                </a:solidFill>
                <a:effectLst/>
              </a:rPr>
            </a:br>
            <a:r>
              <a:rPr lang="zh-CN" altLang="en-US" sz="1400" i="1" dirty="0">
                <a:solidFill>
                  <a:srgbClr val="808080"/>
                </a:solidFill>
                <a:effectLst/>
              </a:rPr>
              <a:t>    </a:t>
            </a:r>
            <a:r>
              <a:rPr lang="en-GB" altLang="zh-CN" sz="1400" dirty="0" err="1"/>
              <a:t>train_dataset</a:t>
            </a:r>
            <a:r>
              <a:rPr lang="en-GB" altLang="zh-CN" sz="1400" dirty="0"/>
              <a:t>, </a:t>
            </a:r>
            <a:r>
              <a:rPr lang="en-GB" altLang="zh-CN" sz="1400" dirty="0" err="1"/>
              <a:t>valid_dataset</a:t>
            </a:r>
            <a:r>
              <a:rPr lang="en-GB" altLang="zh-CN" sz="1400" dirty="0"/>
              <a:t>, </a:t>
            </a:r>
            <a:r>
              <a:rPr lang="en-GB" altLang="zh-CN" sz="1400" dirty="0" err="1"/>
              <a:t>input_dim</a:t>
            </a:r>
            <a:r>
              <a:rPr lang="en-GB" altLang="zh-CN" sz="1400" dirty="0"/>
              <a:t>, </a:t>
            </a:r>
            <a:r>
              <a:rPr lang="en-GB" altLang="zh-CN" sz="1400" dirty="0" err="1"/>
              <a:t>class_num</a:t>
            </a:r>
            <a:r>
              <a:rPr lang="en-GB" altLang="zh-CN" sz="1400" dirty="0"/>
              <a:t> = </a:t>
            </a:r>
            <a:r>
              <a:rPr lang="en-GB" altLang="zh-CN" sz="1400" dirty="0" err="1"/>
              <a:t>create_dataset</a:t>
            </a:r>
            <a:r>
              <a:rPr lang="en-GB" altLang="zh-CN" sz="1400" dirty="0"/>
              <a:t>()</a:t>
            </a:r>
            <a:br>
              <a:rPr lang="en-GB" altLang="zh-CN" sz="1400" dirty="0"/>
            </a:br>
            <a:r>
              <a:rPr lang="en-GB" altLang="zh-CN" sz="1400" dirty="0"/>
              <a:t>    </a:t>
            </a:r>
            <a:r>
              <a:rPr lang="en-GB" altLang="zh-CN" sz="1400" i="1" dirty="0">
                <a:solidFill>
                  <a:srgbClr val="008001"/>
                </a:solidFill>
                <a:effectLst/>
              </a:rPr>
              <a:t># </a:t>
            </a:r>
            <a:r>
              <a:rPr lang="zh-CN" altLang="en-US" sz="1400" i="1" dirty="0">
                <a:solidFill>
                  <a:srgbClr val="008001"/>
                </a:solidFill>
                <a:effectLst/>
              </a:rPr>
              <a:t>模型预测结果</a:t>
            </a:r>
            <a:br>
              <a:rPr lang="zh-CN" altLang="en-US" sz="1400" i="1" dirty="0">
                <a:solidFill>
                  <a:srgbClr val="808080"/>
                </a:solidFill>
                <a:effectLst/>
              </a:rPr>
            </a:br>
            <a:r>
              <a:rPr lang="zh-CN" altLang="en-US" sz="1400" i="1" dirty="0">
                <a:solidFill>
                  <a:srgbClr val="808080"/>
                </a:solidFill>
                <a:effectLst/>
              </a:rPr>
              <a:t>    </a:t>
            </a:r>
            <a:r>
              <a:rPr lang="en-GB" altLang="zh-CN" sz="1400" i="1" dirty="0">
                <a:effectLst/>
              </a:rPr>
              <a:t>test(</a:t>
            </a:r>
            <a:r>
              <a:rPr lang="en-GB" altLang="zh-CN" sz="1400" i="1" dirty="0" err="1">
                <a:effectLst/>
              </a:rPr>
              <a:t>valid_dataset,input_dim,class_num</a:t>
            </a:r>
            <a:r>
              <a:rPr lang="en-GB" altLang="zh-CN" sz="1400" i="1" dirty="0">
                <a:effectLst/>
              </a:rPr>
              <a:t>)</a:t>
            </a:r>
            <a:endParaRPr lang="en-US" altLang="zh-CN" sz="1400" b="1" dirty="0">
              <a:latin typeface="宋体" panose="02010600030101010101" pitchFamily="2" charset="-122"/>
              <a:ea typeface="阿里巴巴普惠体" panose="00020600040101010101"/>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pPr algn="l"/>
            <a:r>
              <a:rPr lang="zh-CN" altLang="en-US" b="0" i="0" dirty="0">
                <a:effectLst/>
                <a:latin typeface="Roboto" panose="02000000000000000000" pitchFamily="2" charset="0"/>
              </a:rPr>
              <a:t>案例的整体流程是：</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数据集构建</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模型构建</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模型训练</a:t>
            </a:r>
            <a:endParaRPr lang="zh-CN" altLang="en-US" b="0" i="0" dirty="0">
              <a:effectLst/>
              <a:latin typeface="Roboto" panose="02000000000000000000" pitchFamily="2" charset="0"/>
            </a:endParaRPr>
          </a:p>
          <a:p>
            <a:pPr algn="l">
              <a:buFont typeface="Arial" panose="020B0604020202020204" pitchFamily="34" charset="0"/>
              <a:buChar char="•"/>
            </a:pPr>
            <a:r>
              <a:rPr lang="zh-CN" altLang="en-US" b="0" i="0" dirty="0">
                <a:effectLst/>
                <a:latin typeface="Roboto" panose="02000000000000000000" pitchFamily="2" charset="0"/>
              </a:rPr>
              <a:t>模型预测</a:t>
            </a:r>
            <a:endParaRPr lang="zh-CN" altLang="en-US" b="0" i="0" dirty="0">
              <a:effectLst/>
              <a:latin typeface="Roboto" panose="02000000000000000000" pitchFamily="2" charset="0"/>
            </a:endParaRPr>
          </a:p>
          <a:p>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lgn="l">
              <a:buNone/>
            </a:pPr>
            <a:r>
              <a:rPr lang="zh-CN" altLang="en-US" b="0" i="0" dirty="0">
                <a:solidFill>
                  <a:srgbClr val="333333"/>
                </a:solidFill>
                <a:effectLst/>
                <a:latin typeface="Helvetica Neue"/>
              </a:rPr>
              <a:t>我们前面的网络模型在测试集的准确率为</a:t>
            </a:r>
            <a:r>
              <a:rPr lang="en-US" altLang="zh-CN" b="0" i="0" dirty="0">
                <a:solidFill>
                  <a:srgbClr val="333333"/>
                </a:solidFill>
                <a:effectLst/>
                <a:latin typeface="Helvetica Neue"/>
              </a:rPr>
              <a:t>: </a:t>
            </a:r>
            <a:r>
              <a:rPr lang="en-US" altLang="zh-CN" dirty="0">
                <a:sym typeface="+mn-ea"/>
              </a:rPr>
              <a:t>0.64250</a:t>
            </a:r>
            <a:r>
              <a:rPr lang="en-US" altLang="zh-CN" b="0" i="0" dirty="0">
                <a:solidFill>
                  <a:srgbClr val="333333"/>
                </a:solidFill>
                <a:effectLst/>
                <a:latin typeface="Helvetica Neue"/>
              </a:rPr>
              <a:t>, </a:t>
            </a:r>
            <a:r>
              <a:rPr lang="zh-CN" altLang="en-US" b="0" i="0" dirty="0">
                <a:solidFill>
                  <a:srgbClr val="333333"/>
                </a:solidFill>
                <a:effectLst/>
                <a:latin typeface="Helvetica Neue"/>
              </a:rPr>
              <a:t>我们可以通过以下方面进行调优</a:t>
            </a:r>
            <a:r>
              <a:rPr lang="en-US" altLang="zh-CN" b="0" i="0" dirty="0">
                <a:solidFill>
                  <a:srgbClr val="333333"/>
                </a:solidFill>
                <a:effectLst/>
                <a:latin typeface="Helvetica Neue"/>
              </a:rPr>
              <a:t>:</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优化方法由 </a:t>
            </a:r>
            <a:r>
              <a:rPr lang="en-US" altLang="zh-CN" b="0" i="0" dirty="0">
                <a:solidFill>
                  <a:srgbClr val="333333"/>
                </a:solidFill>
                <a:effectLst/>
                <a:latin typeface="Helvetica Neue"/>
              </a:rPr>
              <a:t>SGD </a:t>
            </a:r>
            <a:r>
              <a:rPr lang="zh-CN" altLang="en-US" b="0" i="0" dirty="0">
                <a:solidFill>
                  <a:srgbClr val="333333"/>
                </a:solidFill>
                <a:effectLst/>
                <a:latin typeface="Helvetica Neue"/>
              </a:rPr>
              <a:t>调整为 </a:t>
            </a:r>
            <a:r>
              <a:rPr lang="en-US" altLang="zh-CN" b="0" i="0" dirty="0">
                <a:solidFill>
                  <a:srgbClr val="333333"/>
                </a:solidFill>
                <a:effectLst/>
                <a:latin typeface="Helvetica Neue"/>
              </a:rPr>
              <a:t>Adam</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学习率由 </a:t>
            </a:r>
            <a:r>
              <a:rPr lang="en-US" altLang="zh-CN" b="0" i="0" dirty="0">
                <a:solidFill>
                  <a:srgbClr val="333333"/>
                </a:solidFill>
                <a:effectLst/>
                <a:latin typeface="Helvetica Neue"/>
              </a:rPr>
              <a:t>1e-3 </a:t>
            </a:r>
            <a:r>
              <a:rPr lang="zh-CN" altLang="en-US" b="0" i="0" dirty="0">
                <a:solidFill>
                  <a:srgbClr val="333333"/>
                </a:solidFill>
                <a:effectLst/>
                <a:latin typeface="Helvetica Neue"/>
              </a:rPr>
              <a:t>调整为 </a:t>
            </a:r>
            <a:r>
              <a:rPr lang="en-US" altLang="zh-CN" b="0" i="0" dirty="0">
                <a:solidFill>
                  <a:srgbClr val="333333"/>
                </a:solidFill>
                <a:effectLst/>
                <a:latin typeface="Helvetica Neue"/>
              </a:rPr>
              <a:t>1e-4</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对数据进行标准化</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增加网络深度</a:t>
            </a:r>
            <a:r>
              <a:rPr lang="en-US" altLang="zh-CN" b="0" i="0" dirty="0">
                <a:solidFill>
                  <a:srgbClr val="333333"/>
                </a:solidFill>
                <a:effectLst/>
                <a:latin typeface="Helvetica Neue"/>
              </a:rPr>
              <a:t>, </a:t>
            </a:r>
            <a:r>
              <a:rPr lang="zh-CN" altLang="en-US" b="0" i="0" dirty="0">
                <a:solidFill>
                  <a:srgbClr val="333333"/>
                </a:solidFill>
                <a:effectLst/>
                <a:latin typeface="Helvetica Neue"/>
              </a:rPr>
              <a:t>即</a:t>
            </a:r>
            <a:r>
              <a:rPr lang="en-US" altLang="zh-CN" b="0" i="0" dirty="0">
                <a:solidFill>
                  <a:srgbClr val="333333"/>
                </a:solidFill>
                <a:effectLst/>
                <a:latin typeface="Helvetica Neue"/>
              </a:rPr>
              <a:t>: </a:t>
            </a:r>
            <a:r>
              <a:rPr lang="zh-CN" altLang="en-US" b="0" i="0" dirty="0">
                <a:solidFill>
                  <a:srgbClr val="333333"/>
                </a:solidFill>
                <a:effectLst/>
                <a:latin typeface="Helvetica Neue"/>
              </a:rPr>
              <a:t>增加网络参数量</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调整训练轮次</a:t>
            </a:r>
            <a:endParaRPr lang="en-US" altLang="zh-CN" b="0" i="0" dirty="0">
              <a:solidFill>
                <a:srgbClr val="333333"/>
              </a:solidFill>
              <a:effectLst/>
              <a:latin typeface="Helvetica Neue"/>
            </a:endParaRPr>
          </a:p>
          <a:p>
            <a:pPr marL="342900" indent="-342900" algn="l">
              <a:buFont typeface="+mj-lt"/>
              <a:buAutoNum type="arabicPeriod"/>
            </a:pPr>
            <a:r>
              <a:rPr lang="zh-CN" altLang="en-US" b="0" i="0" dirty="0">
                <a:solidFill>
                  <a:srgbClr val="333333"/>
                </a:solidFill>
                <a:effectLst/>
                <a:latin typeface="Helvetica Neue"/>
              </a:rPr>
              <a:t>。。。。</a:t>
            </a:r>
            <a:endParaRPr lang="zh-CN" altLang="en-US" b="1" i="0" dirty="0">
              <a:solidFill>
                <a:srgbClr val="333333"/>
              </a:solidFill>
              <a:effectLst/>
              <a:latin typeface="Helvetica Neue"/>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p="http://schemas.openxmlformats.org/presentationml/2006/main">
  <p:tag name="COMMONDATA" val="eyJoZGlkIjoiNDA0ZTUxM2YxNWFkZDlkNTZiNWZhYzlkMjQxNWY2ZTMifQ=="/>
  <p:tag name="KSO_WPP_MARK_KEY" val="a19b803a-04f7-49ad-a517-4f4615f57881"/>
</p:tagLst>
</file>

<file path=ppt/theme/theme1.xml><?xml version="1.0" encoding="utf-8"?>
<a:theme xmlns:a="http://schemas.openxmlformats.org/drawingml/2006/main" name="封面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章节页版式（一级+二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章节页版式（一级标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5_结束页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_正文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45_学习目标">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1">
      <a:majorFont>
        <a:latin typeface="Calibri"/>
        <a:ea typeface="黑体"/>
        <a:cs typeface=""/>
      </a:majorFont>
      <a:minorFont>
        <a:latin typeface="Calibri"/>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0000"/>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a:spAutoFit/>
      </a:bodyPr>
      <a:lstStyle>
        <a:defPPr fontAlgn="auto">
          <a:spcBef>
            <a:spcPts val="0"/>
          </a:spcBef>
          <a:spcAft>
            <a:spcPts val="0"/>
          </a:spcAft>
          <a:defRPr sz="1050" dirty="0">
            <a:solidFill>
              <a:schemeClr val="tx1">
                <a:lumMod val="65000"/>
                <a:lumOff val="35000"/>
              </a:schemeClr>
            </a:solidFill>
            <a:latin typeface="+mn-lt"/>
            <a:ea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31682</Words>
  <Application>WPS 演示</Application>
  <PresentationFormat>宽屏</PresentationFormat>
  <Paragraphs>1554</Paragraphs>
  <Slides>125</Slides>
  <Notes>6</Notes>
  <HiddenSlides>0</HiddenSlides>
  <MMClips>0</MMClips>
  <ScaleCrop>false</ScaleCrop>
  <HeadingPairs>
    <vt:vector size="6" baseType="variant">
      <vt:variant>
        <vt:lpstr>已用的字体</vt:lpstr>
      </vt:variant>
      <vt:variant>
        <vt:i4>28</vt:i4>
      </vt:variant>
      <vt:variant>
        <vt:lpstr>主题</vt:lpstr>
      </vt:variant>
      <vt:variant>
        <vt:i4>11</vt:i4>
      </vt:variant>
      <vt:variant>
        <vt:lpstr>幻灯片标题</vt:lpstr>
      </vt:variant>
      <vt:variant>
        <vt:i4>125</vt:i4>
      </vt:variant>
    </vt:vector>
  </HeadingPairs>
  <TitlesOfParts>
    <vt:vector size="164" baseType="lpstr">
      <vt:lpstr>Arial</vt:lpstr>
      <vt:lpstr>宋体</vt:lpstr>
      <vt:lpstr>Wingdings</vt:lpstr>
      <vt:lpstr>Calibri</vt:lpstr>
      <vt:lpstr>黑体</vt:lpstr>
      <vt:lpstr>阿里巴巴普惠体 B</vt:lpstr>
      <vt:lpstr>阿里巴巴普惠体 R</vt:lpstr>
      <vt:lpstr>Segoe UI</vt:lpstr>
      <vt:lpstr>微软雅黑</vt:lpstr>
      <vt:lpstr>Verdana</vt:lpstr>
      <vt:lpstr>阿里巴巴普惠体</vt:lpstr>
      <vt:lpstr>阿里巴巴普惠体 M</vt:lpstr>
      <vt:lpstr>Segoe UI Light</vt:lpstr>
      <vt:lpstr>微软雅黑 Light</vt:lpstr>
      <vt:lpstr>华文楷体</vt:lpstr>
      <vt:lpstr>Helvetica Neue</vt:lpstr>
      <vt:lpstr>Arial Unicode MS</vt:lpstr>
      <vt:lpstr>等线</vt:lpstr>
      <vt:lpstr>Alibaba PuHuiTi</vt:lpstr>
      <vt:lpstr>阿里巴巴普惠体</vt:lpstr>
      <vt:lpstr>阿里巴巴普惠体 2.0 45 Light</vt:lpstr>
      <vt:lpstr>Roboto</vt:lpstr>
      <vt:lpstr>Open Sans</vt:lpstr>
      <vt:lpstr>Roboto Mono</vt:lpstr>
      <vt:lpstr>Wingdings</vt:lpstr>
      <vt:lpstr>等线 Light</vt:lpstr>
      <vt:lpstr>Segoe Print</vt:lpstr>
      <vt:lpstr>BatangChe</vt:lpstr>
      <vt:lpstr>封面2</vt:lpstr>
      <vt:lpstr>目录</vt:lpstr>
      <vt:lpstr>学习目标</vt:lpstr>
      <vt:lpstr>章节页版式（一级+二级标题）</vt:lpstr>
      <vt:lpstr>章节页版式（一级标题）</vt:lpstr>
      <vt:lpstr>正文设计方案</vt:lpstr>
      <vt:lpstr>1_自定义设计方案</vt:lpstr>
      <vt:lpstr>自定义设计方案</vt:lpstr>
      <vt:lpstr>5_结束页设计方案</vt:lpstr>
      <vt:lpstr>1_正文设计方案</vt:lpstr>
      <vt:lpstr>45_学习目标</vt:lpstr>
      <vt:lpstr>神经网络基础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8802</dc:creator>
  <cp:lastModifiedBy>老酒</cp:lastModifiedBy>
  <cp:revision>2109</cp:revision>
  <dcterms:created xsi:type="dcterms:W3CDTF">2022-09-27T09:38:00Z</dcterms:created>
  <dcterms:modified xsi:type="dcterms:W3CDTF">2025-05-13T09:57:59Z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8F3BE0D789E24AA8A6562930946781AC</vt:lpwstr>
  </property>
  <property fmtid="{D5CDD505-2E9C-101B-9397-08002B2CF9AE}" pid="3" name="KSOProductBuildVer">
    <vt:lpwstr>2052-12.1.0.20784</vt:lpwstr>
  </property>
  <property fmtid="{D5CDD505-2E9C-101B-9397-08002B2CF9AE}" pid="4" name="commondata">
    <vt:lpwstr>eyJoZGlkIjoiMDAzZmIwZjU2YjM3ZmIyZjYxNWQ1NTViMjdhYzBlM2EifQ==</vt:lpwstr>
  </property>
</Properties>
</file>