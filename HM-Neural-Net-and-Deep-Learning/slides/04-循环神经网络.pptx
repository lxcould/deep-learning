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0" r:id="rId4"/>
    <p:sldMasterId id="2147483664" r:id="rId5"/>
    <p:sldMasterId id="2147483666" r:id="rId6"/>
    <p:sldMasterId id="2147483669" r:id="rId7"/>
    <p:sldMasterId id="2147483689" r:id="rId8"/>
    <p:sldMasterId id="2147483701" r:id="rId9"/>
    <p:sldMasterId id="2147483713" r:id="rId10"/>
    <p:sldMasterId id="2147483715" r:id="rId11"/>
    <p:sldMasterId id="2147483734" r:id="rId12"/>
  </p:sldMasterIdLst>
  <p:notesMasterIdLst>
    <p:notesMasterId r:id="rId14"/>
  </p:notesMasterIdLst>
  <p:handoutMasterIdLst>
    <p:handoutMasterId r:id="rId64"/>
  </p:handoutMasterIdLst>
  <p:sldIdLst>
    <p:sldId id="462" r:id="rId13"/>
    <p:sldId id="479" r:id="rId15"/>
    <p:sldId id="1903" r:id="rId16"/>
    <p:sldId id="1570" r:id="rId17"/>
    <p:sldId id="1839" r:id="rId18"/>
    <p:sldId id="1568" r:id="rId19"/>
    <p:sldId id="1863" r:id="rId20"/>
    <p:sldId id="1904" r:id="rId21"/>
    <p:sldId id="1794" r:id="rId22"/>
    <p:sldId id="1864" r:id="rId23"/>
    <p:sldId id="1840" r:id="rId24"/>
    <p:sldId id="1865" r:id="rId25"/>
    <p:sldId id="1861" r:id="rId26"/>
    <p:sldId id="1842" r:id="rId27"/>
    <p:sldId id="1843" r:id="rId28"/>
    <p:sldId id="1796" r:id="rId29"/>
    <p:sldId id="1844" r:id="rId30"/>
    <p:sldId id="1866" r:id="rId31"/>
    <p:sldId id="1867" r:id="rId32"/>
    <p:sldId id="1845" r:id="rId33"/>
    <p:sldId id="1846" r:id="rId34"/>
    <p:sldId id="1948" r:id="rId35"/>
    <p:sldId id="1949" r:id="rId36"/>
    <p:sldId id="1950" r:id="rId37"/>
    <p:sldId id="1847" r:id="rId38"/>
    <p:sldId id="1848" r:id="rId39"/>
    <p:sldId id="1849" r:id="rId40"/>
    <p:sldId id="1862" r:id="rId41"/>
    <p:sldId id="1850" r:id="rId42"/>
    <p:sldId id="1851" r:id="rId43"/>
    <p:sldId id="1868" r:id="rId44"/>
    <p:sldId id="1870" r:id="rId45"/>
    <p:sldId id="1661" r:id="rId46"/>
    <p:sldId id="1852" r:id="rId47"/>
    <p:sldId id="1869" r:id="rId48"/>
    <p:sldId id="1853" r:id="rId49"/>
    <p:sldId id="1871" r:id="rId50"/>
    <p:sldId id="1872" r:id="rId51"/>
    <p:sldId id="1854" r:id="rId52"/>
    <p:sldId id="1873" r:id="rId53"/>
    <p:sldId id="1855" r:id="rId54"/>
    <p:sldId id="1856" r:id="rId55"/>
    <p:sldId id="1857" r:id="rId56"/>
    <p:sldId id="1874" r:id="rId57"/>
    <p:sldId id="1858" r:id="rId58"/>
    <p:sldId id="1875" r:id="rId59"/>
    <p:sldId id="1859" r:id="rId60"/>
    <p:sldId id="1876" r:id="rId61"/>
    <p:sldId id="1860" r:id="rId62"/>
    <p:sldId id="264" r:id="rId63"/>
  </p:sldIdLst>
  <p:sldSz cx="12192000" cy="6858000"/>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2" userDrawn="1">
          <p15:clr>
            <a:srgbClr val="A4A3A4"/>
          </p15:clr>
        </p15:guide>
        <p15:guide id="2" pos="37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GJIAN"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1"/>
    <a:srgbClr val="FFFFFF"/>
    <a:srgbClr val="AD2A26"/>
    <a:srgbClr val="AD2B26"/>
    <a:srgbClr val="49504F"/>
    <a:srgbClr val="B60206"/>
    <a:srgbClr val="B70006"/>
    <a:srgbClr val="FFFFE4"/>
    <a:srgbClr val="919191"/>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55" autoAdjust="0"/>
    <p:restoredTop sz="95344" autoAdjust="0"/>
  </p:normalViewPr>
  <p:slideViewPr>
    <p:cSldViewPr snapToGrid="0" showGuides="1">
      <p:cViewPr varScale="1">
        <p:scale>
          <a:sx n="108" d="100"/>
          <a:sy n="108" d="100"/>
        </p:scale>
        <p:origin x="232" y="528"/>
      </p:cViewPr>
      <p:guideLst>
        <p:guide orient="horz" pos="592"/>
        <p:guide pos="3702"/>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9" Type="http://schemas.openxmlformats.org/officeDocument/2006/relationships/tags" Target="tags/tag1.xml"/><Relationship Id="rId68" Type="http://schemas.openxmlformats.org/officeDocument/2006/relationships/commentAuthors" Target="commentAuthors.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notesMaster" Target="notesMasters/notesMaster1.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1" Type="http://schemas.openxmlformats.org/officeDocument/2006/relationships/theme" Target="../theme/theme6.xml"/><Relationship Id="rId20" Type="http://schemas.openxmlformats.org/officeDocument/2006/relationships/image" Target="../media/image6.png"/><Relationship Id="rId2" Type="http://schemas.openxmlformats.org/officeDocument/2006/relationships/slideLayout" Target="../slideLayouts/slideLayout18.xml"/><Relationship Id="rId19" Type="http://schemas.openxmlformats.org/officeDocument/2006/relationships/slideLayout" Target="../slideLayouts/slideLayout35.xml"/><Relationship Id="rId18" Type="http://schemas.openxmlformats.org/officeDocument/2006/relationships/slideLayout" Target="../slideLayouts/slideLayout34.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2" Type="http://schemas.openxmlformats.org/officeDocument/2006/relationships/theme" Target="../theme/theme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2" Type="http://schemas.openxmlformats.org/officeDocument/2006/relationships/theme" Target="../theme/theme8.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image" Target="../media/image7.png"/><Relationship Id="rId1" Type="http://schemas.openxmlformats.org/officeDocument/2006/relationships/slideLayout" Target="../slideLayouts/slideLayout5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0" Type="http://schemas.openxmlformats.org/officeDocument/2006/relationships/theme" Target="../theme/theme10.xml"/><Relationship Id="rId2" Type="http://schemas.openxmlformats.org/officeDocument/2006/relationships/slideLayout" Target="../slideLayouts/slideLayout60.xml"/><Relationship Id="rId19" Type="http://schemas.openxmlformats.org/officeDocument/2006/relationships/image" Target="../media/image6.png"/><Relationship Id="rId18" Type="http://schemas.openxmlformats.org/officeDocument/2006/relationships/slideLayout" Target="../slideLayouts/slideLayout76.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5" Type="http://schemas.openxmlformats.org/officeDocument/2006/relationships/slideLayout" Target="../slideLayouts/slideLayout73.xml"/><Relationship Id="rId14" Type="http://schemas.openxmlformats.org/officeDocument/2006/relationships/slideLayout" Target="../slideLayouts/slideLayout72.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_rels/slideMaster11.xml.rels><?xml version="1.0" encoding="UTF-8" standalone="yes"?>
<Relationships xmlns="http://schemas.openxmlformats.org/package/2006/relationships"><Relationship Id="rId7" Type="http://schemas.openxmlformats.org/officeDocument/2006/relationships/theme" Target="../theme/theme1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Layout" Target="../slideLayouts/slideLayout80.xml"/><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目录</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4982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4" name="矩形 14"/>
          <p:cNvSpPr/>
          <p:nvPr userDrawn="1"/>
        </p:nvSpPr>
        <p:spPr bwMode="auto">
          <a:xfrm>
            <a:off x="9697720" y="6582410"/>
            <a:ext cx="2494280" cy="307975"/>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755505" y="6555105"/>
            <a:ext cx="2436495" cy="337185"/>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高级数字化人才培训专家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66EC5-0109-4184-8118-DE9082C053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3B4646-813A-4832-A50F-60E1A3E629C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01626C-D819-40E4-B45D-2F58886970D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2DCFA-08CF-4827-BDC7-221D153733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多一句没有，少一句不行，用最短时间，教会最实用的技术！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6.GI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20.png"/><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25500" y="2158365"/>
            <a:ext cx="10541000" cy="1158875"/>
          </a:xfrm>
        </p:spPr>
        <p:txBody>
          <a:bodyPr/>
          <a:lstStyle/>
          <a:p>
            <a:r>
              <a:rPr lang="zh-CN" altLang="en-US" sz="6600" dirty="0">
                <a:solidFill>
                  <a:schemeClr val="tx1"/>
                </a:solidFill>
                <a:latin typeface="阿里巴巴普惠体" panose="00020600040101010101" charset="-122"/>
                <a:ea typeface="阿里巴巴普惠体" panose="00020600040101010101" charset="-122"/>
              </a:rPr>
              <a:t>循环神经网络</a:t>
            </a:r>
            <a:endParaRPr lang="zh-CN" altLang="en-US" sz="6600" dirty="0">
              <a:solidFill>
                <a:schemeClr val="tx1"/>
              </a:solidFill>
              <a:latin typeface="阿里巴巴普惠体" panose="00020600040101010101" charset="-122"/>
              <a:ea typeface="阿里巴巴普惠体" panose="00020600040101010101" charset="-122"/>
            </a:endParaRPr>
          </a:p>
        </p:txBody>
      </p:sp>
      <p:pic>
        <p:nvPicPr>
          <p:cNvPr id="6" name="图片 5" descr="01 (140)"/>
          <p:cNvPicPr>
            <a:picLocks noChangeAspect="1"/>
          </p:cNvPicPr>
          <p:nvPr/>
        </p:nvPicPr>
        <p:blipFill>
          <a:blip r:embed="rId1"/>
          <a:stretch>
            <a:fillRect/>
          </a:stretch>
        </p:blipFill>
        <p:spPr>
          <a:xfrm>
            <a:off x="5506720" y="4218305"/>
            <a:ext cx="1179195" cy="1179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207" y="1278385"/>
            <a:ext cx="5973445" cy="2885242"/>
          </a:xfrm>
        </p:spPr>
        <p:txBody>
          <a:bodyPr/>
          <a:lstStyle/>
          <a:p>
            <a:pPr algn="l"/>
            <a:r>
              <a:rPr kumimoji="1" lang="en-US" altLang="zh-CN" sz="1600" dirty="0">
                <a:solidFill>
                  <a:srgbClr val="FF0000"/>
                </a:solidFill>
                <a:sym typeface="+mn-ea"/>
              </a:rPr>
              <a:t>RNN</a:t>
            </a:r>
            <a:r>
              <a:rPr kumimoji="1" lang="zh-CN" altLang="en-US" sz="1600" dirty="0">
                <a:solidFill>
                  <a:srgbClr val="FF0000"/>
                </a:solidFill>
                <a:sym typeface="+mn-ea"/>
              </a:rPr>
              <a:t>介绍</a:t>
            </a:r>
            <a:endParaRPr kumimoji="1" lang="zh-CN" altLang="en-US" sz="1600" dirty="0">
              <a:solidFill>
                <a:srgbClr val="FF0000"/>
              </a:solidFill>
              <a:sym typeface="+mn-ea"/>
            </a:endParaRPr>
          </a:p>
          <a:p>
            <a:pPr algn="l"/>
            <a:r>
              <a:rPr kumimoji="1" lang="zh-CN" altLang="en-US" sz="1600" dirty="0">
                <a:sym typeface="+mn-ea"/>
              </a:rPr>
              <a:t>词嵌入层</a:t>
            </a:r>
            <a:endParaRPr kumimoji="1" lang="zh-CN" altLang="en-US" sz="1600" dirty="0">
              <a:sym typeface="+mn-ea"/>
            </a:endParaRPr>
          </a:p>
          <a:p>
            <a:pPr algn="l"/>
            <a:r>
              <a:rPr kumimoji="1" lang="zh-CN" altLang="en-US" sz="1600" dirty="0">
                <a:sym typeface="+mn-ea"/>
              </a:rPr>
              <a:t>循环网络层</a:t>
            </a:r>
            <a:endParaRPr kumimoji="1" lang="zh-CN" altLang="en-US" sz="1600" dirty="0">
              <a:sym typeface="+mn-ea"/>
            </a:endParaRPr>
          </a:p>
          <a:p>
            <a:pPr algn="l"/>
            <a:r>
              <a:rPr kumimoji="1" lang="zh-CN" altLang="en-US" sz="1600" dirty="0">
                <a:sym typeface="+mn-ea"/>
              </a:rPr>
              <a:t>文本生成案例</a:t>
            </a:r>
            <a:endParaRPr kumimoji="1" lang="zh-CN" altLang="en-US"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09465" y="1834515"/>
            <a:ext cx="410210" cy="410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dirty="0"/>
              <a:t>介绍</a:t>
            </a:r>
            <a:endParaRPr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a:t>循环神经网络（</a:t>
            </a:r>
            <a:r>
              <a:rPr lang="en-US" altLang="zh-CN"/>
              <a:t>Recurrent Neural Network, RNN</a:t>
            </a:r>
            <a:r>
              <a:rPr lang="zh-CN" altLang="en-US"/>
              <a:t>）是一种</a:t>
            </a:r>
            <a:r>
              <a:rPr lang="zh-CN" altLang="en-US" b="1"/>
              <a:t>专门处理序列数据的神经网络</a:t>
            </a:r>
            <a:r>
              <a:rPr lang="zh-CN" altLang="en-US"/>
              <a:t>。与传统的前馈神经网络不同，</a:t>
            </a:r>
            <a:r>
              <a:rPr lang="en-US" altLang="zh-CN"/>
              <a:t>RNN</a:t>
            </a:r>
            <a:r>
              <a:rPr lang="zh-CN" altLang="en-US"/>
              <a:t>具有</a:t>
            </a:r>
            <a:r>
              <a:rPr lang="en-US" altLang="zh-CN"/>
              <a:t>“</a:t>
            </a:r>
            <a:r>
              <a:rPr lang="zh-CN" altLang="en-US"/>
              <a:t>循环</a:t>
            </a:r>
            <a:r>
              <a:rPr lang="en-US" altLang="zh-CN"/>
              <a:t>”</a:t>
            </a:r>
            <a:r>
              <a:rPr lang="zh-CN" altLang="en-US"/>
              <a:t>结构，能够处理和记住前面时间步的信息，使其特别适用于时间序列数据或有时序依赖的任务。</a:t>
            </a:r>
            <a:endParaRPr lang="zh-CN" altLang="en-US"/>
          </a:p>
          <a:p>
            <a:pPr algn="l"/>
            <a:r>
              <a:rPr lang="zh-CN" altLang="en-US"/>
              <a:t>我们要明确什么是</a:t>
            </a:r>
            <a:r>
              <a:rPr lang="zh-CN" altLang="en-US" b="1">
                <a:solidFill>
                  <a:srgbClr val="FF0000"/>
                </a:solidFill>
              </a:rPr>
              <a:t>序列数据</a:t>
            </a:r>
            <a:r>
              <a:rPr lang="zh-CN" altLang="en-US"/>
              <a:t>，时间序列数据是指在不同时间点上收集到的数据，这类数据反映了某一事物、现象等随时间的变化状态或程度。这是时间序列数据的定义，当然这里也可以不是时间，比如文字序列，但总归序列数据有一个特点</a:t>
            </a:r>
            <a:r>
              <a:rPr lang="en-US" altLang="zh-CN"/>
              <a:t>——</a:t>
            </a:r>
            <a:r>
              <a:rPr lang="zh-CN" altLang="en-US" b="1">
                <a:solidFill>
                  <a:srgbClr val="FF0000"/>
                </a:solidFill>
              </a:rPr>
              <a:t>后面的数据跟前面的数据有关系</a:t>
            </a:r>
            <a:r>
              <a:rPr lang="zh-CN" altLang="en-US"/>
              <a:t>。</a:t>
            </a:r>
            <a:endParaRPr lang="zh-CN" altLang="en-US"/>
          </a:p>
          <a:p>
            <a:pPr algn="l"/>
            <a:endParaRPr lang="zh-CN" altLang="en-US"/>
          </a:p>
          <a:p>
            <a:pPr algn="l"/>
            <a:r>
              <a:rPr lang="en-US" altLang="zh-CN"/>
              <a:t>RNN</a:t>
            </a:r>
            <a:r>
              <a:rPr lang="zh-CN" altLang="en-US"/>
              <a:t>的应用：</a:t>
            </a:r>
            <a:endParaRPr lang="zh-CN" altLang="en-US"/>
          </a:p>
          <a:p>
            <a:pPr marL="285750" indent="-285750" algn="l">
              <a:buFont typeface="Wingdings" panose="05000000000000000000" charset="0"/>
              <a:buChar char="l"/>
            </a:pPr>
            <a:r>
              <a:rPr lang="zh-CN" altLang="en-US" b="1"/>
              <a:t>自然语言处理（</a:t>
            </a:r>
            <a:r>
              <a:rPr lang="en-US" altLang="zh-CN" b="1"/>
              <a:t>NLP</a:t>
            </a:r>
            <a:r>
              <a:rPr lang="zh-CN" altLang="en-US" b="1"/>
              <a:t>）</a:t>
            </a:r>
            <a:r>
              <a:rPr lang="zh-CN" altLang="en-US"/>
              <a:t>：文本生成、语言建模、机器翻译、情感分析等。</a:t>
            </a:r>
            <a:endParaRPr lang="zh-CN" altLang="en-US"/>
          </a:p>
          <a:p>
            <a:pPr marL="285750" indent="-285750" algn="l">
              <a:buFont typeface="Wingdings" panose="05000000000000000000" charset="0"/>
              <a:buChar char="l"/>
            </a:pPr>
            <a:r>
              <a:rPr lang="zh-CN" altLang="en-US" b="1"/>
              <a:t>时间序列预测</a:t>
            </a:r>
            <a:r>
              <a:rPr lang="zh-CN" altLang="en-US"/>
              <a:t>：股市预测、气象预测、传感器数据分析等。</a:t>
            </a:r>
            <a:endParaRPr lang="zh-CN" altLang="en-US"/>
          </a:p>
          <a:p>
            <a:pPr marL="285750" indent="-285750" algn="l">
              <a:buFont typeface="Wingdings" panose="05000000000000000000" charset="0"/>
              <a:buChar char="l"/>
            </a:pPr>
            <a:r>
              <a:rPr lang="zh-CN" altLang="en-US" b="1"/>
              <a:t>语音识别</a:t>
            </a:r>
            <a:r>
              <a:rPr lang="zh-CN" altLang="en-US"/>
              <a:t>：将语音信号转换为文字。</a:t>
            </a:r>
            <a:endParaRPr lang="zh-CN" altLang="en-US"/>
          </a:p>
          <a:p>
            <a:pPr marL="285750" indent="-285750" algn="l">
              <a:buFont typeface="Wingdings" panose="05000000000000000000" charset="0"/>
              <a:buChar char="l"/>
            </a:pPr>
            <a:r>
              <a:rPr lang="zh-CN" altLang="en-US" b="1"/>
              <a:t>音乐生成</a:t>
            </a:r>
            <a:r>
              <a:rPr lang="zh-CN" altLang="en-US"/>
              <a:t>：通过学习音乐的时序模式来生成新乐曲。</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自然语言处理概述</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sz="1800" b="0" i="0" dirty="0">
                <a:solidFill>
                  <a:srgbClr val="333333"/>
                </a:solidFill>
                <a:effectLst/>
                <a:latin typeface="Alibaba PuHuiTi" pitchFamily="18" charset="-122"/>
                <a:ea typeface="Alibaba PuHuiTi" pitchFamily="18" charset="-122"/>
                <a:cs typeface="Alibaba PuHuiTi" pitchFamily="18" charset="-122"/>
              </a:rPr>
              <a:t>自然语言处理（</a:t>
            </a:r>
            <a:r>
              <a:rPr lang="en-US" altLang="zh-CN" sz="1800" b="0" i="0" dirty="0">
                <a:solidFill>
                  <a:srgbClr val="333333"/>
                </a:solidFill>
                <a:effectLst/>
                <a:latin typeface="Alibaba PuHuiTi" pitchFamily="18" charset="-122"/>
                <a:ea typeface="Alibaba PuHuiTi" pitchFamily="18" charset="-122"/>
                <a:cs typeface="Alibaba PuHuiTi" pitchFamily="18" charset="-122"/>
              </a:rPr>
              <a:t>Nature language Processing, NLP</a:t>
            </a:r>
            <a:r>
              <a:rPr lang="zh-CN" altLang="en-US" sz="1800" b="0" i="0" dirty="0">
                <a:solidFill>
                  <a:srgbClr val="333333"/>
                </a:solidFill>
                <a:effectLst/>
                <a:latin typeface="Alibaba PuHuiTi" pitchFamily="18" charset="-122"/>
                <a:ea typeface="Alibaba PuHuiTi" pitchFamily="18" charset="-122"/>
                <a:cs typeface="Alibaba PuHuiTi" pitchFamily="18" charset="-122"/>
              </a:rPr>
              <a:t>）研究的主要是通过计算机算法来理解自然语言。对于自然语言来说，处理的数据主要就是人类的语言，例如：汉语、英语、法语等，该类型的数据不像我们前面接触过的结构化数据、或者图像数据可以很方便的进行数值化。</a:t>
            </a:r>
            <a:endParaRPr lang="zh-CN" altLang="en-US" sz="1800" b="0" i="0" dirty="0">
              <a:solidFill>
                <a:srgbClr val="333333"/>
              </a:solidFill>
              <a:effectLst/>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710880" y="3080658"/>
            <a:ext cx="10612951" cy="30549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207" y="1278385"/>
            <a:ext cx="5973445" cy="2885242"/>
          </a:xfrm>
        </p:spPr>
        <p:txBody>
          <a:bodyPr/>
          <a:lstStyle/>
          <a:p>
            <a:r>
              <a:rPr kumimoji="1" lang="en-US" altLang="zh-CN" sz="1600" dirty="0">
                <a:sym typeface="+mn-ea"/>
              </a:rPr>
              <a:t>RNN</a:t>
            </a:r>
            <a:r>
              <a:rPr kumimoji="1" lang="zh-CN" altLang="en-US" sz="1600" dirty="0">
                <a:sym typeface="+mn-ea"/>
              </a:rPr>
              <a:t>介绍</a:t>
            </a:r>
            <a:endParaRPr kumimoji="1" lang="zh-CN" altLang="en-US" sz="1600" dirty="0">
              <a:sym typeface="+mn-ea"/>
            </a:endParaRPr>
          </a:p>
          <a:p>
            <a:r>
              <a:rPr kumimoji="1" lang="zh-CN" altLang="en-US" sz="1600" dirty="0">
                <a:solidFill>
                  <a:srgbClr val="FF0000"/>
                </a:solidFill>
                <a:sym typeface="+mn-ea"/>
              </a:rPr>
              <a:t>词嵌入层</a:t>
            </a:r>
            <a:endParaRPr kumimoji="1" lang="zh-CN" altLang="en-US" sz="1600" dirty="0">
              <a:solidFill>
                <a:srgbClr val="FF0000"/>
              </a:solidFill>
              <a:sym typeface="+mn-ea"/>
            </a:endParaRPr>
          </a:p>
          <a:p>
            <a:pPr algn="l"/>
            <a:r>
              <a:rPr kumimoji="1" lang="zh-CN" altLang="en-US" sz="1600" dirty="0">
                <a:sym typeface="+mn-ea"/>
              </a:rPr>
              <a:t>循环网络层</a:t>
            </a:r>
            <a:endParaRPr kumimoji="1" lang="zh-CN" altLang="en-US" sz="1600" dirty="0">
              <a:sym typeface="+mn-ea"/>
            </a:endParaRPr>
          </a:p>
          <a:p>
            <a:pPr algn="l"/>
            <a:r>
              <a:rPr kumimoji="1" lang="zh-CN" altLang="en-US" sz="1600" dirty="0">
                <a:sym typeface="+mn-ea"/>
              </a:rPr>
              <a:t>文本生成案例</a:t>
            </a:r>
            <a:endParaRPr kumimoji="1" lang="zh-CN" altLang="en-US"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98579" y="2310796"/>
            <a:ext cx="410210" cy="4102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2592705"/>
          </a:xfrm>
        </p:spPr>
        <p:txBody>
          <a:bodyPr/>
          <a:lstStyle/>
          <a:p>
            <a:r>
              <a:rPr lang="zh-CN" altLang="en-US" dirty="0">
                <a:solidFill>
                  <a:schemeClr val="tx1"/>
                </a:solidFill>
              </a:rPr>
              <a:t>知道词嵌入概念</a:t>
            </a:r>
            <a:endParaRPr lang="en-US" altLang="zh-CN" dirty="0">
              <a:solidFill>
                <a:schemeClr val="tx1"/>
              </a:solidFill>
            </a:endParaRPr>
          </a:p>
          <a:p>
            <a:r>
              <a:rPr lang="zh-CN" altLang="en-US" dirty="0">
                <a:solidFill>
                  <a:schemeClr val="tx1"/>
                </a:solidFill>
              </a:rPr>
              <a:t>掌握</a:t>
            </a:r>
            <a:r>
              <a:rPr lang="en-US" altLang="zh-CN" dirty="0" err="1">
                <a:solidFill>
                  <a:schemeClr val="tx1"/>
                </a:solidFill>
              </a:rPr>
              <a:t>PyTorch</a:t>
            </a:r>
            <a:r>
              <a:rPr lang="zh-CN" altLang="en-US" dirty="0">
                <a:solidFill>
                  <a:schemeClr val="tx1"/>
                </a:solidFill>
              </a:rPr>
              <a:t>词嵌入</a:t>
            </a:r>
            <a:r>
              <a:rPr lang="en-US" altLang="zh-CN" dirty="0">
                <a:solidFill>
                  <a:schemeClr val="tx1"/>
                </a:solidFill>
              </a:rPr>
              <a:t>API</a:t>
            </a:r>
            <a:endParaRPr lang="zh-CN" altLang="en-US"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a:t>
            </a:r>
            <a:r>
              <a:rPr lang="zh-CN" altLang="en-US" dirty="0"/>
              <a:t>作用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1" i="0" dirty="0">
                <a:solidFill>
                  <a:srgbClr val="333333"/>
                </a:solidFill>
                <a:effectLst/>
                <a:latin typeface="Alibaba PuHuiTi" pitchFamily="18" charset="-122"/>
                <a:ea typeface="Alibaba PuHuiTi" pitchFamily="18" charset="-122"/>
                <a:cs typeface="Alibaba PuHuiTi" pitchFamily="18" charset="-122"/>
              </a:rPr>
              <a:t>词嵌入层的作用就是将文本转换为向量。</a:t>
            </a:r>
            <a:endParaRPr lang="zh-CN" altLang="en-US" b="1"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a:t>词嵌入层在</a:t>
            </a:r>
            <a:r>
              <a:rPr lang="en-US" altLang="zh-CN"/>
              <a:t> RNN </a:t>
            </a:r>
            <a:r>
              <a:rPr lang="zh-CN" altLang="en-US"/>
              <a:t>中的作用有</a:t>
            </a:r>
            <a:r>
              <a:rPr lang="zh-CN" altLang="en-US" b="1"/>
              <a:t>输入表示</a:t>
            </a:r>
            <a:r>
              <a:rPr lang="zh-CN" altLang="en-US"/>
              <a:t>、</a:t>
            </a:r>
            <a:r>
              <a:rPr lang="zh-CN" altLang="en-US" b="1"/>
              <a:t>降低维度</a:t>
            </a:r>
            <a:r>
              <a:rPr lang="zh-CN" altLang="en-US"/>
              <a:t>和</a:t>
            </a:r>
            <a:r>
              <a:rPr lang="zh-CN" altLang="en-US" b="1"/>
              <a:t>捕捉语义相似性</a:t>
            </a:r>
            <a:r>
              <a:rPr lang="zh-CN" altLang="en-US"/>
              <a:t>。</a:t>
            </a:r>
            <a:endParaRPr lang="zh-CN" altLang="en-US"/>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词嵌入层首先会根据输入的词的数量构建一个</a:t>
            </a:r>
            <a:r>
              <a:rPr lang="zh-CN" altLang="en-US" b="1" i="0" dirty="0">
                <a:solidFill>
                  <a:srgbClr val="333333"/>
                </a:solidFill>
                <a:effectLst/>
                <a:latin typeface="Alibaba PuHuiTi" pitchFamily="18" charset="-122"/>
                <a:ea typeface="Alibaba PuHuiTi" pitchFamily="18" charset="-122"/>
                <a:cs typeface="Alibaba PuHuiTi" pitchFamily="18" charset="-122"/>
              </a:rPr>
              <a:t>词向量矩阵</a:t>
            </a:r>
            <a:r>
              <a:rPr lang="zh-CN" altLang="en-US" b="0" i="0" dirty="0">
                <a:solidFill>
                  <a:srgbClr val="333333"/>
                </a:solidFill>
                <a:effectLst/>
                <a:latin typeface="Alibaba PuHuiTi" pitchFamily="18" charset="-122"/>
                <a:ea typeface="Alibaba PuHuiTi" pitchFamily="18" charset="-122"/>
                <a:cs typeface="Alibaba PuHuiTi" pitchFamily="18" charset="-122"/>
              </a:rPr>
              <a:t>，例如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我们有 </a:t>
            </a:r>
            <a:r>
              <a:rPr lang="en-US" altLang="zh-CN" b="0" i="0" dirty="0">
                <a:solidFill>
                  <a:srgbClr val="333333"/>
                </a:solidFill>
                <a:effectLst/>
                <a:latin typeface="Alibaba PuHuiTi" pitchFamily="18" charset="-122"/>
                <a:ea typeface="Alibaba PuHuiTi" pitchFamily="18" charset="-122"/>
                <a:cs typeface="Alibaba PuHuiTi" pitchFamily="18" charset="-122"/>
              </a:rPr>
              <a:t>100 </a:t>
            </a:r>
            <a:r>
              <a:rPr lang="zh-CN" altLang="en-US" b="0" i="0" dirty="0">
                <a:solidFill>
                  <a:srgbClr val="333333"/>
                </a:solidFill>
                <a:effectLst/>
                <a:latin typeface="Alibaba PuHuiTi" pitchFamily="18" charset="-122"/>
                <a:ea typeface="Alibaba PuHuiTi" pitchFamily="18" charset="-122"/>
                <a:cs typeface="Alibaba PuHuiTi" pitchFamily="18" charset="-122"/>
              </a:rPr>
              <a:t>个词，每个词希望转换成 </a:t>
            </a:r>
            <a:r>
              <a:rPr lang="en-US" altLang="zh-CN" b="0" i="0" dirty="0">
                <a:solidFill>
                  <a:srgbClr val="333333"/>
                </a:solidFill>
                <a:effectLst/>
                <a:latin typeface="Alibaba PuHuiTi" pitchFamily="18" charset="-122"/>
                <a:ea typeface="Alibaba PuHuiTi" pitchFamily="18" charset="-122"/>
                <a:cs typeface="Alibaba PuHuiTi" pitchFamily="18" charset="-122"/>
              </a:rPr>
              <a:t>128 </a:t>
            </a:r>
            <a:r>
              <a:rPr lang="zh-CN" altLang="en-US" b="0" i="0" dirty="0">
                <a:solidFill>
                  <a:srgbClr val="333333"/>
                </a:solidFill>
                <a:effectLst/>
                <a:latin typeface="Alibaba PuHuiTi" pitchFamily="18" charset="-122"/>
                <a:ea typeface="Alibaba PuHuiTi" pitchFamily="18" charset="-122"/>
                <a:cs typeface="Alibaba PuHuiTi" pitchFamily="18" charset="-122"/>
              </a:rPr>
              <a:t>维度的向量，那么构建的矩阵形状即为</a:t>
            </a:r>
            <a:r>
              <a:rPr lang="en-US" altLang="zh-CN" b="0" i="0" dirty="0">
                <a:solidFill>
                  <a:srgbClr val="333333"/>
                </a:solidFill>
                <a:effectLst/>
                <a:latin typeface="Alibaba PuHuiTi" pitchFamily="18" charset="-122"/>
                <a:ea typeface="Alibaba PuHuiTi" pitchFamily="18" charset="-122"/>
                <a:cs typeface="Alibaba PuHuiTi" pitchFamily="18" charset="-122"/>
              </a:rPr>
              <a:t>: 100*128</a:t>
            </a:r>
            <a:r>
              <a:rPr lang="zh-CN" altLang="en-US" b="0" i="0" dirty="0">
                <a:solidFill>
                  <a:srgbClr val="333333"/>
                </a:solidFill>
                <a:effectLst/>
                <a:latin typeface="Alibaba PuHuiTi" pitchFamily="18" charset="-122"/>
                <a:ea typeface="Alibaba PuHuiTi" pitchFamily="18" charset="-122"/>
                <a:cs typeface="Alibaba PuHuiTi" pitchFamily="18" charset="-122"/>
              </a:rPr>
              <a:t>，输入的每个词都对应了一个该矩阵中的一个向量。</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pic>
        <p:nvPicPr>
          <p:cNvPr id="4" name="图片 3"/>
          <p:cNvPicPr>
            <a:picLocks noChangeAspect="1"/>
          </p:cNvPicPr>
          <p:nvPr/>
        </p:nvPicPr>
        <p:blipFill>
          <a:blip r:embed="rId1"/>
          <a:stretch>
            <a:fillRect/>
          </a:stretch>
        </p:blipFill>
        <p:spPr>
          <a:xfrm>
            <a:off x="2998470" y="3429000"/>
            <a:ext cx="6252210" cy="31061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词嵌入层工作</a:t>
            </a:r>
            <a:r>
              <a:rPr lang="zh-CN" altLang="en-US" dirty="0"/>
              <a:t>流程</a:t>
            </a:r>
            <a:endParaRPr lang="zh-CN" altLang="en-US" dirty="0"/>
          </a:p>
        </p:txBody>
      </p:sp>
      <p:sp>
        <p:nvSpPr>
          <p:cNvPr id="3" name="文本占位符 2"/>
          <p:cNvSpPr>
            <a:spLocks noGrp="1"/>
          </p:cNvSpPr>
          <p:nvPr>
            <p:ph type="body" sz="quarter" idx="11"/>
          </p:nvPr>
        </p:nvSpPr>
        <p:spPr>
          <a:xfrm>
            <a:off x="710565" y="1899920"/>
            <a:ext cx="10699115" cy="3502025"/>
          </a:xfrm>
        </p:spPr>
        <p:txBody>
          <a:bodyPr/>
          <a:lstStyle/>
          <a:p>
            <a:pPr marL="285750" indent="-285750" algn="l">
              <a:buFont typeface="Wingdings" panose="05000000000000000000" charset="0"/>
              <a:buChar char="l"/>
            </a:pPr>
            <a:r>
              <a:rPr lang="zh-CN" altLang="en-US" sz="1800" b="1"/>
              <a:t>初始化词向量</a:t>
            </a:r>
            <a:r>
              <a:rPr lang="zh-CN" altLang="en-US" sz="1800"/>
              <a:t>：词嵌入层的初始词向量通常会使用随机初始化或者通过加载预训练的词向量（如</a:t>
            </a:r>
            <a:r>
              <a:rPr lang="en-US" altLang="zh-CN" sz="1800"/>
              <a:t>Word2Vec</a:t>
            </a:r>
            <a:r>
              <a:rPr lang="zh-CN" altLang="en-US" sz="1800"/>
              <a:t>或</a:t>
            </a:r>
            <a:r>
              <a:rPr lang="en-US" altLang="zh-CN" sz="1800"/>
              <a:t>GloVe</a:t>
            </a:r>
            <a:r>
              <a:rPr lang="zh-CN" altLang="en-US" sz="1800"/>
              <a:t>）进行初始化。</a:t>
            </a:r>
            <a:endParaRPr lang="zh-CN" altLang="en-US" sz="1800"/>
          </a:p>
          <a:p>
            <a:pPr marL="285750" indent="-285750" algn="l">
              <a:buFont typeface="Wingdings" panose="05000000000000000000" charset="0"/>
              <a:buChar char="l"/>
            </a:pPr>
            <a:r>
              <a:rPr lang="zh-CN" altLang="en-US" sz="1800" b="1"/>
              <a:t>输入索引</a:t>
            </a:r>
            <a:r>
              <a:rPr lang="zh-CN" altLang="en-US" sz="1800"/>
              <a:t>：每个单词在词汇表中都有一个唯一的索引。输入文本（例如一个句子）会先被分词，然后每个单词会被转换为相应的索引。</a:t>
            </a:r>
            <a:endParaRPr lang="zh-CN" altLang="en-US" sz="1800"/>
          </a:p>
          <a:p>
            <a:pPr marL="285750" indent="-285750" algn="l">
              <a:buFont typeface="Wingdings" panose="05000000000000000000" charset="0"/>
              <a:buChar char="l"/>
            </a:pPr>
            <a:r>
              <a:rPr lang="zh-CN" altLang="en-US" sz="1800" b="1"/>
              <a:t>查找词向量</a:t>
            </a:r>
            <a:r>
              <a:rPr lang="zh-CN" altLang="en-US" sz="1800"/>
              <a:t>：词嵌入层将这些单词索引映射为对应的词向量。这些词向量是一个低维稠密向量，表示该词的语义。</a:t>
            </a:r>
            <a:endParaRPr lang="zh-CN" altLang="en-US" sz="1800"/>
          </a:p>
          <a:p>
            <a:pPr marL="285750" indent="-285750" algn="l">
              <a:buFont typeface="Wingdings" panose="05000000000000000000" charset="0"/>
              <a:buChar char="l"/>
            </a:pPr>
            <a:r>
              <a:rPr lang="zh-CN" altLang="en-US" sz="1800" b="1"/>
              <a:t>输入到</a:t>
            </a:r>
            <a:r>
              <a:rPr lang="en-US" altLang="zh-CN" sz="1800" b="1"/>
              <a:t>RNN</a:t>
            </a:r>
            <a:r>
              <a:rPr lang="zh-CN" altLang="en-US" sz="1800"/>
              <a:t>：这些词向量作为</a:t>
            </a:r>
            <a:r>
              <a:rPr lang="en-US" altLang="zh-CN" sz="1800"/>
              <a:t>RNN</a:t>
            </a:r>
            <a:r>
              <a:rPr lang="zh-CN" altLang="en-US" sz="1800"/>
              <a:t>的输入，</a:t>
            </a:r>
            <a:r>
              <a:rPr lang="en-US" altLang="zh-CN" sz="1800"/>
              <a:t>RNN</a:t>
            </a:r>
            <a:r>
              <a:rPr lang="zh-CN" altLang="en-US" sz="1800"/>
              <a:t>处理它们并根据上下文生成一个序列的输出。</a:t>
            </a:r>
            <a:endParaRPr lang="zh-CN" altLang="en-US" sz="1800"/>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a:t>
            </a:r>
            <a:r>
              <a:rPr lang="zh-CN" altLang="en-US" dirty="0"/>
              <a:t>使用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在 </a:t>
            </a:r>
            <a:r>
              <a:rPr lang="en-US" altLang="zh-CN" b="0" i="0" dirty="0" err="1">
                <a:solidFill>
                  <a:srgbClr val="333333"/>
                </a:solidFill>
                <a:effectLst/>
                <a:latin typeface="Alibaba PuHuiTi" pitchFamily="18" charset="-122"/>
                <a:ea typeface="Alibaba PuHuiTi" pitchFamily="18" charset="-122"/>
                <a:cs typeface="Alibaba PuHuiTi" pitchFamily="18" charset="-122"/>
              </a:rPr>
              <a:t>PyTorch</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中，</a:t>
            </a:r>
            <a:r>
              <a:rPr lang="zh-CN" altLang="en-US" b="1" i="0" dirty="0">
                <a:solidFill>
                  <a:srgbClr val="333333"/>
                </a:solidFill>
                <a:effectLst/>
                <a:latin typeface="Alibaba PuHuiTi" pitchFamily="18" charset="-122"/>
                <a:ea typeface="Alibaba PuHuiTi" pitchFamily="18" charset="-122"/>
                <a:cs typeface="Alibaba PuHuiTi" pitchFamily="18" charset="-122"/>
              </a:rPr>
              <a:t>使用 </a:t>
            </a:r>
            <a:r>
              <a:rPr lang="en-US" altLang="zh-CN" b="1" i="0" dirty="0" err="1">
                <a:solidFill>
                  <a:srgbClr val="333333"/>
                </a:solidFill>
                <a:effectLst/>
                <a:latin typeface="Alibaba PuHuiTi" pitchFamily="18" charset="-122"/>
                <a:ea typeface="Alibaba PuHuiTi" pitchFamily="18" charset="-122"/>
                <a:cs typeface="Alibaba PuHuiTi" pitchFamily="18" charset="-122"/>
              </a:rPr>
              <a:t>nn.Embedding</a:t>
            </a:r>
            <a:r>
              <a:rPr lang="en-US" altLang="zh-CN" b="1" i="0" dirty="0">
                <a:solidFill>
                  <a:srgbClr val="333333"/>
                </a:solidFill>
                <a:effectLst/>
                <a:latin typeface="Alibaba PuHuiTi" pitchFamily="18" charset="-122"/>
                <a:ea typeface="Alibaba PuHuiTi" pitchFamily="18" charset="-122"/>
                <a:cs typeface="Alibaba PuHuiTi" pitchFamily="18" charset="-122"/>
              </a:rPr>
              <a:t> </a:t>
            </a:r>
            <a:r>
              <a:rPr lang="zh-CN" altLang="en-US" b="1" i="0" dirty="0">
                <a:solidFill>
                  <a:srgbClr val="333333"/>
                </a:solidFill>
                <a:effectLst/>
                <a:latin typeface="Alibaba PuHuiTi" pitchFamily="18" charset="-122"/>
                <a:ea typeface="Alibaba PuHuiTi" pitchFamily="18" charset="-122"/>
                <a:cs typeface="Alibaba PuHuiTi" pitchFamily="18" charset="-122"/>
              </a:rPr>
              <a:t>词嵌入层来实现输入词的向量化</a:t>
            </a:r>
            <a:r>
              <a:rPr lang="zh-CN" altLang="en-US"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r>
              <a:rPr lang="en-US" altLang="zh-CN" b="0" i="0" dirty="0" err="1">
                <a:solidFill>
                  <a:srgbClr val="333333"/>
                </a:solidFill>
                <a:effectLst/>
                <a:latin typeface="Alibaba PuHuiTi" pitchFamily="18" charset="-122"/>
                <a:ea typeface="Alibaba PuHuiTi" pitchFamily="18" charset="-122"/>
                <a:cs typeface="Alibaba PuHuiTi" pitchFamily="18" charset="-122"/>
              </a:rPr>
              <a:t>nn.Embedding</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对象构建时，最主要有两个参数</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err="1">
                <a:solidFill>
                  <a:srgbClr val="333333"/>
                </a:solidFill>
                <a:effectLst/>
                <a:latin typeface="Alibaba PuHuiTi" pitchFamily="18" charset="-122"/>
                <a:ea typeface="Alibaba PuHuiTi" pitchFamily="18" charset="-122"/>
                <a:cs typeface="Alibaba PuHuiTi" pitchFamily="18" charset="-122"/>
              </a:rPr>
              <a:t>num_embeddings</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表示</a:t>
            </a:r>
            <a:r>
              <a:rPr lang="zh-CN" altLang="en-US" b="1" i="0" dirty="0">
                <a:solidFill>
                  <a:srgbClr val="333333"/>
                </a:solidFill>
                <a:effectLst/>
                <a:latin typeface="Alibaba PuHuiTi" pitchFamily="18" charset="-122"/>
                <a:ea typeface="Alibaba PuHuiTi" pitchFamily="18" charset="-122"/>
                <a:cs typeface="Alibaba PuHuiTi" pitchFamily="18" charset="-122"/>
              </a:rPr>
              <a:t>词的数量</a:t>
            </a:r>
            <a:endParaRPr lang="en-US" altLang="zh-CN" dirty="0">
              <a:solidFill>
                <a:srgbClr val="333333"/>
              </a:solidFill>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err="1">
                <a:solidFill>
                  <a:srgbClr val="333333"/>
                </a:solidFill>
                <a:effectLst/>
                <a:latin typeface="Alibaba PuHuiTi" pitchFamily="18" charset="-122"/>
                <a:ea typeface="Alibaba PuHuiTi" pitchFamily="18" charset="-122"/>
                <a:cs typeface="Alibaba PuHuiTi" pitchFamily="18" charset="-122"/>
              </a:rPr>
              <a:t>embedding_dim</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表示</a:t>
            </a:r>
            <a:r>
              <a:rPr lang="zh-CN" altLang="en-US" b="1" i="0" dirty="0">
                <a:solidFill>
                  <a:srgbClr val="333333"/>
                </a:solidFill>
                <a:effectLst/>
                <a:latin typeface="Alibaba PuHuiTi" pitchFamily="18" charset="-122"/>
                <a:ea typeface="Alibaba PuHuiTi" pitchFamily="18" charset="-122"/>
                <a:cs typeface="Alibaba PuHuiTi" pitchFamily="18" charset="-122"/>
              </a:rPr>
              <a:t>用多少维的向量来表示每个词</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sp>
        <p:nvSpPr>
          <p:cNvPr id="4" name="文本框 3"/>
          <p:cNvSpPr txBox="1"/>
          <p:nvPr/>
        </p:nvSpPr>
        <p:spPr>
          <a:xfrm>
            <a:off x="1503360" y="2248781"/>
            <a:ext cx="5529703" cy="33855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b="1" dirty="0" err="1">
                <a:solidFill>
                  <a:srgbClr val="0000FF"/>
                </a:solidFill>
                <a:latin typeface="宋体" panose="02010600030101010101" pitchFamily="2" charset="-122"/>
                <a:ea typeface="阿里巴巴普惠体" panose="00020600040101010101"/>
              </a:rPr>
              <a:t>nn.Embedding</a:t>
            </a:r>
            <a:r>
              <a:rPr lang="en-US" altLang="zh-CN"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num_embeddings</a:t>
            </a:r>
            <a:r>
              <a:rPr lang="en-US" altLang="zh-CN" sz="1600" b="1" dirty="0">
                <a:solidFill>
                  <a:srgbClr val="0000FF"/>
                </a:solidFill>
                <a:latin typeface="宋体" panose="02010600030101010101" pitchFamily="2" charset="-122"/>
                <a:ea typeface="阿里巴巴普惠体" panose="00020600040101010101"/>
              </a:rPr>
              <a:t>=10, </a:t>
            </a:r>
            <a:r>
              <a:rPr lang="en-US" altLang="zh-CN" sz="1600" b="1" dirty="0" err="1">
                <a:solidFill>
                  <a:srgbClr val="0000FF"/>
                </a:solidFill>
                <a:latin typeface="宋体" panose="02010600030101010101" pitchFamily="2" charset="-122"/>
                <a:ea typeface="阿里巴巴普惠体" panose="00020600040101010101"/>
              </a:rPr>
              <a:t>embedding_dim</a:t>
            </a:r>
            <a:r>
              <a:rPr lang="en-US" altLang="zh-CN" sz="1600" b="1" dirty="0">
                <a:solidFill>
                  <a:srgbClr val="0000FF"/>
                </a:solidFill>
                <a:latin typeface="宋体" panose="02010600030101010101" pitchFamily="2" charset="-122"/>
                <a:ea typeface="阿里巴巴普惠体" panose="00020600040101010101"/>
              </a:rPr>
              <a:t>=4)</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a:t>
            </a:r>
            <a:r>
              <a:rPr lang="zh-CN" altLang="en-US" dirty="0"/>
              <a:t>使用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sz="1800" b="0" i="0" dirty="0">
                <a:solidFill>
                  <a:srgbClr val="333333"/>
                </a:solidFill>
                <a:effectLst/>
                <a:latin typeface="Alibaba PuHuiTi" pitchFamily="18" charset="-122"/>
                <a:ea typeface="Alibaba PuHuiTi" pitchFamily="18" charset="-122"/>
                <a:cs typeface="Alibaba PuHuiTi" pitchFamily="18" charset="-122"/>
              </a:rPr>
              <a:t>接下来，我们将会学习如何将词转换为词向量，其步骤如下</a:t>
            </a:r>
            <a:r>
              <a:rPr lang="en-US" altLang="zh-CN" sz="1800" b="0" i="0" dirty="0">
                <a:solidFill>
                  <a:srgbClr val="333333"/>
                </a:solidFill>
                <a:effectLst/>
                <a:latin typeface="Alibaba PuHuiTi" pitchFamily="18" charset="-122"/>
                <a:ea typeface="Alibaba PuHuiTi" pitchFamily="18" charset="-122"/>
                <a:cs typeface="Alibaba PuHuiTi" pitchFamily="18" charset="-122"/>
              </a:rPr>
              <a:t>:</a:t>
            </a:r>
            <a:endParaRPr lang="en-US" altLang="zh-CN" sz="1800"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rgbClr val="333333"/>
                </a:solidFill>
                <a:effectLst/>
                <a:latin typeface="Alibaba PuHuiTi" pitchFamily="18" charset="-122"/>
                <a:ea typeface="Alibaba PuHuiTi" pitchFamily="18" charset="-122"/>
                <a:cs typeface="Alibaba PuHuiTi" pitchFamily="18" charset="-122"/>
              </a:rPr>
              <a:t>先将语料进行分词，构建词与索引的映射，我们可以把这个映射叫做词表，词表中每个词都对应了一个唯一的索引</a:t>
            </a:r>
            <a:endParaRPr lang="en-US" altLang="zh-CN" sz="1800"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rgbClr val="333333"/>
                </a:solidFill>
                <a:effectLst/>
                <a:latin typeface="Alibaba PuHuiTi" pitchFamily="18" charset="-122"/>
                <a:ea typeface="Alibaba PuHuiTi" pitchFamily="18" charset="-122"/>
                <a:cs typeface="Alibaba PuHuiTi" pitchFamily="18" charset="-122"/>
              </a:rPr>
              <a:t>然后使用 </a:t>
            </a:r>
            <a:r>
              <a:rPr lang="en-US" altLang="zh-CN" sz="1800" b="0" i="0" dirty="0" err="1">
                <a:solidFill>
                  <a:srgbClr val="333333"/>
                </a:solidFill>
                <a:effectLst/>
                <a:latin typeface="Alibaba PuHuiTi" pitchFamily="18" charset="-122"/>
                <a:ea typeface="Alibaba PuHuiTi" pitchFamily="18" charset="-122"/>
                <a:cs typeface="Alibaba PuHuiTi" pitchFamily="18" charset="-122"/>
              </a:rPr>
              <a:t>nn.Embedding</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构建词嵌入矩阵，词索引对应的向量即为该词对应的数值化后的向量表示。</a:t>
            </a:r>
            <a:endParaRPr lang="zh-CN" altLang="en-US" sz="1800"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sz="1800" b="0" i="0" dirty="0">
                <a:solidFill>
                  <a:srgbClr val="333333"/>
                </a:solidFill>
                <a:effectLst/>
                <a:latin typeface="Alibaba PuHuiTi" pitchFamily="18" charset="-122"/>
                <a:ea typeface="Alibaba PuHuiTi" pitchFamily="18" charset="-122"/>
                <a:cs typeface="Alibaba PuHuiTi" pitchFamily="18" charset="-122"/>
              </a:rPr>
              <a:t>例如，我们的文本数据为</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北京冬奥的进度条已经过半，不少外国运动员在完成自己的比赛后踏上归途。</a:t>
            </a:r>
            <a:r>
              <a:rPr lang="en-US" altLang="zh-CN" sz="1800" b="0" i="0" dirty="0">
                <a:solidFill>
                  <a:srgbClr val="333333"/>
                </a:solidFill>
                <a:effectLst/>
                <a:latin typeface="Alibaba PuHuiTi" pitchFamily="18" charset="-122"/>
                <a:ea typeface="Alibaba PuHuiTi" pitchFamily="18" charset="-122"/>
                <a:cs typeface="Alibaba PuHuiTi" pitchFamily="18" charset="-122"/>
              </a:rPr>
              <a:t>"</a:t>
            </a:r>
            <a:r>
              <a:rPr lang="zh-CN" altLang="en-US" sz="1800" b="0" i="0" dirty="0">
                <a:solidFill>
                  <a:srgbClr val="333333"/>
                </a:solidFill>
                <a:effectLst/>
                <a:latin typeface="Alibaba PuHuiTi" pitchFamily="18" charset="-122"/>
                <a:ea typeface="Alibaba PuHuiTi" pitchFamily="18" charset="-122"/>
                <a:cs typeface="Alibaba PuHuiTi" pitchFamily="18" charset="-122"/>
              </a:rPr>
              <a:t>，</a:t>
            </a:r>
            <a:endParaRPr lang="en-US" altLang="zh-CN" sz="1800" dirty="0">
              <a:solidFill>
                <a:srgbClr val="333333"/>
              </a:solidFill>
              <a:latin typeface="Alibaba PuHuiTi" pitchFamily="18" charset="-122"/>
              <a:ea typeface="Alibaba PuHuiTi" pitchFamily="18" charset="-122"/>
              <a:cs typeface="Alibaba PuHuiTi" pitchFamily="18" charset="-122"/>
            </a:endParaRPr>
          </a:p>
          <a:p>
            <a:endParaRPr lang="zh-CN" alt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a:t>
            </a:r>
            <a:r>
              <a:rPr lang="zh-CN" altLang="en-US" dirty="0"/>
              <a:t>使用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Helvetica Neue"/>
              </a:rPr>
              <a:t>接下来，我们就实现下刚才的需求：</a:t>
            </a: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sp>
        <p:nvSpPr>
          <p:cNvPr id="4" name="文本框 3"/>
          <p:cNvSpPr txBox="1"/>
          <p:nvPr/>
        </p:nvSpPr>
        <p:spPr>
          <a:xfrm>
            <a:off x="1879440" y="1998202"/>
            <a:ext cx="8433120" cy="461664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import </a:t>
            </a:r>
            <a:r>
              <a:rPr lang="en-GB" altLang="zh-CN" sz="1400" dirty="0"/>
              <a:t>torch</a:t>
            </a:r>
            <a:br>
              <a:rPr lang="en-GB" altLang="zh-CN" sz="1400" dirty="0"/>
            </a:br>
            <a:r>
              <a:rPr lang="en-GB" altLang="zh-CN" sz="1400" b="1" dirty="0">
                <a:solidFill>
                  <a:srgbClr val="000080"/>
                </a:solidFill>
                <a:effectLst/>
              </a:rPr>
              <a:t>import </a:t>
            </a:r>
            <a:r>
              <a:rPr lang="en-GB" altLang="zh-CN" sz="1400" dirty="0" err="1"/>
              <a:t>torch.nn</a:t>
            </a:r>
            <a:r>
              <a:rPr lang="en-GB" altLang="zh-CN" sz="1400" dirty="0"/>
              <a:t> </a:t>
            </a:r>
            <a:r>
              <a:rPr lang="en-GB" altLang="zh-CN" sz="1400" b="1" dirty="0">
                <a:solidFill>
                  <a:srgbClr val="000080"/>
                </a:solidFill>
                <a:effectLst/>
              </a:rPr>
              <a:t>as </a:t>
            </a:r>
            <a:r>
              <a:rPr lang="en-GB" altLang="zh-CN" sz="1400" dirty="0" err="1"/>
              <a:t>nn</a:t>
            </a:r>
            <a:br>
              <a:rPr lang="en-GB" altLang="zh-CN" sz="1400" dirty="0"/>
            </a:br>
            <a:r>
              <a:rPr lang="en-GB" altLang="zh-CN" sz="1400" b="1" dirty="0">
                <a:solidFill>
                  <a:srgbClr val="000080"/>
                </a:solidFill>
                <a:effectLst/>
              </a:rPr>
              <a:t>import </a:t>
            </a:r>
            <a:r>
              <a:rPr lang="en-GB" altLang="zh-CN" sz="1400" dirty="0" err="1"/>
              <a:t>jieba</a:t>
            </a:r>
            <a:br>
              <a:rPr lang="en-GB" altLang="zh-CN" sz="1400" dirty="0"/>
            </a:br>
            <a:br>
              <a:rPr lang="en-GB" altLang="zh-CN" sz="1400" dirty="0"/>
            </a:b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a:t>
            </a:r>
            <a:r>
              <a:rPr lang="en-GB" altLang="zh-CN" sz="1400" i="1" dirty="0">
                <a:solidFill>
                  <a:srgbClr val="808080"/>
                </a:solidFill>
                <a:effectLst/>
              </a:rPr>
              <a:t># 0.</a:t>
            </a:r>
            <a:r>
              <a:rPr lang="zh-CN" altLang="en-US" sz="1400" i="1" dirty="0">
                <a:solidFill>
                  <a:srgbClr val="808080"/>
                </a:solidFill>
                <a:effectLst/>
              </a:rPr>
              <a:t>文本数据</a:t>
            </a:r>
            <a:br>
              <a:rPr lang="zh-CN" altLang="en-US" sz="1400" i="1" dirty="0">
                <a:solidFill>
                  <a:srgbClr val="808080"/>
                </a:solidFill>
                <a:effectLst/>
              </a:rPr>
            </a:br>
            <a:r>
              <a:rPr lang="zh-CN" altLang="en-US" sz="1400" i="1" dirty="0">
                <a:solidFill>
                  <a:srgbClr val="808080"/>
                </a:solidFill>
                <a:effectLst/>
              </a:rPr>
              <a:t>    </a:t>
            </a:r>
            <a:r>
              <a:rPr lang="en-GB" altLang="zh-CN" sz="1400" dirty="0"/>
              <a:t>text = </a:t>
            </a:r>
            <a:r>
              <a:rPr lang="en-GB" altLang="zh-CN" sz="1400" b="1" dirty="0">
                <a:solidFill>
                  <a:srgbClr val="008000"/>
                </a:solidFill>
                <a:effectLst/>
              </a:rPr>
              <a:t>'</a:t>
            </a:r>
            <a:r>
              <a:rPr lang="zh-CN" altLang="en-US" sz="1400" b="1" dirty="0">
                <a:solidFill>
                  <a:srgbClr val="008000"/>
                </a:solidFill>
                <a:effectLst/>
              </a:rPr>
              <a:t>北京冬奥的进度条已经过半，不少外国运动员在完成自己的比赛后踏上归途。</a:t>
            </a:r>
            <a:r>
              <a:rPr lang="en-US" altLang="zh-CN" sz="1400" b="1" dirty="0">
                <a:solidFill>
                  <a:srgbClr val="008000"/>
                </a:solidFill>
                <a:effectLst/>
              </a:rPr>
              <a:t>'</a:t>
            </a:r>
            <a:br>
              <a:rPr lang="en-US" altLang="zh-CN" sz="1400" b="1" dirty="0">
                <a:solidFill>
                  <a:srgbClr val="008000"/>
                </a:solidFill>
                <a:effectLst/>
              </a:rPr>
            </a:br>
            <a:r>
              <a:rPr lang="en-US" altLang="zh-CN" sz="1400" b="1" dirty="0">
                <a:solidFill>
                  <a:srgbClr val="008000"/>
                </a:solidFill>
                <a:effectLst/>
              </a:rPr>
              <a:t>    </a:t>
            </a:r>
            <a:r>
              <a:rPr lang="en-US" altLang="zh-CN" sz="1400" i="1" dirty="0">
                <a:solidFill>
                  <a:srgbClr val="808080"/>
                </a:solidFill>
                <a:effectLst/>
              </a:rPr>
              <a:t># 1. </a:t>
            </a:r>
            <a:r>
              <a:rPr lang="zh-CN" altLang="en-US" sz="1400" i="1" dirty="0">
                <a:solidFill>
                  <a:srgbClr val="808080"/>
                </a:solidFill>
                <a:effectLst/>
              </a:rPr>
              <a:t>文本分词</a:t>
            </a:r>
            <a:br>
              <a:rPr lang="zh-CN" altLang="en-US" sz="1400" i="1" dirty="0">
                <a:solidFill>
                  <a:srgbClr val="808080"/>
                </a:solidFill>
                <a:effectLst/>
              </a:rPr>
            </a:br>
            <a:r>
              <a:rPr lang="zh-CN" altLang="en-US" sz="1400" i="1" dirty="0">
                <a:solidFill>
                  <a:srgbClr val="808080"/>
                </a:solidFill>
                <a:effectLst/>
              </a:rPr>
              <a:t>    </a:t>
            </a:r>
            <a:r>
              <a:rPr lang="en-GB" altLang="zh-CN" sz="1400" dirty="0"/>
              <a:t>words = </a:t>
            </a:r>
            <a:r>
              <a:rPr lang="en-GB" altLang="zh-CN" sz="1400" dirty="0" err="1"/>
              <a:t>jieba.lcut</a:t>
            </a:r>
            <a:r>
              <a:rPr lang="en-GB" altLang="zh-CN" sz="1400" dirty="0"/>
              <a:t>(text)</a:t>
            </a:r>
            <a:br>
              <a:rPr lang="en-GB" altLang="zh-CN" sz="1400" dirty="0"/>
            </a:br>
            <a:r>
              <a:rPr lang="en-GB" altLang="zh-CN" sz="1400" dirty="0"/>
              <a:t>    print(</a:t>
            </a:r>
            <a:r>
              <a:rPr lang="en-GB" altLang="zh-CN" sz="1400" b="1" dirty="0">
                <a:solidFill>
                  <a:srgbClr val="008000"/>
                </a:solidFill>
                <a:effectLst/>
              </a:rPr>
              <a:t>'</a:t>
            </a:r>
            <a:r>
              <a:rPr lang="zh-CN" altLang="en-US" sz="1400" b="1" dirty="0">
                <a:solidFill>
                  <a:srgbClr val="008000"/>
                </a:solidFill>
                <a:effectLst/>
              </a:rPr>
              <a:t>文本分词</a:t>
            </a:r>
            <a:r>
              <a:rPr lang="en-US" altLang="zh-CN" sz="1400" b="1" dirty="0">
                <a:solidFill>
                  <a:srgbClr val="008000"/>
                </a:solidFill>
                <a:effectLst/>
              </a:rPr>
              <a:t>:'</a:t>
            </a:r>
            <a:r>
              <a:rPr lang="en-US" altLang="zh-CN" sz="1400" dirty="0"/>
              <a:t>, </a:t>
            </a:r>
            <a:r>
              <a:rPr lang="en-GB" altLang="zh-CN" sz="1400" dirty="0"/>
              <a:t>words)</a:t>
            </a:r>
            <a:br>
              <a:rPr lang="en-GB" altLang="zh-CN" sz="1400" dirty="0"/>
            </a:br>
            <a:r>
              <a:rPr lang="en-GB" altLang="zh-CN" sz="1400" dirty="0"/>
              <a:t>    </a:t>
            </a:r>
            <a:r>
              <a:rPr lang="en-GB" altLang="zh-CN" sz="1400" i="1" dirty="0">
                <a:solidFill>
                  <a:srgbClr val="808080"/>
                </a:solidFill>
                <a:effectLst/>
              </a:rPr>
              <a:t># 2.</a:t>
            </a:r>
            <a:r>
              <a:rPr lang="zh-CN" altLang="en-US" sz="1400" i="1" dirty="0">
                <a:solidFill>
                  <a:srgbClr val="808080"/>
                </a:solidFill>
                <a:effectLst/>
              </a:rPr>
              <a:t>分词去重并保留原来的顺序获取所有的词语</a:t>
            </a:r>
            <a:br>
              <a:rPr lang="zh-CN" altLang="en-US" sz="1400" i="1" dirty="0">
                <a:solidFill>
                  <a:srgbClr val="808080"/>
                </a:solidFill>
                <a:effectLst/>
              </a:rPr>
            </a:br>
            <a:r>
              <a:rPr lang="zh-CN" altLang="en-US" sz="1400" i="1" dirty="0">
                <a:solidFill>
                  <a:srgbClr val="808080"/>
                </a:solidFill>
                <a:effectLst/>
              </a:rPr>
              <a:t>    </a:t>
            </a:r>
            <a:r>
              <a:rPr lang="en-GB" altLang="zh-CN" sz="1400" dirty="0" err="1"/>
              <a:t>unique_words</a:t>
            </a:r>
            <a:r>
              <a:rPr lang="en-GB" altLang="zh-CN" sz="1400" dirty="0"/>
              <a:t> = list(set(words))</a:t>
            </a:r>
            <a:br>
              <a:rPr lang="en-GB" altLang="zh-CN" sz="1400" dirty="0"/>
            </a:br>
            <a:r>
              <a:rPr lang="en-GB" altLang="zh-CN" sz="1400" dirty="0"/>
              <a:t>    print(</a:t>
            </a:r>
            <a:r>
              <a:rPr lang="en-GB" altLang="zh-CN" sz="1400" b="1" dirty="0">
                <a:solidFill>
                  <a:srgbClr val="008000"/>
                </a:solidFill>
                <a:effectLst/>
              </a:rPr>
              <a:t>"</a:t>
            </a:r>
            <a:r>
              <a:rPr lang="zh-CN" altLang="en-US" sz="1400" b="1" dirty="0">
                <a:solidFill>
                  <a:srgbClr val="008000"/>
                </a:solidFill>
                <a:effectLst/>
              </a:rPr>
              <a:t>去重后词的个数</a:t>
            </a:r>
            <a:r>
              <a:rPr lang="en-US" altLang="zh-CN" sz="1400" b="1" dirty="0">
                <a:solidFill>
                  <a:srgbClr val="008000"/>
                </a:solidFill>
                <a:effectLst/>
              </a:rPr>
              <a:t>:</a:t>
            </a:r>
            <a:r>
              <a:rPr lang="en-US" altLang="zh-CN" sz="1400" b="1" dirty="0">
                <a:solidFill>
                  <a:srgbClr val="000080"/>
                </a:solidFill>
                <a:effectLst/>
              </a:rPr>
              <a:t>\</a:t>
            </a:r>
            <a:r>
              <a:rPr lang="en-GB" altLang="zh-CN" sz="1400" b="1" dirty="0">
                <a:solidFill>
                  <a:srgbClr val="000080"/>
                </a:solidFill>
                <a:effectLst/>
              </a:rPr>
              <a:t>n</a:t>
            </a:r>
            <a:r>
              <a:rPr lang="en-GB" altLang="zh-CN" sz="1400" b="1" dirty="0">
                <a:solidFill>
                  <a:srgbClr val="008000"/>
                </a:solidFill>
                <a:effectLst/>
              </a:rPr>
              <a:t>"</a:t>
            </a:r>
            <a:r>
              <a:rPr lang="en-GB" altLang="zh-CN" sz="1400" dirty="0"/>
              <a:t>,</a:t>
            </a:r>
            <a:r>
              <a:rPr lang="en-GB" altLang="zh-CN" sz="1400" dirty="0" err="1"/>
              <a:t>len</a:t>
            </a:r>
            <a:r>
              <a:rPr lang="en-GB" altLang="zh-CN" sz="1400" dirty="0"/>
              <a:t>(</a:t>
            </a:r>
            <a:r>
              <a:rPr lang="en-GB" altLang="zh-CN" sz="1400" dirty="0" err="1"/>
              <a:t>unique_words</a:t>
            </a:r>
            <a:r>
              <a:rPr lang="en-GB" altLang="zh-CN" sz="1400" dirty="0"/>
              <a:t>))</a:t>
            </a:r>
            <a:br>
              <a:rPr lang="en-GB" altLang="zh-CN" sz="1400" dirty="0"/>
            </a:br>
            <a:r>
              <a:rPr lang="en-GB" altLang="zh-CN" sz="1400" dirty="0"/>
              <a:t>    </a:t>
            </a:r>
            <a:r>
              <a:rPr lang="en-GB" altLang="zh-CN" sz="1400" i="1" dirty="0">
                <a:solidFill>
                  <a:srgbClr val="808080"/>
                </a:solidFill>
                <a:effectLst/>
              </a:rPr>
              <a:t># 3. </a:t>
            </a:r>
            <a:r>
              <a:rPr lang="zh-CN" altLang="en-US" sz="1400" i="1" dirty="0">
                <a:solidFill>
                  <a:srgbClr val="808080"/>
                </a:solidFill>
                <a:effectLst/>
              </a:rPr>
              <a:t>构建词嵌入层</a:t>
            </a:r>
            <a:r>
              <a:rPr lang="en-US" altLang="zh-CN" sz="1400" i="1" dirty="0">
                <a:solidFill>
                  <a:srgbClr val="808080"/>
                </a:solidFill>
                <a:effectLst/>
              </a:rPr>
              <a:t>:</a:t>
            </a:r>
            <a:r>
              <a:rPr lang="en-GB" altLang="zh-CN" sz="1400" i="1" dirty="0" err="1">
                <a:solidFill>
                  <a:srgbClr val="808080"/>
                </a:solidFill>
                <a:effectLst/>
              </a:rPr>
              <a:t>num_embeddings</a:t>
            </a:r>
            <a:r>
              <a:rPr lang="en-GB" altLang="zh-CN" sz="1400" i="1" dirty="0">
                <a:solidFill>
                  <a:srgbClr val="808080"/>
                </a:solidFill>
                <a:effectLst/>
              </a:rPr>
              <a:t>: </a:t>
            </a:r>
            <a:r>
              <a:rPr lang="zh-CN" altLang="en-US" sz="1400" i="1" dirty="0">
                <a:solidFill>
                  <a:srgbClr val="808080"/>
                </a:solidFill>
                <a:effectLst/>
              </a:rPr>
              <a:t>表示词的总数量</a:t>
            </a:r>
            <a:r>
              <a:rPr lang="en-US" altLang="zh-CN" sz="1400" i="1" dirty="0">
                <a:solidFill>
                  <a:srgbClr val="808080"/>
                </a:solidFill>
                <a:effectLst/>
              </a:rPr>
              <a:t>;</a:t>
            </a:r>
            <a:r>
              <a:rPr lang="en-GB" altLang="zh-CN" sz="1400" i="1" dirty="0" err="1">
                <a:solidFill>
                  <a:srgbClr val="808080"/>
                </a:solidFill>
                <a:effectLst/>
              </a:rPr>
              <a:t>embedding_dim</a:t>
            </a:r>
            <a:r>
              <a:rPr lang="en-GB" altLang="zh-CN" sz="1400" i="1" dirty="0">
                <a:solidFill>
                  <a:srgbClr val="808080"/>
                </a:solidFill>
                <a:effectLst/>
              </a:rPr>
              <a:t>: </a:t>
            </a:r>
            <a:r>
              <a:rPr lang="zh-CN" altLang="en-US" sz="1400" i="1" dirty="0">
                <a:solidFill>
                  <a:srgbClr val="808080"/>
                </a:solidFill>
                <a:effectLst/>
              </a:rPr>
              <a:t>表示词嵌入的维度</a:t>
            </a:r>
            <a:br>
              <a:rPr lang="zh-CN" altLang="en-US" sz="1400" i="1" dirty="0">
                <a:solidFill>
                  <a:srgbClr val="808080"/>
                </a:solidFill>
                <a:effectLst/>
              </a:rPr>
            </a:br>
            <a:r>
              <a:rPr lang="zh-CN" altLang="en-US" sz="1400" i="1" dirty="0">
                <a:solidFill>
                  <a:srgbClr val="808080"/>
                </a:solidFill>
                <a:effectLst/>
              </a:rPr>
              <a:t>    </a:t>
            </a:r>
            <a:r>
              <a:rPr lang="en-GB" altLang="zh-CN" sz="1400" dirty="0"/>
              <a:t>embed = </a:t>
            </a:r>
            <a:r>
              <a:rPr lang="en-GB" altLang="zh-CN" sz="1400" dirty="0" err="1"/>
              <a:t>nn.Embedding</a:t>
            </a:r>
            <a:r>
              <a:rPr lang="en-GB" altLang="zh-CN" sz="1400" dirty="0"/>
              <a:t>(</a:t>
            </a:r>
            <a:r>
              <a:rPr lang="en-GB" altLang="zh-CN" sz="1400" dirty="0" err="1"/>
              <a:t>num_embeddings</a:t>
            </a:r>
            <a:r>
              <a:rPr lang="en-GB" altLang="zh-CN" sz="1400" dirty="0"/>
              <a:t>=</a:t>
            </a:r>
            <a:r>
              <a:rPr lang="en-GB" altLang="zh-CN" sz="1400" dirty="0" err="1"/>
              <a:t>len</a:t>
            </a:r>
            <a:r>
              <a:rPr lang="en-GB" altLang="zh-CN" sz="1400" dirty="0"/>
              <a:t>(</a:t>
            </a:r>
            <a:r>
              <a:rPr lang="en-GB" altLang="zh-CN" sz="1400" dirty="0" err="1"/>
              <a:t>unique_words</a:t>
            </a:r>
            <a:r>
              <a:rPr lang="en-GB" altLang="zh-CN" sz="1400" dirty="0"/>
              <a:t>), </a:t>
            </a:r>
            <a:r>
              <a:rPr lang="en-GB" altLang="zh-CN" sz="1400" dirty="0" err="1"/>
              <a:t>embedding_dim</a:t>
            </a:r>
            <a:r>
              <a:rPr lang="en-GB" altLang="zh-CN" sz="1400" dirty="0"/>
              <a:t>=</a:t>
            </a:r>
            <a:r>
              <a:rPr lang="en-GB" altLang="zh-CN" sz="1400" dirty="0">
                <a:solidFill>
                  <a:srgbClr val="0000FF"/>
                </a:solidFill>
                <a:effectLst/>
              </a:rPr>
              <a:t>4</a:t>
            </a:r>
            <a:r>
              <a:rPr lang="en-GB" altLang="zh-CN" sz="1400" dirty="0"/>
              <a:t>)</a:t>
            </a:r>
            <a:br>
              <a:rPr lang="en-GB" altLang="zh-CN" sz="1400" dirty="0"/>
            </a:br>
            <a:r>
              <a:rPr lang="en-GB" altLang="zh-CN" sz="1400" dirty="0"/>
              <a:t>    print(</a:t>
            </a:r>
            <a:r>
              <a:rPr lang="en-GB" altLang="zh-CN" sz="1400" b="1" dirty="0">
                <a:solidFill>
                  <a:srgbClr val="008000"/>
                </a:solidFill>
                <a:effectLst/>
              </a:rPr>
              <a:t>"</a:t>
            </a:r>
            <a:r>
              <a:rPr lang="zh-CN" altLang="en-US" sz="1400" b="1" dirty="0">
                <a:solidFill>
                  <a:srgbClr val="008000"/>
                </a:solidFill>
                <a:effectLst/>
              </a:rPr>
              <a:t>词嵌入的结果：</a:t>
            </a:r>
            <a:r>
              <a:rPr lang="en-US" altLang="zh-CN" sz="1400" b="1" dirty="0">
                <a:solidFill>
                  <a:srgbClr val="000080"/>
                </a:solidFill>
                <a:effectLst/>
              </a:rPr>
              <a:t>\</a:t>
            </a:r>
            <a:r>
              <a:rPr lang="en-GB" altLang="zh-CN" sz="1400" b="1" dirty="0" err="1">
                <a:solidFill>
                  <a:srgbClr val="000080"/>
                </a:solidFill>
                <a:effectLst/>
              </a:rPr>
              <a:t>n</a:t>
            </a:r>
            <a:r>
              <a:rPr lang="en-GB" altLang="zh-CN" sz="1400" b="1" dirty="0" err="1">
                <a:solidFill>
                  <a:srgbClr val="008000"/>
                </a:solidFill>
                <a:effectLst/>
              </a:rPr>
              <a:t>"</a:t>
            </a:r>
            <a:r>
              <a:rPr lang="en-GB" altLang="zh-CN" sz="1400" dirty="0" err="1"/>
              <a:t>,embed</a:t>
            </a:r>
            <a:r>
              <a:rPr lang="en-GB" altLang="zh-CN" sz="1400" dirty="0"/>
              <a:t>)</a:t>
            </a:r>
            <a:br>
              <a:rPr lang="en-GB" altLang="zh-CN" sz="1400" dirty="0"/>
            </a:br>
            <a:r>
              <a:rPr lang="en-GB" altLang="zh-CN" sz="1400" dirty="0"/>
              <a:t>    </a:t>
            </a:r>
            <a:r>
              <a:rPr lang="en-GB" altLang="zh-CN" sz="1400" i="1" dirty="0">
                <a:solidFill>
                  <a:srgbClr val="808080"/>
                </a:solidFill>
                <a:effectLst/>
              </a:rPr>
              <a:t># 4. </a:t>
            </a:r>
            <a:r>
              <a:rPr lang="zh-CN" altLang="en-US" sz="1400" i="1" dirty="0">
                <a:solidFill>
                  <a:srgbClr val="808080"/>
                </a:solidFill>
                <a:effectLst/>
              </a:rPr>
              <a:t>词语的词向量表示</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err="1"/>
              <a:t>i</a:t>
            </a:r>
            <a:r>
              <a:rPr lang="en-GB" altLang="zh-CN" sz="1400" dirty="0"/>
              <a:t>, word </a:t>
            </a:r>
            <a:r>
              <a:rPr lang="en-GB" altLang="zh-CN" sz="1400" b="1" dirty="0">
                <a:solidFill>
                  <a:srgbClr val="000080"/>
                </a:solidFill>
                <a:effectLst/>
              </a:rPr>
              <a:t>in </a:t>
            </a:r>
            <a:r>
              <a:rPr lang="en-GB" altLang="zh-CN" sz="1400" dirty="0"/>
              <a:t>enumerate(</a:t>
            </a:r>
            <a:r>
              <a:rPr lang="en-GB" altLang="zh-CN" sz="1400" dirty="0" err="1"/>
              <a:t>unique_words</a:t>
            </a:r>
            <a:r>
              <a:rPr lang="en-GB" altLang="zh-CN" sz="1400" dirty="0"/>
              <a:t>):</a:t>
            </a:r>
            <a:br>
              <a:rPr lang="en-GB" altLang="zh-CN" sz="1400" dirty="0"/>
            </a:br>
            <a:r>
              <a:rPr lang="en-GB" altLang="zh-CN" sz="1400" dirty="0"/>
              <a:t>        </a:t>
            </a:r>
            <a:r>
              <a:rPr lang="en-GB" altLang="zh-CN" sz="1400" i="1" dirty="0">
                <a:solidFill>
                  <a:srgbClr val="808080"/>
                </a:solidFill>
                <a:effectLst/>
              </a:rPr>
              <a:t># </a:t>
            </a:r>
            <a:r>
              <a:rPr lang="zh-CN" altLang="en-US" sz="1400" i="1" dirty="0">
                <a:solidFill>
                  <a:srgbClr val="808080"/>
                </a:solidFill>
                <a:effectLst/>
              </a:rPr>
              <a:t>获得词嵌入向量</a:t>
            </a:r>
            <a:br>
              <a:rPr lang="zh-CN" altLang="en-US" sz="1400" i="1" dirty="0">
                <a:solidFill>
                  <a:srgbClr val="808080"/>
                </a:solidFill>
                <a:effectLst/>
              </a:rPr>
            </a:br>
            <a:r>
              <a:rPr lang="zh-CN" altLang="en-US" sz="1400" i="1" dirty="0">
                <a:solidFill>
                  <a:srgbClr val="808080"/>
                </a:solidFill>
                <a:effectLst/>
              </a:rPr>
              <a:t>        </a:t>
            </a:r>
            <a:r>
              <a:rPr lang="en-GB" altLang="zh-CN" sz="1400" dirty="0" err="1"/>
              <a:t>word_vec</a:t>
            </a:r>
            <a:r>
              <a:rPr lang="en-GB" altLang="zh-CN" sz="1400" dirty="0"/>
              <a:t> = embed(</a:t>
            </a:r>
            <a:r>
              <a:rPr lang="en-GB" altLang="zh-CN" sz="1400" dirty="0" err="1"/>
              <a:t>torch.tensor</a:t>
            </a:r>
            <a:r>
              <a:rPr lang="en-GB" altLang="zh-CN" sz="1400" dirty="0"/>
              <a:t>(</a:t>
            </a:r>
            <a:r>
              <a:rPr lang="en-GB" altLang="zh-CN" sz="1400" dirty="0" err="1"/>
              <a:t>i</a:t>
            </a:r>
            <a:r>
              <a:rPr lang="en-GB" altLang="zh-CN" sz="1400" dirty="0"/>
              <a:t>))</a:t>
            </a:r>
            <a:br>
              <a:rPr lang="en-GB" altLang="zh-CN" sz="1400" dirty="0"/>
            </a:br>
            <a:r>
              <a:rPr lang="en-GB" altLang="zh-CN" sz="1400" dirty="0"/>
              <a:t>        print(</a:t>
            </a:r>
            <a:r>
              <a:rPr lang="en-GB" altLang="zh-CN" sz="1400" b="1" dirty="0">
                <a:solidFill>
                  <a:srgbClr val="008000"/>
                </a:solidFill>
                <a:effectLst/>
              </a:rPr>
              <a:t>'%3s</a:t>
            </a:r>
            <a:r>
              <a:rPr lang="en-GB" altLang="zh-CN" sz="1400" b="1" dirty="0">
                <a:solidFill>
                  <a:srgbClr val="000080"/>
                </a:solidFill>
                <a:effectLst/>
              </a:rPr>
              <a:t>\t</a:t>
            </a:r>
            <a:r>
              <a:rPr lang="en-GB" altLang="zh-CN" sz="1400" b="1" dirty="0">
                <a:solidFill>
                  <a:srgbClr val="008000"/>
                </a:solidFill>
                <a:effectLst/>
              </a:rPr>
              <a:t>' </a:t>
            </a:r>
            <a:r>
              <a:rPr lang="en-GB" altLang="zh-CN" sz="1400" dirty="0"/>
              <a:t>% word, </a:t>
            </a:r>
            <a:r>
              <a:rPr lang="en-GB" altLang="zh-CN" sz="1400" dirty="0" err="1"/>
              <a:t>word_vec</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词嵌入层</a:t>
            </a:r>
            <a:r>
              <a:rPr lang="zh-CN" altLang="en-US" dirty="0"/>
              <a:t>使用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Helvetica Neue"/>
              </a:rPr>
              <a:t>输出的结果是：</a:t>
            </a: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pic>
        <p:nvPicPr>
          <p:cNvPr id="8" name="图片 7"/>
          <p:cNvPicPr>
            <a:picLocks noChangeAspect="1"/>
          </p:cNvPicPr>
          <p:nvPr/>
        </p:nvPicPr>
        <p:blipFill>
          <a:blip r:embed="rId1"/>
          <a:stretch>
            <a:fillRect/>
          </a:stretch>
        </p:blipFill>
        <p:spPr>
          <a:xfrm>
            <a:off x="2439034" y="1457271"/>
            <a:ext cx="7558405" cy="51447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173480"/>
            <a:ext cx="6648856" cy="4511040"/>
          </a:xfrm>
        </p:spPr>
        <p:txBody>
          <a:bodyPr/>
          <a:lstStyle/>
          <a:p>
            <a:pPr algn="l"/>
            <a:r>
              <a:rPr lang="zh-CN" altLang="en-US" dirty="0">
                <a:solidFill>
                  <a:srgbClr val="333333"/>
                </a:solidFill>
                <a:latin typeface="Helvetica Neue"/>
              </a:rPr>
              <a:t>词嵌入层的作用</a:t>
            </a:r>
            <a:endParaRPr lang="en-US" altLang="zh-CN" dirty="0">
              <a:solidFill>
                <a:srgbClr val="333333"/>
              </a:solidFill>
              <a:latin typeface="Helvetica Neue"/>
            </a:endParaRPr>
          </a:p>
          <a:p>
            <a:pPr marL="0" indent="0" algn="l">
              <a:buNone/>
            </a:pPr>
            <a:r>
              <a:rPr lang="zh-CN" altLang="en-US" b="0" i="0" dirty="0">
                <a:solidFill>
                  <a:srgbClr val="333333"/>
                </a:solidFill>
                <a:effectLst/>
                <a:latin typeface="Helvetica Neue"/>
              </a:rPr>
              <a:t>主要作用就是将输入的词映射为词向量，便于在网络模型中进行计算。</a:t>
            </a:r>
            <a:endParaRPr lang="zh-CN" altLang="en-US"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2.</a:t>
            </a:r>
            <a:r>
              <a:rPr lang="zh-CN" altLang="en-US" b="0" i="0" dirty="0">
                <a:solidFill>
                  <a:srgbClr val="333333"/>
                </a:solidFill>
                <a:effectLst/>
                <a:latin typeface="Helvetica Neue"/>
              </a:rPr>
              <a:t> </a:t>
            </a:r>
            <a:r>
              <a:rPr lang="zh-CN" altLang="en-US" b="1" dirty="0">
                <a:solidFill>
                  <a:srgbClr val="333333"/>
                </a:solidFill>
                <a:latin typeface="Helvetica Neue"/>
              </a:rPr>
              <a:t> 词嵌入层的</a:t>
            </a:r>
            <a:r>
              <a:rPr lang="en-US" altLang="zh-CN" b="1" dirty="0">
                <a:solidFill>
                  <a:srgbClr val="333333"/>
                </a:solidFill>
                <a:latin typeface="Helvetica Neue"/>
              </a:rPr>
              <a:t>API</a:t>
            </a:r>
            <a:endParaRPr lang="en-US" altLang="zh-CN" b="1" dirty="0">
              <a:solidFill>
                <a:srgbClr val="333333"/>
              </a:solidFill>
              <a:latin typeface="Helvetica Neue"/>
            </a:endParaRPr>
          </a:p>
          <a:p>
            <a:pPr marL="0" indent="0" algn="l">
              <a:buNone/>
            </a:pPr>
            <a:endParaRPr lang="zh-CN" altLang="en-US" b="0" i="0" dirty="0">
              <a:solidFill>
                <a:srgbClr val="333333"/>
              </a:solidFill>
              <a:effectLst/>
              <a:latin typeface="Helvetica Neue"/>
            </a:endParaRPr>
          </a:p>
        </p:txBody>
      </p:sp>
      <p:sp>
        <p:nvSpPr>
          <p:cNvPr id="3" name="文本框 2"/>
          <p:cNvSpPr txBox="1"/>
          <p:nvPr/>
        </p:nvSpPr>
        <p:spPr>
          <a:xfrm>
            <a:off x="5343840" y="4534781"/>
            <a:ext cx="5529703" cy="33855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b="1" dirty="0" err="1">
                <a:solidFill>
                  <a:srgbClr val="0000FF"/>
                </a:solidFill>
                <a:latin typeface="宋体" panose="02010600030101010101" pitchFamily="2" charset="-122"/>
                <a:ea typeface="阿里巴巴普惠体" panose="00020600040101010101"/>
              </a:rPr>
              <a:t>nn.Embedding</a:t>
            </a:r>
            <a:r>
              <a:rPr lang="en-US" altLang="zh-CN"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num_embeddings</a:t>
            </a:r>
            <a:r>
              <a:rPr lang="en-US" altLang="zh-CN" sz="1600" b="1" dirty="0">
                <a:solidFill>
                  <a:srgbClr val="0000FF"/>
                </a:solidFill>
                <a:latin typeface="宋体" panose="02010600030101010101" pitchFamily="2" charset="-122"/>
                <a:ea typeface="阿里巴巴普惠体" panose="00020600040101010101"/>
              </a:rPr>
              <a:t>=10, </a:t>
            </a:r>
            <a:r>
              <a:rPr lang="en-US" altLang="zh-CN" sz="1600" b="1" dirty="0" err="1">
                <a:solidFill>
                  <a:srgbClr val="0000FF"/>
                </a:solidFill>
                <a:latin typeface="宋体" panose="02010600030101010101" pitchFamily="2" charset="-122"/>
                <a:ea typeface="阿里巴巴普惠体" panose="00020600040101010101"/>
              </a:rPr>
              <a:t>embedding_dim</a:t>
            </a:r>
            <a:r>
              <a:rPr lang="en-US" altLang="zh-CN" sz="1600" b="1" dirty="0">
                <a:solidFill>
                  <a:srgbClr val="0000FF"/>
                </a:solidFill>
                <a:latin typeface="宋体" panose="02010600030101010101" pitchFamily="2" charset="-122"/>
                <a:ea typeface="阿里巴巴普惠体" panose="00020600040101010101"/>
              </a:rPr>
              <a:t>=4)</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207" y="1278385"/>
            <a:ext cx="5973445" cy="2885242"/>
          </a:xfrm>
        </p:spPr>
        <p:txBody>
          <a:bodyPr/>
          <a:lstStyle/>
          <a:p>
            <a:r>
              <a:rPr kumimoji="1" lang="en-US" altLang="zh-CN" sz="1600" dirty="0">
                <a:sym typeface="+mn-ea"/>
              </a:rPr>
              <a:t>RNN</a:t>
            </a:r>
            <a:r>
              <a:rPr kumimoji="1" lang="zh-CN" altLang="en-US" sz="1600" dirty="0">
                <a:sym typeface="+mn-ea"/>
              </a:rPr>
              <a:t>介绍</a:t>
            </a:r>
            <a:endParaRPr kumimoji="1" lang="zh-CN" altLang="en-US" sz="1600" dirty="0">
              <a:sym typeface="+mn-ea"/>
            </a:endParaRPr>
          </a:p>
          <a:p>
            <a:r>
              <a:rPr kumimoji="1" lang="zh-CN" altLang="en-US" sz="1600" dirty="0">
                <a:sym typeface="+mn-ea"/>
              </a:rPr>
              <a:t>词嵌入层</a:t>
            </a:r>
            <a:endParaRPr kumimoji="1" lang="zh-CN" altLang="en-US" sz="1600" dirty="0">
              <a:sym typeface="+mn-ea"/>
            </a:endParaRPr>
          </a:p>
          <a:p>
            <a:r>
              <a:rPr kumimoji="1" lang="zh-CN" altLang="en-US" sz="1600" dirty="0">
                <a:solidFill>
                  <a:srgbClr val="FF0000"/>
                </a:solidFill>
                <a:sym typeface="+mn-ea"/>
              </a:rPr>
              <a:t>循环网络层</a:t>
            </a:r>
            <a:endParaRPr kumimoji="1" lang="zh-CN" altLang="en-US" sz="1600" dirty="0">
              <a:solidFill>
                <a:srgbClr val="FF0000"/>
              </a:solidFill>
              <a:sym typeface="+mn-ea"/>
            </a:endParaRPr>
          </a:p>
          <a:p>
            <a:pPr algn="l"/>
            <a:r>
              <a:rPr kumimoji="1" lang="zh-CN" altLang="en-US" sz="1600" dirty="0">
                <a:sym typeface="+mn-ea"/>
              </a:rPr>
              <a:t>文本生成案例</a:t>
            </a:r>
            <a:endParaRPr kumimoji="1" lang="zh-CN" altLang="en-US"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15997" y="2771171"/>
            <a:ext cx="410210" cy="4102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2592705"/>
          </a:xfrm>
        </p:spPr>
        <p:txBody>
          <a:bodyPr/>
          <a:lstStyle/>
          <a:p>
            <a:r>
              <a:rPr lang="zh-CN" altLang="en-US" dirty="0">
                <a:solidFill>
                  <a:schemeClr val="tx1"/>
                </a:solidFill>
              </a:rPr>
              <a:t>掌握</a:t>
            </a:r>
            <a:r>
              <a:rPr lang="en-US" altLang="zh-CN" dirty="0">
                <a:solidFill>
                  <a:schemeClr val="tx1"/>
                </a:solidFill>
              </a:rPr>
              <a:t>RNN</a:t>
            </a:r>
            <a:r>
              <a:rPr lang="zh-CN" altLang="en-US" dirty="0">
                <a:solidFill>
                  <a:schemeClr val="tx1"/>
                </a:solidFill>
              </a:rPr>
              <a:t>网络原理</a:t>
            </a:r>
            <a:endParaRPr lang="en-US" altLang="zh-CN" dirty="0">
              <a:solidFill>
                <a:schemeClr val="tx1"/>
              </a:solidFill>
            </a:endParaRPr>
          </a:p>
          <a:p>
            <a:r>
              <a:rPr lang="zh-CN" altLang="en-US" dirty="0">
                <a:solidFill>
                  <a:schemeClr val="tx1"/>
                </a:solidFill>
              </a:rPr>
              <a:t>掌握</a:t>
            </a:r>
            <a:r>
              <a:rPr lang="en-US" altLang="zh-CN" dirty="0" err="1">
                <a:solidFill>
                  <a:schemeClr val="tx1"/>
                </a:solidFill>
              </a:rPr>
              <a:t>PyTorch</a:t>
            </a:r>
            <a:r>
              <a:rPr lang="en-US" altLang="zh-CN" dirty="0">
                <a:solidFill>
                  <a:schemeClr val="tx1"/>
                </a:solidFill>
              </a:rPr>
              <a:t> RNN API</a:t>
            </a:r>
            <a:endParaRPr lang="zh-CN" altLang="en-US"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974461"/>
            <a:ext cx="10698800" cy="317568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文本数据是具有序列特性的</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例如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我爱你</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这串文本就是具有序列关系的，</a:t>
            </a:r>
            <a:r>
              <a:rPr lang="en-US" altLang="zh-CN"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爱</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需要在 </a:t>
            </a:r>
            <a:r>
              <a:rPr lang="en-US" altLang="zh-CN"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我</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之后，</a:t>
            </a:r>
            <a:r>
              <a:rPr lang="en-US" altLang="zh-CN"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你</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需要在 </a:t>
            </a:r>
            <a:r>
              <a:rPr lang="en-US" altLang="zh-CN"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爱</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之后</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如果颠倒了顺序，那么可能就会表达不同的意思。</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为了表示出数据的序列关系，需要使用循环神经网络</a:t>
            </a:r>
            <a:r>
              <a:rPr lang="en-US" altLang="zh-CN" b="0" i="0" dirty="0">
                <a:solidFill>
                  <a:srgbClr val="333333"/>
                </a:solidFill>
                <a:effectLst/>
                <a:latin typeface="Alibaba PuHuiTi" pitchFamily="18" charset="-122"/>
                <a:ea typeface="Alibaba PuHuiTi" pitchFamily="18" charset="-122"/>
                <a:cs typeface="Alibaba PuHuiTi" pitchFamily="18" charset="-122"/>
              </a:rPr>
              <a:t>(Recurrent </a:t>
            </a:r>
            <a:r>
              <a:rPr lang="en-US" altLang="zh-CN" b="0" i="0" dirty="0" err="1">
                <a:solidFill>
                  <a:srgbClr val="333333"/>
                </a:solidFill>
                <a:effectLst/>
                <a:latin typeface="Alibaba PuHuiTi" pitchFamily="18" charset="-122"/>
                <a:ea typeface="Alibaba PuHuiTi" pitchFamily="18" charset="-122"/>
                <a:cs typeface="Alibaba PuHuiTi" pitchFamily="18" charset="-122"/>
              </a:rPr>
              <a:t>Nearal</a:t>
            </a:r>
            <a:r>
              <a:rPr lang="en-US" altLang="zh-CN" b="0" i="0" dirty="0">
                <a:solidFill>
                  <a:srgbClr val="333333"/>
                </a:solidFill>
                <a:effectLst/>
                <a:latin typeface="Alibaba PuHuiTi" pitchFamily="18" charset="-122"/>
                <a:ea typeface="Alibaba PuHuiTi" pitchFamily="18" charset="-122"/>
                <a:cs typeface="Alibaba PuHuiTi" pitchFamily="18" charset="-122"/>
              </a:rPr>
              <a:t> Networks, RNN) </a:t>
            </a:r>
            <a:r>
              <a:rPr lang="zh-CN" altLang="en-US" b="0" i="0" dirty="0">
                <a:solidFill>
                  <a:srgbClr val="333333"/>
                </a:solidFill>
                <a:effectLst/>
                <a:latin typeface="Alibaba PuHuiTi" pitchFamily="18" charset="-122"/>
                <a:ea typeface="Alibaba PuHuiTi" pitchFamily="18" charset="-122"/>
                <a:cs typeface="Alibaba PuHuiTi" pitchFamily="18" charset="-122"/>
              </a:rPr>
              <a:t>来对数据进行建模，</a:t>
            </a:r>
            <a:r>
              <a:rPr lang="en-US" altLang="zh-CN" b="0" i="0" dirty="0">
                <a:solidFill>
                  <a:srgbClr val="333333"/>
                </a:solidFill>
                <a:effectLst/>
                <a:latin typeface="Alibaba PuHuiTi" pitchFamily="18" charset="-122"/>
                <a:ea typeface="Alibaba PuHuiTi" pitchFamily="18" charset="-122"/>
                <a:cs typeface="Alibaba PuHuiTi" pitchFamily="18" charset="-122"/>
              </a:rPr>
              <a:t>RNN </a:t>
            </a:r>
            <a:r>
              <a:rPr lang="zh-CN" altLang="en-US" b="0" i="0" dirty="0">
                <a:solidFill>
                  <a:srgbClr val="333333"/>
                </a:solidFill>
                <a:effectLst/>
                <a:latin typeface="Alibaba PuHuiTi" pitchFamily="18" charset="-122"/>
                <a:ea typeface="Alibaba PuHuiTi" pitchFamily="18" charset="-122"/>
                <a:cs typeface="Alibaba PuHuiTi" pitchFamily="18" charset="-122"/>
              </a:rPr>
              <a:t>是一个作用于处理带有序列特点的样本数据。</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nSpc>
                <a:spcPct val="100000"/>
              </a:lnSpc>
              <a:spcBef>
                <a:spcPct val="0"/>
              </a:spcBef>
            </a:pPr>
            <a:endParaRPr lang="zh-CN" altLang="en-US" dirty="0">
              <a:solidFill>
                <a:srgbClr val="333333"/>
              </a:solidFill>
              <a:latin typeface="Open Sans" panose="020B0606030504020204" pitchFamily="34" charset="0"/>
              <a:cs typeface="Open Sans" panose="020B0606030504020204" pitchFamily="34" charset="0"/>
            </a:endParaRPr>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en-US" altLang="zh-CN" b="0" i="0" dirty="0">
                <a:solidFill>
                  <a:srgbClr val="333333"/>
                </a:solidFill>
                <a:effectLst/>
                <a:latin typeface="Helvetica Neue"/>
              </a:rPr>
              <a:t>RNN </a:t>
            </a:r>
            <a:r>
              <a:rPr lang="zh-CN" altLang="en-US" b="0" i="0" dirty="0">
                <a:solidFill>
                  <a:srgbClr val="333333"/>
                </a:solidFill>
                <a:effectLst/>
                <a:latin typeface="Helvetica Neue"/>
              </a:rPr>
              <a:t>计算过程是什么样的呢？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nSpc>
                <a:spcPct val="100000"/>
              </a:lnSpc>
              <a:spcBef>
                <a:spcPct val="0"/>
              </a:spcBef>
            </a:pPr>
            <a:endParaRPr lang="en-US" altLang="zh-CN" dirty="0">
              <a:solidFill>
                <a:srgbClr val="333333"/>
              </a:solidFill>
              <a:latin typeface="Alibaba PuHuiTi" pitchFamily="18" charset="-122"/>
              <a:ea typeface="Alibaba PuHuiTi" pitchFamily="18" charset="-122"/>
              <a:cs typeface="Alibaba PuHuiTi" pitchFamily="18" charset="-122"/>
            </a:endParaRPr>
          </a:p>
          <a:p>
            <a:pPr>
              <a:lnSpc>
                <a:spcPct val="100000"/>
              </a:lnSpc>
              <a:spcBef>
                <a:spcPct val="0"/>
              </a:spcBef>
            </a:pPr>
            <a:r>
              <a:rPr lang="en-US" altLang="zh-CN" dirty="0">
                <a:solidFill>
                  <a:srgbClr val="333333"/>
                </a:solidFill>
                <a:latin typeface="Alibaba PuHuiTi" pitchFamily="18" charset="-122"/>
                <a:ea typeface="Alibaba PuHuiTi" pitchFamily="18" charset="-122"/>
                <a:cs typeface="Alibaba PuHuiTi" pitchFamily="18" charset="-122"/>
              </a:rPr>
              <a:t>h </a:t>
            </a:r>
            <a:r>
              <a:rPr lang="zh-CN" altLang="en-US" dirty="0">
                <a:solidFill>
                  <a:srgbClr val="333333"/>
                </a:solidFill>
                <a:latin typeface="Alibaba PuHuiTi" pitchFamily="18" charset="-122"/>
                <a:ea typeface="Alibaba PuHuiTi" pitchFamily="18" charset="-122"/>
                <a:cs typeface="Alibaba PuHuiTi" pitchFamily="18" charset="-122"/>
              </a:rPr>
              <a:t>表示隐藏状态</a:t>
            </a:r>
            <a:r>
              <a:rPr lang="en-US" altLang="zh-CN" dirty="0">
                <a:solidFill>
                  <a:srgbClr val="333333"/>
                </a:solidFill>
                <a:latin typeface="Alibaba PuHuiTi" pitchFamily="18" charset="-122"/>
                <a:ea typeface="Alibaba PuHuiTi" pitchFamily="18" charset="-122"/>
                <a:cs typeface="Alibaba PuHuiTi" pitchFamily="18" charset="-122"/>
              </a:rPr>
              <a:t>, </a:t>
            </a:r>
            <a:r>
              <a:rPr lang="zh-CN" altLang="en-US"/>
              <a:t>保存了</a:t>
            </a:r>
            <a:r>
              <a:rPr lang="zh-CN" altLang="en-US" b="1"/>
              <a:t>序列数据中的历史信息</a:t>
            </a:r>
            <a:r>
              <a:rPr lang="zh-CN" altLang="en-US"/>
              <a:t>，并将这些信息传递给下一个时间步，从而允许</a:t>
            </a:r>
            <a:r>
              <a:rPr lang="en-US" altLang="zh-CN"/>
              <a:t>RNN</a:t>
            </a:r>
            <a:r>
              <a:rPr lang="zh-CN" altLang="en-US"/>
              <a:t>处理和预测序列数据中的元素。</a:t>
            </a:r>
            <a:endParaRPr lang="zh-CN" altLang="en-US"/>
          </a:p>
          <a:p>
            <a:pPr>
              <a:lnSpc>
                <a:spcPct val="100000"/>
              </a:lnSpc>
              <a:spcBef>
                <a:spcPct val="0"/>
              </a:spcBef>
            </a:pPr>
            <a:r>
              <a:rPr lang="zh-CN" altLang="en-US" dirty="0">
                <a:solidFill>
                  <a:srgbClr val="333333"/>
                </a:solidFill>
                <a:latin typeface="Alibaba PuHuiTi" pitchFamily="18" charset="-122"/>
                <a:ea typeface="Alibaba PuHuiTi" pitchFamily="18" charset="-122"/>
                <a:cs typeface="Alibaba PuHuiTi" pitchFamily="18" charset="-122"/>
              </a:rPr>
              <a:t>每一次的输入包含两个值</a:t>
            </a:r>
            <a:r>
              <a:rPr lang="en-US" altLang="zh-CN" dirty="0">
                <a:solidFill>
                  <a:srgbClr val="333333"/>
                </a:solidFill>
                <a:latin typeface="Alibaba PuHuiTi" pitchFamily="18" charset="-122"/>
                <a:ea typeface="Alibaba PuHuiTi" pitchFamily="18" charset="-122"/>
                <a:cs typeface="Alibaba PuHuiTi" pitchFamily="18" charset="-122"/>
              </a:rPr>
              <a:t>: </a:t>
            </a:r>
            <a:r>
              <a:rPr lang="zh-CN" altLang="en-US" dirty="0">
                <a:solidFill>
                  <a:srgbClr val="333333"/>
                </a:solidFill>
                <a:latin typeface="Alibaba PuHuiTi" pitchFamily="18" charset="-122"/>
                <a:ea typeface="Alibaba PuHuiTi" pitchFamily="18" charset="-122"/>
                <a:cs typeface="Alibaba PuHuiTi" pitchFamily="18" charset="-122"/>
              </a:rPr>
              <a:t>上一个时间步的隐藏状态、当前状态的输入值</a:t>
            </a:r>
            <a:r>
              <a:rPr lang="en-US" altLang="zh-CN" dirty="0">
                <a:solidFill>
                  <a:srgbClr val="333333"/>
                </a:solidFill>
                <a:latin typeface="Alibaba PuHuiTi" pitchFamily="18" charset="-122"/>
                <a:ea typeface="Alibaba PuHuiTi" pitchFamily="18" charset="-122"/>
                <a:cs typeface="Alibaba PuHuiTi" pitchFamily="18" charset="-122"/>
              </a:rPr>
              <a:t>x</a:t>
            </a:r>
            <a:endParaRPr lang="zh-CN" altLang="en-US" dirty="0">
              <a:solidFill>
                <a:srgbClr val="333333"/>
              </a:solidFill>
              <a:latin typeface="Alibaba PuHuiTi" pitchFamily="18" charset="-122"/>
              <a:ea typeface="Alibaba PuHuiTi" pitchFamily="18" charset="-122"/>
              <a:cs typeface="Alibaba PuHuiTi" pitchFamily="18" charset="-122"/>
            </a:endParaRPr>
          </a:p>
          <a:p>
            <a:pPr>
              <a:lnSpc>
                <a:spcPct val="100000"/>
              </a:lnSpc>
              <a:spcBef>
                <a:spcPct val="0"/>
              </a:spcBef>
            </a:pPr>
            <a:r>
              <a:rPr lang="zh-CN" altLang="en-US" dirty="0">
                <a:solidFill>
                  <a:srgbClr val="333333"/>
                </a:solidFill>
                <a:latin typeface="Alibaba PuHuiTi" pitchFamily="18" charset="-122"/>
                <a:ea typeface="Alibaba PuHuiTi" pitchFamily="18" charset="-122"/>
                <a:cs typeface="Alibaba PuHuiTi" pitchFamily="18" charset="-122"/>
              </a:rPr>
              <a:t>每一次的输出也会包含两个值：当前时间步的隐藏状态、当前时间步的预测结果</a:t>
            </a:r>
            <a:r>
              <a:rPr lang="en-US" altLang="zh-CN" dirty="0">
                <a:solidFill>
                  <a:srgbClr val="333333"/>
                </a:solidFill>
                <a:latin typeface="Alibaba PuHuiTi" pitchFamily="18" charset="-122"/>
                <a:ea typeface="Alibaba PuHuiTi" pitchFamily="18" charset="-122"/>
                <a:cs typeface="Alibaba PuHuiTi" pitchFamily="18" charset="-122"/>
              </a:rPr>
              <a:t>y</a:t>
            </a:r>
            <a:endParaRPr lang="zh-CN" altLang="en-US" dirty="0">
              <a:solidFill>
                <a:srgbClr val="333333"/>
              </a:solidFill>
              <a:latin typeface="Alibaba PuHuiTi" pitchFamily="18" charset="-122"/>
              <a:ea typeface="Alibaba PuHuiTi" pitchFamily="18" charset="-122"/>
              <a:cs typeface="Alibaba PuHuiTi" pitchFamily="18" charset="-122"/>
            </a:endParaRPr>
          </a:p>
          <a:p>
            <a:pPr>
              <a:lnSpc>
                <a:spcPct val="100000"/>
              </a:lnSpc>
              <a:spcBef>
                <a:spcPct val="0"/>
              </a:spcBef>
            </a:pPr>
            <a:r>
              <a:rPr lang="zh-CN" altLang="en-US"/>
              <a:t>隐藏状态作用：</a:t>
            </a:r>
            <a:endParaRPr lang="en-US" altLang="zh-CN"/>
          </a:p>
          <a:p>
            <a:pPr marL="342900" indent="-342900">
              <a:lnSpc>
                <a:spcPct val="100000"/>
              </a:lnSpc>
              <a:spcBef>
                <a:spcPct val="0"/>
              </a:spcBef>
              <a:buAutoNum type="arabicPeriod"/>
            </a:pPr>
            <a:r>
              <a:rPr lang="zh-CN" altLang="en-US" b="1"/>
              <a:t>记忆功能</a:t>
            </a:r>
            <a:r>
              <a:rPr lang="zh-CN" altLang="en-US"/>
              <a:t>：隐藏状态就像</a:t>
            </a:r>
            <a:r>
              <a:rPr lang="en-US" altLang="zh-CN"/>
              <a:t>RNN</a:t>
            </a:r>
            <a:r>
              <a:rPr lang="zh-CN" altLang="en-US"/>
              <a:t>的记忆，它能够在不同的时间步之间传递信息。当一个新的输入进入网络时，当前的隐藏状态会结合这个新输入来生成新的隐藏状态。</a:t>
            </a:r>
            <a:endParaRPr lang="zh-CN" altLang="en-US"/>
          </a:p>
          <a:p>
            <a:pPr marL="342900" indent="-342900">
              <a:lnSpc>
                <a:spcPct val="100000"/>
              </a:lnSpc>
              <a:spcBef>
                <a:spcPct val="0"/>
              </a:spcBef>
              <a:buFont typeface="+mj-lt"/>
              <a:buAutoNum type="arabicPeriod"/>
            </a:pPr>
            <a:r>
              <a:rPr lang="zh-CN" altLang="en-US" b="1"/>
              <a:t>上下文理解</a:t>
            </a:r>
            <a:r>
              <a:rPr lang="zh-CN" altLang="en-US"/>
              <a:t>：由于隐藏状态携带了过去的信息，它可以用于理解和生成与上下文相关的输出。这对于语言模型、机器翻译等任务尤其重要。</a:t>
            </a:r>
            <a:endParaRPr lang="zh-CN" altLang="en-US"/>
          </a:p>
          <a:p>
            <a:pPr marL="342900" indent="-342900">
              <a:lnSpc>
                <a:spcPct val="100000"/>
              </a:lnSpc>
              <a:spcBef>
                <a:spcPct val="0"/>
              </a:spcBef>
              <a:buFont typeface="+mj-lt"/>
              <a:buAutoNum type="arabicPeriod"/>
            </a:pPr>
            <a:r>
              <a:rPr lang="zh-CN" altLang="en-US" b="1"/>
              <a:t>连接不同时间步</a:t>
            </a:r>
            <a:r>
              <a:rPr lang="zh-CN" altLang="en-US"/>
              <a:t>：隐藏状态通过网络内部的循环连接将各个时间步连接起来，使得网络可以处理变长的序列数据。</a:t>
            </a:r>
            <a:endParaRPr lang="zh-CN" altLang="en-US"/>
          </a:p>
        </p:txBody>
      </p:sp>
      <p:pic>
        <p:nvPicPr>
          <p:cNvPr id="5" name="图片 4"/>
          <p:cNvPicPr>
            <a:picLocks noChangeAspect="1"/>
          </p:cNvPicPr>
          <p:nvPr/>
        </p:nvPicPr>
        <p:blipFill>
          <a:blip r:embed="rId1"/>
          <a:stretch>
            <a:fillRect/>
          </a:stretch>
        </p:blipFill>
        <p:spPr>
          <a:xfrm>
            <a:off x="3583720" y="1599811"/>
            <a:ext cx="6497534" cy="24602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sz="1800" dirty="0">
                <a:solidFill>
                  <a:srgbClr val="333333"/>
                </a:solidFill>
                <a:latin typeface="Alibaba PuHuiTi" pitchFamily="18" charset="-122"/>
                <a:ea typeface="Alibaba PuHuiTi" pitchFamily="18" charset="-122"/>
                <a:cs typeface="Alibaba PuHuiTi" pitchFamily="18" charset="-122"/>
              </a:rPr>
              <a:t>上一页</a:t>
            </a:r>
            <a:r>
              <a:rPr lang="en-US" altLang="zh-CN" sz="1800" dirty="0">
                <a:solidFill>
                  <a:srgbClr val="333333"/>
                </a:solidFill>
                <a:latin typeface="Alibaba PuHuiTi" pitchFamily="18" charset="-122"/>
                <a:ea typeface="Alibaba PuHuiTi" pitchFamily="18" charset="-122"/>
                <a:cs typeface="Alibaba PuHuiTi" pitchFamily="18" charset="-122"/>
              </a:rPr>
              <a:t>PPT</a:t>
            </a:r>
            <a:r>
              <a:rPr lang="zh-CN" altLang="en-US" sz="1800" dirty="0">
                <a:solidFill>
                  <a:srgbClr val="333333"/>
                </a:solidFill>
                <a:latin typeface="Alibaba PuHuiTi" pitchFamily="18" charset="-122"/>
                <a:ea typeface="Alibaba PuHuiTi" pitchFamily="18" charset="-122"/>
                <a:cs typeface="Alibaba PuHuiTi" pitchFamily="18" charset="-122"/>
              </a:rPr>
              <a:t>中画了 </a:t>
            </a:r>
            <a:r>
              <a:rPr lang="en-US" altLang="zh-CN" sz="1800" dirty="0">
                <a:solidFill>
                  <a:srgbClr val="333333"/>
                </a:solidFill>
                <a:latin typeface="Alibaba PuHuiTi" pitchFamily="18" charset="-122"/>
                <a:ea typeface="Alibaba PuHuiTi" pitchFamily="18" charset="-122"/>
                <a:cs typeface="Alibaba PuHuiTi" pitchFamily="18" charset="-122"/>
              </a:rPr>
              <a:t>3 </a:t>
            </a:r>
            <a:r>
              <a:rPr lang="zh-CN" altLang="en-US" sz="1800" dirty="0">
                <a:solidFill>
                  <a:srgbClr val="333333"/>
                </a:solidFill>
                <a:latin typeface="Alibaba PuHuiTi" pitchFamily="18" charset="-122"/>
                <a:ea typeface="Alibaba PuHuiTi" pitchFamily="18" charset="-122"/>
                <a:cs typeface="Alibaba PuHuiTi" pitchFamily="18" charset="-122"/>
              </a:rPr>
              <a:t>个神经元</a:t>
            </a:r>
            <a:r>
              <a:rPr lang="en-US" altLang="zh-CN" sz="1800" dirty="0">
                <a:solidFill>
                  <a:srgbClr val="333333"/>
                </a:solidFill>
                <a:latin typeface="Alibaba PuHuiTi" pitchFamily="18" charset="-122"/>
                <a:ea typeface="Alibaba PuHuiTi" pitchFamily="18" charset="-122"/>
                <a:cs typeface="Alibaba PuHuiTi" pitchFamily="18" charset="-122"/>
              </a:rPr>
              <a:t>, </a:t>
            </a:r>
            <a:r>
              <a:rPr lang="zh-CN" altLang="en-US" sz="1800" dirty="0">
                <a:solidFill>
                  <a:srgbClr val="333333"/>
                </a:solidFill>
                <a:latin typeface="Alibaba PuHuiTi" pitchFamily="18" charset="-122"/>
                <a:ea typeface="Alibaba PuHuiTi" pitchFamily="18" charset="-122"/>
                <a:cs typeface="Alibaba PuHuiTi" pitchFamily="18" charset="-122"/>
              </a:rPr>
              <a:t>但是实际上只有一个神经元，</a:t>
            </a:r>
            <a:r>
              <a:rPr lang="en-US" altLang="zh-CN" sz="1800" dirty="0">
                <a:solidFill>
                  <a:srgbClr val="333333"/>
                </a:solidFill>
                <a:latin typeface="Alibaba PuHuiTi" pitchFamily="18" charset="-122"/>
                <a:ea typeface="Alibaba PuHuiTi" pitchFamily="18" charset="-122"/>
                <a:cs typeface="Alibaba PuHuiTi" pitchFamily="18" charset="-122"/>
              </a:rPr>
              <a:t>"</a:t>
            </a:r>
            <a:r>
              <a:rPr lang="zh-CN" altLang="en-US" sz="1800" dirty="0">
                <a:solidFill>
                  <a:srgbClr val="333333"/>
                </a:solidFill>
                <a:latin typeface="Alibaba PuHuiTi" pitchFamily="18" charset="-122"/>
                <a:ea typeface="Alibaba PuHuiTi" pitchFamily="18" charset="-122"/>
                <a:cs typeface="Alibaba PuHuiTi" pitchFamily="18" charset="-122"/>
              </a:rPr>
              <a:t>我爱你</a:t>
            </a:r>
            <a:r>
              <a:rPr lang="en-US" altLang="zh-CN" sz="1800" dirty="0">
                <a:solidFill>
                  <a:srgbClr val="333333"/>
                </a:solidFill>
                <a:latin typeface="Alibaba PuHuiTi" pitchFamily="18" charset="-122"/>
                <a:ea typeface="Alibaba PuHuiTi" pitchFamily="18" charset="-122"/>
                <a:cs typeface="Alibaba PuHuiTi" pitchFamily="18" charset="-122"/>
              </a:rPr>
              <a:t>" </a:t>
            </a:r>
            <a:r>
              <a:rPr lang="zh-CN" altLang="en-US" sz="1800" dirty="0">
                <a:solidFill>
                  <a:srgbClr val="333333"/>
                </a:solidFill>
                <a:latin typeface="Alibaba PuHuiTi" pitchFamily="18" charset="-122"/>
                <a:ea typeface="Alibaba PuHuiTi" pitchFamily="18" charset="-122"/>
                <a:cs typeface="Alibaba PuHuiTi" pitchFamily="18" charset="-122"/>
              </a:rPr>
              <a:t>三个字是重复输入到同一个神经元中。</a:t>
            </a:r>
            <a:endParaRPr lang="zh-CN" altLang="en-US" sz="1800" dirty="0">
              <a:solidFill>
                <a:srgbClr val="333333"/>
              </a:solidFill>
              <a:latin typeface="Alibaba PuHuiTi" pitchFamily="18" charset="-122"/>
              <a:ea typeface="Alibaba PuHuiTi" pitchFamily="18" charset="-122"/>
              <a:cs typeface="Alibaba PuHuiTi" pitchFamily="18" charset="-122"/>
            </a:endParaRPr>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pPr algn="l"/>
            <a:endParaRPr lang="zh-CN" altLang="en-US" b="0" i="0" dirty="0">
              <a:solidFill>
                <a:srgbClr val="333333"/>
              </a:solidFill>
              <a:effectLst/>
              <a:latin typeface="Helvetica Neue"/>
            </a:endParaRPr>
          </a:p>
          <a:p>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18612" y="2214543"/>
            <a:ext cx="3879467" cy="38794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spcBef>
                <a:spcPct val="0"/>
              </a:spcBef>
            </a:pPr>
            <a:r>
              <a:rPr lang="zh-CN" altLang="en-US" sz="1800" dirty="0">
                <a:solidFill>
                  <a:srgbClr val="333333"/>
                </a:solidFill>
                <a:latin typeface="Alibaba PuHuiTi" pitchFamily="18" charset="-122"/>
                <a:ea typeface="Alibaba PuHuiTi" pitchFamily="18" charset="-122"/>
                <a:cs typeface="Alibaba PuHuiTi" pitchFamily="18" charset="-122"/>
              </a:rPr>
              <a:t>我们举个例子来理解上图的工作过程，假设我们要实现文本生成，也就是输入 </a:t>
            </a:r>
            <a:r>
              <a:rPr lang="en-US" altLang="zh-CN" sz="1800" dirty="0">
                <a:solidFill>
                  <a:srgbClr val="333333"/>
                </a:solidFill>
                <a:latin typeface="Alibaba PuHuiTi" pitchFamily="18" charset="-122"/>
                <a:ea typeface="Alibaba PuHuiTi" pitchFamily="18" charset="-122"/>
                <a:cs typeface="Alibaba PuHuiTi" pitchFamily="18" charset="-122"/>
              </a:rPr>
              <a:t>"</a:t>
            </a:r>
            <a:r>
              <a:rPr lang="zh-CN" altLang="en-US" sz="1800" dirty="0">
                <a:solidFill>
                  <a:srgbClr val="333333"/>
                </a:solidFill>
                <a:latin typeface="Alibaba PuHuiTi" pitchFamily="18" charset="-122"/>
                <a:ea typeface="Alibaba PuHuiTi" pitchFamily="18" charset="-122"/>
                <a:cs typeface="Alibaba PuHuiTi" pitchFamily="18" charset="-122"/>
              </a:rPr>
              <a:t>我爱</a:t>
            </a:r>
            <a:r>
              <a:rPr lang="en-US" altLang="zh-CN" sz="1800" dirty="0">
                <a:solidFill>
                  <a:srgbClr val="333333"/>
                </a:solidFill>
                <a:latin typeface="Alibaba PuHuiTi" pitchFamily="18" charset="-122"/>
                <a:ea typeface="Alibaba PuHuiTi" pitchFamily="18" charset="-122"/>
                <a:cs typeface="Alibaba PuHuiTi" pitchFamily="18" charset="-122"/>
              </a:rPr>
              <a:t>" </a:t>
            </a:r>
            <a:r>
              <a:rPr lang="zh-CN" altLang="en-US" sz="1800" dirty="0">
                <a:solidFill>
                  <a:srgbClr val="333333"/>
                </a:solidFill>
                <a:latin typeface="Alibaba PuHuiTi" pitchFamily="18" charset="-122"/>
                <a:ea typeface="Alibaba PuHuiTi" pitchFamily="18" charset="-122"/>
                <a:cs typeface="Alibaba PuHuiTi" pitchFamily="18" charset="-122"/>
              </a:rPr>
              <a:t>这两个字，来预测出 </a:t>
            </a:r>
            <a:r>
              <a:rPr lang="en-US" altLang="zh-CN" sz="1800" dirty="0">
                <a:solidFill>
                  <a:srgbClr val="333333"/>
                </a:solidFill>
                <a:latin typeface="Alibaba PuHuiTi" pitchFamily="18" charset="-122"/>
                <a:ea typeface="Alibaba PuHuiTi" pitchFamily="18" charset="-122"/>
                <a:cs typeface="Alibaba PuHuiTi" pitchFamily="18" charset="-122"/>
              </a:rPr>
              <a:t>"</a:t>
            </a:r>
            <a:r>
              <a:rPr lang="zh-CN" altLang="en-US" sz="1800" dirty="0">
                <a:solidFill>
                  <a:srgbClr val="333333"/>
                </a:solidFill>
                <a:latin typeface="Alibaba PuHuiTi" pitchFamily="18" charset="-122"/>
                <a:ea typeface="Alibaba PuHuiTi" pitchFamily="18" charset="-122"/>
                <a:cs typeface="Alibaba PuHuiTi" pitchFamily="18" charset="-122"/>
              </a:rPr>
              <a:t>你</a:t>
            </a:r>
            <a:r>
              <a:rPr lang="en-US" altLang="zh-CN" sz="1800" dirty="0">
                <a:solidFill>
                  <a:srgbClr val="333333"/>
                </a:solidFill>
                <a:latin typeface="Alibaba PuHuiTi" pitchFamily="18" charset="-122"/>
                <a:ea typeface="Alibaba PuHuiTi" pitchFamily="18" charset="-122"/>
                <a:cs typeface="Alibaba PuHuiTi" pitchFamily="18" charset="-122"/>
              </a:rPr>
              <a:t>"</a:t>
            </a:r>
            <a:r>
              <a:rPr lang="zh-CN" altLang="en-US" sz="1800" dirty="0">
                <a:solidFill>
                  <a:srgbClr val="333333"/>
                </a:solidFill>
                <a:latin typeface="Alibaba PuHuiTi" pitchFamily="18" charset="-122"/>
                <a:ea typeface="Alibaba PuHuiTi" pitchFamily="18" charset="-122"/>
                <a:cs typeface="Alibaba PuHuiTi" pitchFamily="18" charset="-122"/>
              </a:rPr>
              <a:t>，其如下图所示</a:t>
            </a:r>
            <a:r>
              <a:rPr lang="en-US" altLang="zh-CN" sz="1800" dirty="0">
                <a:solidFill>
                  <a:srgbClr val="333333"/>
                </a:solidFill>
                <a:latin typeface="Alibaba PuHuiTi" pitchFamily="18" charset="-122"/>
                <a:ea typeface="Alibaba PuHuiTi" pitchFamily="18" charset="-122"/>
                <a:cs typeface="Alibaba PuHuiTi" pitchFamily="18" charset="-122"/>
              </a:rPr>
              <a:t>:</a:t>
            </a:r>
            <a:endParaRPr lang="en-US" altLang="zh-CN" sz="1800" dirty="0">
              <a:solidFill>
                <a:srgbClr val="333333"/>
              </a:solidFill>
              <a:latin typeface="Alibaba PuHuiTi" pitchFamily="18" charset="-122"/>
              <a:ea typeface="Alibaba PuHuiTi" pitchFamily="18" charset="-122"/>
              <a:cs typeface="Alibaba PuHuiTi" pitchFamily="18" charset="-122"/>
            </a:endParaRPr>
          </a:p>
          <a:p>
            <a:pPr>
              <a:lnSpc>
                <a:spcPct val="100000"/>
              </a:lnSpc>
              <a:spcBef>
                <a:spcPct val="0"/>
              </a:spcBef>
            </a:pPr>
            <a:endParaRPr lang="en-US" altLang="zh-CN" dirty="0">
              <a:solidFill>
                <a:srgbClr val="333333"/>
              </a:solidFill>
              <a:latin typeface="Open Sans" panose="020B0606030504020204" pitchFamily="34" charset="0"/>
              <a:cs typeface="Open Sans" panose="020B0606030504020204" pitchFamily="34" charset="0"/>
            </a:endParaRPr>
          </a:p>
          <a:p>
            <a:pPr algn="l"/>
            <a:endParaRPr lang="zh-CN" altLang="en-US" b="0" i="0" dirty="0">
              <a:solidFill>
                <a:srgbClr val="333333"/>
              </a:solidFill>
              <a:effectLst/>
              <a:latin typeface="Helvetica Neue"/>
            </a:endParaRPr>
          </a:p>
          <a:p>
            <a:endParaRPr lang="zh-CN" altLang="en-US" dirty="0"/>
          </a:p>
        </p:txBody>
      </p:sp>
      <p:pic>
        <p:nvPicPr>
          <p:cNvPr id="9" name="图片 8"/>
          <p:cNvPicPr>
            <a:picLocks noChangeAspect="1"/>
          </p:cNvPicPr>
          <p:nvPr/>
        </p:nvPicPr>
        <p:blipFill>
          <a:blip r:embed="rId1"/>
          <a:stretch>
            <a:fillRect/>
          </a:stretch>
        </p:blipFill>
        <p:spPr>
          <a:xfrm>
            <a:off x="782320" y="3044555"/>
            <a:ext cx="9836517" cy="22261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r>
              <a:rPr lang="zh-CN" altLang="en-US" b="0" i="0" dirty="0">
                <a:solidFill>
                  <a:srgbClr val="333333"/>
                </a:solidFill>
                <a:effectLst/>
                <a:latin typeface="Helvetica Neue"/>
              </a:rPr>
              <a:t>将上图展开成不同时间步的形式，如下图所示</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首先初始化出第一个隐藏状态</a:t>
            </a:r>
            <a:r>
              <a:rPr lang="en-US" altLang="zh-CN" b="0" i="0" dirty="0">
                <a:solidFill>
                  <a:srgbClr val="333333"/>
                </a:solidFill>
                <a:effectLst/>
                <a:latin typeface="Helvetica Neue"/>
              </a:rPr>
              <a:t>h0</a:t>
            </a:r>
            <a:r>
              <a:rPr lang="zh-CN" altLang="en-US" b="0" i="0" dirty="0">
                <a:solidFill>
                  <a:srgbClr val="333333"/>
                </a:solidFill>
                <a:effectLst/>
                <a:latin typeface="Helvetica Neue"/>
              </a:rPr>
              <a:t>，一般都是全</a:t>
            </a:r>
            <a:r>
              <a:rPr lang="en-US" altLang="zh-CN" b="0" i="0" dirty="0">
                <a:solidFill>
                  <a:srgbClr val="333333"/>
                </a:solidFill>
                <a:effectLst/>
                <a:latin typeface="Helvetica Neue"/>
              </a:rPr>
              <a:t>0</a:t>
            </a:r>
            <a:r>
              <a:rPr lang="zh-CN" altLang="en-US" b="0" i="0" dirty="0">
                <a:solidFill>
                  <a:srgbClr val="333333"/>
                </a:solidFill>
                <a:effectLst/>
                <a:latin typeface="Helvetica Neue"/>
              </a:rPr>
              <a:t>的一个向量，然后将 </a:t>
            </a:r>
            <a:r>
              <a:rPr lang="en-US" altLang="zh-CN" b="0" i="0" dirty="0">
                <a:solidFill>
                  <a:srgbClr val="333333"/>
                </a:solidFill>
                <a:effectLst/>
                <a:latin typeface="Helvetica Neue"/>
              </a:rPr>
              <a:t>"</a:t>
            </a:r>
            <a:r>
              <a:rPr lang="zh-CN" altLang="en-US" b="0" i="0" dirty="0">
                <a:solidFill>
                  <a:srgbClr val="333333"/>
                </a:solidFill>
                <a:effectLst/>
                <a:latin typeface="Helvetica Neue"/>
              </a:rPr>
              <a:t>我</a:t>
            </a:r>
            <a:r>
              <a:rPr lang="en-US" altLang="zh-CN" b="0" i="0" dirty="0">
                <a:solidFill>
                  <a:srgbClr val="333333"/>
                </a:solidFill>
                <a:effectLst/>
                <a:latin typeface="Helvetica Neue"/>
              </a:rPr>
              <a:t>" </a:t>
            </a:r>
            <a:r>
              <a:rPr lang="zh-CN" altLang="en-US" b="0" i="0" dirty="0">
                <a:solidFill>
                  <a:srgbClr val="333333"/>
                </a:solidFill>
                <a:effectLst/>
                <a:latin typeface="Helvetica Neue"/>
              </a:rPr>
              <a:t>进行词嵌入，转换为向量的表示形式，送入到第一个时间步，然后输出隐藏状态 </a:t>
            </a:r>
            <a:r>
              <a:rPr lang="en-US" altLang="zh-CN" b="0" i="0" dirty="0">
                <a:solidFill>
                  <a:srgbClr val="333333"/>
                </a:solidFill>
                <a:effectLst/>
                <a:latin typeface="Helvetica Neue"/>
              </a:rPr>
              <a:t>h1</a:t>
            </a:r>
            <a:r>
              <a:rPr lang="zh-CN" altLang="en-US" b="0" i="0" dirty="0">
                <a:solidFill>
                  <a:srgbClr val="333333"/>
                </a:solidFill>
                <a:effectLst/>
                <a:latin typeface="Helvetica Neue"/>
              </a:rPr>
              <a:t>，然后将 </a:t>
            </a:r>
            <a:r>
              <a:rPr lang="en-US" altLang="zh-CN" b="0" i="0" dirty="0">
                <a:solidFill>
                  <a:srgbClr val="333333"/>
                </a:solidFill>
                <a:effectLst/>
                <a:latin typeface="Helvetica Neue"/>
              </a:rPr>
              <a:t>h1 </a:t>
            </a:r>
            <a:r>
              <a:rPr lang="zh-CN" altLang="en-US" b="0" i="0" dirty="0">
                <a:solidFill>
                  <a:srgbClr val="333333"/>
                </a:solidFill>
                <a:effectLst/>
                <a:latin typeface="Helvetica Neue"/>
              </a:rPr>
              <a:t>和 </a:t>
            </a:r>
            <a:r>
              <a:rPr lang="en-US" altLang="zh-CN" b="0" i="0" dirty="0">
                <a:solidFill>
                  <a:srgbClr val="333333"/>
                </a:solidFill>
                <a:effectLst/>
                <a:latin typeface="Helvetica Neue"/>
              </a:rPr>
              <a:t>"</a:t>
            </a:r>
            <a:r>
              <a:rPr lang="zh-CN" altLang="en-US" b="0" i="0" dirty="0">
                <a:solidFill>
                  <a:srgbClr val="333333"/>
                </a:solidFill>
                <a:effectLst/>
                <a:latin typeface="Helvetica Neue"/>
              </a:rPr>
              <a:t>爱</a:t>
            </a:r>
            <a:r>
              <a:rPr lang="en-US" altLang="zh-CN" b="0" i="0" dirty="0">
                <a:solidFill>
                  <a:srgbClr val="333333"/>
                </a:solidFill>
                <a:effectLst/>
                <a:latin typeface="Helvetica Neue"/>
              </a:rPr>
              <a:t>" </a:t>
            </a:r>
            <a:r>
              <a:rPr lang="zh-CN" altLang="en-US" b="0" i="0" dirty="0">
                <a:solidFill>
                  <a:srgbClr val="333333"/>
                </a:solidFill>
                <a:effectLst/>
                <a:latin typeface="Helvetica Neue"/>
              </a:rPr>
              <a:t>输入到第二个时间步，得到隐藏状态 </a:t>
            </a:r>
            <a:r>
              <a:rPr lang="en-US" altLang="zh-CN" b="0" i="0" dirty="0">
                <a:solidFill>
                  <a:srgbClr val="333333"/>
                </a:solidFill>
                <a:effectLst/>
                <a:latin typeface="Helvetica Neue"/>
              </a:rPr>
              <a:t>h2, </a:t>
            </a:r>
            <a:r>
              <a:rPr lang="zh-CN" altLang="en-US" b="0" i="0" dirty="0">
                <a:solidFill>
                  <a:srgbClr val="333333"/>
                </a:solidFill>
                <a:effectLst/>
                <a:latin typeface="Helvetica Neue"/>
              </a:rPr>
              <a:t>将 </a:t>
            </a:r>
            <a:r>
              <a:rPr lang="en-US" altLang="zh-CN" b="0" i="0" dirty="0">
                <a:solidFill>
                  <a:srgbClr val="333333"/>
                </a:solidFill>
                <a:effectLst/>
                <a:latin typeface="Helvetica Neue"/>
              </a:rPr>
              <a:t>h2 </a:t>
            </a:r>
            <a:r>
              <a:rPr lang="zh-CN" altLang="en-US" b="0" i="0" dirty="0">
                <a:solidFill>
                  <a:srgbClr val="333333"/>
                </a:solidFill>
                <a:effectLst/>
                <a:latin typeface="Helvetica Neue"/>
              </a:rPr>
              <a:t>送入到全连接网络，得到 </a:t>
            </a:r>
            <a:r>
              <a:rPr lang="en-US" altLang="zh-CN" b="0" i="0" dirty="0">
                <a:solidFill>
                  <a:srgbClr val="333333"/>
                </a:solidFill>
                <a:effectLst/>
                <a:latin typeface="Helvetica Neue"/>
              </a:rPr>
              <a:t>"</a:t>
            </a:r>
            <a:r>
              <a:rPr lang="zh-CN" altLang="en-US" b="0" i="0" dirty="0">
                <a:solidFill>
                  <a:srgbClr val="333333"/>
                </a:solidFill>
                <a:effectLst/>
                <a:latin typeface="Helvetica Neue"/>
              </a:rPr>
              <a:t>你</a:t>
            </a:r>
            <a:r>
              <a:rPr lang="en-US" altLang="zh-CN" b="0" i="0" dirty="0">
                <a:solidFill>
                  <a:srgbClr val="333333"/>
                </a:solidFill>
                <a:effectLst/>
                <a:latin typeface="Helvetica Neue"/>
              </a:rPr>
              <a:t>" </a:t>
            </a:r>
            <a:r>
              <a:rPr lang="zh-CN" altLang="en-US" b="0" i="0" dirty="0">
                <a:solidFill>
                  <a:srgbClr val="333333"/>
                </a:solidFill>
                <a:effectLst/>
                <a:latin typeface="Helvetica Neue"/>
              </a:rPr>
              <a:t>的预测概率。</a:t>
            </a:r>
            <a:endParaRPr lang="en-US" altLang="zh-CN" b="0" i="0" dirty="0">
              <a:solidFill>
                <a:srgbClr val="333333"/>
              </a:solidFill>
              <a:effectLst/>
              <a:latin typeface="Helvetica Neue"/>
            </a:endParaRPr>
          </a:p>
          <a:p>
            <a:endParaRPr lang="zh-CN" altLang="en-US" dirty="0"/>
          </a:p>
        </p:txBody>
      </p:sp>
      <p:pic>
        <p:nvPicPr>
          <p:cNvPr id="6" name="图片 5"/>
          <p:cNvPicPr>
            <a:picLocks noChangeAspect="1"/>
          </p:cNvPicPr>
          <p:nvPr/>
        </p:nvPicPr>
        <p:blipFill>
          <a:blip r:embed="rId1"/>
          <a:stretch>
            <a:fillRect/>
          </a:stretch>
        </p:blipFill>
        <p:spPr>
          <a:xfrm>
            <a:off x="3975272" y="1974461"/>
            <a:ext cx="4241455" cy="273514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r>
              <a:rPr lang="en-US" altLang="zh-CN" b="1"/>
              <a:t>RNN</a:t>
            </a:r>
            <a:r>
              <a:rPr lang="zh-CN" altLang="en-US" b="1" i="0" dirty="0">
                <a:solidFill>
                  <a:srgbClr val="333333"/>
                </a:solidFill>
                <a:effectLst/>
                <a:latin typeface="Helvetica Neue"/>
              </a:rPr>
              <a:t>神经元内部是如何计算的呢？</a:t>
            </a:r>
            <a:endParaRPr lang="zh-CN" altLang="en-US" b="1" i="0" dirty="0">
              <a:solidFill>
                <a:srgbClr val="333333"/>
              </a:solidFill>
              <a:effectLst/>
              <a:latin typeface="Helvetica Neue"/>
            </a:endParaRPr>
          </a:p>
          <a:p>
            <a:r>
              <a:rPr lang="zh-CN" altLang="en-US" b="1">
                <a:solidFill>
                  <a:srgbClr val="FF0000"/>
                </a:solidFill>
              </a:rPr>
              <a:t>计算隐藏状态</a:t>
            </a:r>
            <a:r>
              <a:rPr lang="zh-CN" altLang="en-US"/>
              <a:t>：每个时间步的隐藏状态</a:t>
            </a:r>
            <a:r>
              <a:rPr lang="en-US" altLang="zh-CN"/>
              <a:t>$$h_t$$</a:t>
            </a:r>
            <a:r>
              <a:rPr lang="zh-CN" altLang="en-US"/>
              <a:t>是根据当前输入</a:t>
            </a:r>
            <a:r>
              <a:rPr lang="en-US" altLang="zh-CN"/>
              <a:t>$$x_t$$</a:t>
            </a:r>
            <a:r>
              <a:rPr lang="zh-CN" altLang="en-US"/>
              <a:t>和前一时刻的隐藏状态</a:t>
            </a:r>
            <a:r>
              <a:rPr lang="en-US" altLang="zh-CN"/>
              <a:t>$$h_{t-1}$$</a:t>
            </a:r>
            <a:r>
              <a:rPr lang="zh-CN" altLang="en-US"/>
              <a:t>计算的。</a:t>
            </a:r>
            <a:endParaRPr lang="zh-CN" altLang="en-US"/>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上述公式中</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err="1">
                <a:solidFill>
                  <a:srgbClr val="333333"/>
                </a:solidFill>
                <a:effectLst/>
                <a:latin typeface="Helvetica Neue"/>
              </a:rPr>
              <a:t>W</a:t>
            </a:r>
            <a:r>
              <a:rPr lang="en-US" altLang="zh-CN" b="0" i="0" baseline="-25000" dirty="0" err="1">
                <a:solidFill>
                  <a:srgbClr val="333333"/>
                </a:solidFill>
                <a:effectLst/>
                <a:latin typeface="Helvetica Neue"/>
              </a:rPr>
              <a:t>ih</a:t>
            </a:r>
            <a:r>
              <a:rPr lang="zh-CN" altLang="en-US" b="0" i="0" dirty="0">
                <a:solidFill>
                  <a:srgbClr val="333333"/>
                </a:solidFill>
                <a:effectLst/>
                <a:latin typeface="Helvetica Neue"/>
              </a:rPr>
              <a:t> 表示输入数据的权重</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err="1">
                <a:solidFill>
                  <a:srgbClr val="333333"/>
                </a:solidFill>
                <a:effectLst/>
                <a:latin typeface="Helvetica Neue"/>
              </a:rPr>
              <a:t>b</a:t>
            </a:r>
            <a:r>
              <a:rPr lang="en-US" altLang="zh-CN" b="0" i="0" baseline="-25000" dirty="0" err="1">
                <a:solidFill>
                  <a:srgbClr val="333333"/>
                </a:solidFill>
                <a:effectLst/>
                <a:latin typeface="Helvetica Neue"/>
              </a:rPr>
              <a:t>ih</a:t>
            </a:r>
            <a:r>
              <a:rPr lang="zh-CN" altLang="en-US" b="0" i="0" dirty="0">
                <a:solidFill>
                  <a:srgbClr val="333333"/>
                </a:solidFill>
                <a:effectLst/>
                <a:latin typeface="Helvetica Neue"/>
              </a:rPr>
              <a:t> 表示输入数据的偏置</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err="1">
                <a:solidFill>
                  <a:srgbClr val="333333"/>
                </a:solidFill>
                <a:effectLst/>
                <a:latin typeface="Helvetica Neue"/>
              </a:rPr>
              <a:t>W</a:t>
            </a:r>
            <a:r>
              <a:rPr lang="en-US" altLang="zh-CN" b="0" i="0" baseline="-25000" dirty="0" err="1">
                <a:solidFill>
                  <a:srgbClr val="333333"/>
                </a:solidFill>
                <a:effectLst/>
                <a:latin typeface="Helvetica Neue"/>
              </a:rPr>
              <a:t>hh</a:t>
            </a:r>
            <a:r>
              <a:rPr lang="zh-CN" altLang="en-US" b="0" i="0" dirty="0">
                <a:solidFill>
                  <a:srgbClr val="333333"/>
                </a:solidFill>
                <a:effectLst/>
                <a:latin typeface="Helvetica Neue"/>
              </a:rPr>
              <a:t> 表示输入隐藏状态的权重</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err="1">
                <a:solidFill>
                  <a:srgbClr val="333333"/>
                </a:solidFill>
                <a:effectLst/>
                <a:latin typeface="Helvetica Neue"/>
              </a:rPr>
              <a:t>b</a:t>
            </a:r>
            <a:r>
              <a:rPr lang="en-US" altLang="zh-CN" b="0" i="0" baseline="-25000" dirty="0" err="1">
                <a:solidFill>
                  <a:srgbClr val="333333"/>
                </a:solidFill>
                <a:effectLst/>
                <a:latin typeface="Helvetica Neue"/>
              </a:rPr>
              <a:t>hh</a:t>
            </a:r>
            <a:r>
              <a:rPr lang="zh-CN" altLang="en-US" b="0" i="0" dirty="0">
                <a:solidFill>
                  <a:srgbClr val="333333"/>
                </a:solidFill>
                <a:effectLst/>
                <a:latin typeface="Helvetica Neue"/>
              </a:rPr>
              <a:t> 表示输入隐藏状态的偏置</a:t>
            </a:r>
            <a:endParaRPr lang="zh-CN" altLang="en-US" b="0" i="0" dirty="0">
              <a:solidFill>
                <a:srgbClr val="333333"/>
              </a:solidFill>
              <a:effectLst/>
              <a:latin typeface="Helvetica Neue"/>
            </a:endParaRPr>
          </a:p>
          <a:p>
            <a:pPr marL="342900" indent="-342900" algn="l">
              <a:buFont typeface="+mj-lt"/>
              <a:buAutoNum type="arabicPeriod"/>
            </a:pPr>
            <a:r>
              <a:rPr lang="en-US" altLang="zh-CN"/>
              <a:t>h</a:t>
            </a:r>
            <a:r>
              <a:rPr lang="en-US" altLang="zh-CN" sz="1200"/>
              <a:t>t-1</a:t>
            </a:r>
            <a:r>
              <a:rPr lang="en-US" altLang="zh-CN"/>
              <a:t> </a:t>
            </a:r>
            <a:r>
              <a:rPr lang="zh-CN" altLang="en-US"/>
              <a:t>表示输入隐藏状态</a:t>
            </a:r>
            <a:endParaRPr lang="zh-CN" altLang="en-US"/>
          </a:p>
          <a:p>
            <a:pPr marL="342900" indent="-342900" algn="l">
              <a:buFont typeface="+mj-lt"/>
              <a:buAutoNum type="arabicPeriod"/>
            </a:pPr>
            <a:r>
              <a:rPr lang="en-US" altLang="zh-CN">
                <a:sym typeface="+mn-ea"/>
              </a:rPr>
              <a:t>ht </a:t>
            </a:r>
            <a:r>
              <a:rPr lang="zh-CN" altLang="en-US"/>
              <a:t>表示输出隐藏状态</a:t>
            </a:r>
            <a:endParaRPr lang="zh-CN" altLang="en-US"/>
          </a:p>
          <a:p>
            <a:pPr algn="l"/>
            <a:r>
              <a:rPr lang="zh-CN" altLang="en-US" b="0" i="0" dirty="0">
                <a:solidFill>
                  <a:srgbClr val="333333"/>
                </a:solidFill>
                <a:effectLst/>
                <a:latin typeface="Helvetica Neue"/>
              </a:rPr>
              <a:t>最后对输出的结果使用 </a:t>
            </a:r>
            <a:r>
              <a:rPr lang="en-US" altLang="zh-CN" b="0" i="0" dirty="0">
                <a:solidFill>
                  <a:srgbClr val="333333"/>
                </a:solidFill>
                <a:effectLst/>
                <a:latin typeface="Helvetica Neue"/>
              </a:rPr>
              <a:t>tanh </a:t>
            </a:r>
            <a:r>
              <a:rPr lang="zh-CN" altLang="en-US" b="0" i="0" dirty="0">
                <a:solidFill>
                  <a:srgbClr val="333333"/>
                </a:solidFill>
                <a:effectLst/>
                <a:latin typeface="Helvetica Neue"/>
              </a:rPr>
              <a:t>激活函数进行计算，得到该神经元你的输出</a:t>
            </a:r>
            <a:r>
              <a:rPr lang="zh-CN" altLang="en-US"/>
              <a:t>隐藏状态</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endParaRPr lang="zh-CN" altLang="en-US" dirty="0"/>
          </a:p>
        </p:txBody>
      </p:sp>
      <p:pic>
        <p:nvPicPr>
          <p:cNvPr id="5" name="图片 4"/>
          <p:cNvPicPr>
            <a:picLocks noChangeAspect="1"/>
          </p:cNvPicPr>
          <p:nvPr/>
        </p:nvPicPr>
        <p:blipFill>
          <a:blip r:embed="rId1"/>
          <a:stretch>
            <a:fillRect/>
          </a:stretch>
        </p:blipFill>
        <p:spPr>
          <a:xfrm>
            <a:off x="1268626" y="2421501"/>
            <a:ext cx="4740553" cy="768739"/>
          </a:xfrm>
          <a:prstGeom prst="rect">
            <a:avLst/>
          </a:prstGeom>
        </p:spPr>
      </p:pic>
      <p:pic>
        <p:nvPicPr>
          <p:cNvPr id="4" name="图片 3"/>
          <p:cNvPicPr>
            <a:picLocks noChangeAspect="1"/>
          </p:cNvPicPr>
          <p:nvPr/>
        </p:nvPicPr>
        <p:blipFill>
          <a:blip r:embed="rId2"/>
          <a:stretch>
            <a:fillRect/>
          </a:stretch>
        </p:blipFill>
        <p:spPr>
          <a:xfrm>
            <a:off x="4805860" y="3190240"/>
            <a:ext cx="5837465" cy="228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r>
              <a:rPr lang="en-US" altLang="zh-CN" b="1"/>
              <a:t>RNN</a:t>
            </a:r>
            <a:r>
              <a:rPr lang="zh-CN" altLang="en-US" b="1" i="0" dirty="0">
                <a:solidFill>
                  <a:srgbClr val="333333"/>
                </a:solidFill>
                <a:effectLst/>
                <a:latin typeface="Helvetica Neue"/>
              </a:rPr>
              <a:t>神经元内部是如何计算的呢？</a:t>
            </a:r>
            <a:endParaRPr lang="zh-CN" altLang="en-US" b="1" i="0" dirty="0">
              <a:solidFill>
                <a:srgbClr val="333333"/>
              </a:solidFill>
              <a:effectLst/>
              <a:latin typeface="Helvetica Neue"/>
            </a:endParaRPr>
          </a:p>
          <a:p>
            <a:r>
              <a:rPr lang="zh-CN" altLang="en-US" b="1">
                <a:solidFill>
                  <a:srgbClr val="FF0000"/>
                </a:solidFill>
              </a:rPr>
              <a:t>计算当前时刻的输出</a:t>
            </a:r>
            <a:r>
              <a:rPr lang="zh-CN" altLang="en-US"/>
              <a:t>：网络的输出</a:t>
            </a:r>
            <a:r>
              <a:rPr lang="en-US" altLang="zh-CN"/>
              <a:t>yt</a:t>
            </a:r>
            <a:r>
              <a:rPr lang="zh-CN" altLang="en-US"/>
              <a:t>是当前时刻的隐藏状态经过一个线性变换得到的。</a:t>
            </a:r>
            <a:endParaRPr lang="zh-CN" altLang="en-US"/>
          </a:p>
          <a:p>
            <a:endParaRPr lang="en-US" altLang="zh-CN" b="1" dirty="0">
              <a:solidFill>
                <a:srgbClr val="333333"/>
              </a:solidFill>
              <a:latin typeface="Helvetica Neue"/>
            </a:endParaRPr>
          </a:p>
          <a:p>
            <a:pPr algn="l"/>
            <a:r>
              <a:rPr lang="zh-CN" altLang="en-US" b="0" i="0" dirty="0">
                <a:solidFill>
                  <a:srgbClr val="333333"/>
                </a:solidFill>
                <a:effectLst/>
                <a:latin typeface="Helvetica Neue"/>
              </a:rPr>
              <a:t>上述公式中</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a:t>yt </a:t>
            </a:r>
            <a:r>
              <a:rPr lang="zh-CN" altLang="en-US"/>
              <a:t>是当前时刻的输出（通常是一个向量，表示当前时刻的预测值，</a:t>
            </a:r>
            <a:r>
              <a:rPr lang="en-US" altLang="zh-CN"/>
              <a:t>RNN</a:t>
            </a:r>
            <a:r>
              <a:rPr lang="zh-CN" altLang="en-US"/>
              <a:t>层的预测值）</a:t>
            </a:r>
            <a:endParaRPr lang="zh-CN" altLang="en-US"/>
          </a:p>
          <a:p>
            <a:pPr marL="342900" indent="-342900" algn="l">
              <a:buFont typeface="+mj-lt"/>
              <a:buAutoNum type="arabicPeriod"/>
            </a:pPr>
            <a:r>
              <a:rPr lang="en-US" altLang="zh-CN"/>
              <a:t>ht </a:t>
            </a:r>
            <a:r>
              <a:rPr lang="zh-CN" altLang="en-US"/>
              <a:t>是当前时刻的隐藏状态</a:t>
            </a:r>
            <a:endParaRPr lang="zh-CN" altLang="en-US"/>
          </a:p>
          <a:p>
            <a:pPr marL="342900" indent="-342900" algn="l">
              <a:buFont typeface="+mj-lt"/>
              <a:buAutoNum type="arabicPeriod"/>
            </a:pPr>
            <a:r>
              <a:rPr lang="en-US" altLang="zh-CN"/>
              <a:t>Why </a:t>
            </a:r>
            <a:r>
              <a:rPr lang="zh-CN" altLang="en-US"/>
              <a:t>是从隐藏状态到输出的权重矩阵</a:t>
            </a:r>
            <a:endParaRPr lang="zh-CN" altLang="en-US"/>
          </a:p>
          <a:p>
            <a:pPr marL="342900" indent="-342900" algn="l">
              <a:buFont typeface="+mj-lt"/>
              <a:buAutoNum type="arabicPeriod"/>
            </a:pPr>
            <a:r>
              <a:rPr lang="en-US" altLang="zh-CN"/>
              <a:t>by </a:t>
            </a:r>
            <a:r>
              <a:rPr lang="zh-CN" altLang="en-US"/>
              <a:t>是输出层的偏置项</a:t>
            </a:r>
            <a:endParaRPr lang="zh-CN" altLang="en-US" b="0" i="0" dirty="0">
              <a:solidFill>
                <a:srgbClr val="333333"/>
              </a:solidFill>
              <a:effectLst/>
              <a:latin typeface="Helvetica Neue"/>
            </a:endParaRPr>
          </a:p>
          <a:p>
            <a:r>
              <a:rPr lang="zh-CN" altLang="en-US" b="1">
                <a:solidFill>
                  <a:srgbClr val="FF0000"/>
                </a:solidFill>
              </a:rPr>
              <a:t>词汇表映射：</a:t>
            </a:r>
            <a:endParaRPr lang="zh-CN" altLang="en-US" b="1">
              <a:solidFill>
                <a:srgbClr val="FF0000"/>
              </a:solidFill>
            </a:endParaRPr>
          </a:p>
          <a:p>
            <a:r>
              <a:rPr lang="zh-CN" altLang="en-US"/>
              <a:t>输出</a:t>
            </a:r>
            <a:r>
              <a:rPr lang="en-US" altLang="zh-CN"/>
              <a:t>yt</a:t>
            </a:r>
            <a:r>
              <a:rPr lang="zh-CN" altLang="en-US"/>
              <a:t>是一个</a:t>
            </a:r>
            <a:r>
              <a:rPr lang="zh-CN" altLang="en-US" b="1"/>
              <a:t>向量</a:t>
            </a:r>
            <a:r>
              <a:rPr lang="zh-CN" altLang="en-US"/>
              <a:t>，该向量经过</a:t>
            </a:r>
            <a:r>
              <a:rPr lang="zh-CN" altLang="en-US" b="1"/>
              <a:t>全连接层</a:t>
            </a:r>
            <a:r>
              <a:rPr lang="zh-CN" altLang="en-US"/>
              <a:t>后输出得到最终预测结果</a:t>
            </a:r>
            <a:r>
              <a:rPr lang="en-US" altLang="zh-CN"/>
              <a:t>Ypred</a:t>
            </a:r>
            <a:r>
              <a:rPr lang="zh-CN" altLang="en-US"/>
              <a:t>，</a:t>
            </a:r>
            <a:r>
              <a:rPr lang="en-US" altLang="zh-CN"/>
              <a:t>Ypred</a:t>
            </a:r>
            <a:r>
              <a:rPr lang="zh-CN" altLang="en-US"/>
              <a:t>中每个元素代表当前时刻生成词汇表中某个词的得分（或概率，通过激活函数如</a:t>
            </a:r>
            <a:r>
              <a:rPr lang="en-US" altLang="zh-CN" b="1"/>
              <a:t>softmax</a:t>
            </a:r>
            <a:r>
              <a:rPr lang="zh-CN" altLang="en-US"/>
              <a:t>）。</a:t>
            </a:r>
            <a:r>
              <a:rPr lang="zh-CN" altLang="en-US" b="1">
                <a:solidFill>
                  <a:srgbClr val="FF0000"/>
                </a:solidFill>
              </a:rPr>
              <a:t>词汇表有多少个词，</a:t>
            </a:r>
            <a:r>
              <a:rPr lang="en-US" altLang="zh-CN" b="1">
                <a:solidFill>
                  <a:srgbClr val="FF0000"/>
                </a:solidFill>
              </a:rPr>
              <a:t>Ypred</a:t>
            </a:r>
            <a:r>
              <a:rPr lang="zh-CN" altLang="en-US" b="1">
                <a:solidFill>
                  <a:srgbClr val="FF0000"/>
                </a:solidFill>
              </a:rPr>
              <a:t>就有多少个元素值，最大元素值对应的词就是当前时刻预测生成的词。</a:t>
            </a:r>
            <a:endParaRPr lang="en-US" altLang="zh-CN"/>
          </a:p>
        </p:txBody>
      </p:sp>
      <p:pic>
        <p:nvPicPr>
          <p:cNvPr id="6" name="图片 5"/>
          <p:cNvPicPr>
            <a:picLocks noChangeAspect="1"/>
          </p:cNvPicPr>
          <p:nvPr/>
        </p:nvPicPr>
        <p:blipFill>
          <a:blip r:embed="rId1"/>
          <a:stretch>
            <a:fillRect/>
          </a:stretch>
        </p:blipFill>
        <p:spPr>
          <a:xfrm>
            <a:off x="3504565" y="2416810"/>
            <a:ext cx="1927860" cy="3962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r>
              <a:rPr lang="zh-CN" altLang="en-US" b="1"/>
              <a:t>神经元工作机制总结：</a:t>
            </a:r>
            <a:endParaRPr lang="en-US" altLang="zh-CN" b="1"/>
          </a:p>
          <a:p>
            <a:pPr marL="285750" indent="-285750">
              <a:buFont typeface="Wingdings" panose="05000000000000000000" charset="0"/>
              <a:buChar char="l"/>
            </a:pPr>
            <a:r>
              <a:rPr lang="zh-CN" altLang="en-US" b="1"/>
              <a:t>接收输入</a:t>
            </a:r>
            <a:r>
              <a:rPr lang="zh-CN" altLang="en-US"/>
              <a:t>：每个</a:t>
            </a:r>
            <a:r>
              <a:rPr lang="en-US" altLang="zh-CN"/>
              <a:t>RNN</a:t>
            </a:r>
            <a:r>
              <a:rPr lang="zh-CN" altLang="en-US"/>
              <a:t>神经元接收来自输入数据</a:t>
            </a:r>
            <a:r>
              <a:rPr lang="en-US" altLang="zh-CN"/>
              <a:t>xt</a:t>
            </a:r>
            <a:r>
              <a:rPr lang="zh-CN" altLang="en-US"/>
              <a:t>和前一时刻的隐藏状态</a:t>
            </a:r>
            <a:r>
              <a:rPr lang="en-US" altLang="zh-CN"/>
              <a:t>h</a:t>
            </a:r>
            <a:r>
              <a:rPr lang="en-US" altLang="zh-CN" sz="1200"/>
              <a:t>t-1</a:t>
            </a:r>
            <a:r>
              <a:rPr lang="zh-CN" altLang="en-US"/>
              <a:t>。</a:t>
            </a:r>
            <a:endParaRPr lang="zh-CN" altLang="en-US"/>
          </a:p>
          <a:p>
            <a:pPr marL="285750" indent="-285750">
              <a:buFont typeface="Wingdings" panose="05000000000000000000" charset="0"/>
              <a:buChar char="l"/>
            </a:pPr>
            <a:r>
              <a:rPr lang="zh-CN" altLang="en-US" b="1"/>
              <a:t>更新隐藏状态</a:t>
            </a:r>
            <a:r>
              <a:rPr lang="zh-CN" altLang="en-US"/>
              <a:t>：神经元通过一个加权和（由权重矩阵和偏置项组成）更新当前时刻的隐藏状态</a:t>
            </a:r>
            <a:r>
              <a:rPr lang="en-US" altLang="zh-CN"/>
              <a:t>h</a:t>
            </a:r>
            <a:r>
              <a:rPr lang="en-US" altLang="zh-CN" sz="1200"/>
              <a:t>t</a:t>
            </a:r>
            <a:r>
              <a:rPr lang="zh-CN" altLang="en-US"/>
              <a:t>，该隐藏状态包含了来自过去的记忆以及当前输入的信息。</a:t>
            </a:r>
            <a:endParaRPr lang="zh-CN" altLang="en-US"/>
          </a:p>
          <a:p>
            <a:pPr marL="285750" indent="-285750">
              <a:buFont typeface="Wingdings" panose="05000000000000000000" charset="0"/>
              <a:buChar char="l"/>
            </a:pPr>
            <a:r>
              <a:rPr lang="zh-CN" altLang="en-US" b="1"/>
              <a:t>输出计算</a:t>
            </a:r>
            <a:r>
              <a:rPr lang="zh-CN" altLang="en-US"/>
              <a:t>：基于当前隐藏状态</a:t>
            </a:r>
            <a:r>
              <a:rPr lang="en-US" altLang="zh-CN"/>
              <a:t>h</a:t>
            </a:r>
            <a:r>
              <a:rPr lang="en-US" altLang="zh-CN" sz="1200"/>
              <a:t>t</a:t>
            </a:r>
            <a:r>
              <a:rPr lang="zh-CN" altLang="en-US"/>
              <a:t>，神经元生成当前时刻的输出</a:t>
            </a:r>
            <a:r>
              <a:rPr lang="en-US" altLang="zh-CN"/>
              <a:t>yt</a:t>
            </a:r>
            <a:r>
              <a:rPr lang="zh-CN" altLang="en-US"/>
              <a:t>，该输出可以用于任务的最终预测。</a:t>
            </a:r>
            <a:endParaRPr lang="zh-CN" altLang="en-US"/>
          </a:p>
        </p:txBody>
      </p:sp>
      <p:pic>
        <p:nvPicPr>
          <p:cNvPr id="4" name="图片 3"/>
          <p:cNvPicPr>
            <a:picLocks noChangeAspect="1"/>
          </p:cNvPicPr>
          <p:nvPr/>
        </p:nvPicPr>
        <p:blipFill>
          <a:blip r:embed="rId1"/>
          <a:stretch>
            <a:fillRect/>
          </a:stretch>
        </p:blipFill>
        <p:spPr>
          <a:xfrm>
            <a:off x="2141855" y="3509010"/>
            <a:ext cx="5525770" cy="31235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RNN</a:t>
            </a:r>
            <a:r>
              <a:rPr lang="zh-CN" altLang="en-US" dirty="0"/>
              <a:t>网络原理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r>
              <a:rPr lang="zh-CN" altLang="en-US" b="1"/>
              <a:t>文本生成示例：</a:t>
            </a:r>
            <a:endParaRPr lang="en-US" altLang="zh-CN" b="1"/>
          </a:p>
          <a:p>
            <a:r>
              <a:rPr lang="zh-CN" altLang="en-US"/>
              <a:t>假设我们使用</a:t>
            </a:r>
            <a:r>
              <a:rPr lang="en-US" altLang="zh-CN"/>
              <a:t>RNN</a:t>
            </a:r>
            <a:r>
              <a:rPr lang="zh-CN" altLang="en-US"/>
              <a:t>进行文本生成，输入是一个初始词语或一段上下文（例如，</a:t>
            </a:r>
            <a:r>
              <a:rPr lang="en-US" altLang="zh-CN"/>
              <a:t>“m”</a:t>
            </a:r>
            <a:r>
              <a:rPr lang="zh-CN" altLang="en-US"/>
              <a:t>）。</a:t>
            </a:r>
            <a:r>
              <a:rPr lang="en-US" altLang="zh-CN"/>
              <a:t>RNN</a:t>
            </a:r>
            <a:r>
              <a:rPr lang="zh-CN" altLang="en-US"/>
              <a:t>会通过隐藏状态逐步生成下一个词的概率分布，然后根据概率选择最可能的下一个词。</a:t>
            </a:r>
            <a:endParaRPr lang="zh-CN" altLang="en-US"/>
          </a:p>
          <a:p>
            <a:endParaRPr lang="en-US" altLang="zh-CN"/>
          </a:p>
          <a:p>
            <a:r>
              <a:rPr lang="en-US" altLang="zh-CN"/>
              <a:t>1. </a:t>
            </a:r>
            <a:r>
              <a:rPr lang="zh-CN" altLang="en-US"/>
              <a:t>输入：</a:t>
            </a:r>
            <a:r>
              <a:rPr lang="en-US" altLang="zh-CN"/>
              <a:t>“m” </a:t>
            </a:r>
            <a:r>
              <a:rPr lang="en-US" altLang="en-US"/>
              <a:t>→</a:t>
            </a:r>
            <a:r>
              <a:rPr lang="en-US" altLang="zh-CN"/>
              <a:t> </a:t>
            </a:r>
            <a:r>
              <a:rPr lang="zh-CN" altLang="en-US"/>
              <a:t>词向量输入</a:t>
            </a:r>
            <a:r>
              <a:rPr lang="en-US" altLang="zh-CN"/>
              <a:t>x1</a:t>
            </a:r>
            <a:r>
              <a:rPr lang="zh-CN" altLang="en-US"/>
              <a:t>（对应</a:t>
            </a:r>
            <a:r>
              <a:rPr lang="en-US" altLang="zh-CN"/>
              <a:t>“m”</a:t>
            </a:r>
            <a:r>
              <a:rPr lang="zh-CN" altLang="en-US"/>
              <a:t>）</a:t>
            </a:r>
            <a:endParaRPr lang="zh-CN" altLang="en-US"/>
          </a:p>
          <a:p>
            <a:r>
              <a:rPr lang="en-US" altLang="zh-CN"/>
              <a:t>2. </a:t>
            </a:r>
            <a:r>
              <a:rPr lang="zh-CN" altLang="en-US"/>
              <a:t>初始化隐藏状态</a:t>
            </a:r>
            <a:r>
              <a:rPr lang="en-US" altLang="zh-CN"/>
              <a:t>h0</a:t>
            </a:r>
            <a:r>
              <a:rPr lang="zh-CN" altLang="en-US"/>
              <a:t>，一般初始值为</a:t>
            </a:r>
            <a:r>
              <a:rPr lang="en-US" altLang="zh-CN"/>
              <a:t>0</a:t>
            </a:r>
            <a:endParaRPr lang="en-US" altLang="zh-CN"/>
          </a:p>
          <a:p>
            <a:r>
              <a:rPr lang="en-US" altLang="zh-CN"/>
              <a:t>3. </a:t>
            </a:r>
            <a:r>
              <a:rPr lang="zh-CN" altLang="en-US"/>
              <a:t>隐藏状态更新</a:t>
            </a:r>
            <a:r>
              <a:rPr lang="en-US" altLang="zh-CN"/>
              <a:t>h1</a:t>
            </a:r>
            <a:r>
              <a:rPr lang="zh-CN" altLang="en-US"/>
              <a:t>，并计算输出</a:t>
            </a:r>
            <a:r>
              <a:rPr lang="en-US" altLang="zh-CN"/>
              <a:t>y1</a:t>
            </a:r>
            <a:endParaRPr lang="en-US" altLang="zh-CN"/>
          </a:p>
          <a:p>
            <a:r>
              <a:rPr lang="en-US" altLang="zh-CN"/>
              <a:t>4. </a:t>
            </a:r>
            <a:r>
              <a:rPr lang="zh-CN" altLang="en-US"/>
              <a:t>经过全连接层输出层计算输出</a:t>
            </a:r>
            <a:r>
              <a:rPr lang="en-US" altLang="zh-CN"/>
              <a:t>ypred</a:t>
            </a:r>
            <a:r>
              <a:rPr lang="zh-CN" altLang="en-US"/>
              <a:t>，使用</a:t>
            </a:r>
            <a:r>
              <a:rPr lang="en-US" altLang="zh-CN"/>
              <a:t>softmax</a:t>
            </a:r>
            <a:r>
              <a:rPr lang="zh-CN" altLang="en-US"/>
              <a:t>函数将</a:t>
            </a:r>
            <a:r>
              <a:rPr lang="en-US" altLang="zh-CN"/>
              <a:t>ypred</a:t>
            </a:r>
            <a:r>
              <a:rPr lang="zh-CN" altLang="en-US"/>
              <a:t>转换为概率分布</a:t>
            </a:r>
            <a:endParaRPr lang="zh-CN" altLang="en-US"/>
          </a:p>
          <a:p>
            <a:r>
              <a:rPr lang="en-US" altLang="zh-CN"/>
              <a:t>5. </a:t>
            </a:r>
            <a:r>
              <a:rPr lang="zh-CN" altLang="en-US"/>
              <a:t>选择概率最高的词作为输出词（例如</a:t>
            </a:r>
            <a:r>
              <a:rPr lang="en-US" altLang="zh-CN"/>
              <a:t>“a”</a:t>
            </a:r>
            <a:r>
              <a:rPr lang="zh-CN" altLang="en-US"/>
              <a:t>）</a:t>
            </a:r>
            <a:endParaRPr lang="zh-CN" altLang="en-US"/>
          </a:p>
          <a:p>
            <a:r>
              <a:rPr lang="en-US" altLang="zh-CN"/>
              <a:t>6. </a:t>
            </a:r>
            <a:r>
              <a:rPr lang="zh-CN" altLang="en-US"/>
              <a:t>输入新的词</a:t>
            </a:r>
            <a:r>
              <a:rPr lang="en-US" altLang="zh-CN"/>
              <a:t>“a”</a:t>
            </a:r>
            <a:r>
              <a:rPr lang="zh-CN" altLang="en-US"/>
              <a:t>，继续处理下一个时间步，直到生成完整的词</a:t>
            </a:r>
            <a:r>
              <a:rPr lang="zh-CN" altLang="en-US"/>
              <a:t>或句子</a:t>
            </a:r>
            <a:endParaRPr lang="zh-CN" altLang="en-US"/>
          </a:p>
          <a:p>
            <a:endParaRPr lang="zh-CN" altLang="en-US"/>
          </a:p>
        </p:txBody>
      </p:sp>
      <p:pic>
        <p:nvPicPr>
          <p:cNvPr id="5" name="图片 4"/>
          <p:cNvPicPr>
            <a:picLocks noChangeAspect="1"/>
          </p:cNvPicPr>
          <p:nvPr/>
        </p:nvPicPr>
        <p:blipFill>
          <a:blip r:embed="rId1"/>
          <a:stretch>
            <a:fillRect/>
          </a:stretch>
        </p:blipFill>
        <p:spPr>
          <a:xfrm>
            <a:off x="6934200" y="2263140"/>
            <a:ext cx="5135880" cy="2133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err="1">
                <a:solidFill>
                  <a:srgbClr val="333333"/>
                </a:solidFill>
                <a:effectLst/>
                <a:latin typeface="Helvetica Neue"/>
              </a:rPr>
              <a:t>PyTorch</a:t>
            </a:r>
            <a:r>
              <a:rPr lang="en-US" altLang="zh-CN" b="1" i="0" dirty="0">
                <a:solidFill>
                  <a:srgbClr val="333333"/>
                </a:solidFill>
                <a:effectLst/>
                <a:latin typeface="Helvetica Neue"/>
              </a:rPr>
              <a:t> RNN</a:t>
            </a:r>
            <a:r>
              <a:rPr lang="zh-CN" altLang="en-US" b="1" i="0" dirty="0">
                <a:solidFill>
                  <a:srgbClr val="333333"/>
                </a:solidFill>
                <a:effectLst/>
                <a:latin typeface="Helvetica Neue"/>
              </a:rPr>
              <a:t>层的使用</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marL="285750" indent="-285750">
              <a:buFont typeface="Wingdings" panose="05000000000000000000" pitchFamily="2" charset="2"/>
              <a:buChar char="l"/>
            </a:pPr>
            <a:r>
              <a:rPr lang="en-US" altLang="zh-CN" b="1" i="0" dirty="0">
                <a:solidFill>
                  <a:srgbClr val="333333"/>
                </a:solidFill>
                <a:effectLst/>
                <a:latin typeface="Helvetica Neue"/>
              </a:rPr>
              <a:t>API</a:t>
            </a:r>
            <a:r>
              <a:rPr lang="zh-CN" altLang="en-US" b="1" i="0" dirty="0">
                <a:solidFill>
                  <a:srgbClr val="333333"/>
                </a:solidFill>
                <a:effectLst/>
                <a:latin typeface="Helvetica Neue"/>
              </a:rPr>
              <a:t>介绍</a:t>
            </a:r>
            <a:endParaRPr lang="en-US" altLang="zh-CN" b="1" i="0" dirty="0">
              <a:solidFill>
                <a:srgbClr val="333333"/>
              </a:solidFill>
              <a:effectLst/>
              <a:latin typeface="Helvetica Neue"/>
            </a:endParaRPr>
          </a:p>
          <a:p>
            <a:pPr marL="285750" indent="-285750">
              <a:buFont typeface="Wingdings" panose="05000000000000000000" pitchFamily="2" charset="2"/>
              <a:buChar char="l"/>
            </a:pPr>
            <a:endParaRPr lang="en-US" altLang="zh-CN" b="1" dirty="0">
              <a:solidFill>
                <a:srgbClr val="333333"/>
              </a:solidFill>
              <a:latin typeface="Helvetica Neue"/>
            </a:endParaRPr>
          </a:p>
          <a:p>
            <a:pPr algn="l"/>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参数意义是：</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dirty="0" err="1">
                <a:solidFill>
                  <a:srgbClr val="333333"/>
                </a:solidFill>
                <a:latin typeface="Alibaba PuHuiTi" pitchFamily="18" charset="-122"/>
                <a:ea typeface="Alibaba PuHuiTi" pitchFamily="18" charset="-122"/>
                <a:cs typeface="Alibaba PuHuiTi" pitchFamily="18" charset="-122"/>
              </a:rPr>
              <a:t>i</a:t>
            </a:r>
            <a:r>
              <a:rPr lang="en-US" altLang="zh-CN" b="0" i="0" dirty="0" err="1">
                <a:solidFill>
                  <a:srgbClr val="333333"/>
                </a:solidFill>
                <a:effectLst/>
                <a:latin typeface="Alibaba PuHuiTi" pitchFamily="18" charset="-122"/>
                <a:ea typeface="Alibaba PuHuiTi" pitchFamily="18" charset="-122"/>
                <a:cs typeface="Alibaba PuHuiTi" pitchFamily="18" charset="-122"/>
              </a:rPr>
              <a:t>nput_size</a:t>
            </a:r>
            <a:r>
              <a:rPr lang="zh-CN" altLang="en-US" b="0" i="0" dirty="0">
                <a:solidFill>
                  <a:srgbClr val="333333"/>
                </a:solidFill>
                <a:effectLst/>
                <a:latin typeface="Alibaba PuHuiTi" pitchFamily="18" charset="-122"/>
                <a:ea typeface="Alibaba PuHuiTi" pitchFamily="18" charset="-122"/>
                <a:cs typeface="Alibaba PuHuiTi" pitchFamily="18" charset="-122"/>
              </a:rPr>
              <a:t>：输入数据的维度，一般设为词向量的维度；</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err="1">
                <a:solidFill>
                  <a:srgbClr val="333333"/>
                </a:solidFill>
                <a:effectLst/>
                <a:latin typeface="Alibaba PuHuiTi" pitchFamily="18" charset="-122"/>
                <a:ea typeface="Alibaba PuHuiTi" pitchFamily="18" charset="-122"/>
                <a:cs typeface="Alibaba PuHuiTi" pitchFamily="18" charset="-122"/>
              </a:rPr>
              <a:t>hidden_size</a:t>
            </a:r>
            <a:r>
              <a:rPr lang="zh-CN" altLang="en-US" b="0" i="0" dirty="0">
                <a:solidFill>
                  <a:srgbClr val="333333"/>
                </a:solidFill>
                <a:effectLst/>
                <a:latin typeface="Alibaba PuHuiTi" pitchFamily="18" charset="-122"/>
                <a:ea typeface="Alibaba PuHuiTi" pitchFamily="18" charset="-122"/>
                <a:cs typeface="Alibaba PuHuiTi" pitchFamily="18" charset="-122"/>
              </a:rPr>
              <a:t>：隐藏层</a:t>
            </a:r>
            <a:r>
              <a:rPr lang="en-US" altLang="zh-CN" b="0" i="0" dirty="0">
                <a:solidFill>
                  <a:srgbClr val="333333"/>
                </a:solidFill>
                <a:effectLst/>
                <a:latin typeface="Alibaba PuHuiTi" pitchFamily="18" charset="-122"/>
                <a:ea typeface="Alibaba PuHuiTi" pitchFamily="18" charset="-122"/>
                <a:cs typeface="Alibaba PuHuiTi" pitchFamily="18" charset="-122"/>
              </a:rPr>
              <a:t>h</a:t>
            </a:r>
            <a:r>
              <a:rPr lang="zh-CN" altLang="en-US" b="0" i="0" dirty="0">
                <a:solidFill>
                  <a:srgbClr val="333333"/>
                </a:solidFill>
                <a:effectLst/>
                <a:latin typeface="Alibaba PuHuiTi" pitchFamily="18" charset="-122"/>
                <a:ea typeface="Alibaba PuHuiTi" pitchFamily="18" charset="-122"/>
                <a:cs typeface="Alibaba PuHuiTi" pitchFamily="18" charset="-122"/>
              </a:rPr>
              <a:t>的维</a:t>
            </a:r>
            <a:r>
              <a:rPr lang="zh-CN" altLang="en-US" b="0" i="0" dirty="0">
                <a:solidFill>
                  <a:srgbClr val="333333"/>
                </a:solidFill>
                <a:effectLst/>
                <a:latin typeface="Alibaba PuHuiTi" pitchFamily="18" charset="-122"/>
                <a:ea typeface="Alibaba PuHuiTi" pitchFamily="18" charset="-122"/>
                <a:cs typeface="Alibaba PuHuiTi" pitchFamily="18" charset="-122"/>
              </a:rPr>
              <a:t>度，也是当前层神经元的输出维度；</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err="1">
                <a:solidFill>
                  <a:srgbClr val="333333"/>
                </a:solidFill>
                <a:effectLst/>
                <a:latin typeface="Alibaba PuHuiTi" pitchFamily="18" charset="-122"/>
                <a:ea typeface="Alibaba PuHuiTi" pitchFamily="18" charset="-122"/>
                <a:cs typeface="Alibaba PuHuiTi" pitchFamily="18" charset="-122"/>
              </a:rPr>
              <a:t>num_layers</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隐藏层</a:t>
            </a:r>
            <a:r>
              <a:rPr lang="en-US" altLang="zh-CN" b="0" i="0" dirty="0">
                <a:solidFill>
                  <a:srgbClr val="333333"/>
                </a:solidFill>
                <a:effectLst/>
                <a:latin typeface="Alibaba PuHuiTi" pitchFamily="18" charset="-122"/>
                <a:ea typeface="Alibaba PuHuiTi" pitchFamily="18" charset="-122"/>
                <a:cs typeface="Alibaba PuHuiTi" pitchFamily="18" charset="-122"/>
              </a:rPr>
              <a:t>h</a:t>
            </a:r>
            <a:r>
              <a:rPr lang="zh-CN" altLang="en-US" b="0" i="0" dirty="0">
                <a:solidFill>
                  <a:srgbClr val="333333"/>
                </a:solidFill>
                <a:effectLst/>
                <a:latin typeface="Alibaba PuHuiTi" pitchFamily="18" charset="-122"/>
                <a:ea typeface="Alibaba PuHuiTi" pitchFamily="18" charset="-122"/>
                <a:cs typeface="Alibaba PuHuiTi" pitchFamily="18" charset="-122"/>
              </a:rPr>
              <a:t>的层数，默认为</a:t>
            </a:r>
            <a:r>
              <a:rPr lang="en-US" altLang="zh-CN" b="0" i="0" dirty="0">
                <a:solidFill>
                  <a:srgbClr val="333333"/>
                </a:solidFill>
                <a:effectLst/>
                <a:latin typeface="Alibaba PuHuiTi" pitchFamily="18" charset="-122"/>
                <a:ea typeface="Alibaba PuHuiTi" pitchFamily="18" charset="-122"/>
                <a:cs typeface="Alibaba PuHuiTi" pitchFamily="18" charset="-122"/>
              </a:rPr>
              <a:t>1.</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将</a:t>
            </a:r>
            <a:r>
              <a:rPr lang="en-US" altLang="zh-CN" b="0" i="0" dirty="0">
                <a:solidFill>
                  <a:srgbClr val="333333"/>
                </a:solidFill>
                <a:effectLst/>
                <a:latin typeface="Alibaba PuHuiTi" pitchFamily="18" charset="-122"/>
                <a:ea typeface="Alibaba PuHuiTi" pitchFamily="18" charset="-122"/>
                <a:cs typeface="Alibaba PuHuiTi" pitchFamily="18" charset="-122"/>
              </a:rPr>
              <a:t>RNN</a:t>
            </a:r>
            <a:r>
              <a:rPr lang="zh-CN" altLang="en-US" b="0" i="0" dirty="0">
                <a:solidFill>
                  <a:srgbClr val="333333"/>
                </a:solidFill>
                <a:effectLst/>
                <a:latin typeface="Alibaba PuHuiTi" pitchFamily="18" charset="-122"/>
                <a:ea typeface="Alibaba PuHuiTi" pitchFamily="18" charset="-122"/>
                <a:cs typeface="Alibaba PuHuiTi" pitchFamily="18" charset="-122"/>
              </a:rPr>
              <a:t>实例化就可以将数据送入进行处理。</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endParaRPr lang="zh-CN" altLang="en-US" b="1" i="0" dirty="0">
              <a:solidFill>
                <a:srgbClr val="333333"/>
              </a:solidFill>
              <a:effectLst/>
              <a:latin typeface="Helvetica Neue"/>
            </a:endParaRPr>
          </a:p>
          <a:p>
            <a:endParaRPr lang="zh-CN" altLang="en-US" dirty="0"/>
          </a:p>
        </p:txBody>
      </p:sp>
      <p:sp>
        <p:nvSpPr>
          <p:cNvPr id="4" name="文本框 3"/>
          <p:cNvSpPr txBox="1"/>
          <p:nvPr/>
        </p:nvSpPr>
        <p:spPr>
          <a:xfrm>
            <a:off x="710880" y="2126861"/>
            <a:ext cx="6967886" cy="33718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b="1" dirty="0">
                <a:solidFill>
                  <a:srgbClr val="0000FF"/>
                </a:solidFill>
                <a:latin typeface="宋体" panose="02010600030101010101" pitchFamily="2" charset="-122"/>
                <a:ea typeface="阿里巴巴普惠体" panose="00020600040101010101"/>
              </a:rPr>
              <a:t>RNN = </a:t>
            </a:r>
            <a:r>
              <a:rPr lang="en-US" altLang="zh-CN" sz="1600" b="1" dirty="0" err="1">
                <a:solidFill>
                  <a:srgbClr val="0000FF"/>
                </a:solidFill>
                <a:latin typeface="宋体" panose="02010600030101010101" pitchFamily="2" charset="-122"/>
                <a:ea typeface="阿里巴巴普惠体" panose="00020600040101010101"/>
              </a:rPr>
              <a:t>torch.nn.RNN</a:t>
            </a:r>
            <a:r>
              <a:rPr lang="en-US" altLang="zh-CN"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input_size,hidden_size</a:t>
            </a:r>
            <a:r>
              <a:rPr lang="zh-CN" altLang="en-US"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num_layers</a:t>
            </a:r>
            <a:r>
              <a:rPr lang="en-US" altLang="zh-CN" sz="1600" b="1" dirty="0">
                <a:solidFill>
                  <a:srgbClr val="0000FF"/>
                </a:solidFill>
                <a:latin typeface="宋体" panose="02010600030101010101" pitchFamily="2" charset="-122"/>
                <a:ea typeface="阿里巴巴普惠体" panose="00020600040101010101"/>
              </a:rPr>
              <a:t>)</a:t>
            </a:r>
            <a:endParaRPr lang="en-US" altLang="zh-CN" sz="16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err="1">
                <a:solidFill>
                  <a:srgbClr val="333333"/>
                </a:solidFill>
                <a:effectLst/>
                <a:latin typeface="Helvetica Neue"/>
              </a:rPr>
              <a:t>PyTorch</a:t>
            </a:r>
            <a:r>
              <a:rPr lang="en-US" altLang="zh-CN" b="1" i="0" dirty="0">
                <a:solidFill>
                  <a:srgbClr val="333333"/>
                </a:solidFill>
                <a:effectLst/>
                <a:latin typeface="Helvetica Neue"/>
              </a:rPr>
              <a:t> RNN</a:t>
            </a:r>
            <a:r>
              <a:rPr lang="zh-CN" altLang="en-US" b="1" i="0" dirty="0">
                <a:solidFill>
                  <a:srgbClr val="333333"/>
                </a:solidFill>
                <a:effectLst/>
                <a:latin typeface="Helvetica Neue"/>
              </a:rPr>
              <a:t>层的使用</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marL="285750" indent="-285750" algn="l">
              <a:buFont typeface="Wingdings" panose="05000000000000000000" pitchFamily="2" charset="2"/>
              <a:buChar char="l"/>
            </a:pPr>
            <a:r>
              <a:rPr lang="en-US" altLang="zh-CN" i="0" dirty="0" err="1">
                <a:solidFill>
                  <a:srgbClr val="333333"/>
                </a:solidFill>
                <a:effectLst/>
                <a:latin typeface="Alibaba PuHuiTi" pitchFamily="18" charset="-122"/>
                <a:ea typeface="Alibaba PuHuiTi" pitchFamily="18" charset="-122"/>
                <a:cs typeface="Alibaba PuHuiTi" pitchFamily="18" charset="-122"/>
              </a:rPr>
              <a:t> 输入数据和输出结果</a:t>
            </a:r>
            <a:endParaRPr lang="en-US" altLang="zh-CN" i="0" dirty="0" err="1">
              <a:solidFill>
                <a:srgbClr val="333333"/>
              </a:solidFill>
              <a:effectLst/>
              <a:latin typeface="Alibaba PuHuiTi" pitchFamily="18" charset="-122"/>
              <a:ea typeface="Alibaba PuHuiTi" pitchFamily="18" charset="-122"/>
              <a:cs typeface="Alibaba PuHuiTi" pitchFamily="18" charset="-122"/>
            </a:endParaRPr>
          </a:p>
          <a:p>
            <a:r>
              <a:rPr lang="en-US" altLang="zh-CN" b="0" i="0" dirty="0" err="1">
                <a:solidFill>
                  <a:srgbClr val="333333"/>
                </a:solidFill>
                <a:effectLst/>
                <a:latin typeface="Alibaba PuHuiTi" pitchFamily="18" charset="-122"/>
                <a:ea typeface="Alibaba PuHuiTi" pitchFamily="18" charset="-122"/>
                <a:cs typeface="Alibaba PuHuiTi" pitchFamily="18" charset="-122"/>
              </a:rPr>
              <a:t>将RNN实例化就可以将数据送入其中进行处理，处理的方式如下所示：</a:t>
            </a:r>
            <a:endParaRPr lang="en-US" altLang="zh-CN" dirty="0" err="1">
              <a:solidFill>
                <a:srgbClr val="333333"/>
              </a:solidFill>
              <a:effectLst/>
              <a:latin typeface="Alibaba PuHuiTi" pitchFamily="18" charset="-122"/>
              <a:ea typeface="Alibaba PuHuiTi" pitchFamily="18" charset="-122"/>
              <a:cs typeface="Alibaba PuHuiTi" pitchFamily="18" charset="-122"/>
            </a:endParaRPr>
          </a:p>
          <a:p>
            <a:endParaRPr lang="zh-CN" altLang="en-US" b="1" i="0" dirty="0">
              <a:solidFill>
                <a:srgbClr val="333333"/>
              </a:solidFill>
              <a:effectLst/>
              <a:latin typeface="Helvetica Neue"/>
            </a:endParaRPr>
          </a:p>
          <a:p>
            <a:pPr marL="285750" indent="-285750" algn="l">
              <a:buFont typeface="Wingdings" panose="05000000000000000000" pitchFamily="2" charset="2"/>
              <a:buChar char="n"/>
            </a:pPr>
            <a:r>
              <a:rPr lang="en-US" altLang="zh-CN" i="0" dirty="0" err="1">
                <a:solidFill>
                  <a:srgbClr val="333333"/>
                </a:solidFill>
                <a:effectLst/>
                <a:latin typeface="Alibaba PuHuiTi" pitchFamily="18" charset="-122"/>
                <a:ea typeface="Alibaba PuHuiTi" pitchFamily="18" charset="-122"/>
                <a:cs typeface="Alibaba PuHuiTi" pitchFamily="18" charset="-122"/>
              </a:rPr>
              <a:t>输入数据:输入主要包括词嵌入的x 、初始的隐藏层h0</a:t>
            </a:r>
            <a:endParaRPr lang="en-US" altLang="zh-CN" b="0" i="0" dirty="0" err="1">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p"/>
            </a:pPr>
            <a:r>
              <a:rPr lang="en-US" altLang="zh-CN" sz="1600" b="0" i="0" dirty="0" err="1">
                <a:solidFill>
                  <a:srgbClr val="333333"/>
                </a:solidFill>
                <a:effectLst/>
                <a:latin typeface="Alibaba PuHuiTi" pitchFamily="18" charset="-122"/>
                <a:ea typeface="Alibaba PuHuiTi" pitchFamily="18" charset="-122"/>
                <a:cs typeface="Alibaba PuHuiTi" pitchFamily="18" charset="-122"/>
              </a:rPr>
              <a:t>x的表示形式为[seq_len, batch, input_size]，即[句子的长度，batch的大小，词向量的维度]</a:t>
            </a:r>
            <a:endParaRPr lang="en-US" altLang="zh-CN" sz="1600" b="0" i="0" dirty="0" err="1">
              <a:solidFill>
                <a:srgbClr val="333333"/>
              </a:solidFill>
              <a:effectLst/>
              <a:latin typeface="Alibaba PuHuiTi" pitchFamily="18" charset="-122"/>
              <a:ea typeface="Alibaba PuHuiTi" pitchFamily="18" charset="-122"/>
              <a:cs typeface="Alibaba PuHuiTi" pitchFamily="18" charset="-122"/>
            </a:endParaRPr>
          </a:p>
          <a:p>
            <a:pPr marL="742950" lvl="1" indent="-285750">
              <a:buFont typeface="Wingdings" panose="05000000000000000000" pitchFamily="2" charset="2"/>
              <a:buChar char="p"/>
            </a:pPr>
            <a:r>
              <a:rPr lang="en-US" altLang="zh-CN" sz="1600" b="0" i="0" dirty="0" err="1">
                <a:solidFill>
                  <a:srgbClr val="333333"/>
                </a:solidFill>
                <a:effectLst/>
                <a:latin typeface="Alibaba PuHuiTi" pitchFamily="18" charset="-122"/>
                <a:ea typeface="Alibaba PuHuiTi" pitchFamily="18" charset="-122"/>
                <a:cs typeface="Alibaba PuHuiTi" pitchFamily="18" charset="-122"/>
              </a:rPr>
              <a:t>h0的表示形式为[num_layers, batch, hidden_size]，即[隐藏层的层数，batch的大，隐藏层h的维数]</a:t>
            </a:r>
            <a:endParaRPr lang="en-US" altLang="zh-CN" sz="1600" b="0" i="0" dirty="0" err="1">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n"/>
            </a:pPr>
            <a:r>
              <a:rPr lang="en-US" altLang="zh-CN" i="0" dirty="0" err="1">
                <a:solidFill>
                  <a:srgbClr val="333333"/>
                </a:solidFill>
                <a:effectLst/>
                <a:latin typeface="Alibaba PuHuiTi" pitchFamily="18" charset="-122"/>
                <a:ea typeface="Alibaba PuHuiTi" pitchFamily="18" charset="-122"/>
                <a:cs typeface="Alibaba PuHuiTi" pitchFamily="18" charset="-122"/>
              </a:rPr>
              <a:t>输出结果：主要包括输出结果output,最后一层的hn</a:t>
            </a:r>
            <a:endParaRPr lang="en-US" altLang="zh-CN" b="0" i="0" dirty="0" err="1">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p"/>
            </a:pPr>
            <a:r>
              <a:rPr lang="en-US" altLang="zh-CN" sz="1600" b="0" i="0" dirty="0" err="1">
                <a:solidFill>
                  <a:srgbClr val="333333"/>
                </a:solidFill>
                <a:effectLst/>
                <a:latin typeface="Alibaba PuHuiTi" pitchFamily="18" charset="-122"/>
                <a:ea typeface="Alibaba PuHuiTi" pitchFamily="18" charset="-122"/>
                <a:cs typeface="Alibaba PuHuiTi" pitchFamily="18" charset="-122"/>
              </a:rPr>
              <a:t>output的表示形式与输入x类似，为[seq_len, batch, hidden_size]，即[句子的长度，batch的大小，输出向量的维度]</a:t>
            </a:r>
            <a:endParaRPr lang="en-US" altLang="zh-CN" sz="1600" b="0" i="0" dirty="0" err="1">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p"/>
            </a:pPr>
            <a:r>
              <a:rPr lang="en-US" altLang="zh-CN" sz="1600" b="0" i="0" dirty="0" err="1">
                <a:solidFill>
                  <a:srgbClr val="333333"/>
                </a:solidFill>
                <a:effectLst/>
                <a:latin typeface="Alibaba PuHuiTi" pitchFamily="18" charset="-122"/>
                <a:ea typeface="Alibaba PuHuiTi" pitchFamily="18" charset="-122"/>
                <a:cs typeface="Alibaba PuHuiTi" pitchFamily="18" charset="-122"/>
              </a:rPr>
              <a:t>hn的表示形式与输入h0一样，为[num_layers, batch, hidden_size]，即[隐藏层的层数，batch的大，隐藏层h的维度]</a:t>
            </a:r>
            <a:endParaRPr lang="en-US" altLang="zh-CN" sz="1600" b="0" i="0" dirty="0" err="1">
              <a:solidFill>
                <a:srgbClr val="333333"/>
              </a:solidFill>
              <a:effectLst/>
              <a:latin typeface="Alibaba PuHuiTi" pitchFamily="18" charset="-122"/>
              <a:ea typeface="Alibaba PuHuiTi" pitchFamily="18" charset="-122"/>
              <a:cs typeface="Alibaba PuHuiTi" pitchFamily="18" charset="-122"/>
            </a:endParaRPr>
          </a:p>
          <a:p>
            <a:endParaRPr lang="en-US" altLang="zh-CN" dirty="0" err="1">
              <a:solidFill>
                <a:srgbClr val="333333"/>
              </a:solidFill>
              <a:effectLst/>
              <a:latin typeface="Alibaba PuHuiTi" pitchFamily="18" charset="-122"/>
              <a:ea typeface="Alibaba PuHuiTi" pitchFamily="18" charset="-122"/>
              <a:cs typeface="Alibaba PuHuiTi" pitchFamily="18" charset="-122"/>
            </a:endParaRPr>
          </a:p>
        </p:txBody>
      </p:sp>
      <p:sp>
        <p:nvSpPr>
          <p:cNvPr id="4" name="文本框 3"/>
          <p:cNvSpPr txBox="1"/>
          <p:nvPr/>
        </p:nvSpPr>
        <p:spPr>
          <a:xfrm>
            <a:off x="710880" y="2320690"/>
            <a:ext cx="6967886" cy="33855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pt-BR" altLang="zh-CN" sz="1600" b="1" dirty="0">
                <a:solidFill>
                  <a:srgbClr val="0000FF"/>
                </a:solidFill>
                <a:latin typeface="宋体" panose="02010600030101010101" pitchFamily="2" charset="-122"/>
                <a:ea typeface="阿里巴巴普惠体" panose="00020600040101010101"/>
              </a:rPr>
              <a:t>output, hn = RNN(x, h0)</a:t>
            </a:r>
            <a:endParaRPr lang="en-US" altLang="zh-CN" sz="16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err="1">
                <a:solidFill>
                  <a:srgbClr val="333333"/>
                </a:solidFill>
                <a:effectLst/>
                <a:latin typeface="Helvetica Neue"/>
              </a:rPr>
              <a:t>PyTorch</a:t>
            </a:r>
            <a:r>
              <a:rPr lang="en-US" altLang="zh-CN" b="1" i="0" dirty="0">
                <a:solidFill>
                  <a:srgbClr val="333333"/>
                </a:solidFill>
                <a:effectLst/>
                <a:latin typeface="Helvetica Neue"/>
              </a:rPr>
              <a:t> RNN</a:t>
            </a:r>
            <a:r>
              <a:rPr lang="zh-CN" altLang="en-US" b="1" i="0" dirty="0">
                <a:solidFill>
                  <a:srgbClr val="333333"/>
                </a:solidFill>
                <a:effectLst/>
                <a:latin typeface="Helvetica Neue"/>
              </a:rPr>
              <a:t>层的使用</a:t>
            </a:r>
            <a:endParaRPr lang="zh-CN" altLang="en-US" b="1" i="0" dirty="0">
              <a:solidFill>
                <a:srgbClr val="333333"/>
              </a:solidFill>
              <a:effectLst/>
              <a:latin typeface="Helvetica Neue"/>
            </a:endParaRPr>
          </a:p>
        </p:txBody>
      </p:sp>
      <p:sp>
        <p:nvSpPr>
          <p:cNvPr id="4" name="文本框 3"/>
          <p:cNvSpPr txBox="1"/>
          <p:nvPr/>
        </p:nvSpPr>
        <p:spPr>
          <a:xfrm>
            <a:off x="710880" y="1511492"/>
            <a:ext cx="5668997" cy="476948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600" b="1" dirty="0">
                <a:solidFill>
                  <a:srgbClr val="000080"/>
                </a:solidFill>
                <a:effectLst/>
              </a:rPr>
              <a:t>import </a:t>
            </a:r>
            <a:r>
              <a:rPr lang="en-GB" altLang="zh-CN" sz="1600" dirty="0"/>
              <a:t>torch</a:t>
            </a:r>
            <a:br>
              <a:rPr lang="en-GB" altLang="zh-CN" sz="1600" dirty="0"/>
            </a:br>
            <a:r>
              <a:rPr lang="en-GB" altLang="zh-CN" sz="1600" b="1" dirty="0">
                <a:solidFill>
                  <a:srgbClr val="000080"/>
                </a:solidFill>
                <a:effectLst/>
              </a:rPr>
              <a:t>import </a:t>
            </a:r>
            <a:r>
              <a:rPr lang="en-GB" altLang="zh-CN" sz="1600" dirty="0" err="1"/>
              <a:t>torch.nn</a:t>
            </a:r>
            <a:r>
              <a:rPr lang="en-GB" altLang="zh-CN" sz="1600" dirty="0"/>
              <a:t> </a:t>
            </a:r>
            <a:r>
              <a:rPr lang="en-GB" altLang="zh-CN" sz="1600" b="1" dirty="0">
                <a:solidFill>
                  <a:srgbClr val="000080"/>
                </a:solidFill>
                <a:effectLst/>
              </a:rPr>
              <a:t>as </a:t>
            </a:r>
            <a:r>
              <a:rPr lang="en-GB" altLang="zh-CN" sz="1600" dirty="0" err="1"/>
              <a:t>nn</a:t>
            </a:r>
            <a:br>
              <a:rPr lang="en-GB" altLang="zh-CN" sz="1600" dirty="0"/>
            </a:br>
            <a:br>
              <a:rPr lang="en-GB" altLang="zh-CN" sz="1600" dirty="0">
                <a:solidFill>
                  <a:srgbClr val="008001"/>
                </a:solidFill>
              </a:rPr>
            </a:br>
            <a:r>
              <a:rPr lang="en-GB" altLang="zh-CN" sz="1600" i="1" dirty="0">
                <a:solidFill>
                  <a:srgbClr val="008001"/>
                </a:solidFill>
                <a:effectLst/>
              </a:rPr>
              <a:t>#  RNN</a:t>
            </a:r>
            <a:r>
              <a:rPr lang="zh-CN" altLang="en-US" sz="1600" i="1" dirty="0">
                <a:solidFill>
                  <a:srgbClr val="008001"/>
                </a:solidFill>
                <a:effectLst/>
              </a:rPr>
              <a:t>层送入批量数据</a:t>
            </a:r>
            <a:br>
              <a:rPr lang="zh-CN" altLang="en-US" sz="1600" i="1" dirty="0">
                <a:solidFill>
                  <a:srgbClr val="808080"/>
                </a:solidFill>
                <a:effectLst/>
              </a:rPr>
            </a:br>
            <a:r>
              <a:rPr lang="en-GB" altLang="zh-CN" sz="1600" b="1" dirty="0">
                <a:solidFill>
                  <a:srgbClr val="000080"/>
                </a:solidFill>
                <a:effectLst/>
              </a:rPr>
              <a:t>def </a:t>
            </a:r>
            <a:r>
              <a:rPr lang="en-GB" altLang="zh-CN" sz="1600" dirty="0"/>
              <a:t>test():</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rPr>
              <a:t>词向量维度</a:t>
            </a:r>
            <a:r>
              <a:rPr lang="zh-CN" altLang="en-US" sz="1600" i="1" dirty="0">
                <a:solidFill>
                  <a:srgbClr val="008001"/>
                </a:solidFill>
                <a:effectLst/>
              </a:rPr>
              <a:t> </a:t>
            </a:r>
            <a:r>
              <a:rPr lang="en-US" altLang="zh-CN" sz="1600" i="1" dirty="0">
                <a:solidFill>
                  <a:srgbClr val="008001"/>
                </a:solidFill>
                <a:effectLst/>
              </a:rPr>
              <a:t>128, </a:t>
            </a:r>
            <a:r>
              <a:rPr lang="zh-CN" altLang="en-US" sz="1600" i="1" dirty="0">
                <a:solidFill>
                  <a:srgbClr val="008001"/>
                </a:solidFill>
                <a:effectLst/>
              </a:rPr>
              <a:t>隐藏向量维度 </a:t>
            </a:r>
            <a:r>
              <a:rPr lang="en-US" altLang="zh-CN" sz="1600" i="1" dirty="0">
                <a:solidFill>
                  <a:srgbClr val="008001"/>
                </a:solidFill>
                <a:effectLst/>
              </a:rPr>
              <a:t>256</a:t>
            </a:r>
            <a:br>
              <a:rPr lang="en-US" altLang="zh-CN" sz="1600" i="1" dirty="0">
                <a:solidFill>
                  <a:srgbClr val="808080"/>
                </a:solidFill>
                <a:effectLst/>
              </a:rPr>
            </a:br>
            <a:r>
              <a:rPr lang="en-US" altLang="zh-CN" sz="1600" i="1" dirty="0">
                <a:solidFill>
                  <a:srgbClr val="808080"/>
                </a:solidFill>
                <a:effectLst/>
              </a:rPr>
              <a:t>    </a:t>
            </a:r>
            <a:r>
              <a:rPr lang="en-GB" altLang="zh-CN" sz="1600" dirty="0" err="1"/>
              <a:t>rnn</a:t>
            </a:r>
            <a:r>
              <a:rPr lang="en-GB" altLang="zh-CN" sz="1600" dirty="0"/>
              <a:t> = </a:t>
            </a:r>
            <a:r>
              <a:rPr lang="en-GB" altLang="zh-CN" sz="1600" dirty="0" err="1"/>
              <a:t>nn.RNN</a:t>
            </a:r>
            <a:r>
              <a:rPr lang="en-GB" altLang="zh-CN" sz="1600" dirty="0"/>
              <a:t>(</a:t>
            </a:r>
            <a:r>
              <a:rPr lang="en-GB" altLang="zh-CN" sz="1600" dirty="0" err="1">
                <a:solidFill>
                  <a:srgbClr val="660099"/>
                </a:solidFill>
                <a:effectLst/>
              </a:rPr>
              <a:t>input_size</a:t>
            </a:r>
            <a:r>
              <a:rPr lang="en-GB" altLang="zh-CN" sz="1600" dirty="0"/>
              <a:t>=</a:t>
            </a:r>
            <a:r>
              <a:rPr lang="en-GB" altLang="zh-CN" sz="1600" dirty="0">
                <a:solidFill>
                  <a:srgbClr val="0000FF"/>
                </a:solidFill>
                <a:effectLst/>
              </a:rPr>
              <a:t>128</a:t>
            </a:r>
            <a:r>
              <a:rPr lang="en-GB" altLang="zh-CN" sz="1600" dirty="0"/>
              <a:t>, </a:t>
            </a:r>
            <a:r>
              <a:rPr lang="en-GB" altLang="zh-CN" sz="1600" dirty="0" err="1">
                <a:solidFill>
                  <a:srgbClr val="660099"/>
                </a:solidFill>
                <a:effectLst/>
              </a:rPr>
              <a:t>hidden_size</a:t>
            </a:r>
            <a:r>
              <a:rPr lang="en-GB" altLang="zh-CN" sz="1600" dirty="0"/>
              <a:t>=</a:t>
            </a:r>
            <a:r>
              <a:rPr lang="en-GB" altLang="zh-CN" sz="1600" dirty="0">
                <a:solidFill>
                  <a:srgbClr val="0000FF"/>
                </a:solidFill>
                <a:effectLst/>
              </a:rPr>
              <a:t>256</a:t>
            </a:r>
            <a:r>
              <a:rPr lang="en-GB" altLang="zh-CN" sz="1600" dirty="0"/>
              <a:t>)</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第一个数字</a:t>
            </a:r>
            <a:r>
              <a:rPr lang="en-US" altLang="zh-CN" sz="1600" i="1" dirty="0">
                <a:solidFill>
                  <a:srgbClr val="008001"/>
                </a:solidFill>
                <a:effectLst/>
              </a:rPr>
              <a:t>: </a:t>
            </a:r>
            <a:r>
              <a:rPr lang="zh-CN" altLang="en-US" sz="1600" i="1" dirty="0">
                <a:solidFill>
                  <a:srgbClr val="008001"/>
                </a:solidFill>
                <a:effectLst/>
              </a:rPr>
              <a:t>表示句子长度</a:t>
            </a:r>
            <a:r>
              <a:rPr lang="en-US" altLang="zh-CN" sz="1600" i="1" dirty="0">
                <a:solidFill>
                  <a:srgbClr val="008001"/>
                </a:solidFill>
                <a:effectLst/>
              </a:rPr>
              <a:t>,</a:t>
            </a:r>
            <a:r>
              <a:rPr lang="zh-CN" altLang="en-US" sz="1600" i="1" dirty="0">
                <a:solidFill>
                  <a:srgbClr val="008001"/>
                </a:solidFill>
                <a:effectLst/>
              </a:rPr>
              <a:t>也就是词语个数</a:t>
            </a:r>
            <a:br>
              <a:rPr lang="zh-CN" altLang="en-US" sz="1600" i="1" dirty="0">
                <a:solidFill>
                  <a:srgbClr val="008001"/>
                </a:solidFill>
                <a:effectLst/>
              </a:rPr>
            </a:br>
            <a:r>
              <a:rPr lang="zh-CN" altLang="en-US" sz="1600" i="1" dirty="0">
                <a:solidFill>
                  <a:srgbClr val="008001"/>
                </a:solidFill>
                <a:effectLst/>
              </a:rPr>
              <a:t>    </a:t>
            </a:r>
            <a:r>
              <a:rPr lang="en-US" altLang="zh-CN" sz="1600" i="1" dirty="0">
                <a:solidFill>
                  <a:srgbClr val="008001"/>
                </a:solidFill>
                <a:effectLst/>
              </a:rPr>
              <a:t># </a:t>
            </a:r>
            <a:r>
              <a:rPr lang="zh-CN" altLang="en-US" sz="1600" i="1" dirty="0">
                <a:solidFill>
                  <a:srgbClr val="008001"/>
                </a:solidFill>
                <a:effectLst/>
              </a:rPr>
              <a:t>第二个数字</a:t>
            </a:r>
            <a:r>
              <a:rPr lang="en-US" altLang="zh-CN" sz="1600" i="1" dirty="0">
                <a:solidFill>
                  <a:srgbClr val="008001"/>
                </a:solidFill>
                <a:effectLst/>
              </a:rPr>
              <a:t>: </a:t>
            </a:r>
            <a:r>
              <a:rPr lang="zh-CN" altLang="en-US" sz="1600" i="1" dirty="0">
                <a:solidFill>
                  <a:srgbClr val="008001"/>
                </a:solidFill>
                <a:effectLst/>
              </a:rPr>
              <a:t>批量个数，也就是句子的个数</a:t>
            </a:r>
            <a:br>
              <a:rPr lang="zh-CN" altLang="en-US" sz="1600" i="1" dirty="0">
                <a:solidFill>
                  <a:srgbClr val="008001"/>
                </a:solidFill>
                <a:effectLst/>
              </a:rPr>
            </a:br>
            <a:r>
              <a:rPr lang="zh-CN" altLang="en-US" sz="1600" i="1" dirty="0">
                <a:solidFill>
                  <a:srgbClr val="008001"/>
                </a:solidFill>
                <a:effectLst/>
              </a:rPr>
              <a:t>    </a:t>
            </a:r>
            <a:r>
              <a:rPr lang="en-US" altLang="zh-CN" sz="1600" i="1" dirty="0">
                <a:solidFill>
                  <a:srgbClr val="008001"/>
                </a:solidFill>
                <a:effectLst/>
              </a:rPr>
              <a:t># </a:t>
            </a:r>
            <a:r>
              <a:rPr lang="zh-CN" altLang="en-US" sz="1600" i="1" dirty="0">
                <a:solidFill>
                  <a:srgbClr val="008001"/>
                </a:solidFill>
                <a:effectLst/>
              </a:rPr>
              <a:t>第三个数字</a:t>
            </a:r>
            <a:r>
              <a:rPr lang="en-US" altLang="zh-CN" sz="1600" i="1" dirty="0">
                <a:solidFill>
                  <a:srgbClr val="008001"/>
                </a:solidFill>
                <a:effectLst/>
              </a:rPr>
              <a:t>: </a:t>
            </a:r>
            <a:r>
              <a:rPr lang="zh-CN" altLang="en-US" sz="1600" i="1" dirty="0">
                <a:solidFill>
                  <a:srgbClr val="008001"/>
                </a:solidFill>
              </a:rPr>
              <a:t>词向量维度</a:t>
            </a:r>
            <a:br>
              <a:rPr lang="zh-CN" altLang="en-US" sz="1600" i="1" dirty="0">
                <a:solidFill>
                  <a:srgbClr val="008001"/>
                </a:solidFill>
                <a:effectLst/>
              </a:rPr>
            </a:br>
            <a:r>
              <a:rPr lang="zh-CN" altLang="en-US" sz="1600" i="1" dirty="0">
                <a:solidFill>
                  <a:srgbClr val="808080"/>
                </a:solidFill>
                <a:effectLst/>
              </a:rPr>
              <a:t>    </a:t>
            </a:r>
            <a:r>
              <a:rPr lang="en-GB" altLang="zh-CN" sz="1600" dirty="0"/>
              <a:t>inputs = </a:t>
            </a:r>
            <a:r>
              <a:rPr lang="en-GB" altLang="zh-CN" sz="1600" dirty="0" err="1"/>
              <a:t>torch.randn</a:t>
            </a:r>
            <a:r>
              <a:rPr lang="en-GB" altLang="zh-CN" sz="1600" dirty="0"/>
              <a:t>(</a:t>
            </a:r>
            <a:r>
              <a:rPr lang="en-GB" altLang="zh-CN" sz="1600" dirty="0">
                <a:solidFill>
                  <a:srgbClr val="0000FF"/>
                </a:solidFill>
                <a:effectLst/>
              </a:rPr>
              <a:t>5</a:t>
            </a:r>
            <a:r>
              <a:rPr lang="en-GB" altLang="zh-CN" sz="1600" dirty="0"/>
              <a:t>, </a:t>
            </a:r>
            <a:r>
              <a:rPr lang="en-GB" altLang="zh-CN" sz="1600" dirty="0">
                <a:solidFill>
                  <a:srgbClr val="0000FF"/>
                </a:solidFill>
                <a:effectLst/>
              </a:rPr>
              <a:t>32</a:t>
            </a:r>
            <a:r>
              <a:rPr lang="en-GB" altLang="zh-CN" sz="1600" dirty="0"/>
              <a:t>, </a:t>
            </a:r>
            <a:r>
              <a:rPr lang="en-GB" altLang="zh-CN" sz="1600" dirty="0">
                <a:solidFill>
                  <a:srgbClr val="0000FF"/>
                </a:solidFill>
                <a:effectLst/>
              </a:rPr>
              <a:t>128</a:t>
            </a:r>
            <a:r>
              <a:rPr lang="en-GB" altLang="zh-CN" sz="1600" dirty="0"/>
              <a:t>)</a:t>
            </a:r>
            <a:br>
              <a:rPr lang="en-GB" altLang="zh-CN" sz="1600" dirty="0"/>
            </a:br>
            <a:r>
              <a:rPr lang="en-GB" altLang="zh-CN" sz="1600" dirty="0"/>
              <a:t>    </a:t>
            </a:r>
            <a:r>
              <a:rPr lang="en-GB" altLang="zh-CN" sz="1600" dirty="0" err="1"/>
              <a:t>hn</a:t>
            </a:r>
            <a:r>
              <a:rPr lang="en-GB" altLang="zh-CN" sz="1600" dirty="0"/>
              <a:t> = </a:t>
            </a:r>
            <a:r>
              <a:rPr lang="en-GB" altLang="zh-CN" sz="1600" dirty="0" err="1"/>
              <a:t>torch.zeros</a:t>
            </a:r>
            <a:r>
              <a:rPr lang="en-GB" altLang="zh-CN" sz="1600" dirty="0"/>
              <a:t>(</a:t>
            </a:r>
            <a:r>
              <a:rPr lang="en-GB" altLang="zh-CN" sz="1600" dirty="0">
                <a:solidFill>
                  <a:srgbClr val="0000FF"/>
                </a:solidFill>
                <a:effectLst/>
              </a:rPr>
              <a:t>1</a:t>
            </a:r>
            <a:r>
              <a:rPr lang="en-GB" altLang="zh-CN" sz="1600" dirty="0"/>
              <a:t>, </a:t>
            </a:r>
            <a:r>
              <a:rPr lang="en-GB" altLang="zh-CN" sz="1600" dirty="0">
                <a:solidFill>
                  <a:srgbClr val="0000FF"/>
                </a:solidFill>
                <a:effectLst/>
              </a:rPr>
              <a:t>32</a:t>
            </a:r>
            <a:r>
              <a:rPr lang="en-GB" altLang="zh-CN" sz="1600" dirty="0"/>
              <a:t>, </a:t>
            </a:r>
            <a:r>
              <a:rPr lang="en-GB" altLang="zh-CN" sz="1600" dirty="0">
                <a:solidFill>
                  <a:srgbClr val="0000FF"/>
                </a:solidFill>
                <a:effectLst/>
              </a:rPr>
              <a:t>256</a:t>
            </a:r>
            <a:r>
              <a:rPr lang="en-GB" altLang="zh-CN" sz="1600" dirty="0"/>
              <a:t>)</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获取输出结果</a:t>
            </a:r>
            <a:br>
              <a:rPr lang="zh-CN" altLang="en-US" sz="1600" i="1" dirty="0">
                <a:solidFill>
                  <a:srgbClr val="808080"/>
                </a:solidFill>
                <a:effectLst/>
              </a:rPr>
            </a:br>
            <a:r>
              <a:rPr lang="zh-CN" altLang="en-US" sz="1600" i="1" dirty="0">
                <a:solidFill>
                  <a:srgbClr val="808080"/>
                </a:solidFill>
                <a:effectLst/>
              </a:rPr>
              <a:t>    </a:t>
            </a:r>
            <a:r>
              <a:rPr lang="en-GB" altLang="zh-CN" sz="1600" dirty="0"/>
              <a:t>output, </a:t>
            </a:r>
            <a:r>
              <a:rPr lang="en-GB" altLang="zh-CN" sz="1600" dirty="0" err="1"/>
              <a:t>hn</a:t>
            </a:r>
            <a:r>
              <a:rPr lang="en-GB" altLang="zh-CN" sz="1600" dirty="0"/>
              <a:t> = </a:t>
            </a:r>
            <a:r>
              <a:rPr lang="en-GB" altLang="zh-CN" sz="1600" dirty="0" err="1"/>
              <a:t>rnn</a:t>
            </a:r>
            <a:r>
              <a:rPr lang="en-GB" altLang="zh-CN" sz="1600" dirty="0"/>
              <a:t>(inputs, </a:t>
            </a:r>
            <a:r>
              <a:rPr lang="en-GB" altLang="zh-CN" sz="1600" dirty="0" err="1"/>
              <a:t>hn</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输出向量的维度：</a:t>
            </a:r>
            <a:r>
              <a:rPr lang="en-US" altLang="zh-CN" sz="1600" b="1" dirty="0">
                <a:solidFill>
                  <a:srgbClr val="000080"/>
                </a:solidFill>
                <a:effectLst/>
              </a:rPr>
              <a:t>\</a:t>
            </a:r>
            <a:r>
              <a:rPr lang="en-GB" altLang="zh-CN" sz="1600" b="1" dirty="0">
                <a:solidFill>
                  <a:srgbClr val="000080"/>
                </a:solidFill>
                <a:effectLst/>
              </a:rPr>
              <a:t>n</a:t>
            </a:r>
            <a:r>
              <a:rPr lang="en-GB" altLang="zh-CN" sz="1600" b="1" dirty="0">
                <a:solidFill>
                  <a:srgbClr val="008000"/>
                </a:solidFill>
                <a:effectLst/>
              </a:rPr>
              <a:t>"</a:t>
            </a:r>
            <a:r>
              <a:rPr lang="en-GB" altLang="zh-CN" sz="1600" dirty="0"/>
              <a:t>,</a:t>
            </a:r>
            <a:r>
              <a:rPr lang="en-GB" altLang="zh-CN" sz="1600" dirty="0" err="1"/>
              <a:t>output.shape</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隐</a:t>
            </a:r>
            <a:r>
              <a:rPr lang="zh-CN" altLang="en-US" sz="1600" b="1" dirty="0">
                <a:solidFill>
                  <a:srgbClr val="008000"/>
                </a:solidFill>
                <a:effectLst/>
              </a:rPr>
              <a:t>藏层</a:t>
            </a:r>
            <a:r>
              <a:rPr lang="zh-CN" altLang="en-US" sz="1600" b="1" dirty="0">
                <a:solidFill>
                  <a:srgbClr val="008001"/>
                </a:solidFill>
                <a:effectLst/>
              </a:rPr>
              <a:t>输出的</a:t>
            </a:r>
            <a:r>
              <a:rPr lang="zh-CN" altLang="en-US" sz="1600" b="1" dirty="0">
                <a:solidFill>
                  <a:srgbClr val="008000"/>
                </a:solidFill>
                <a:effectLst/>
              </a:rPr>
              <a:t>维度：</a:t>
            </a:r>
            <a:r>
              <a:rPr lang="en-US" altLang="zh-CN" sz="1600" b="1" dirty="0">
                <a:solidFill>
                  <a:srgbClr val="000080"/>
                </a:solidFill>
                <a:effectLst/>
              </a:rPr>
              <a:t>\</a:t>
            </a:r>
            <a:r>
              <a:rPr lang="en-GB" altLang="zh-CN" sz="1600" b="1" dirty="0">
                <a:solidFill>
                  <a:srgbClr val="000080"/>
                </a:solidFill>
                <a:effectLst/>
              </a:rPr>
              <a:t>n</a:t>
            </a:r>
            <a:r>
              <a:rPr lang="en-GB" altLang="zh-CN" sz="1600" b="1" dirty="0">
                <a:solidFill>
                  <a:srgbClr val="008000"/>
                </a:solidFill>
                <a:effectLst/>
              </a:rPr>
              <a:t>"</a:t>
            </a:r>
            <a:r>
              <a:rPr lang="en-GB" altLang="zh-CN" sz="1600" dirty="0"/>
              <a:t>,</a:t>
            </a:r>
            <a:r>
              <a:rPr lang="en-GB" altLang="zh-CN" sz="1600" dirty="0" err="1"/>
              <a:t>hn.shape</a:t>
            </a:r>
            <a:r>
              <a:rPr lang="en-GB" altLang="zh-CN" sz="1600" dirty="0"/>
              <a:t>)</a:t>
            </a:r>
            <a:br>
              <a:rPr lang="en-GB" altLang="zh-CN" sz="1600" dirty="0"/>
            </a:br>
            <a:br>
              <a:rPr lang="en-GB" altLang="zh-CN" sz="1600" dirty="0"/>
            </a:br>
            <a:r>
              <a:rPr lang="en-GB" altLang="zh-CN" sz="1600" b="1" dirty="0">
                <a:solidFill>
                  <a:srgbClr val="000080"/>
                </a:solidFill>
                <a:effectLst/>
              </a:rPr>
              <a:t>if </a:t>
            </a:r>
            <a:r>
              <a:rPr lang="en-GB" altLang="zh-CN" sz="1600" dirty="0"/>
              <a:t>__name__ == </a:t>
            </a:r>
            <a:r>
              <a:rPr lang="en-GB" altLang="zh-CN" sz="1600" b="1" dirty="0">
                <a:solidFill>
                  <a:srgbClr val="008000"/>
                </a:solidFill>
                <a:effectLst/>
              </a:rPr>
              <a:t>'__main__'</a:t>
            </a:r>
            <a:r>
              <a:rPr lang="en-GB" altLang="zh-CN" sz="1600" dirty="0"/>
              <a:t>:</a:t>
            </a:r>
            <a:br>
              <a:rPr lang="en-GB" altLang="zh-CN" sz="1600" dirty="0"/>
            </a:br>
            <a:r>
              <a:rPr lang="en-GB" altLang="zh-CN" sz="1600" dirty="0"/>
              <a:t>    test()</a:t>
            </a:r>
            <a:endParaRPr lang="pt-BR" altLang="zh-CN" sz="16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7170926" y="4594480"/>
            <a:ext cx="3447704" cy="1322070"/>
          </a:xfrm>
          <a:prstGeom prst="rect">
            <a:avLst/>
          </a:prstGeom>
          <a:noFill/>
        </p:spPr>
        <p:txBody>
          <a:bodyPr wrap="square">
            <a:spAutoFit/>
          </a:bodyPr>
          <a:lstStyle/>
          <a:p>
            <a:r>
              <a:rPr lang="zh-CN" altLang="en-US" sz="1600" dirty="0">
                <a:solidFill>
                  <a:srgbClr val="FF0000"/>
                </a:solidFill>
                <a:latin typeface="Alibaba PuHuiTi" pitchFamily="18" charset="-122"/>
                <a:ea typeface="Alibaba PuHuiTi" pitchFamily="18" charset="-122"/>
                <a:cs typeface="Alibaba PuHuiTi" pitchFamily="18" charset="-122"/>
              </a:rPr>
              <a:t>输出结果</a:t>
            </a:r>
            <a:r>
              <a:rPr lang="en-US" altLang="zh-CN" sz="1600" dirty="0">
                <a:solidFill>
                  <a:srgbClr val="FF0000"/>
                </a:solidFill>
                <a:latin typeface="Alibaba PuHuiTi" pitchFamily="18" charset="-122"/>
                <a:ea typeface="Alibaba PuHuiTi" pitchFamily="18" charset="-122"/>
                <a:cs typeface="Alibaba PuHuiTi" pitchFamily="18" charset="-122"/>
              </a:rPr>
              <a:t>:</a:t>
            </a:r>
            <a:endParaRPr lang="en-US" altLang="zh-CN" sz="1600" dirty="0">
              <a:solidFill>
                <a:srgbClr val="FF0000"/>
              </a:solidFill>
              <a:latin typeface="Alibaba PuHuiTi" pitchFamily="18" charset="-122"/>
              <a:ea typeface="Alibaba PuHuiTi" pitchFamily="18" charset="-122"/>
              <a:cs typeface="Alibaba PuHuiTi" pitchFamily="18" charset="-122"/>
            </a:endParaRPr>
          </a:p>
          <a:p>
            <a:r>
              <a:rPr lang="zh-CN" altLang="en-US" sz="1600" b="0" i="0" dirty="0">
                <a:solidFill>
                  <a:srgbClr val="36464E"/>
                </a:solidFill>
                <a:effectLst/>
                <a:latin typeface="Alibaba PuHuiTi" pitchFamily="18" charset="-122"/>
                <a:ea typeface="Alibaba PuHuiTi" pitchFamily="18" charset="-122"/>
                <a:cs typeface="Alibaba PuHuiTi" pitchFamily="18" charset="-122"/>
              </a:rPr>
              <a:t>输出向量的维度： </a:t>
            </a:r>
            <a:r>
              <a:rPr lang="en-GB" altLang="zh-CN" sz="1600" b="0" i="0" dirty="0" err="1">
                <a:solidFill>
                  <a:srgbClr val="36464E"/>
                </a:solidFill>
                <a:effectLst/>
                <a:latin typeface="Alibaba PuHuiTi" pitchFamily="18" charset="-122"/>
                <a:ea typeface="Alibaba PuHuiTi" pitchFamily="18" charset="-122"/>
                <a:cs typeface="Alibaba PuHuiTi" pitchFamily="18" charset="-122"/>
              </a:rPr>
              <a:t>torch</a:t>
            </a:r>
            <a:r>
              <a:rPr lang="en-GB" altLang="zh-CN" sz="1600" b="0" i="0" dirty="0" err="1">
                <a:effectLst/>
                <a:latin typeface="Alibaba PuHuiTi" pitchFamily="18" charset="-122"/>
                <a:ea typeface="Alibaba PuHuiTi" pitchFamily="18" charset="-122"/>
                <a:cs typeface="Alibaba PuHuiTi" pitchFamily="18" charset="-122"/>
              </a:rPr>
              <a:t>.</a:t>
            </a:r>
            <a:r>
              <a:rPr lang="en-GB" altLang="zh-CN" sz="1600" b="0" i="0" dirty="0" err="1">
                <a:solidFill>
                  <a:srgbClr val="36464E"/>
                </a:solidFill>
                <a:effectLst/>
                <a:latin typeface="Alibaba PuHuiTi" pitchFamily="18" charset="-122"/>
                <a:ea typeface="Alibaba PuHuiTi" pitchFamily="18" charset="-122"/>
                <a:cs typeface="Alibaba PuHuiTi" pitchFamily="18" charset="-122"/>
              </a:rPr>
              <a:t>Size</a:t>
            </a:r>
            <a:r>
              <a:rPr lang="en-GB" altLang="zh-CN" sz="1600" b="0" i="0" dirty="0">
                <a:effectLst/>
                <a:latin typeface="Alibaba PuHuiTi" pitchFamily="18" charset="-122"/>
                <a:ea typeface="Alibaba PuHuiTi" pitchFamily="18" charset="-122"/>
                <a:cs typeface="Alibaba PuHuiTi" pitchFamily="18" charset="-122"/>
              </a:rPr>
              <a:t>([5,</a:t>
            </a:r>
            <a:r>
              <a:rPr lang="en-GB" altLang="zh-CN" sz="1600" b="0" i="0" dirty="0">
                <a:solidFill>
                  <a:srgbClr val="36464E"/>
                </a:solidFill>
                <a:effectLst/>
                <a:latin typeface="Alibaba PuHuiTi" pitchFamily="18" charset="-122"/>
                <a:ea typeface="Alibaba PuHuiTi" pitchFamily="18" charset="-122"/>
                <a:cs typeface="Alibaba PuHuiTi" pitchFamily="18" charset="-122"/>
              </a:rPr>
              <a:t> </a:t>
            </a:r>
            <a:r>
              <a:rPr lang="en-GB" altLang="zh-CN" sz="1600" b="0" i="0" dirty="0">
                <a:effectLst/>
                <a:latin typeface="Alibaba PuHuiTi" pitchFamily="18" charset="-122"/>
                <a:ea typeface="Alibaba PuHuiTi" pitchFamily="18" charset="-122"/>
                <a:cs typeface="Alibaba PuHuiTi" pitchFamily="18" charset="-122"/>
              </a:rPr>
              <a:t>32,</a:t>
            </a:r>
            <a:r>
              <a:rPr lang="en-GB" altLang="zh-CN" sz="1600" b="0" i="0" dirty="0">
                <a:solidFill>
                  <a:srgbClr val="36464E"/>
                </a:solidFill>
                <a:effectLst/>
                <a:latin typeface="Alibaba PuHuiTi" pitchFamily="18" charset="-122"/>
                <a:ea typeface="Alibaba PuHuiTi" pitchFamily="18" charset="-122"/>
                <a:cs typeface="Alibaba PuHuiTi" pitchFamily="18" charset="-122"/>
              </a:rPr>
              <a:t> </a:t>
            </a:r>
            <a:r>
              <a:rPr lang="en-GB" altLang="zh-CN" sz="1600" b="0" i="0" dirty="0">
                <a:effectLst/>
                <a:latin typeface="Alibaba PuHuiTi" pitchFamily="18" charset="-122"/>
                <a:ea typeface="Alibaba PuHuiTi" pitchFamily="18" charset="-122"/>
                <a:cs typeface="Alibaba PuHuiTi" pitchFamily="18" charset="-122"/>
              </a:rPr>
              <a:t>256])</a:t>
            </a:r>
            <a:r>
              <a:rPr lang="en-GB" altLang="zh-CN" sz="1600" b="0" i="0" dirty="0">
                <a:solidFill>
                  <a:srgbClr val="36464E"/>
                </a:solidFill>
                <a:effectLst/>
                <a:latin typeface="Alibaba PuHuiTi" pitchFamily="18" charset="-122"/>
                <a:ea typeface="Alibaba PuHuiTi" pitchFamily="18" charset="-122"/>
                <a:cs typeface="Alibaba PuHuiTi" pitchFamily="18" charset="-122"/>
              </a:rPr>
              <a:t> </a:t>
            </a:r>
            <a:endParaRPr lang="en-GB" altLang="zh-CN" sz="1600" b="0" i="0" dirty="0">
              <a:solidFill>
                <a:srgbClr val="36464E"/>
              </a:solidFill>
              <a:effectLst/>
              <a:latin typeface="Alibaba PuHuiTi" pitchFamily="18" charset="-122"/>
              <a:ea typeface="Alibaba PuHuiTi" pitchFamily="18" charset="-122"/>
              <a:cs typeface="Alibaba PuHuiTi" pitchFamily="18" charset="-122"/>
            </a:endParaRPr>
          </a:p>
          <a:p>
            <a:r>
              <a:rPr lang="zh-CN" altLang="en-US" sz="1600" b="0" i="0" dirty="0">
                <a:solidFill>
                  <a:srgbClr val="36464E"/>
                </a:solidFill>
                <a:effectLst/>
                <a:latin typeface="Alibaba PuHuiTi" pitchFamily="18" charset="-122"/>
                <a:ea typeface="Alibaba PuHuiTi" pitchFamily="18" charset="-122"/>
                <a:cs typeface="Alibaba PuHuiTi" pitchFamily="18" charset="-122"/>
              </a:rPr>
              <a:t>隐</a:t>
            </a:r>
            <a:r>
              <a:rPr lang="zh-CN" altLang="en-US" sz="1600" b="0" i="0" dirty="0">
                <a:solidFill>
                  <a:srgbClr val="36464E"/>
                </a:solidFill>
                <a:effectLst/>
                <a:latin typeface="Alibaba PuHuiTi" pitchFamily="18" charset="-122"/>
                <a:ea typeface="Alibaba PuHuiTi" pitchFamily="18" charset="-122"/>
                <a:cs typeface="Alibaba PuHuiTi" pitchFamily="18" charset="-122"/>
              </a:rPr>
              <a:t>藏层的输出结果： </a:t>
            </a:r>
            <a:r>
              <a:rPr lang="en-GB" altLang="zh-CN" sz="1600" b="0" i="0" dirty="0" err="1">
                <a:solidFill>
                  <a:srgbClr val="36464E"/>
                </a:solidFill>
                <a:effectLst/>
                <a:latin typeface="Alibaba PuHuiTi" pitchFamily="18" charset="-122"/>
                <a:ea typeface="Alibaba PuHuiTi" pitchFamily="18" charset="-122"/>
                <a:cs typeface="Alibaba PuHuiTi" pitchFamily="18" charset="-122"/>
              </a:rPr>
              <a:t>torch</a:t>
            </a:r>
            <a:r>
              <a:rPr lang="en-GB" altLang="zh-CN" sz="1600" b="0" i="0" dirty="0" err="1">
                <a:effectLst/>
                <a:latin typeface="Alibaba PuHuiTi" pitchFamily="18" charset="-122"/>
                <a:ea typeface="Alibaba PuHuiTi" pitchFamily="18" charset="-122"/>
                <a:cs typeface="Alibaba PuHuiTi" pitchFamily="18" charset="-122"/>
              </a:rPr>
              <a:t>.</a:t>
            </a:r>
            <a:r>
              <a:rPr lang="en-GB" altLang="zh-CN" sz="1600" b="0" i="0" dirty="0" err="1">
                <a:solidFill>
                  <a:srgbClr val="36464E"/>
                </a:solidFill>
                <a:effectLst/>
                <a:latin typeface="Alibaba PuHuiTi" pitchFamily="18" charset="-122"/>
                <a:ea typeface="Alibaba PuHuiTi" pitchFamily="18" charset="-122"/>
                <a:cs typeface="Alibaba PuHuiTi" pitchFamily="18" charset="-122"/>
              </a:rPr>
              <a:t>Size</a:t>
            </a:r>
            <a:r>
              <a:rPr lang="en-GB" altLang="zh-CN" sz="1600" b="0" i="0" dirty="0">
                <a:effectLst/>
                <a:latin typeface="Alibaba PuHuiTi" pitchFamily="18" charset="-122"/>
                <a:ea typeface="Alibaba PuHuiTi" pitchFamily="18" charset="-122"/>
                <a:cs typeface="Alibaba PuHuiTi" pitchFamily="18" charset="-122"/>
              </a:rPr>
              <a:t>([1,</a:t>
            </a:r>
            <a:r>
              <a:rPr lang="en-GB" altLang="zh-CN" sz="1600" b="0" i="0" dirty="0">
                <a:solidFill>
                  <a:srgbClr val="36464E"/>
                </a:solidFill>
                <a:effectLst/>
                <a:latin typeface="Alibaba PuHuiTi" pitchFamily="18" charset="-122"/>
                <a:ea typeface="Alibaba PuHuiTi" pitchFamily="18" charset="-122"/>
                <a:cs typeface="Alibaba PuHuiTi" pitchFamily="18" charset="-122"/>
              </a:rPr>
              <a:t> </a:t>
            </a:r>
            <a:r>
              <a:rPr lang="en-GB" altLang="zh-CN" sz="1600" b="0" i="0" dirty="0">
                <a:effectLst/>
                <a:latin typeface="Alibaba PuHuiTi" pitchFamily="18" charset="-122"/>
                <a:ea typeface="Alibaba PuHuiTi" pitchFamily="18" charset="-122"/>
                <a:cs typeface="Alibaba PuHuiTi" pitchFamily="18" charset="-122"/>
              </a:rPr>
              <a:t>32,</a:t>
            </a:r>
            <a:r>
              <a:rPr lang="en-GB" altLang="zh-CN" sz="1600" b="0" i="0" dirty="0">
                <a:solidFill>
                  <a:srgbClr val="36464E"/>
                </a:solidFill>
                <a:effectLst/>
                <a:latin typeface="Alibaba PuHuiTi" pitchFamily="18" charset="-122"/>
                <a:ea typeface="Alibaba PuHuiTi" pitchFamily="18" charset="-122"/>
                <a:cs typeface="Alibaba PuHuiTi" pitchFamily="18" charset="-122"/>
              </a:rPr>
              <a:t> </a:t>
            </a:r>
            <a:r>
              <a:rPr lang="en-GB" altLang="zh-CN" sz="1600" b="0" i="0" dirty="0">
                <a:effectLst/>
                <a:latin typeface="Alibaba PuHuiTi" pitchFamily="18" charset="-122"/>
                <a:ea typeface="Alibaba PuHuiTi" pitchFamily="18" charset="-122"/>
                <a:cs typeface="Alibaba PuHuiTi" pitchFamily="18" charset="-122"/>
              </a:rPr>
              <a:t>256])</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173480"/>
            <a:ext cx="6648856" cy="4511040"/>
          </a:xfrm>
        </p:spPr>
        <p:txBody>
          <a:bodyPr/>
          <a:lstStyle/>
          <a:p>
            <a:pPr marL="0" indent="0">
              <a:buNone/>
            </a:pPr>
            <a:r>
              <a:rPr lang="en-US" altLang="zh-CN" dirty="0">
                <a:solidFill>
                  <a:schemeClr val="tx1"/>
                </a:solidFill>
              </a:rPr>
              <a:t>1</a:t>
            </a:r>
            <a:r>
              <a:rPr lang="zh-CN" altLang="en-US" dirty="0">
                <a:solidFill>
                  <a:schemeClr val="tx1"/>
                </a:solidFill>
              </a:rPr>
              <a:t>、</a:t>
            </a:r>
            <a:r>
              <a:rPr lang="en-US" altLang="zh-CN" dirty="0">
                <a:solidFill>
                  <a:schemeClr val="tx1"/>
                </a:solidFill>
              </a:rPr>
              <a:t>RNN</a:t>
            </a:r>
            <a:r>
              <a:rPr lang="zh-CN" altLang="en-US" dirty="0">
                <a:solidFill>
                  <a:schemeClr val="tx1"/>
                </a:solidFill>
              </a:rPr>
              <a:t>网络原理</a:t>
            </a:r>
            <a:endParaRPr lang="en-US" altLang="zh-CN" dirty="0">
              <a:solidFill>
                <a:schemeClr val="tx1"/>
              </a:solidFill>
            </a:endParaRPr>
          </a:p>
          <a:p>
            <a:pPr marL="0" indent="0">
              <a:buNone/>
            </a:pPr>
            <a:r>
              <a:rPr lang="zh-CN" altLang="en-US" b="0" i="0" dirty="0">
                <a:effectLst/>
                <a:latin typeface="Alibaba PuHuiTi" pitchFamily="18" charset="-122"/>
                <a:ea typeface="Alibaba PuHuiTi" pitchFamily="18" charset="-122"/>
                <a:cs typeface="Alibaba PuHuiTi" pitchFamily="18" charset="-122"/>
              </a:rPr>
              <a:t>处理带有序列特点的样本数据</a:t>
            </a:r>
            <a:endParaRPr lang="en-US" altLang="zh-CN" dirty="0"/>
          </a:p>
          <a:p>
            <a:pPr marL="0" indent="0">
              <a:buNone/>
            </a:pPr>
            <a:r>
              <a:rPr lang="en-US" altLang="zh-CN" dirty="0">
                <a:solidFill>
                  <a:schemeClr val="tx1"/>
                </a:solidFill>
              </a:rPr>
              <a:t>2</a:t>
            </a:r>
            <a:r>
              <a:rPr lang="zh-CN" altLang="en-US" dirty="0">
                <a:solidFill>
                  <a:schemeClr val="tx1"/>
                </a:solidFill>
              </a:rPr>
              <a:t>、</a:t>
            </a:r>
            <a:r>
              <a:rPr lang="en-US" altLang="zh-CN" dirty="0" err="1">
                <a:solidFill>
                  <a:schemeClr val="tx1"/>
                </a:solidFill>
              </a:rPr>
              <a:t>pyTorch</a:t>
            </a:r>
            <a:r>
              <a:rPr lang="en-US" altLang="zh-CN" dirty="0">
                <a:solidFill>
                  <a:schemeClr val="tx1"/>
                </a:solidFill>
              </a:rPr>
              <a:t> RNN API</a:t>
            </a:r>
            <a:endParaRPr lang="en-US" altLang="zh-CN" dirty="0">
              <a:solidFill>
                <a:schemeClr val="tx1"/>
              </a:solidFill>
            </a:endParaRPr>
          </a:p>
          <a:p>
            <a:pPr marL="0" indent="0">
              <a:buNone/>
            </a:pPr>
            <a:endParaRPr lang="zh-CN" altLang="en-US" dirty="0">
              <a:solidFill>
                <a:schemeClr val="tx1"/>
              </a:solidFill>
            </a:endParaRPr>
          </a:p>
        </p:txBody>
      </p:sp>
      <p:sp>
        <p:nvSpPr>
          <p:cNvPr id="3" name="文本框 2"/>
          <p:cNvSpPr txBox="1"/>
          <p:nvPr/>
        </p:nvSpPr>
        <p:spPr>
          <a:xfrm>
            <a:off x="5126584" y="4199501"/>
            <a:ext cx="6967886" cy="33855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b="1" dirty="0">
                <a:solidFill>
                  <a:srgbClr val="0000FF"/>
                </a:solidFill>
                <a:latin typeface="宋体" panose="02010600030101010101" pitchFamily="2" charset="-122"/>
                <a:ea typeface="阿里巴巴普惠体" panose="00020600040101010101"/>
              </a:rPr>
              <a:t>RNN = </a:t>
            </a:r>
            <a:r>
              <a:rPr lang="en-US" altLang="zh-CN" sz="1600" b="1" dirty="0" err="1">
                <a:solidFill>
                  <a:srgbClr val="0000FF"/>
                </a:solidFill>
                <a:latin typeface="宋体" panose="02010600030101010101" pitchFamily="2" charset="-122"/>
                <a:ea typeface="阿里巴巴普惠体" panose="00020600040101010101"/>
              </a:rPr>
              <a:t>torch.nn.RNN</a:t>
            </a:r>
            <a:r>
              <a:rPr lang="en-US" altLang="zh-CN"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input_size,hidden_size</a:t>
            </a:r>
            <a:r>
              <a:rPr lang="zh-CN" altLang="en-US" sz="1600" b="1" dirty="0">
                <a:solidFill>
                  <a:srgbClr val="0000FF"/>
                </a:solidFill>
                <a:latin typeface="宋体" panose="02010600030101010101" pitchFamily="2" charset="-122"/>
                <a:ea typeface="阿里巴巴普惠体" panose="00020600040101010101"/>
              </a:rPr>
              <a:t>，</a:t>
            </a:r>
            <a:r>
              <a:rPr lang="en-US" altLang="zh-CN" sz="1600" b="1" dirty="0" err="1">
                <a:solidFill>
                  <a:srgbClr val="0000FF"/>
                </a:solidFill>
                <a:latin typeface="宋体" panose="02010600030101010101" pitchFamily="2" charset="-122"/>
                <a:ea typeface="阿里巴巴普惠体" panose="00020600040101010101"/>
              </a:rPr>
              <a:t>num_layer</a:t>
            </a:r>
            <a:r>
              <a:rPr lang="en-US" altLang="zh-CN" sz="1600" b="1" dirty="0">
                <a:solidFill>
                  <a:srgbClr val="0000FF"/>
                </a:solidFill>
                <a:latin typeface="宋体" panose="02010600030101010101" pitchFamily="2" charset="-122"/>
                <a:ea typeface="阿里巴巴普惠体" panose="00020600040101010101"/>
              </a:rPr>
              <a:t>)</a:t>
            </a:r>
            <a:endParaRPr lang="en-US" altLang="zh-CN" sz="1600" dirty="0">
              <a:solidFill>
                <a:srgbClr val="00B050"/>
              </a:solidFill>
              <a:latin typeface="宋体" panose="02010600030101010101" pitchFamily="2" charset="-122"/>
              <a:ea typeface="阿里巴巴普惠体" panose="00020600040101010101"/>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207" y="1278385"/>
            <a:ext cx="5973445" cy="2885242"/>
          </a:xfrm>
        </p:spPr>
        <p:txBody>
          <a:bodyPr/>
          <a:lstStyle/>
          <a:p>
            <a:r>
              <a:rPr kumimoji="1" lang="en-US" altLang="zh-CN" sz="1600" dirty="0">
                <a:sym typeface="+mn-ea"/>
              </a:rPr>
              <a:t>RNN</a:t>
            </a:r>
            <a:r>
              <a:rPr kumimoji="1" lang="zh-CN" altLang="en-US" sz="1600" dirty="0">
                <a:sym typeface="+mn-ea"/>
              </a:rPr>
              <a:t>介绍</a:t>
            </a:r>
            <a:endParaRPr kumimoji="1" lang="zh-CN" altLang="en-US" sz="1600" dirty="0">
              <a:sym typeface="+mn-ea"/>
            </a:endParaRPr>
          </a:p>
          <a:p>
            <a:r>
              <a:rPr kumimoji="1" lang="zh-CN" altLang="en-US" sz="1600" dirty="0">
                <a:sym typeface="+mn-ea"/>
              </a:rPr>
              <a:t>词嵌入层</a:t>
            </a:r>
            <a:endParaRPr kumimoji="1" lang="zh-CN" altLang="en-US" sz="1600" dirty="0">
              <a:sym typeface="+mn-ea"/>
            </a:endParaRPr>
          </a:p>
          <a:p>
            <a:r>
              <a:rPr kumimoji="1" lang="zh-CN" altLang="en-US" sz="1600" dirty="0">
                <a:sym typeface="+mn-ea"/>
              </a:rPr>
              <a:t>循环网络层</a:t>
            </a:r>
            <a:endParaRPr kumimoji="1" lang="zh-CN" altLang="en-US" sz="1600" dirty="0">
              <a:sym typeface="+mn-ea"/>
            </a:endParaRPr>
          </a:p>
          <a:p>
            <a:r>
              <a:rPr kumimoji="1" lang="zh-CN" altLang="en-US" sz="1600" dirty="0">
                <a:solidFill>
                  <a:srgbClr val="FF0000"/>
                </a:solidFill>
                <a:sym typeface="+mn-ea"/>
              </a:rPr>
              <a:t>文本生成案例</a:t>
            </a:r>
            <a:endParaRPr kumimoji="1" lang="zh-CN" altLang="en-US" sz="1600" dirty="0">
              <a:solidFill>
                <a:srgbClr val="FF0000"/>
              </a:solidFill>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09465" y="1834515"/>
            <a:ext cx="410210" cy="4102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2592705"/>
          </a:xfrm>
        </p:spPr>
        <p:txBody>
          <a:bodyPr/>
          <a:lstStyle/>
          <a:p>
            <a:r>
              <a:rPr lang="zh-CN" altLang="en-US" dirty="0">
                <a:solidFill>
                  <a:schemeClr val="tx1"/>
                </a:solidFill>
              </a:rPr>
              <a:t>掌握文本生成模型构建流程</a:t>
            </a:r>
            <a:endParaRPr lang="en-US" altLang="zh-CN"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项目需求</a:t>
            </a:r>
            <a:endParaRPr lang="zh-CN" altLang="en-US" dirty="0"/>
          </a:p>
        </p:txBody>
      </p:sp>
      <p:sp>
        <p:nvSpPr>
          <p:cNvPr id="3" name="文本占位符 2"/>
          <p:cNvSpPr>
            <a:spLocks noGrp="1"/>
          </p:cNvSpPr>
          <p:nvPr>
            <p:ph type="body" sz="quarter" idx="11"/>
          </p:nvPr>
        </p:nvSpPr>
        <p:spPr>
          <a:xfrm>
            <a:off x="710880" y="1457271"/>
            <a:ext cx="10698800" cy="4943529"/>
          </a:xfrm>
        </p:spPr>
        <p:txBody>
          <a:bodyPr/>
          <a:lstStyle/>
          <a:p>
            <a:pPr algn="l"/>
            <a:r>
              <a:rPr lang="zh-CN" altLang="en-US" b="0" i="0" dirty="0">
                <a:solidFill>
                  <a:srgbClr val="333333"/>
                </a:solidFill>
                <a:effectLst/>
                <a:latin typeface="Helvetica Neue"/>
              </a:rPr>
              <a:t>文本生成任务是一种常见的自然语言处理任务，输入一个开始词能够预测出后面的词序列。本案例将会使用循环神经网络来实现周杰伦歌词生成任务。</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pic>
        <p:nvPicPr>
          <p:cNvPr id="4" name="图片 3"/>
          <p:cNvPicPr>
            <a:picLocks noChangeAspect="1"/>
          </p:cNvPicPr>
          <p:nvPr/>
        </p:nvPicPr>
        <p:blipFill>
          <a:blip r:embed="rId1"/>
          <a:stretch>
            <a:fillRect/>
          </a:stretch>
        </p:blipFill>
        <p:spPr>
          <a:xfrm>
            <a:off x="3360420" y="2650190"/>
            <a:ext cx="4777282" cy="29334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项目实现</a:t>
            </a:r>
            <a:endParaRPr lang="zh-CN" altLang="en-US" dirty="0"/>
          </a:p>
        </p:txBody>
      </p:sp>
      <p:sp>
        <p:nvSpPr>
          <p:cNvPr id="3" name="文本占位符 2"/>
          <p:cNvSpPr>
            <a:spLocks noGrp="1"/>
          </p:cNvSpPr>
          <p:nvPr>
            <p:ph type="body" sz="quarter" idx="11"/>
          </p:nvPr>
        </p:nvSpPr>
        <p:spPr>
          <a:xfrm>
            <a:off x="710880" y="1457271"/>
            <a:ext cx="10698800" cy="4943529"/>
          </a:xfrm>
        </p:spPr>
        <p:txBody>
          <a:bodyPr/>
          <a:lstStyle/>
          <a:p>
            <a:pPr algn="l"/>
            <a:r>
              <a:rPr lang="zh-CN" altLang="en-US" b="0" i="0" dirty="0">
                <a:solidFill>
                  <a:srgbClr val="333333"/>
                </a:solidFill>
                <a:effectLst/>
                <a:latin typeface="Helvetica Neue"/>
              </a:rPr>
              <a:t>导入工具包：</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6" name="文本框 5"/>
          <p:cNvSpPr txBox="1"/>
          <p:nvPr/>
        </p:nvSpPr>
        <p:spPr>
          <a:xfrm>
            <a:off x="1501712" y="1934408"/>
            <a:ext cx="7323411" cy="3689023"/>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a:latin typeface="Alibaba PuHuiTi" pitchFamily="18" charset="-122"/>
                <a:ea typeface="Alibaba PuHuiTi" pitchFamily="18" charset="-122"/>
                <a:cs typeface="Alibaba PuHuiTi" pitchFamily="18" charset="-122"/>
              </a:rPr>
              <a:t>torch</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a:latin typeface="Alibaba PuHuiTi" pitchFamily="18" charset="-122"/>
                <a:ea typeface="Alibaba PuHuiTi" pitchFamily="18" charset="-122"/>
                <a:cs typeface="Alibaba PuHuiTi" pitchFamily="18" charset="-122"/>
              </a:rPr>
              <a:t>re</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err="1">
                <a:latin typeface="Alibaba PuHuiTi" pitchFamily="18" charset="-122"/>
                <a:ea typeface="Alibaba PuHuiTi" pitchFamily="18" charset="-122"/>
                <a:cs typeface="Alibaba PuHuiTi" pitchFamily="18" charset="-122"/>
              </a:rPr>
              <a:t>jieba</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from </a:t>
            </a:r>
            <a:r>
              <a:rPr lang="en-GB" altLang="zh-CN" dirty="0" err="1">
                <a:latin typeface="Alibaba PuHuiTi" pitchFamily="18" charset="-122"/>
                <a:ea typeface="Alibaba PuHuiTi" pitchFamily="18" charset="-122"/>
                <a:cs typeface="Alibaba PuHuiTi" pitchFamily="18" charset="-122"/>
              </a:rPr>
              <a:t>torch.utils.data</a:t>
            </a:r>
            <a:r>
              <a:rPr lang="en-GB" altLang="zh-CN" dirty="0">
                <a:latin typeface="Alibaba PuHuiTi" pitchFamily="18" charset="-122"/>
                <a:ea typeface="Alibaba PuHuiTi" pitchFamily="18" charset="-122"/>
                <a:cs typeface="Alibaba PuHuiTi" pitchFamily="18" charset="-122"/>
              </a:rPr>
              <a:t> </a:t>
            </a: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err="1">
                <a:latin typeface="Alibaba PuHuiTi" pitchFamily="18" charset="-122"/>
                <a:ea typeface="Alibaba PuHuiTi" pitchFamily="18" charset="-122"/>
                <a:cs typeface="Alibaba PuHuiTi" pitchFamily="18" charset="-122"/>
              </a:rPr>
              <a:t>DataLoader</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err="1">
                <a:latin typeface="Alibaba PuHuiTi" pitchFamily="18" charset="-122"/>
                <a:ea typeface="Alibaba PuHuiTi" pitchFamily="18" charset="-122"/>
                <a:cs typeface="Alibaba PuHuiTi" pitchFamily="18" charset="-122"/>
              </a:rPr>
              <a:t>torch.nn</a:t>
            </a:r>
            <a:r>
              <a:rPr lang="en-GB" altLang="zh-CN" dirty="0">
                <a:latin typeface="Alibaba PuHuiTi" pitchFamily="18" charset="-122"/>
                <a:ea typeface="Alibaba PuHuiTi" pitchFamily="18" charset="-122"/>
                <a:cs typeface="Alibaba PuHuiTi" pitchFamily="18" charset="-122"/>
              </a:rPr>
              <a:t> </a:t>
            </a:r>
            <a:r>
              <a:rPr lang="en-GB" altLang="zh-CN" b="1" dirty="0">
                <a:solidFill>
                  <a:srgbClr val="000080"/>
                </a:solidFill>
                <a:effectLst/>
                <a:latin typeface="Alibaba PuHuiTi" pitchFamily="18" charset="-122"/>
                <a:ea typeface="Alibaba PuHuiTi" pitchFamily="18" charset="-122"/>
                <a:cs typeface="Alibaba PuHuiTi" pitchFamily="18" charset="-122"/>
              </a:rPr>
              <a:t>as </a:t>
            </a:r>
            <a:r>
              <a:rPr lang="en-GB" altLang="zh-CN" dirty="0" err="1">
                <a:latin typeface="Alibaba PuHuiTi" pitchFamily="18" charset="-122"/>
                <a:ea typeface="Alibaba PuHuiTi" pitchFamily="18" charset="-122"/>
                <a:cs typeface="Alibaba PuHuiTi" pitchFamily="18" charset="-122"/>
              </a:rPr>
              <a:t>nn</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err="1">
                <a:latin typeface="Alibaba PuHuiTi" pitchFamily="18" charset="-122"/>
                <a:ea typeface="Alibaba PuHuiTi" pitchFamily="18" charset="-122"/>
                <a:cs typeface="Alibaba PuHuiTi" pitchFamily="18" charset="-122"/>
              </a:rPr>
              <a:t>torch.nn.functional</a:t>
            </a:r>
            <a:r>
              <a:rPr lang="en-GB" altLang="zh-CN" dirty="0">
                <a:latin typeface="Alibaba PuHuiTi" pitchFamily="18" charset="-122"/>
                <a:ea typeface="Alibaba PuHuiTi" pitchFamily="18" charset="-122"/>
                <a:cs typeface="Alibaba PuHuiTi" pitchFamily="18" charset="-122"/>
              </a:rPr>
              <a:t> </a:t>
            </a:r>
            <a:r>
              <a:rPr lang="en-GB" altLang="zh-CN" b="1" dirty="0">
                <a:solidFill>
                  <a:srgbClr val="000080"/>
                </a:solidFill>
                <a:effectLst/>
                <a:latin typeface="Alibaba PuHuiTi" pitchFamily="18" charset="-122"/>
                <a:ea typeface="Alibaba PuHuiTi" pitchFamily="18" charset="-122"/>
                <a:cs typeface="Alibaba PuHuiTi" pitchFamily="18" charset="-122"/>
              </a:rPr>
              <a:t>as </a:t>
            </a:r>
            <a:r>
              <a:rPr lang="en-GB" altLang="zh-CN" dirty="0">
                <a:latin typeface="Alibaba PuHuiTi" pitchFamily="18" charset="-122"/>
                <a:ea typeface="Alibaba PuHuiTi" pitchFamily="18" charset="-122"/>
                <a:cs typeface="Alibaba PuHuiTi" pitchFamily="18" charset="-122"/>
              </a:rPr>
              <a:t>F</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err="1">
                <a:latin typeface="Alibaba PuHuiTi" pitchFamily="18" charset="-122"/>
                <a:ea typeface="Alibaba PuHuiTi" pitchFamily="18" charset="-122"/>
                <a:cs typeface="Alibaba PuHuiTi" pitchFamily="18" charset="-122"/>
              </a:rPr>
              <a:t>torch.optim</a:t>
            </a:r>
            <a:r>
              <a:rPr lang="en-GB" altLang="zh-CN" dirty="0">
                <a:latin typeface="Alibaba PuHuiTi" pitchFamily="18" charset="-122"/>
                <a:ea typeface="Alibaba PuHuiTi" pitchFamily="18" charset="-122"/>
                <a:cs typeface="Alibaba PuHuiTi" pitchFamily="18" charset="-122"/>
              </a:rPr>
              <a:t> </a:t>
            </a:r>
            <a:r>
              <a:rPr lang="en-GB" altLang="zh-CN" b="1" dirty="0">
                <a:solidFill>
                  <a:srgbClr val="000080"/>
                </a:solidFill>
                <a:effectLst/>
                <a:latin typeface="Alibaba PuHuiTi" pitchFamily="18" charset="-122"/>
                <a:ea typeface="Alibaba PuHuiTi" pitchFamily="18" charset="-122"/>
                <a:cs typeface="Alibaba PuHuiTi" pitchFamily="18" charset="-122"/>
              </a:rPr>
              <a:t>as </a:t>
            </a:r>
            <a:r>
              <a:rPr lang="en-GB" altLang="zh-CN" dirty="0" err="1">
                <a:latin typeface="Alibaba PuHuiTi" pitchFamily="18" charset="-122"/>
                <a:ea typeface="Alibaba PuHuiTi" pitchFamily="18" charset="-122"/>
                <a:cs typeface="Alibaba PuHuiTi" pitchFamily="18" charset="-122"/>
              </a:rPr>
              <a:t>optim</a:t>
            </a:r>
            <a:br>
              <a:rPr lang="en-GB" altLang="zh-CN" dirty="0">
                <a:latin typeface="Alibaba PuHuiTi" pitchFamily="18" charset="-122"/>
                <a:ea typeface="Alibaba PuHuiTi" pitchFamily="18" charset="-122"/>
                <a:cs typeface="Alibaba PuHuiTi" pitchFamily="18" charset="-122"/>
              </a:rPr>
            </a:br>
            <a:r>
              <a:rPr lang="en-GB" altLang="zh-CN" b="1" dirty="0">
                <a:solidFill>
                  <a:srgbClr val="000080"/>
                </a:solidFill>
                <a:effectLst/>
                <a:latin typeface="Alibaba PuHuiTi" pitchFamily="18" charset="-122"/>
                <a:ea typeface="Alibaba PuHuiTi" pitchFamily="18" charset="-122"/>
                <a:cs typeface="Alibaba PuHuiTi" pitchFamily="18" charset="-122"/>
              </a:rPr>
              <a:t>import </a:t>
            </a:r>
            <a:r>
              <a:rPr lang="en-GB" altLang="zh-CN" dirty="0">
                <a:latin typeface="Alibaba PuHuiTi" pitchFamily="18" charset="-122"/>
                <a:ea typeface="Alibaba PuHuiTi" pitchFamily="18" charset="-122"/>
                <a:cs typeface="Alibaba PuHuiTi" pitchFamily="18" charset="-122"/>
              </a:rPr>
              <a:t>time</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数据集</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effectLst/>
                <a:latin typeface="Roboto" panose="02000000000000000000" pitchFamily="2" charset="0"/>
              </a:rPr>
              <a:t>我们收集了周杰伦从第一张专辑</a:t>
            </a:r>
            <a:r>
              <a:rPr lang="en-US" altLang="zh-CN" b="0" i="0" dirty="0">
                <a:effectLst/>
                <a:latin typeface="Roboto" panose="02000000000000000000" pitchFamily="2" charset="0"/>
              </a:rPr>
              <a:t>《</a:t>
            </a:r>
            <a:r>
              <a:rPr lang="en-GB" altLang="zh-CN" b="0" i="0" dirty="0">
                <a:effectLst/>
                <a:latin typeface="Roboto" panose="02000000000000000000" pitchFamily="2" charset="0"/>
              </a:rPr>
              <a:t>Jay》</a:t>
            </a:r>
            <a:r>
              <a:rPr lang="zh-CN" altLang="en-US" b="0" i="0" dirty="0">
                <a:effectLst/>
                <a:latin typeface="Roboto" panose="02000000000000000000" pitchFamily="2" charset="0"/>
              </a:rPr>
              <a:t>到第十张专辑</a:t>
            </a:r>
            <a:r>
              <a:rPr lang="en-US" altLang="zh-CN" b="0" i="0" dirty="0">
                <a:effectLst/>
                <a:latin typeface="Roboto" panose="02000000000000000000" pitchFamily="2" charset="0"/>
              </a:rPr>
              <a:t>《</a:t>
            </a:r>
            <a:r>
              <a:rPr lang="zh-CN" altLang="en-US" b="0" i="0" dirty="0">
                <a:effectLst/>
                <a:latin typeface="Roboto" panose="02000000000000000000" pitchFamily="2" charset="0"/>
              </a:rPr>
              <a:t>跨时代</a:t>
            </a:r>
            <a:r>
              <a:rPr lang="en-US" altLang="zh-CN" b="0" i="0" dirty="0">
                <a:effectLst/>
                <a:latin typeface="Roboto" panose="02000000000000000000" pitchFamily="2" charset="0"/>
              </a:rPr>
              <a:t>》</a:t>
            </a:r>
            <a:r>
              <a:rPr lang="zh-CN" altLang="en-US" b="0" i="0" dirty="0">
                <a:effectLst/>
                <a:latin typeface="Roboto" panose="02000000000000000000" pitchFamily="2" charset="0"/>
              </a:rPr>
              <a:t>中的歌词，来训练神经网络模型，当模型训练好后，我们就可以用这个模型来创作歌词。数据集如下：</a:t>
            </a:r>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该数据集共有 </a:t>
            </a:r>
            <a:r>
              <a:rPr lang="en-US" altLang="zh-CN" b="0" i="0" dirty="0">
                <a:solidFill>
                  <a:srgbClr val="333333"/>
                </a:solidFill>
                <a:effectLst/>
                <a:latin typeface="Helvetica Neue"/>
              </a:rPr>
              <a:t>5819 </a:t>
            </a:r>
            <a:r>
              <a:rPr lang="zh-CN" altLang="en-US" b="0" i="0" dirty="0">
                <a:solidFill>
                  <a:srgbClr val="333333"/>
                </a:solidFill>
                <a:effectLst/>
                <a:latin typeface="Helvetica Neue"/>
              </a:rPr>
              <a:t>行文本。</a:t>
            </a:r>
            <a:endParaRPr lang="en-US" altLang="zh-CN" b="0" i="0" dirty="0">
              <a:solidFill>
                <a:srgbClr val="333333"/>
              </a:solidFill>
              <a:effectLst/>
              <a:latin typeface="Helvetica Neue"/>
            </a:endParaRPr>
          </a:p>
          <a:p>
            <a:endParaRPr lang="zh-CN" altLang="en-US" dirty="0"/>
          </a:p>
        </p:txBody>
      </p:sp>
      <p:pic>
        <p:nvPicPr>
          <p:cNvPr id="4" name="图片 3"/>
          <p:cNvPicPr>
            <a:picLocks noChangeAspect="1"/>
          </p:cNvPicPr>
          <p:nvPr/>
        </p:nvPicPr>
        <p:blipFill>
          <a:blip r:embed="rId1"/>
          <a:stretch>
            <a:fillRect/>
          </a:stretch>
        </p:blipFill>
        <p:spPr>
          <a:xfrm>
            <a:off x="3055620" y="2346959"/>
            <a:ext cx="3524562" cy="311472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获取数据集并构建词表</a:t>
            </a:r>
            <a:endParaRPr lang="zh-CN" altLang="en-US" dirty="0"/>
          </a:p>
        </p:txBody>
      </p:sp>
      <p:sp>
        <p:nvSpPr>
          <p:cNvPr id="3" name="文本占位符 2"/>
          <p:cNvSpPr>
            <a:spLocks noGrp="1"/>
          </p:cNvSpPr>
          <p:nvPr>
            <p:ph type="body" sz="quarter" idx="11"/>
          </p:nvPr>
        </p:nvSpPr>
        <p:spPr>
          <a:xfrm>
            <a:off x="710565" y="1457325"/>
            <a:ext cx="10884535" cy="5400675"/>
          </a:xfrm>
        </p:spPr>
        <p:txBody>
          <a:bodyPr/>
          <a:lstStyle/>
          <a:p>
            <a:pPr algn="l"/>
            <a:r>
              <a:rPr lang="zh-CN" altLang="en-US" b="0" i="0" dirty="0">
                <a:effectLst/>
                <a:latin typeface="Roboto" panose="02000000000000000000" pitchFamily="2" charset="0"/>
              </a:rPr>
              <a:t>在进行自然语言处理任务之前，首要做的就是构建词表。</a:t>
            </a:r>
            <a:endParaRPr lang="en-US" altLang="zh-CN" b="0" i="0" dirty="0">
              <a:effectLst/>
              <a:latin typeface="Roboto" panose="02000000000000000000" pitchFamily="2" charset="0"/>
            </a:endParaRPr>
          </a:p>
          <a:p>
            <a:pPr algn="l"/>
            <a:r>
              <a:rPr lang="zh-CN" altLang="en-US" b="0" i="0" dirty="0">
                <a:effectLst/>
                <a:latin typeface="Roboto" panose="02000000000000000000" pitchFamily="2" charset="0"/>
              </a:rPr>
              <a:t>所谓的词表就是将数据进行分词，然后给每一个词分配一个唯一的编号，便于我们送入词嵌入层获取每个词的词向量。</a:t>
            </a:r>
            <a:endParaRPr lang="zh-CN" altLang="en-US" b="0" i="0" dirty="0">
              <a:effectLst/>
              <a:latin typeface="Roboto" panose="02000000000000000000" pitchFamily="2" charset="0"/>
            </a:endParaRPr>
          </a:p>
          <a:p>
            <a:pPr algn="l"/>
            <a:endParaRPr lang="en-US" altLang="zh-CN" b="0" i="0" dirty="0">
              <a:effectLst/>
              <a:latin typeface="Roboto" panose="02000000000000000000" pitchFamily="2" charset="0"/>
            </a:endParaRPr>
          </a:p>
          <a:p>
            <a:pPr algn="l"/>
            <a:endParaRPr lang="en-US" altLang="zh-CN" dirty="0">
              <a:latin typeface="Roboto" panose="02000000000000000000" pitchFamily="2" charset="0"/>
            </a:endParaRPr>
          </a:p>
          <a:p>
            <a:pPr algn="l"/>
            <a:endParaRPr lang="en-US" altLang="zh-CN" b="0" i="0" dirty="0">
              <a:effectLst/>
              <a:latin typeface="Roboto" panose="02000000000000000000" pitchFamily="2" charset="0"/>
            </a:endParaRPr>
          </a:p>
          <a:p>
            <a:pPr algn="l"/>
            <a:endParaRPr lang="en-US" altLang="zh-CN" dirty="0">
              <a:latin typeface="Roboto" panose="02000000000000000000" pitchFamily="2" charset="0"/>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pic>
        <p:nvPicPr>
          <p:cNvPr id="5" name="图片 4"/>
          <p:cNvPicPr>
            <a:picLocks noChangeAspect="1"/>
          </p:cNvPicPr>
          <p:nvPr/>
        </p:nvPicPr>
        <p:blipFill>
          <a:blip r:embed="rId1"/>
          <a:stretch>
            <a:fillRect/>
          </a:stretch>
        </p:blipFill>
        <p:spPr>
          <a:xfrm>
            <a:off x="3214129" y="2508826"/>
            <a:ext cx="3409093" cy="340909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获取数据集并构建词表</a:t>
            </a:r>
            <a:endParaRPr lang="zh-CN" altLang="en-US" dirty="0"/>
          </a:p>
        </p:txBody>
      </p:sp>
      <p:sp>
        <p:nvSpPr>
          <p:cNvPr id="3" name="文本占位符 2"/>
          <p:cNvSpPr>
            <a:spLocks noGrp="1"/>
          </p:cNvSpPr>
          <p:nvPr>
            <p:ph type="body" sz="quarter" idx="11"/>
          </p:nvPr>
        </p:nvSpPr>
        <p:spPr>
          <a:xfrm>
            <a:off x="958015" y="1852688"/>
            <a:ext cx="10698800" cy="2571031"/>
          </a:xfrm>
        </p:spPr>
        <p:txBody>
          <a:bodyPr/>
          <a:lstStyle/>
          <a:p>
            <a:pPr algn="l"/>
            <a:r>
              <a:rPr lang="zh-CN" altLang="en-US" b="0" i="0" dirty="0">
                <a:effectLst/>
                <a:latin typeface="Roboto" panose="02000000000000000000" pitchFamily="2" charset="0"/>
              </a:rPr>
              <a:t>接下来</a:t>
            </a:r>
            <a:r>
              <a:rPr lang="en-US" altLang="zh-CN" b="0" i="0" dirty="0">
                <a:effectLst/>
                <a:latin typeface="Roboto" panose="02000000000000000000" pitchFamily="2" charset="0"/>
              </a:rPr>
              <a:t>, </a:t>
            </a:r>
            <a:r>
              <a:rPr lang="zh-CN" altLang="en-US" b="0" i="0" dirty="0">
                <a:effectLst/>
                <a:latin typeface="Roboto" panose="02000000000000000000" pitchFamily="2" charset="0"/>
              </a:rPr>
              <a:t>我们对周杰伦歌词的数据进行处理构建词表，具体实现如下所示：</a:t>
            </a:r>
            <a:endParaRPr lang="en-US" altLang="zh-CN" b="0" i="0" dirty="0">
              <a:effectLst/>
              <a:latin typeface="Roboto" panose="02000000000000000000" pitchFamily="2" charset="0"/>
            </a:endParaRPr>
          </a:p>
          <a:p>
            <a:pPr algn="l"/>
            <a:r>
              <a:rPr lang="zh-CN" altLang="en-US" b="0" i="0" dirty="0">
                <a:effectLst/>
                <a:latin typeface="Roboto" panose="02000000000000000000" pitchFamily="2" charset="0"/>
              </a:rPr>
              <a:t>整体流程是：</a:t>
            </a:r>
            <a:endParaRPr lang="zh-CN" altLang="en-US" b="0" i="0" dirty="0">
              <a:effectLst/>
              <a:latin typeface="Roboto" panose="02000000000000000000" pitchFamily="2" charset="0"/>
            </a:endParaRPr>
          </a:p>
          <a:p>
            <a:pPr marL="285750" indent="-285750" algn="l">
              <a:buFont typeface="Wingdings" panose="05000000000000000000" pitchFamily="2" charset="2"/>
              <a:buChar char="l"/>
            </a:pPr>
            <a:r>
              <a:rPr lang="zh-CN" altLang="en-US" b="0" i="0" dirty="0">
                <a:effectLst/>
                <a:latin typeface="Roboto" panose="02000000000000000000" pitchFamily="2" charset="0"/>
              </a:rPr>
              <a:t>获取文本数据</a:t>
            </a:r>
            <a:endParaRPr lang="zh-CN" altLang="en-US" b="0" i="0" dirty="0">
              <a:effectLst/>
              <a:latin typeface="Roboto" panose="02000000000000000000" pitchFamily="2" charset="0"/>
            </a:endParaRPr>
          </a:p>
          <a:p>
            <a:pPr marL="285750" indent="-285750" algn="l">
              <a:buFont typeface="Wingdings" panose="05000000000000000000" pitchFamily="2" charset="2"/>
              <a:buChar char="l"/>
            </a:pPr>
            <a:r>
              <a:rPr lang="zh-CN" altLang="en-US" b="0" i="0" dirty="0">
                <a:effectLst/>
                <a:latin typeface="Roboto" panose="02000000000000000000" pitchFamily="2" charset="0"/>
              </a:rPr>
              <a:t>分词，并进行去重</a:t>
            </a:r>
            <a:endParaRPr lang="zh-CN" altLang="en-US" b="0" i="0" dirty="0">
              <a:effectLst/>
              <a:latin typeface="Roboto" panose="02000000000000000000" pitchFamily="2" charset="0"/>
            </a:endParaRPr>
          </a:p>
          <a:p>
            <a:pPr marL="285750" indent="-285750" algn="l">
              <a:buFont typeface="Wingdings" panose="05000000000000000000" pitchFamily="2" charset="2"/>
              <a:buChar char="l"/>
            </a:pPr>
            <a:r>
              <a:rPr lang="zh-CN" altLang="en-US" b="0" i="0" dirty="0">
                <a:effectLst/>
                <a:latin typeface="Roboto" panose="02000000000000000000" pitchFamily="2" charset="0"/>
              </a:rPr>
              <a:t>构建词表</a:t>
            </a:r>
            <a:endParaRPr lang="zh-CN" altLang="en-US" b="0" i="0" dirty="0">
              <a:effectLst/>
              <a:latin typeface="Roboto" panose="02000000000000000000" pitchFamily="2" charset="0"/>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构建词表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402859" y="1457271"/>
            <a:ext cx="8606115" cy="5232202"/>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获取数据，并进行分词，构建词表</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err="1">
                <a:latin typeface="Alibaba PuHuiTi" pitchFamily="18" charset="-122"/>
                <a:ea typeface="Alibaba PuHuiTi" pitchFamily="18" charset="-122"/>
                <a:cs typeface="Alibaba PuHuiTi" pitchFamily="18" charset="-122"/>
              </a:rPr>
              <a:t>build_vocab</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数据集位置</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file_name</a:t>
            </a:r>
            <a:r>
              <a:rPr lang="en-GB" altLang="zh-CN" sz="1600" dirty="0">
                <a:latin typeface="Alibaba PuHuiTi" pitchFamily="18" charset="-122"/>
                <a:ea typeface="Alibaba PuHuiTi" pitchFamily="18" charset="-122"/>
                <a:cs typeface="Alibaba PuHuiTi" pitchFamily="18" charset="-122"/>
              </a:rPr>
              <a:t> = </a:t>
            </a:r>
            <a:r>
              <a:rPr lang="en-GB" altLang="zh-CN" sz="1600" b="1" dirty="0">
                <a:solidFill>
                  <a:srgbClr val="008000"/>
                </a:solidFill>
                <a:effectLst/>
                <a:latin typeface="Alibaba PuHuiTi" pitchFamily="18" charset="-122"/>
                <a:ea typeface="Alibaba PuHuiTi" pitchFamily="18" charset="-122"/>
                <a:cs typeface="Alibaba PuHuiTi" pitchFamily="18" charset="-122"/>
              </a:rPr>
              <a:t>'data/</a:t>
            </a:r>
            <a:r>
              <a:rPr lang="en-GB" altLang="zh-CN" sz="1600" b="1" dirty="0" err="1">
                <a:solidFill>
                  <a:srgbClr val="008000"/>
                </a:solidFill>
                <a:effectLst/>
                <a:latin typeface="Alibaba PuHuiTi" pitchFamily="18" charset="-122"/>
                <a:ea typeface="Alibaba PuHuiTi" pitchFamily="18" charset="-122"/>
                <a:cs typeface="Alibaba PuHuiTi" pitchFamily="18" charset="-122"/>
              </a:rPr>
              <a:t>jaychou_lyrics.txt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br>
              <a:rPr lang="en-GB" altLang="zh-CN" sz="1600" b="1" dirty="0">
                <a:solidFill>
                  <a:srgbClr val="008000"/>
                </a:solidFill>
                <a:effectLst/>
                <a:latin typeface="Alibaba PuHuiTi" pitchFamily="18" charset="-122"/>
                <a:ea typeface="Alibaba PuHuiTi" pitchFamily="18" charset="-122"/>
                <a:cs typeface="Alibaba PuHuiTi" pitchFamily="18" charset="-122"/>
              </a:rPr>
            </a:br>
            <a:r>
              <a:rPr lang="en-GB" altLang="zh-CN" sz="1600" b="1" dirty="0">
                <a:solidFill>
                  <a:srgbClr val="008000"/>
                </a:solidFill>
                <a:effectLst/>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分词结果存储位置</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 = []</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all_words</a:t>
            </a:r>
            <a:r>
              <a:rPr lang="en-GB" altLang="zh-CN" sz="1600" dirty="0">
                <a:latin typeface="Alibaba PuHuiTi" pitchFamily="18" charset="-122"/>
                <a:ea typeface="Alibaba PuHuiTi" pitchFamily="18" charset="-122"/>
                <a:cs typeface="Alibaba PuHuiTi" pitchFamily="18" charset="-122"/>
              </a:rPr>
              <a:t> = []</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遍历数据集中的每一行文本</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for </a:t>
            </a:r>
            <a:r>
              <a:rPr lang="en-GB" altLang="zh-CN" sz="1600" dirty="0">
                <a:latin typeface="Alibaba PuHuiTi" pitchFamily="18" charset="-122"/>
                <a:ea typeface="Alibaba PuHuiTi" pitchFamily="18" charset="-122"/>
                <a:cs typeface="Alibaba PuHuiTi" pitchFamily="18" charset="-122"/>
              </a:rPr>
              <a:t>line </a:t>
            </a:r>
            <a:r>
              <a:rPr lang="en-GB" altLang="zh-CN" sz="1600" b="1" dirty="0">
                <a:solidFill>
                  <a:srgbClr val="000080"/>
                </a:solidFill>
                <a:effectLst/>
                <a:latin typeface="Alibaba PuHuiTi" pitchFamily="18" charset="-122"/>
                <a:ea typeface="Alibaba PuHuiTi" pitchFamily="18" charset="-122"/>
                <a:cs typeface="Alibaba PuHuiTi" pitchFamily="18" charset="-122"/>
              </a:rPr>
              <a:t>in </a:t>
            </a:r>
            <a:r>
              <a:rPr lang="en-GB" altLang="zh-CN" sz="1600" dirty="0">
                <a:solidFill>
                  <a:srgbClr val="000080"/>
                </a:solidFill>
                <a:effectLst/>
                <a:latin typeface="Alibaba PuHuiTi" pitchFamily="18" charset="-122"/>
                <a:ea typeface="Alibaba PuHuiTi" pitchFamily="18" charset="-122"/>
                <a:cs typeface="Alibaba PuHuiTi" pitchFamily="18" charset="-122"/>
              </a:rPr>
              <a:t>open</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file_name</a:t>
            </a: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effectLst/>
                <a:latin typeface="Alibaba PuHuiTi" pitchFamily="18" charset="-122"/>
                <a:ea typeface="Alibaba PuHuiTi" pitchFamily="18" charset="-122"/>
                <a:cs typeface="Alibaba PuHuiTi" pitchFamily="18" charset="-122"/>
              </a:rPr>
              <a:t>'r'</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使用</a:t>
            </a:r>
            <a:r>
              <a:rPr lang="en-GB" altLang="zh-CN" sz="1600" i="1" dirty="0" err="1">
                <a:solidFill>
                  <a:srgbClr val="008001"/>
                </a:solidFill>
                <a:effectLst/>
                <a:latin typeface="Alibaba PuHuiTi" pitchFamily="18" charset="-122"/>
                <a:ea typeface="Alibaba PuHuiTi" pitchFamily="18" charset="-122"/>
                <a:cs typeface="Alibaba PuHuiTi" pitchFamily="18" charset="-122"/>
              </a:rPr>
              <a:t>jieba</a:t>
            </a:r>
            <a:r>
              <a:rPr lang="zh-CN" altLang="en-US" sz="1600" i="1" dirty="0">
                <a:solidFill>
                  <a:srgbClr val="008001"/>
                </a:solidFill>
                <a:effectLst/>
                <a:latin typeface="Alibaba PuHuiTi" pitchFamily="18" charset="-122"/>
                <a:ea typeface="Alibaba PuHuiTi" pitchFamily="18" charset="-122"/>
                <a:cs typeface="Alibaba PuHuiTi" pitchFamily="18" charset="-122"/>
              </a:rPr>
              <a:t>分词</a:t>
            </a:r>
            <a:r>
              <a:rPr lang="en-US" altLang="zh-CN" sz="1600" i="1" dirty="0">
                <a:solidFill>
                  <a:srgbClr val="008001"/>
                </a:solidFill>
                <a:effectLst/>
                <a:latin typeface="Alibaba PuHuiTi" pitchFamily="18" charset="-122"/>
                <a:ea typeface="Alibaba PuHuiTi" pitchFamily="18" charset="-122"/>
                <a:cs typeface="Alibaba PuHuiTi" pitchFamily="18" charset="-122"/>
              </a:rPr>
              <a:t>,</a:t>
            </a:r>
            <a:r>
              <a:rPr lang="zh-CN" altLang="en-US" sz="1600" i="1" dirty="0">
                <a:solidFill>
                  <a:srgbClr val="008001"/>
                </a:solidFill>
                <a:effectLst/>
                <a:latin typeface="Alibaba PuHuiTi" pitchFamily="18" charset="-122"/>
                <a:ea typeface="Alibaba PuHuiTi" pitchFamily="18" charset="-122"/>
                <a:cs typeface="Alibaba PuHuiTi" pitchFamily="18" charset="-122"/>
              </a:rPr>
              <a:t>分割结果是一个列表</a:t>
            </a:r>
            <a:br>
              <a:rPr lang="zh-CN" altLang="en-US" sz="1600" i="1" dirty="0">
                <a:solidFill>
                  <a:srgbClr val="008001"/>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words = </a:t>
            </a:r>
            <a:r>
              <a:rPr lang="en-GB" altLang="zh-CN" sz="1600" dirty="0" err="1">
                <a:latin typeface="Alibaba PuHuiTi" pitchFamily="18" charset="-122"/>
                <a:ea typeface="Alibaba PuHuiTi" pitchFamily="18" charset="-122"/>
                <a:cs typeface="Alibaba PuHuiTi" pitchFamily="18" charset="-122"/>
              </a:rPr>
              <a:t>jieba.lcut</a:t>
            </a:r>
            <a:r>
              <a:rPr lang="en-GB" altLang="zh-CN" sz="1600" dirty="0">
                <a:latin typeface="Alibaba PuHuiTi" pitchFamily="18" charset="-122"/>
                <a:ea typeface="Alibaba PuHuiTi" pitchFamily="18" charset="-122"/>
                <a:cs typeface="Alibaba PuHuiTi" pitchFamily="18" charset="-122"/>
              </a:rPr>
              <a:t>(line)</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808080"/>
                </a:solidFill>
                <a:effectLst/>
                <a:latin typeface="Alibaba PuHuiTi" pitchFamily="18" charset="-122"/>
                <a:ea typeface="Alibaba PuHuiTi" pitchFamily="18" charset="-122"/>
                <a:cs typeface="Alibaba PuHuiTi" pitchFamily="18" charset="-122"/>
              </a:rPr>
              <a:t># print(words)</a:t>
            </a:r>
            <a:br>
              <a:rPr lang="en-GB" altLang="zh-CN" sz="1600" i="1" dirty="0">
                <a:solidFill>
                  <a:srgbClr val="808080"/>
                </a:solidFill>
                <a:effectLst/>
                <a:latin typeface="Alibaba PuHuiTi" pitchFamily="18" charset="-122"/>
                <a:ea typeface="Alibaba PuHuiTi" pitchFamily="18" charset="-122"/>
                <a:cs typeface="Alibaba PuHuiTi" pitchFamily="18" charset="-122"/>
              </a:rPr>
            </a:br>
            <a:r>
              <a:rPr lang="en-GB" altLang="zh-CN"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所有的分词结果存储到</a:t>
            </a:r>
            <a:r>
              <a:rPr lang="en-GB" altLang="zh-CN" sz="1600" i="1" dirty="0" err="1">
                <a:solidFill>
                  <a:srgbClr val="008001"/>
                </a:solidFill>
                <a:effectLst/>
                <a:latin typeface="Alibaba PuHuiTi" pitchFamily="18" charset="-122"/>
                <a:ea typeface="Alibaba PuHuiTi" pitchFamily="18" charset="-122"/>
                <a:cs typeface="Alibaba PuHuiTi" pitchFamily="18" charset="-122"/>
              </a:rPr>
              <a:t>all_sentences</a:t>
            </a:r>
            <a:r>
              <a:rPr lang="zh-CN" altLang="en-GB" sz="1600" i="1" dirty="0">
                <a:solidFill>
                  <a:srgbClr val="008001"/>
                </a:solidFill>
                <a:effectLst/>
                <a:latin typeface="Alibaba PuHuiTi" pitchFamily="18" charset="-122"/>
                <a:ea typeface="Alibaba PuHuiTi" pitchFamily="18" charset="-122"/>
                <a:cs typeface="Alibaba PuHuiTi" pitchFamily="18" charset="-122"/>
              </a:rPr>
              <a:t>，</a:t>
            </a:r>
            <a:r>
              <a:rPr lang="zh-CN" altLang="en-US" sz="1600" i="1" dirty="0">
                <a:solidFill>
                  <a:srgbClr val="008001"/>
                </a:solidFill>
                <a:effectLst/>
                <a:latin typeface="Alibaba PuHuiTi" pitchFamily="18" charset="-122"/>
                <a:ea typeface="Alibaba PuHuiTi" pitchFamily="18" charset="-122"/>
                <a:cs typeface="Alibaba PuHuiTi" pitchFamily="18" charset="-122"/>
              </a:rPr>
              <a:t>其中包含重复的词组</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all_words.append</a:t>
            </a:r>
            <a:r>
              <a:rPr lang="en-GB" altLang="zh-CN" sz="1600" dirty="0">
                <a:latin typeface="Alibaba PuHuiTi" pitchFamily="18" charset="-122"/>
                <a:ea typeface="Alibaba PuHuiTi" pitchFamily="18" charset="-122"/>
                <a:cs typeface="Alibaba PuHuiTi" pitchFamily="18" charset="-122"/>
              </a:rPr>
              <a:t>(words)</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遍历分词结果，去重后存储到</a:t>
            </a:r>
            <a:r>
              <a:rPr lang="en-GB" altLang="zh-CN" sz="1600" i="1" dirty="0" err="1">
                <a:solidFill>
                  <a:srgbClr val="008001"/>
                </a:solidFill>
                <a:effectLst/>
                <a:latin typeface="Alibaba PuHuiTi" pitchFamily="18" charset="-122"/>
                <a:ea typeface="Alibaba PuHuiTi" pitchFamily="18" charset="-122"/>
                <a:cs typeface="Alibaba PuHuiTi" pitchFamily="18" charset="-122"/>
              </a:rPr>
              <a:t>unique_words</a:t>
            </a:r>
            <a:br>
              <a:rPr lang="en-GB" altLang="zh-CN" sz="1600" i="1" dirty="0">
                <a:solidFill>
                  <a:srgbClr val="808080"/>
                </a:solidFill>
                <a:effectLst/>
                <a:latin typeface="Alibaba PuHuiTi" pitchFamily="18" charset="-122"/>
                <a:ea typeface="Alibaba PuHuiTi" pitchFamily="18" charset="-122"/>
                <a:cs typeface="Alibaba PuHuiTi" pitchFamily="18" charset="-122"/>
              </a:rPr>
            </a:br>
            <a:r>
              <a:rPr lang="en-GB" altLang="zh-CN"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for </a:t>
            </a:r>
            <a:r>
              <a:rPr lang="en-GB" altLang="zh-CN" sz="1600" dirty="0">
                <a:latin typeface="Alibaba PuHuiTi" pitchFamily="18" charset="-122"/>
                <a:ea typeface="Alibaba PuHuiTi" pitchFamily="18" charset="-122"/>
                <a:cs typeface="Alibaba PuHuiTi" pitchFamily="18" charset="-122"/>
              </a:rPr>
              <a:t>word </a:t>
            </a:r>
            <a:r>
              <a:rPr lang="en-GB" altLang="zh-CN" sz="1600" b="1" dirty="0">
                <a:solidFill>
                  <a:srgbClr val="000080"/>
                </a:solidFill>
                <a:effectLst/>
                <a:latin typeface="Alibaba PuHuiTi" pitchFamily="18" charset="-122"/>
                <a:ea typeface="Alibaba PuHuiTi" pitchFamily="18" charset="-122"/>
                <a:cs typeface="Alibaba PuHuiTi" pitchFamily="18" charset="-122"/>
              </a:rPr>
              <a:t>in </a:t>
            </a:r>
            <a:r>
              <a:rPr lang="en-GB" altLang="zh-CN" sz="1600" dirty="0">
                <a:latin typeface="Alibaba PuHuiTi" pitchFamily="18" charset="-122"/>
                <a:ea typeface="Alibaba PuHuiTi" pitchFamily="18" charset="-122"/>
                <a:cs typeface="Alibaba PuHuiTi" pitchFamily="18" charset="-122"/>
              </a:rPr>
              <a:t>words:</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if </a:t>
            </a:r>
            <a:r>
              <a:rPr lang="en-GB" altLang="zh-CN" sz="1600" dirty="0">
                <a:latin typeface="Alibaba PuHuiTi" pitchFamily="18" charset="-122"/>
                <a:ea typeface="Alibaba PuHuiTi" pitchFamily="18" charset="-122"/>
                <a:cs typeface="Alibaba PuHuiTi" pitchFamily="18" charset="-122"/>
              </a:rPr>
              <a:t>word </a:t>
            </a:r>
            <a:r>
              <a:rPr lang="en-GB" altLang="zh-CN" sz="1600" b="1" dirty="0">
                <a:solidFill>
                  <a:srgbClr val="000080"/>
                </a:solidFill>
                <a:effectLst/>
                <a:latin typeface="Alibaba PuHuiTi" pitchFamily="18" charset="-122"/>
                <a:ea typeface="Alibaba PuHuiTi" pitchFamily="18" charset="-122"/>
                <a:cs typeface="Alibaba PuHuiTi" pitchFamily="18" charset="-122"/>
              </a:rPr>
              <a:t>not in </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unique_words.append</a:t>
            </a:r>
            <a:r>
              <a:rPr lang="en-GB" altLang="zh-CN" sz="1600" dirty="0">
                <a:latin typeface="Alibaba PuHuiTi" pitchFamily="18" charset="-122"/>
                <a:ea typeface="Alibaba PuHuiTi" pitchFamily="18" charset="-122"/>
                <a:cs typeface="Alibaba PuHuiTi" pitchFamily="18" charset="-122"/>
              </a:rPr>
              <a:t>(word)</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语料中词的数量</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word_count</a:t>
            </a:r>
            <a:r>
              <a:rPr lang="en-GB" altLang="zh-CN" sz="1600" dirty="0">
                <a:latin typeface="Alibaba PuHuiTi" pitchFamily="18" charset="-122"/>
                <a:ea typeface="Alibaba PuHuiTi" pitchFamily="18" charset="-122"/>
                <a:cs typeface="Alibaba PuHuiTi" pitchFamily="18" charset="-122"/>
              </a:rPr>
              <a:t> = </a:t>
            </a:r>
            <a:r>
              <a:rPr lang="en-GB" altLang="zh-CN" sz="1600" dirty="0" err="1">
                <a:solidFill>
                  <a:srgbClr val="000080"/>
                </a:solidFill>
                <a:effectLst/>
                <a:latin typeface="Alibaba PuHuiTi" pitchFamily="18" charset="-122"/>
                <a:ea typeface="Alibaba PuHuiTi" pitchFamily="18" charset="-122"/>
                <a:cs typeface="Alibaba PuHuiTi" pitchFamily="18" charset="-122"/>
              </a:rPr>
              <a:t>len</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400" dirty="0"/>
              <a:t>    </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构建词表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402859" y="1457271"/>
            <a:ext cx="8606115" cy="3999865"/>
          </a:xfrm>
          <a:prstGeom prst="rect">
            <a:avLst/>
          </a:prstGeom>
          <a:solidFill>
            <a:srgbClr val="FFFFE4"/>
          </a:solidFill>
          <a:ln>
            <a:solidFill>
              <a:schemeClr val="tx1"/>
            </a:solidFill>
          </a:ln>
        </p:spPr>
        <p:txBody>
          <a:bodyPr wrap="square">
            <a:spAutoFit/>
          </a:bodyPr>
          <a:lstStyle/>
          <a:p>
            <a:pPr>
              <a:spcBef>
                <a:spcPts val="360"/>
              </a:spcBef>
              <a:spcAft>
                <a:spcPts val="360"/>
              </a:spcAft>
            </a:pPr>
            <a:br>
              <a:rPr lang="en-GB" altLang="zh-CN" sz="1400" dirty="0"/>
            </a:br>
            <a:r>
              <a:rPr lang="en-GB" altLang="zh-CN" sz="1400" dirty="0"/>
              <a:t>    </a:t>
            </a:r>
            <a:r>
              <a:rPr lang="en-US" altLang="en-GB" sz="1400" dirty="0"/>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词到索引映射</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 = {word: </a:t>
            </a:r>
            <a:r>
              <a:rPr lang="en-GB" altLang="zh-CN" sz="1600" dirty="0" err="1">
                <a:latin typeface="Alibaba PuHuiTi" pitchFamily="18" charset="-122"/>
                <a:ea typeface="Alibaba PuHuiTi" pitchFamily="18" charset="-122"/>
                <a:cs typeface="Alibaba PuHuiTi" pitchFamily="18" charset="-122"/>
              </a:rPr>
              <a:t>idx</a:t>
            </a: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for </a:t>
            </a:r>
            <a:r>
              <a:rPr lang="en-GB" altLang="zh-CN" sz="1600" dirty="0" err="1">
                <a:latin typeface="Alibaba PuHuiTi" pitchFamily="18" charset="-122"/>
                <a:ea typeface="Alibaba PuHuiTi" pitchFamily="18" charset="-122"/>
                <a:cs typeface="Alibaba PuHuiTi" pitchFamily="18" charset="-122"/>
              </a:rPr>
              <a:t>idx</a:t>
            </a:r>
            <a:r>
              <a:rPr lang="en-GB" altLang="zh-CN" sz="1600" dirty="0">
                <a:latin typeface="Alibaba PuHuiTi" pitchFamily="18" charset="-122"/>
                <a:ea typeface="Alibaba PuHuiTi" pitchFamily="18" charset="-122"/>
                <a:cs typeface="Alibaba PuHuiTi" pitchFamily="18" charset="-122"/>
              </a:rPr>
              <a:t>, word </a:t>
            </a:r>
            <a:r>
              <a:rPr lang="en-GB" altLang="zh-CN" sz="1600" b="1" dirty="0">
                <a:solidFill>
                  <a:srgbClr val="000080"/>
                </a:solidFill>
                <a:effectLst/>
                <a:latin typeface="Alibaba PuHuiTi" pitchFamily="18" charset="-122"/>
                <a:ea typeface="Alibaba PuHuiTi" pitchFamily="18" charset="-122"/>
                <a:cs typeface="Alibaba PuHuiTi" pitchFamily="18" charset="-122"/>
              </a:rPr>
              <a:t>in </a:t>
            </a:r>
            <a:r>
              <a:rPr lang="en-GB" altLang="zh-CN" sz="1600" dirty="0">
                <a:solidFill>
                  <a:srgbClr val="000080"/>
                </a:solidFill>
                <a:effectLst/>
                <a:latin typeface="Alibaba PuHuiTi" pitchFamily="18" charset="-122"/>
                <a:ea typeface="Alibaba PuHuiTi" pitchFamily="18" charset="-122"/>
                <a:cs typeface="Alibaba PuHuiTi" pitchFamily="18" charset="-122"/>
              </a:rPr>
              <a:t>enumerate</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词表索引表示</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corpus_idx</a:t>
            </a:r>
            <a:r>
              <a:rPr lang="en-GB" altLang="zh-CN" sz="1600" dirty="0">
                <a:latin typeface="Alibaba PuHuiTi" pitchFamily="18" charset="-122"/>
                <a:ea typeface="Alibaba PuHuiTi" pitchFamily="18" charset="-122"/>
                <a:cs typeface="Alibaba PuHuiTi" pitchFamily="18" charset="-122"/>
              </a:rPr>
              <a:t> = []</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遍历每一行的分词结果</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for </a:t>
            </a:r>
            <a:r>
              <a:rPr lang="en-GB" altLang="zh-CN" sz="1600" dirty="0">
                <a:latin typeface="Alibaba PuHuiTi" pitchFamily="18" charset="-122"/>
                <a:ea typeface="Alibaba PuHuiTi" pitchFamily="18" charset="-122"/>
                <a:cs typeface="Alibaba PuHuiTi" pitchFamily="18" charset="-122"/>
              </a:rPr>
              <a:t>words </a:t>
            </a:r>
            <a:r>
              <a:rPr lang="en-GB" altLang="zh-CN" sz="1600" b="1" dirty="0">
                <a:solidFill>
                  <a:srgbClr val="000080"/>
                </a:solidFill>
                <a:effectLst/>
                <a:latin typeface="Alibaba PuHuiTi" pitchFamily="18" charset="-122"/>
                <a:ea typeface="Alibaba PuHuiTi" pitchFamily="18" charset="-122"/>
                <a:cs typeface="Alibaba PuHuiTi" pitchFamily="18" charset="-122"/>
              </a:rPr>
              <a:t>in </a:t>
            </a:r>
            <a:r>
              <a:rPr lang="en-GB" altLang="zh-CN" sz="1600" dirty="0" err="1">
                <a:latin typeface="Alibaba PuHuiTi" pitchFamily="18" charset="-122"/>
                <a:ea typeface="Alibaba PuHuiTi" pitchFamily="18" charset="-122"/>
                <a:cs typeface="Alibaba PuHuiTi" pitchFamily="18" charset="-122"/>
              </a:rPr>
              <a:t>all_words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temp = []</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获取每一行的词，并获取相应的索引</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for </a:t>
            </a:r>
            <a:r>
              <a:rPr lang="en-GB" altLang="zh-CN" sz="1600" dirty="0">
                <a:latin typeface="Alibaba PuHuiTi" pitchFamily="18" charset="-122"/>
                <a:ea typeface="Alibaba PuHuiTi" pitchFamily="18" charset="-122"/>
                <a:cs typeface="Alibaba PuHuiTi" pitchFamily="18" charset="-122"/>
              </a:rPr>
              <a:t>word </a:t>
            </a:r>
            <a:r>
              <a:rPr lang="en-GB" altLang="zh-CN" sz="1600" b="1" dirty="0">
                <a:solidFill>
                  <a:srgbClr val="000080"/>
                </a:solidFill>
                <a:effectLst/>
                <a:latin typeface="Alibaba PuHuiTi" pitchFamily="18" charset="-122"/>
                <a:ea typeface="Alibaba PuHuiTi" pitchFamily="18" charset="-122"/>
                <a:cs typeface="Alibaba PuHuiTi" pitchFamily="18" charset="-122"/>
              </a:rPr>
              <a:t>in </a:t>
            </a:r>
            <a:r>
              <a:rPr lang="en-GB" altLang="zh-CN" sz="1600" dirty="0">
                <a:latin typeface="Alibaba PuHuiTi" pitchFamily="18" charset="-122"/>
                <a:ea typeface="Alibaba PuHuiTi" pitchFamily="18" charset="-122"/>
                <a:cs typeface="Alibaba PuHuiTi" pitchFamily="18" charset="-122"/>
              </a:rPr>
              <a:t>words:</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temp.append</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[word])</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在每行词之间添加空格隔开</a:t>
            </a:r>
            <a:br>
              <a:rPr lang="zh-CN" altLang="en-US" sz="1600" i="1" dirty="0">
                <a:solidFill>
                  <a:srgbClr val="008001"/>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temp.append</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008001"/>
                </a:solidFill>
                <a:effectLst/>
                <a:latin typeface="Alibaba PuHuiTi" pitchFamily="18" charset="-122"/>
                <a:ea typeface="Alibaba PuHuiTi" pitchFamily="18" charset="-122"/>
                <a:cs typeface="Alibaba PuHuiTi" pitchFamily="18" charset="-122"/>
              </a:rPr>
              <a:t># </a:t>
            </a:r>
            <a:r>
              <a:rPr lang="zh-CN" altLang="en-US" sz="1600" i="1" dirty="0">
                <a:solidFill>
                  <a:srgbClr val="008001"/>
                </a:solidFill>
                <a:effectLst/>
                <a:latin typeface="Alibaba PuHuiTi" pitchFamily="18" charset="-122"/>
                <a:ea typeface="Alibaba PuHuiTi" pitchFamily="18" charset="-122"/>
                <a:cs typeface="Alibaba PuHuiTi" pitchFamily="18" charset="-122"/>
              </a:rPr>
              <a:t>获取当前文档中每个词对应的索引</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corpus_idx.extend</a:t>
            </a:r>
            <a:r>
              <a:rPr lang="en-GB" altLang="zh-CN" sz="1600" dirty="0">
                <a:latin typeface="Alibaba PuHuiTi" pitchFamily="18" charset="-122"/>
                <a:ea typeface="Alibaba PuHuiTi" pitchFamily="18" charset="-122"/>
                <a:cs typeface="Alibaba PuHuiTi" pitchFamily="18" charset="-122"/>
              </a:rPr>
              <a:t>(temp)</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0080"/>
                </a:solidFill>
                <a:effectLst/>
                <a:latin typeface="Alibaba PuHuiTi" pitchFamily="18" charset="-122"/>
                <a:ea typeface="Alibaba PuHuiTi" pitchFamily="18" charset="-122"/>
                <a:cs typeface="Alibaba PuHuiTi" pitchFamily="18" charset="-122"/>
              </a:rPr>
              <a:t>return </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word_count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corpus_idx</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构建词表</a:t>
            </a:r>
            <a:endParaRPr lang="zh-CN" altLang="en-US" dirty="0"/>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lnSpc>
                <a:spcPct val="100000"/>
              </a:lnSpc>
            </a:pPr>
            <a:r>
              <a:rPr lang="zh-CN" altLang="en-US" b="0" i="0" dirty="0">
                <a:effectLst/>
                <a:latin typeface="Roboto" panose="02000000000000000000" pitchFamily="2" charset="0"/>
              </a:rPr>
              <a:t>我们的词典主要包含了</a:t>
            </a:r>
            <a:r>
              <a:rPr lang="en-US" altLang="zh-CN" b="0" i="0" dirty="0">
                <a:effectLst/>
                <a:latin typeface="Roboto" panose="02000000000000000000" pitchFamily="2" charset="0"/>
              </a:rPr>
              <a:t>:</a:t>
            </a:r>
            <a:endParaRPr lang="en-US" altLang="zh-CN" b="0" i="0" dirty="0">
              <a:effectLst/>
              <a:latin typeface="Roboto" panose="02000000000000000000" pitchFamily="2" charset="0"/>
            </a:endParaRPr>
          </a:p>
          <a:p>
            <a:pPr algn="l">
              <a:lnSpc>
                <a:spcPct val="100000"/>
              </a:lnSpc>
              <a:buFont typeface="+mj-lt"/>
              <a:buAutoNum type="arabicPeriod"/>
            </a:pPr>
            <a:r>
              <a:rPr lang="en-GB" altLang="zh-CN" b="0" i="0" dirty="0" err="1">
                <a:effectLst/>
                <a:latin typeface="Roboto" panose="02000000000000000000" pitchFamily="2" charset="0"/>
              </a:rPr>
              <a:t>unique_words</a:t>
            </a:r>
            <a:r>
              <a:rPr lang="en-GB" altLang="zh-CN" b="0" i="0" dirty="0">
                <a:effectLst/>
                <a:latin typeface="Roboto" panose="02000000000000000000" pitchFamily="2" charset="0"/>
              </a:rPr>
              <a:t>: </a:t>
            </a:r>
            <a:r>
              <a:rPr lang="zh-CN" altLang="en-US"/>
              <a:t>存储了每个词</a:t>
            </a:r>
            <a:endParaRPr lang="zh-CN" altLang="en-US"/>
          </a:p>
          <a:p>
            <a:pPr algn="l">
              <a:lnSpc>
                <a:spcPct val="100000"/>
              </a:lnSpc>
              <a:buFont typeface="+mj-lt"/>
              <a:buAutoNum type="arabicPeriod"/>
            </a:pPr>
            <a:r>
              <a:rPr lang="en-US" altLang="zh-CN"/>
              <a:t>word_to_index</a:t>
            </a:r>
            <a:r>
              <a:rPr lang="en-GB" altLang="zh-CN" b="0" i="0" dirty="0">
                <a:effectLst/>
                <a:latin typeface="Roboto" panose="02000000000000000000" pitchFamily="2" charset="0"/>
              </a:rPr>
              <a:t>: </a:t>
            </a:r>
            <a:r>
              <a:rPr lang="zh-CN" altLang="en-US"/>
              <a:t>存储了词到编号的映射</a:t>
            </a:r>
            <a:endParaRPr lang="zh-CN" altLang="en-US"/>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402859" y="1457271"/>
            <a:ext cx="8606115" cy="2030095"/>
          </a:xfrm>
          <a:prstGeom prst="rect">
            <a:avLst/>
          </a:prstGeom>
          <a:solidFill>
            <a:srgbClr val="FFFFE4"/>
          </a:solidFill>
          <a:ln>
            <a:solidFill>
              <a:schemeClr val="tx1"/>
            </a:solidFill>
          </a:ln>
        </p:spPr>
        <p:txBody>
          <a:bodyPr wrap="square">
            <a:spAutoFit/>
          </a:bodyPr>
          <a:lstStyle/>
          <a:p>
            <a:pPr>
              <a:spcBef>
                <a:spcPts val="360"/>
              </a:spcBef>
              <a:spcAft>
                <a:spcPts val="360"/>
              </a:spcAft>
            </a:pPr>
            <a:br>
              <a:rPr lang="en-GB" altLang="zh-CN" sz="1400" dirty="0"/>
            </a:br>
            <a:r>
              <a:rPr lang="en-GB" altLang="zh-CN" sz="1600" b="1" dirty="0">
                <a:solidFill>
                  <a:srgbClr val="000080"/>
                </a:solidFill>
                <a:effectLst/>
                <a:latin typeface="Alibaba PuHuiTi" pitchFamily="18" charset="-122"/>
                <a:ea typeface="Alibaba PuHuiTi" pitchFamily="18" charset="-122"/>
                <a:cs typeface="Alibaba PuHuiTi" pitchFamily="18" charset="-122"/>
              </a:rPr>
              <a:t>if </a:t>
            </a:r>
            <a:r>
              <a:rPr lang="en-GB" altLang="zh-CN" sz="1600" dirty="0">
                <a:latin typeface="Alibaba PuHuiTi" pitchFamily="18" charset="-122"/>
                <a:ea typeface="Alibaba PuHuiTi" pitchFamily="18" charset="-122"/>
                <a:cs typeface="Alibaba PuHuiTi" pitchFamily="18" charset="-122"/>
              </a:rPr>
              <a:t>__name__ == </a:t>
            </a:r>
            <a:r>
              <a:rPr lang="en-GB" altLang="zh-CN" sz="1600" b="1" dirty="0">
                <a:solidFill>
                  <a:srgbClr val="008000"/>
                </a:solidFill>
                <a:effectLst/>
                <a:latin typeface="Alibaba PuHuiTi" pitchFamily="18" charset="-122"/>
                <a:ea typeface="Alibaba PuHuiTi" pitchFamily="18" charset="-122"/>
                <a:cs typeface="Alibaba PuHuiTi" pitchFamily="18" charset="-122"/>
              </a:rPr>
              <a:t>"__main__"</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i="1" dirty="0">
                <a:solidFill>
                  <a:srgbClr val="808080"/>
                </a:solidFill>
                <a:effectLst/>
                <a:latin typeface="Alibaba PuHuiTi" pitchFamily="18" charset="-122"/>
                <a:ea typeface="Alibaba PuHuiTi" pitchFamily="18" charset="-122"/>
                <a:cs typeface="Alibaba PuHuiTi" pitchFamily="18" charset="-122"/>
              </a:rPr>
              <a:t># </a:t>
            </a:r>
            <a:r>
              <a:rPr lang="zh-CN" altLang="en-US" sz="1600" i="1" dirty="0">
                <a:solidFill>
                  <a:srgbClr val="808080"/>
                </a:solidFill>
                <a:effectLst/>
                <a:latin typeface="Alibaba PuHuiTi" pitchFamily="18" charset="-122"/>
                <a:ea typeface="Alibaba PuHuiTi" pitchFamily="18" charset="-122"/>
                <a:cs typeface="Alibaba PuHuiTi" pitchFamily="18" charset="-122"/>
              </a:rPr>
              <a:t>获取数据</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word_count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corpus_idx</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build_vocab</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zh-CN" altLang="en-US" sz="1600" b="1" dirty="0">
                <a:solidFill>
                  <a:srgbClr val="008000"/>
                </a:solidFill>
                <a:effectLst/>
                <a:latin typeface="Alibaba PuHuiTi" pitchFamily="18" charset="-122"/>
                <a:ea typeface="Alibaba PuHuiTi" pitchFamily="18" charset="-122"/>
                <a:cs typeface="Alibaba PuHuiTi" pitchFamily="18" charset="-122"/>
              </a:rPr>
              <a:t>词的数量：</a:t>
            </a:r>
            <a:r>
              <a:rPr lang="en-US" altLang="zh-CN" sz="1600" b="1" dirty="0">
                <a:solidFill>
                  <a:srgbClr val="000080"/>
                </a:solidFill>
                <a:effectLst/>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n</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word_count</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zh-CN" altLang="en-US" sz="1600" b="1" dirty="0">
                <a:solidFill>
                  <a:srgbClr val="008000"/>
                </a:solidFill>
                <a:effectLst/>
                <a:latin typeface="Alibaba PuHuiTi" pitchFamily="18" charset="-122"/>
                <a:ea typeface="Alibaba PuHuiTi" pitchFamily="18" charset="-122"/>
                <a:cs typeface="Alibaba PuHuiTi" pitchFamily="18" charset="-122"/>
              </a:rPr>
              <a:t>去重后的词</a:t>
            </a:r>
            <a:r>
              <a:rPr lang="en-US" altLang="zh-CN" sz="1600" b="1" dirty="0">
                <a:solidFill>
                  <a:srgbClr val="008000"/>
                </a:solidFill>
                <a:effectLst/>
                <a:latin typeface="Alibaba PuHuiTi" pitchFamily="18" charset="-122"/>
                <a:ea typeface="Alibaba PuHuiTi" pitchFamily="18" charset="-122"/>
                <a:cs typeface="Alibaba PuHuiTi" pitchFamily="18" charset="-122"/>
              </a:rPr>
              <a:t>:</a:t>
            </a:r>
            <a:r>
              <a:rPr lang="en-US" altLang="zh-CN" sz="1600" b="1" dirty="0">
                <a:solidFill>
                  <a:srgbClr val="000080"/>
                </a:solidFill>
                <a:effectLst/>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n</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unique_words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zh-CN" altLang="en-US" sz="1600" b="1" dirty="0">
                <a:solidFill>
                  <a:srgbClr val="008000"/>
                </a:solidFill>
                <a:effectLst/>
                <a:latin typeface="Alibaba PuHuiTi" pitchFamily="18" charset="-122"/>
                <a:ea typeface="Alibaba PuHuiTi" pitchFamily="18" charset="-122"/>
                <a:cs typeface="Alibaba PuHuiTi" pitchFamily="18" charset="-122"/>
              </a:rPr>
              <a:t>每个词的索引：</a:t>
            </a:r>
            <a:r>
              <a:rPr lang="en-US" altLang="zh-CN" sz="1600" b="1" dirty="0">
                <a:solidFill>
                  <a:srgbClr val="000080"/>
                </a:solidFill>
                <a:effectLst/>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n</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word_to_index</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zh-CN" altLang="en-US" sz="1600" b="1" dirty="0">
                <a:solidFill>
                  <a:srgbClr val="008000"/>
                </a:solidFill>
                <a:effectLst/>
                <a:latin typeface="Alibaba PuHuiTi" pitchFamily="18" charset="-122"/>
                <a:ea typeface="Alibaba PuHuiTi" pitchFamily="18" charset="-122"/>
                <a:cs typeface="Alibaba PuHuiTi" pitchFamily="18" charset="-122"/>
              </a:rPr>
              <a:t>当前文档中每个词对应的索引：</a:t>
            </a:r>
            <a:r>
              <a:rPr lang="en-US" altLang="zh-CN" sz="1600" b="1" dirty="0">
                <a:solidFill>
                  <a:srgbClr val="000080"/>
                </a:solidFill>
                <a:effectLst/>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n</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corpus_idx</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705230" y="5004793"/>
            <a:ext cx="8303743" cy="182625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构建数据集对象</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nSpc>
                <a:spcPct val="100000"/>
              </a:lnSpc>
              <a:spcBef>
                <a:spcPct val="0"/>
              </a:spcBef>
            </a:pPr>
            <a:r>
              <a:rPr lang="zh-CN" altLang="en-US" dirty="0">
                <a:solidFill>
                  <a:srgbClr val="333333"/>
                </a:solidFill>
                <a:latin typeface="Open Sans" panose="020B0606030504020204" pitchFamily="34" charset="0"/>
                <a:cs typeface="Open Sans" panose="020B0606030504020204" pitchFamily="34" charset="0"/>
              </a:rPr>
              <a:t>我们在训练的时候，为了便于读取语料，我们会构建一个 </a:t>
            </a:r>
            <a:r>
              <a:rPr lang="en-US" altLang="zh-CN" dirty="0">
                <a:solidFill>
                  <a:srgbClr val="333333"/>
                </a:solidFill>
                <a:latin typeface="Open Sans" panose="020B0606030504020204" pitchFamily="34" charset="0"/>
                <a:cs typeface="Open Sans" panose="020B0606030504020204" pitchFamily="34" charset="0"/>
              </a:rPr>
              <a:t>Dataset </a:t>
            </a:r>
            <a:r>
              <a:rPr lang="zh-CN" altLang="en-US" dirty="0">
                <a:solidFill>
                  <a:srgbClr val="333333"/>
                </a:solidFill>
                <a:latin typeface="Open Sans" panose="020B0606030504020204" pitchFamily="34" charset="0"/>
                <a:cs typeface="Open Sans" panose="020B0606030504020204" pitchFamily="34" charset="0"/>
              </a:rPr>
              <a:t>对象，如下所示：</a:t>
            </a:r>
            <a:endParaRPr lang="en-US" altLang="zh-CN" dirty="0">
              <a:solidFill>
                <a:srgbClr val="333333"/>
              </a:solidFill>
              <a:latin typeface="Open Sans" panose="020B0606030504020204" pitchFamily="34" charset="0"/>
              <a:cs typeface="Open Sans" panose="020B0606030504020204" pitchFamily="34" charset="0"/>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724134" y="1810464"/>
            <a:ext cx="7323411" cy="5047536"/>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class </a:t>
            </a:r>
            <a:r>
              <a:rPr lang="en-GB" altLang="zh-CN" sz="1400" dirty="0" err="1"/>
              <a:t>LyricsDataset</a:t>
            </a:r>
            <a:r>
              <a:rPr lang="en-GB" altLang="zh-CN" sz="1400" dirty="0"/>
              <a:t>(</a:t>
            </a:r>
            <a:r>
              <a:rPr lang="en-GB" altLang="zh-CN" sz="1400" dirty="0" err="1"/>
              <a:t>torch.utils.data.Dataset</a:t>
            </a:r>
            <a:r>
              <a:rPr lang="en-GB" altLang="zh-CN" sz="1400" dirty="0"/>
              <a:t>):</a:t>
            </a:r>
            <a:br>
              <a:rPr lang="en-GB" altLang="zh-CN" sz="1400" dirty="0"/>
            </a:br>
            <a:r>
              <a:rPr lang="en-GB" altLang="zh-CN" sz="1400" dirty="0"/>
              <a:t>    </a:t>
            </a:r>
            <a:r>
              <a:rPr lang="en-GB" altLang="zh-CN" sz="1400" b="1" dirty="0">
                <a:solidFill>
                  <a:srgbClr val="000080"/>
                </a:solidFill>
                <a:effectLst/>
              </a:rPr>
              <a:t>def </a:t>
            </a:r>
            <a:r>
              <a:rPr lang="en-GB" altLang="zh-CN" sz="1400" dirty="0">
                <a:solidFill>
                  <a:srgbClr val="B200B2"/>
                </a:solidFill>
                <a:effectLst/>
              </a:rPr>
              <a:t>__</a:t>
            </a:r>
            <a:r>
              <a:rPr lang="en-GB" altLang="zh-CN" sz="1400" dirty="0" err="1">
                <a:solidFill>
                  <a:srgbClr val="B200B2"/>
                </a:solidFill>
                <a:effectLst/>
              </a:rPr>
              <a:t>init</a:t>
            </a:r>
            <a:r>
              <a:rPr lang="en-GB" altLang="zh-CN" sz="1400" dirty="0">
                <a:solidFill>
                  <a:srgbClr val="B200B2"/>
                </a:solidFill>
                <a:effectLst/>
              </a:rPr>
              <a:t>__</a:t>
            </a:r>
            <a:r>
              <a:rPr lang="en-GB" altLang="zh-CN" sz="1400" dirty="0"/>
              <a:t>(</a:t>
            </a:r>
            <a:r>
              <a:rPr lang="en-GB" altLang="zh-CN" sz="1400" dirty="0">
                <a:solidFill>
                  <a:srgbClr val="94558D"/>
                </a:solidFill>
                <a:effectLst/>
              </a:rPr>
              <a:t>self</a:t>
            </a:r>
            <a:r>
              <a:rPr lang="en-GB" altLang="zh-CN" sz="1400" dirty="0"/>
              <a:t>, </a:t>
            </a:r>
            <a:r>
              <a:rPr lang="en-GB" altLang="zh-CN" sz="1400" dirty="0" err="1"/>
              <a:t>corpus_idx</a:t>
            </a:r>
            <a:r>
              <a:rPr lang="en-GB" altLang="zh-CN" sz="1400" dirty="0"/>
              <a:t>, </a:t>
            </a:r>
            <a:r>
              <a:rPr lang="en-GB" altLang="zh-CN" sz="1400" dirty="0" err="1"/>
              <a:t>num_chars</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文档数据中词的索引</a:t>
            </a:r>
            <a:br>
              <a:rPr lang="zh-CN" altLang="en-US" sz="1400" i="1" dirty="0">
                <a:solidFill>
                  <a:srgbClr val="808080"/>
                </a:solidFill>
                <a:effectLst/>
              </a:rPr>
            </a:br>
            <a:r>
              <a:rPr lang="zh-CN" altLang="en-US" sz="1400" i="1" dirty="0">
                <a:solidFill>
                  <a:srgbClr val="808080"/>
                </a:solidFill>
                <a:effectLst/>
              </a:rPr>
              <a:t>        </a:t>
            </a:r>
            <a:r>
              <a:rPr lang="en-GB" altLang="zh-CN" sz="1400" dirty="0" err="1">
                <a:solidFill>
                  <a:srgbClr val="94558D"/>
                </a:solidFill>
                <a:effectLst/>
              </a:rPr>
              <a:t>self</a:t>
            </a:r>
            <a:r>
              <a:rPr lang="en-GB" altLang="zh-CN" sz="1400" dirty="0" err="1"/>
              <a:t>.corpus_idx</a:t>
            </a:r>
            <a:r>
              <a:rPr lang="en-GB" altLang="zh-CN" sz="1400" dirty="0"/>
              <a:t> = </a:t>
            </a:r>
            <a:r>
              <a:rPr lang="en-GB" altLang="zh-CN" sz="1400" dirty="0" err="1"/>
              <a:t>corpus_idx</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每个句子中词的个数</a:t>
            </a:r>
            <a:br>
              <a:rPr lang="zh-CN" altLang="en-US" sz="1400" i="1" dirty="0">
                <a:solidFill>
                  <a:srgbClr val="808080"/>
                </a:solidFill>
                <a:effectLst/>
              </a:rPr>
            </a:br>
            <a:r>
              <a:rPr lang="zh-CN" altLang="en-US" sz="1400" i="1" dirty="0">
                <a:solidFill>
                  <a:srgbClr val="808080"/>
                </a:solidFill>
                <a:effectLst/>
              </a:rPr>
              <a:t>        </a:t>
            </a:r>
            <a:r>
              <a:rPr lang="en-GB" altLang="zh-CN" sz="1400" dirty="0" err="1">
                <a:solidFill>
                  <a:srgbClr val="94558D"/>
                </a:solidFill>
                <a:effectLst/>
              </a:rPr>
              <a:t>self</a:t>
            </a:r>
            <a:r>
              <a:rPr lang="en-GB" altLang="zh-CN" sz="1400" dirty="0" err="1"/>
              <a:t>.num_chars</a:t>
            </a:r>
            <a:r>
              <a:rPr lang="en-GB" altLang="zh-CN" sz="1400" dirty="0"/>
              <a:t> = </a:t>
            </a:r>
            <a:r>
              <a:rPr lang="en-GB" altLang="zh-CN" sz="1400" dirty="0" err="1"/>
              <a:t>num_chars</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词的数量</a:t>
            </a:r>
            <a:br>
              <a:rPr lang="zh-CN" altLang="en-US" sz="1400" i="1" dirty="0">
                <a:solidFill>
                  <a:srgbClr val="808080"/>
                </a:solidFill>
                <a:effectLst/>
              </a:rPr>
            </a:br>
            <a:r>
              <a:rPr lang="zh-CN" altLang="en-US" sz="1400" i="1" dirty="0">
                <a:solidFill>
                  <a:srgbClr val="808080"/>
                </a:solidFill>
                <a:effectLst/>
              </a:rPr>
              <a:t>        </a:t>
            </a:r>
            <a:r>
              <a:rPr lang="en-GB" altLang="zh-CN" sz="1400" dirty="0" err="1">
                <a:solidFill>
                  <a:srgbClr val="94558D"/>
                </a:solidFill>
                <a:effectLst/>
              </a:rPr>
              <a:t>self</a:t>
            </a:r>
            <a:r>
              <a:rPr lang="en-GB" altLang="zh-CN" sz="1400" dirty="0" err="1"/>
              <a:t>.word_count</a:t>
            </a:r>
            <a:r>
              <a:rPr lang="en-GB" altLang="zh-CN" sz="1400" dirty="0"/>
              <a:t> = </a:t>
            </a:r>
            <a:r>
              <a:rPr lang="en-GB" altLang="zh-CN" sz="1400" dirty="0" err="1">
                <a:solidFill>
                  <a:srgbClr val="000080"/>
                </a:solidFill>
                <a:effectLst/>
              </a:rPr>
              <a:t>len</a:t>
            </a:r>
            <a:r>
              <a:rPr lang="en-GB" altLang="zh-CN" sz="1400" dirty="0"/>
              <a:t>(</a:t>
            </a:r>
            <a:r>
              <a:rPr lang="en-GB" altLang="zh-CN" sz="1400" dirty="0" err="1">
                <a:solidFill>
                  <a:srgbClr val="94558D"/>
                </a:solidFill>
                <a:effectLst/>
              </a:rPr>
              <a:t>self</a:t>
            </a:r>
            <a:r>
              <a:rPr lang="en-GB" altLang="zh-CN" sz="1400" dirty="0" err="1"/>
              <a:t>.corpus_idx</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句子数量</a:t>
            </a:r>
            <a:br>
              <a:rPr lang="zh-CN" altLang="en-US" sz="1400" i="1" dirty="0">
                <a:solidFill>
                  <a:srgbClr val="808080"/>
                </a:solidFill>
                <a:effectLst/>
              </a:rPr>
            </a:br>
            <a:r>
              <a:rPr lang="zh-CN" altLang="en-US" sz="1400" i="1" dirty="0">
                <a:solidFill>
                  <a:srgbClr val="808080"/>
                </a:solidFill>
                <a:effectLst/>
              </a:rPr>
              <a:t>        </a:t>
            </a:r>
            <a:r>
              <a:rPr lang="en-GB" altLang="zh-CN" sz="1400" dirty="0" err="1">
                <a:solidFill>
                  <a:srgbClr val="94558D"/>
                </a:solidFill>
                <a:effectLst/>
              </a:rPr>
              <a:t>self</a:t>
            </a:r>
            <a:r>
              <a:rPr lang="en-GB" altLang="zh-CN" sz="1400" dirty="0" err="1"/>
              <a:t>.number</a:t>
            </a:r>
            <a:r>
              <a:rPr lang="en-GB" altLang="zh-CN" sz="1400" dirty="0"/>
              <a:t> = </a:t>
            </a:r>
            <a:r>
              <a:rPr lang="en-GB" altLang="zh-CN" sz="1400" dirty="0" err="1">
                <a:solidFill>
                  <a:srgbClr val="94558D"/>
                </a:solidFill>
                <a:effectLst/>
              </a:rPr>
              <a:t>self</a:t>
            </a:r>
            <a:r>
              <a:rPr lang="en-GB" altLang="zh-CN" sz="1400" dirty="0" err="1"/>
              <a:t>.word_count</a:t>
            </a:r>
            <a:r>
              <a:rPr lang="en-GB" altLang="zh-CN" sz="1400" dirty="0"/>
              <a:t> // </a:t>
            </a:r>
            <a:r>
              <a:rPr lang="en-GB" altLang="zh-CN" sz="1400" dirty="0" err="1">
                <a:solidFill>
                  <a:srgbClr val="94558D"/>
                </a:solidFill>
                <a:effectLst/>
              </a:rPr>
              <a:t>self</a:t>
            </a:r>
            <a:r>
              <a:rPr lang="en-GB" altLang="zh-CN" sz="1400" dirty="0" err="1"/>
              <a:t>.num_chars</a:t>
            </a:r>
            <a:br>
              <a:rPr lang="en-GB" altLang="zh-CN" sz="1400" dirty="0"/>
            </a:br>
            <a:r>
              <a:rPr lang="en-GB" altLang="zh-CN" sz="1400" dirty="0"/>
              <a:t>    </a:t>
            </a:r>
            <a:r>
              <a:rPr lang="en-GB" altLang="zh-CN" sz="1400" b="1" dirty="0">
                <a:solidFill>
                  <a:srgbClr val="000080"/>
                </a:solidFill>
                <a:effectLst/>
              </a:rPr>
              <a:t>def </a:t>
            </a:r>
            <a:r>
              <a:rPr lang="en-GB" altLang="zh-CN" sz="1400" dirty="0">
                <a:solidFill>
                  <a:srgbClr val="B200B2"/>
                </a:solidFill>
                <a:effectLst/>
              </a:rPr>
              <a:t>__</a:t>
            </a:r>
            <a:r>
              <a:rPr lang="en-GB" altLang="zh-CN" sz="1400" dirty="0" err="1">
                <a:solidFill>
                  <a:srgbClr val="B200B2"/>
                </a:solidFill>
                <a:effectLst/>
              </a:rPr>
              <a:t>len</a:t>
            </a:r>
            <a:r>
              <a:rPr lang="en-GB" altLang="zh-CN" sz="1400" dirty="0">
                <a:solidFill>
                  <a:srgbClr val="B200B2"/>
                </a:solidFill>
                <a:effectLst/>
              </a:rPr>
              <a:t>__</a:t>
            </a:r>
            <a:r>
              <a:rPr lang="en-GB" altLang="zh-CN" sz="1400" dirty="0"/>
              <a:t>(</a:t>
            </a:r>
            <a:r>
              <a:rPr lang="en-GB" altLang="zh-CN" sz="1400" dirty="0">
                <a:solidFill>
                  <a:srgbClr val="94558D"/>
                </a:solidFill>
                <a:effectLst/>
              </a:rPr>
              <a:t>self</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返回句子数量</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return </a:t>
            </a:r>
            <a:r>
              <a:rPr lang="en-GB" altLang="zh-CN" sz="1400" dirty="0" err="1">
                <a:solidFill>
                  <a:srgbClr val="94558D"/>
                </a:solidFill>
                <a:effectLst/>
              </a:rPr>
              <a:t>self</a:t>
            </a:r>
            <a:r>
              <a:rPr lang="en-GB" altLang="zh-CN" sz="1400" dirty="0" err="1"/>
              <a:t>.number</a:t>
            </a:r>
            <a:br>
              <a:rPr lang="en-GB" altLang="zh-CN" sz="1400" dirty="0"/>
            </a:br>
            <a:r>
              <a:rPr lang="en-GB" altLang="zh-CN" sz="1400" dirty="0"/>
              <a:t>    </a:t>
            </a:r>
            <a:r>
              <a:rPr lang="en-GB" altLang="zh-CN" sz="1400" b="1" dirty="0">
                <a:solidFill>
                  <a:srgbClr val="000080"/>
                </a:solidFill>
                <a:effectLst/>
              </a:rPr>
              <a:t>def </a:t>
            </a:r>
            <a:r>
              <a:rPr lang="en-GB" altLang="zh-CN" sz="1400" dirty="0">
                <a:solidFill>
                  <a:srgbClr val="B200B2"/>
                </a:solidFill>
                <a:effectLst/>
              </a:rPr>
              <a:t>__</a:t>
            </a:r>
            <a:r>
              <a:rPr lang="en-GB" altLang="zh-CN" sz="1400" dirty="0" err="1">
                <a:solidFill>
                  <a:srgbClr val="B200B2"/>
                </a:solidFill>
                <a:effectLst/>
              </a:rPr>
              <a:t>getitem</a:t>
            </a:r>
            <a:r>
              <a:rPr lang="en-GB" altLang="zh-CN" sz="1400" dirty="0">
                <a:solidFill>
                  <a:srgbClr val="B200B2"/>
                </a:solidFill>
                <a:effectLst/>
              </a:rPr>
              <a:t>__</a:t>
            </a:r>
            <a:r>
              <a:rPr lang="en-GB" altLang="zh-CN" sz="1400" dirty="0"/>
              <a:t>(</a:t>
            </a:r>
            <a:r>
              <a:rPr lang="en-GB" altLang="zh-CN" sz="1400" dirty="0">
                <a:solidFill>
                  <a:srgbClr val="94558D"/>
                </a:solidFill>
                <a:effectLst/>
              </a:rPr>
              <a:t>self</a:t>
            </a:r>
            <a:r>
              <a:rPr lang="en-GB" altLang="zh-CN" sz="1400" dirty="0"/>
              <a:t>, </a:t>
            </a:r>
            <a:r>
              <a:rPr lang="en-GB" altLang="zh-CN" sz="1400" dirty="0" err="1"/>
              <a:t>idx</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en-GB" altLang="zh-CN" sz="1400" i="1" dirty="0" err="1">
                <a:solidFill>
                  <a:srgbClr val="008001"/>
                </a:solidFill>
                <a:effectLst/>
              </a:rPr>
              <a:t>idx</a:t>
            </a:r>
            <a:r>
              <a:rPr lang="zh-CN" altLang="en-US" sz="1400" i="1" dirty="0">
                <a:solidFill>
                  <a:srgbClr val="008001"/>
                </a:solidFill>
                <a:effectLst/>
              </a:rPr>
              <a:t>指词的索引，并将其修正索引值到文档的范围里面</a:t>
            </a:r>
            <a:br>
              <a:rPr lang="zh-CN" altLang="en-US" sz="1400" i="1" dirty="0">
                <a:solidFill>
                  <a:srgbClr val="808080"/>
                </a:solidFill>
                <a:effectLst/>
              </a:rPr>
            </a:br>
            <a:r>
              <a:rPr lang="zh-CN" altLang="en-US" sz="1400" i="1" dirty="0">
                <a:solidFill>
                  <a:srgbClr val="808080"/>
                </a:solidFill>
                <a:effectLst/>
              </a:rPr>
              <a:t>        </a:t>
            </a:r>
            <a:r>
              <a:rPr lang="en-GB" altLang="zh-CN" sz="1400" dirty="0"/>
              <a:t>start = </a:t>
            </a:r>
            <a:r>
              <a:rPr lang="en-GB" altLang="zh-CN" sz="1400" dirty="0">
                <a:solidFill>
                  <a:srgbClr val="000080"/>
                </a:solidFill>
                <a:effectLst/>
              </a:rPr>
              <a:t>min</a:t>
            </a:r>
            <a:r>
              <a:rPr lang="en-GB" altLang="zh-CN" sz="1400" dirty="0"/>
              <a:t>(</a:t>
            </a:r>
            <a:r>
              <a:rPr lang="en-GB" altLang="zh-CN" sz="1400" dirty="0">
                <a:solidFill>
                  <a:srgbClr val="000080"/>
                </a:solidFill>
                <a:effectLst/>
              </a:rPr>
              <a:t>max</a:t>
            </a:r>
            <a:r>
              <a:rPr lang="en-GB" altLang="zh-CN" sz="1400" dirty="0"/>
              <a:t>(</a:t>
            </a:r>
            <a:r>
              <a:rPr lang="en-GB" altLang="zh-CN" sz="1400" dirty="0" err="1"/>
              <a:t>idx</a:t>
            </a:r>
            <a:r>
              <a:rPr lang="en-GB" altLang="zh-CN" sz="1400" dirty="0"/>
              <a:t>, </a:t>
            </a:r>
            <a:r>
              <a:rPr lang="en-GB" altLang="zh-CN" sz="1400" dirty="0">
                <a:solidFill>
                  <a:srgbClr val="0000FF"/>
                </a:solidFill>
                <a:effectLst/>
              </a:rPr>
              <a:t>0</a:t>
            </a:r>
            <a:r>
              <a:rPr lang="en-GB" altLang="zh-CN" sz="1400" dirty="0"/>
              <a:t>), </a:t>
            </a:r>
            <a:r>
              <a:rPr lang="en-GB" altLang="zh-CN" sz="1400" dirty="0" err="1">
                <a:solidFill>
                  <a:srgbClr val="94558D"/>
                </a:solidFill>
                <a:effectLst/>
              </a:rPr>
              <a:t>self</a:t>
            </a:r>
            <a:r>
              <a:rPr lang="en-GB" altLang="zh-CN" sz="1400" dirty="0" err="1"/>
              <a:t>.word_count</a:t>
            </a:r>
            <a:r>
              <a:rPr lang="en-GB" altLang="zh-CN" sz="1400" dirty="0"/>
              <a:t> - </a:t>
            </a:r>
            <a:r>
              <a:rPr lang="en-GB" altLang="zh-CN" sz="1400" dirty="0" err="1">
                <a:solidFill>
                  <a:srgbClr val="94558D"/>
                </a:solidFill>
                <a:effectLst/>
              </a:rPr>
              <a:t>self</a:t>
            </a:r>
            <a:r>
              <a:rPr lang="en-GB" altLang="zh-CN" sz="1400" dirty="0" err="1"/>
              <a:t>.num_chars</a:t>
            </a:r>
            <a:r>
              <a:rPr lang="en-GB" altLang="zh-CN" sz="1400" dirty="0"/>
              <a:t> - </a:t>
            </a:r>
            <a:r>
              <a:rPr lang="en-GB" altLang="zh-CN" sz="1400" dirty="0">
                <a:solidFill>
                  <a:srgbClr val="0000FF"/>
                </a:solidFill>
                <a:effectLst/>
              </a:rPr>
              <a:t>2</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输入值</a:t>
            </a:r>
            <a:br>
              <a:rPr lang="zh-CN" altLang="en-US" sz="1400" i="1" dirty="0">
                <a:solidFill>
                  <a:srgbClr val="808080"/>
                </a:solidFill>
                <a:effectLst/>
              </a:rPr>
            </a:br>
            <a:r>
              <a:rPr lang="zh-CN" altLang="en-US" sz="1400" i="1" dirty="0">
                <a:solidFill>
                  <a:srgbClr val="808080"/>
                </a:solidFill>
                <a:effectLst/>
              </a:rPr>
              <a:t>        </a:t>
            </a:r>
            <a:r>
              <a:rPr lang="en-GB" altLang="zh-CN" sz="1400" dirty="0"/>
              <a:t>x = </a:t>
            </a:r>
            <a:r>
              <a:rPr lang="en-GB" altLang="zh-CN" sz="1400" dirty="0" err="1">
                <a:solidFill>
                  <a:srgbClr val="94558D"/>
                </a:solidFill>
                <a:effectLst/>
              </a:rPr>
              <a:t>self</a:t>
            </a:r>
            <a:r>
              <a:rPr lang="en-GB" altLang="zh-CN" sz="1400" dirty="0" err="1"/>
              <a:t>.corpus_idx</a:t>
            </a:r>
            <a:r>
              <a:rPr lang="en-GB" altLang="zh-CN" sz="1400" dirty="0"/>
              <a:t>[start: start + </a:t>
            </a:r>
            <a:r>
              <a:rPr lang="en-GB" altLang="zh-CN" sz="1400" dirty="0" err="1">
                <a:solidFill>
                  <a:srgbClr val="94558D"/>
                </a:solidFill>
                <a:effectLst/>
              </a:rPr>
              <a:t>self</a:t>
            </a:r>
            <a:r>
              <a:rPr lang="en-GB" altLang="zh-CN" sz="1400" dirty="0" err="1"/>
              <a:t>.num_chars</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网络预测结果（目标值）</a:t>
            </a:r>
            <a:br>
              <a:rPr lang="zh-CN" altLang="en-US" sz="1400" i="1" dirty="0">
                <a:solidFill>
                  <a:srgbClr val="808080"/>
                </a:solidFill>
                <a:effectLst/>
              </a:rPr>
            </a:br>
            <a:r>
              <a:rPr lang="zh-CN" altLang="en-US" sz="1400" i="1" dirty="0">
                <a:solidFill>
                  <a:srgbClr val="808080"/>
                </a:solidFill>
                <a:effectLst/>
              </a:rPr>
              <a:t>        </a:t>
            </a:r>
            <a:r>
              <a:rPr lang="en-GB" altLang="zh-CN" sz="1400" dirty="0"/>
              <a:t>y = </a:t>
            </a:r>
            <a:r>
              <a:rPr lang="en-GB" altLang="zh-CN" sz="1400" dirty="0" err="1">
                <a:solidFill>
                  <a:srgbClr val="94558D"/>
                </a:solidFill>
                <a:effectLst/>
              </a:rPr>
              <a:t>self</a:t>
            </a:r>
            <a:r>
              <a:rPr lang="en-GB" altLang="zh-CN" sz="1400" dirty="0" err="1"/>
              <a:t>.corpus_idx</a:t>
            </a:r>
            <a:r>
              <a:rPr lang="en-GB" altLang="zh-CN" sz="1400" dirty="0"/>
              <a:t>[start + </a:t>
            </a:r>
            <a:r>
              <a:rPr lang="en-GB" altLang="zh-CN" sz="1400" dirty="0">
                <a:solidFill>
                  <a:srgbClr val="0000FF"/>
                </a:solidFill>
                <a:effectLst/>
              </a:rPr>
              <a:t>1</a:t>
            </a:r>
            <a:r>
              <a:rPr lang="en-GB" altLang="zh-CN" sz="1400" dirty="0"/>
              <a:t>: start + </a:t>
            </a:r>
            <a:r>
              <a:rPr lang="en-GB" altLang="zh-CN" sz="1400" dirty="0">
                <a:solidFill>
                  <a:srgbClr val="0000FF"/>
                </a:solidFill>
                <a:effectLst/>
              </a:rPr>
              <a:t>1 </a:t>
            </a:r>
            <a:r>
              <a:rPr lang="en-GB" altLang="zh-CN" sz="1400" dirty="0"/>
              <a:t>+ </a:t>
            </a:r>
            <a:r>
              <a:rPr lang="en-GB" altLang="zh-CN" sz="1400" dirty="0" err="1">
                <a:solidFill>
                  <a:srgbClr val="94558D"/>
                </a:solidFill>
                <a:effectLst/>
              </a:rPr>
              <a:t>self</a:t>
            </a:r>
            <a:r>
              <a:rPr lang="en-GB" altLang="zh-CN" sz="1400" dirty="0" err="1"/>
              <a:t>.num_chars</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返回结果</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return </a:t>
            </a:r>
            <a:r>
              <a:rPr lang="en-GB" altLang="zh-CN" sz="1400" dirty="0" err="1"/>
              <a:t>torch.tensor</a:t>
            </a:r>
            <a:r>
              <a:rPr lang="en-GB" altLang="zh-CN" sz="1400" dirty="0"/>
              <a:t>(x), </a:t>
            </a:r>
            <a:r>
              <a:rPr lang="en-GB" altLang="zh-CN" sz="1400" dirty="0" err="1"/>
              <a:t>torch.tensor</a:t>
            </a:r>
            <a:r>
              <a:rPr lang="en-GB" altLang="zh-CN" sz="1400" dirty="0"/>
              <a:t>(y)</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构建数据集对象</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nSpc>
                <a:spcPct val="100000"/>
              </a:lnSpc>
              <a:spcBef>
                <a:spcPct val="0"/>
              </a:spcBef>
            </a:pPr>
            <a:r>
              <a:rPr lang="zh-CN" altLang="en-US" dirty="0">
                <a:solidFill>
                  <a:srgbClr val="333333"/>
                </a:solidFill>
                <a:latin typeface="Open Sans" panose="020B0606030504020204" pitchFamily="34" charset="0"/>
                <a:cs typeface="Open Sans" panose="020B0606030504020204" pitchFamily="34" charset="0"/>
              </a:rPr>
              <a:t>我们在训练的时候，为了便于读取语料，我们会构建一个 </a:t>
            </a:r>
            <a:r>
              <a:rPr lang="en-US" altLang="zh-CN" dirty="0">
                <a:solidFill>
                  <a:srgbClr val="333333"/>
                </a:solidFill>
                <a:latin typeface="Open Sans" panose="020B0606030504020204" pitchFamily="34" charset="0"/>
                <a:cs typeface="Open Sans" panose="020B0606030504020204" pitchFamily="34" charset="0"/>
              </a:rPr>
              <a:t>Dataset </a:t>
            </a:r>
            <a:r>
              <a:rPr lang="zh-CN" altLang="en-US" dirty="0">
                <a:solidFill>
                  <a:srgbClr val="333333"/>
                </a:solidFill>
                <a:latin typeface="Open Sans" panose="020B0606030504020204" pitchFamily="34" charset="0"/>
                <a:cs typeface="Open Sans" panose="020B0606030504020204" pitchFamily="34" charset="0"/>
              </a:rPr>
              <a:t>对象，如下所示：</a:t>
            </a:r>
            <a:endParaRPr lang="en-US" altLang="zh-CN" dirty="0">
              <a:solidFill>
                <a:srgbClr val="333333"/>
              </a:solidFill>
              <a:latin typeface="Open Sans" panose="020B0606030504020204" pitchFamily="34" charset="0"/>
              <a:cs typeface="Open Sans" panose="020B0606030504020204" pitchFamily="34" charset="0"/>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dirty="0">
                <a:solidFill>
                  <a:srgbClr val="333333"/>
                </a:solidFill>
                <a:latin typeface="Helvetica Neue"/>
              </a:rPr>
              <a:t>输出结果为：</a:t>
            </a:r>
            <a:endParaRPr lang="en-US" altLang="zh-CN" dirty="0">
              <a:solidFill>
                <a:srgbClr val="333333"/>
              </a:solidFill>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724134" y="1810464"/>
            <a:ext cx="7323411" cy="138499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数据获取实例化</a:t>
            </a:r>
            <a:br>
              <a:rPr lang="zh-CN" altLang="en-US" sz="1400" i="1" dirty="0">
                <a:solidFill>
                  <a:srgbClr val="808080"/>
                </a:solidFill>
                <a:effectLst/>
              </a:rPr>
            </a:br>
            <a:r>
              <a:rPr lang="zh-CN" altLang="en-US" sz="1400" i="1" dirty="0">
                <a:solidFill>
                  <a:srgbClr val="808080"/>
                </a:solidFill>
                <a:effectLst/>
              </a:rPr>
              <a:t>    </a:t>
            </a:r>
            <a:r>
              <a:rPr lang="en-GB" altLang="zh-CN" sz="1400" dirty="0"/>
              <a:t>dataset = </a:t>
            </a:r>
            <a:r>
              <a:rPr lang="en-GB" altLang="zh-CN" sz="1400" dirty="0" err="1"/>
              <a:t>LyricsDataset</a:t>
            </a:r>
            <a:r>
              <a:rPr lang="en-GB" altLang="zh-CN" sz="1400" dirty="0"/>
              <a:t>(</a:t>
            </a:r>
            <a:r>
              <a:rPr lang="en-GB" altLang="zh-CN" sz="1400" dirty="0" err="1"/>
              <a:t>corpus_idx</a:t>
            </a:r>
            <a:r>
              <a:rPr lang="en-GB" altLang="zh-CN" sz="1400" dirty="0"/>
              <a:t>, </a:t>
            </a:r>
            <a:r>
              <a:rPr lang="en-GB" altLang="zh-CN" sz="1400" dirty="0">
                <a:solidFill>
                  <a:srgbClr val="0000FF"/>
                </a:solidFill>
                <a:effectLst/>
              </a:rPr>
              <a:t>5</a:t>
            </a:r>
            <a:r>
              <a:rPr lang="en-GB" altLang="zh-CN" sz="1400" dirty="0"/>
              <a:t>)</a:t>
            </a:r>
            <a:br>
              <a:rPr lang="en-GB" altLang="zh-CN" sz="1400" dirty="0"/>
            </a:br>
            <a:r>
              <a:rPr lang="en-GB" altLang="zh-CN" sz="1400" dirty="0"/>
              <a:t>    x, y = dataset.</a:t>
            </a:r>
            <a:r>
              <a:rPr lang="en-GB" altLang="zh-CN" sz="1400" dirty="0">
                <a:solidFill>
                  <a:srgbClr val="B200B2"/>
                </a:solidFill>
                <a:effectLst/>
              </a:rPr>
              <a:t>__</a:t>
            </a:r>
            <a:r>
              <a:rPr lang="en-GB" altLang="zh-CN" sz="1400" dirty="0" err="1">
                <a:solidFill>
                  <a:srgbClr val="B200B2"/>
                </a:solidFill>
                <a:effectLst/>
              </a:rPr>
              <a:t>getitem</a:t>
            </a:r>
            <a:r>
              <a:rPr lang="en-GB" altLang="zh-CN" sz="1400" dirty="0">
                <a:solidFill>
                  <a:srgbClr val="B200B2"/>
                </a:solidFill>
                <a:effectLst/>
              </a:rPr>
              <a:t>__</a:t>
            </a:r>
            <a:r>
              <a:rPr lang="en-GB" altLang="zh-CN" sz="1400" dirty="0"/>
              <a:t>(</a:t>
            </a:r>
            <a:r>
              <a:rPr lang="en-GB" altLang="zh-CN" sz="1400" dirty="0">
                <a:solidFill>
                  <a:srgbClr val="0000FF"/>
                </a:solidFill>
                <a:effectLst/>
              </a:rPr>
              <a:t>0</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网络输入值：</a:t>
            </a:r>
            <a:r>
              <a:rPr lang="en-US" altLang="zh-CN" sz="1400" b="1" dirty="0">
                <a:solidFill>
                  <a:srgbClr val="008000"/>
                </a:solidFill>
                <a:effectLst/>
              </a:rPr>
              <a:t>"</a:t>
            </a:r>
            <a:r>
              <a:rPr lang="en-US" altLang="zh-CN" sz="1400" dirty="0"/>
              <a:t>, </a:t>
            </a:r>
            <a:r>
              <a:rPr lang="en-GB" altLang="zh-CN" sz="1400" dirty="0"/>
              <a:t>x)</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目标值：</a:t>
            </a:r>
            <a:r>
              <a:rPr lang="en-US" altLang="zh-CN" sz="1400" b="1" dirty="0">
                <a:solidFill>
                  <a:srgbClr val="008000"/>
                </a:solidFill>
                <a:effectLst/>
              </a:rPr>
              <a:t>"</a:t>
            </a:r>
            <a:r>
              <a:rPr lang="en-US" altLang="zh-CN" sz="1400" dirty="0"/>
              <a:t>, </a:t>
            </a:r>
            <a:r>
              <a:rPr lang="en-GB" altLang="zh-CN" sz="1400" dirty="0"/>
              <a:t>y)</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1724134" y="4226629"/>
            <a:ext cx="4381500" cy="8001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948921"/>
            <a:ext cx="10698800" cy="2323897"/>
          </a:xfrm>
        </p:spPr>
        <p:txBody>
          <a:bodyPr/>
          <a:lstStyle/>
          <a:p>
            <a:pPr algn="l"/>
            <a:r>
              <a:rPr lang="zh-CN" altLang="en-US" b="0" i="0" dirty="0">
                <a:solidFill>
                  <a:srgbClr val="333333"/>
                </a:solidFill>
                <a:effectLst/>
                <a:latin typeface="Helvetica Neue"/>
              </a:rPr>
              <a:t>我们用于实现</a:t>
            </a:r>
            <a:r>
              <a:rPr lang="en-US" altLang="zh-CN" b="0" i="0" dirty="0">
                <a:solidFill>
                  <a:srgbClr val="333333"/>
                </a:solidFill>
                <a:effectLst/>
                <a:latin typeface="Helvetica Neue"/>
              </a:rPr>
              <a:t>《</a:t>
            </a:r>
            <a:r>
              <a:rPr lang="zh-CN" altLang="en-US" b="0" i="0" dirty="0">
                <a:solidFill>
                  <a:srgbClr val="333333"/>
                </a:solidFill>
                <a:effectLst/>
                <a:latin typeface="Helvetica Neue"/>
              </a:rPr>
              <a:t>歌词生成</a:t>
            </a:r>
            <a:r>
              <a:rPr lang="en-US" altLang="zh-CN" b="0" i="0" dirty="0">
                <a:solidFill>
                  <a:srgbClr val="333333"/>
                </a:solidFill>
                <a:effectLst/>
                <a:latin typeface="Helvetica Neue"/>
              </a:rPr>
              <a:t>》</a:t>
            </a:r>
            <a:r>
              <a:rPr lang="zh-CN" altLang="en-US" b="0" i="0" dirty="0">
                <a:solidFill>
                  <a:srgbClr val="333333"/>
                </a:solidFill>
                <a:effectLst/>
                <a:latin typeface="Helvetica Neue"/>
              </a:rPr>
              <a:t>的网络模型，主要包含了三个层</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词嵌入层</a:t>
            </a:r>
            <a:r>
              <a:rPr lang="en-US" altLang="zh-CN" b="0" i="0" dirty="0">
                <a:solidFill>
                  <a:srgbClr val="333333"/>
                </a:solidFill>
                <a:effectLst/>
                <a:latin typeface="Helvetica Neue"/>
              </a:rPr>
              <a:t>: </a:t>
            </a:r>
            <a:r>
              <a:rPr lang="zh-CN" altLang="en-US" b="0" i="0" dirty="0">
                <a:solidFill>
                  <a:srgbClr val="333333"/>
                </a:solidFill>
                <a:effectLst/>
                <a:latin typeface="Helvetica Neue"/>
              </a:rPr>
              <a:t>用于将语料转换为词向量</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循环网络层</a:t>
            </a:r>
            <a:r>
              <a:rPr lang="en-US" altLang="zh-CN" b="0" i="0" dirty="0">
                <a:solidFill>
                  <a:srgbClr val="333333"/>
                </a:solidFill>
                <a:effectLst/>
                <a:latin typeface="Helvetica Neue"/>
              </a:rPr>
              <a:t>: </a:t>
            </a:r>
            <a:r>
              <a:rPr lang="zh-CN" altLang="en-US" b="0" i="0" dirty="0">
                <a:solidFill>
                  <a:srgbClr val="333333"/>
                </a:solidFill>
                <a:effectLst/>
                <a:latin typeface="Helvetica Neue"/>
              </a:rPr>
              <a:t>提取句子语义</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全连接层</a:t>
            </a:r>
            <a:r>
              <a:rPr lang="en-US" altLang="zh-CN" b="0" i="0" dirty="0">
                <a:solidFill>
                  <a:srgbClr val="333333"/>
                </a:solidFill>
                <a:effectLst/>
                <a:latin typeface="Helvetica Neue"/>
              </a:rPr>
              <a:t>: </a:t>
            </a:r>
            <a:r>
              <a:rPr lang="zh-CN" altLang="en-US" b="0" i="0" dirty="0">
                <a:solidFill>
                  <a:srgbClr val="333333"/>
                </a:solidFill>
                <a:effectLst/>
                <a:latin typeface="Helvetica Neue"/>
              </a:rPr>
              <a:t>输出对词典中每个词的预测概率</a:t>
            </a:r>
            <a:endParaRPr lang="zh-CN" altLang="en-US" b="0" i="0" dirty="0">
              <a:solidFill>
                <a:srgbClr val="333333"/>
              </a:solidFill>
              <a:effectLst/>
              <a:latin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629255" y="1457271"/>
            <a:ext cx="9693509"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模型构建</a:t>
            </a:r>
            <a:br>
              <a:rPr lang="zh-CN" altLang="en-US" sz="1400" i="1" dirty="0">
                <a:solidFill>
                  <a:srgbClr val="808080"/>
                </a:solidFill>
                <a:effectLst/>
              </a:rPr>
            </a:br>
            <a:r>
              <a:rPr lang="en-GB" altLang="zh-CN" sz="1400" b="1" dirty="0">
                <a:solidFill>
                  <a:srgbClr val="000080"/>
                </a:solidFill>
                <a:effectLst/>
              </a:rPr>
              <a:t>class </a:t>
            </a:r>
            <a:r>
              <a:rPr lang="en-GB" altLang="zh-CN" sz="1400" dirty="0" err="1"/>
              <a:t>TextGenerator</a:t>
            </a:r>
            <a:r>
              <a:rPr lang="en-GB" altLang="zh-CN" sz="1400" dirty="0"/>
              <a:t>(</a:t>
            </a:r>
            <a:r>
              <a:rPr lang="en-GB" altLang="zh-CN" sz="1400" dirty="0" err="1"/>
              <a:t>nn.Module</a:t>
            </a:r>
            <a:r>
              <a:rPr lang="en-GB" altLang="zh-CN" sz="1400" dirty="0"/>
              <a:t>):</a:t>
            </a:r>
            <a:br>
              <a:rPr lang="en-GB" altLang="zh-CN" sz="1400" dirty="0"/>
            </a:br>
            <a:r>
              <a:rPr lang="en-GB" altLang="zh-CN" sz="1400" dirty="0"/>
              <a:t>    </a:t>
            </a:r>
            <a:r>
              <a:rPr lang="en-GB" altLang="zh-CN" sz="1400" b="1" dirty="0">
                <a:solidFill>
                  <a:srgbClr val="000080"/>
                </a:solidFill>
                <a:effectLst/>
              </a:rPr>
              <a:t>def </a:t>
            </a:r>
            <a:r>
              <a:rPr lang="en-GB" altLang="zh-CN" sz="1400" dirty="0">
                <a:solidFill>
                  <a:srgbClr val="B200B2"/>
                </a:solidFill>
                <a:effectLst/>
              </a:rPr>
              <a:t>__</a:t>
            </a:r>
            <a:r>
              <a:rPr lang="en-GB" altLang="zh-CN" sz="1400" dirty="0" err="1">
                <a:solidFill>
                  <a:srgbClr val="B200B2"/>
                </a:solidFill>
                <a:effectLst/>
              </a:rPr>
              <a:t>init</a:t>
            </a:r>
            <a:r>
              <a:rPr lang="en-GB" altLang="zh-CN" sz="1400" dirty="0">
                <a:solidFill>
                  <a:srgbClr val="B200B2"/>
                </a:solidFill>
                <a:effectLst/>
              </a:rPr>
              <a:t>__</a:t>
            </a:r>
            <a:r>
              <a:rPr lang="en-GB" altLang="zh-CN" sz="1400" dirty="0"/>
              <a:t>(</a:t>
            </a:r>
            <a:r>
              <a:rPr lang="en-GB" altLang="zh-CN" sz="1400" dirty="0">
                <a:solidFill>
                  <a:srgbClr val="94558D"/>
                </a:solidFill>
                <a:effectLst/>
              </a:rPr>
              <a:t>self</a:t>
            </a:r>
            <a:r>
              <a:rPr lang="en-GB" altLang="zh-CN" sz="1400" dirty="0"/>
              <a:t>, </a:t>
            </a:r>
            <a:r>
              <a:rPr lang="en-GB" altLang="zh-CN" sz="1400" dirty="0" err="1"/>
              <a:t>word_count</a:t>
            </a:r>
            <a:r>
              <a:rPr lang="en-GB" altLang="zh-CN" sz="1400" dirty="0"/>
              <a:t>):</a:t>
            </a:r>
            <a:br>
              <a:rPr lang="en-GB" altLang="zh-CN" sz="1400" dirty="0"/>
            </a:br>
            <a:r>
              <a:rPr lang="en-GB" altLang="zh-CN" sz="1400" dirty="0"/>
              <a:t>        </a:t>
            </a:r>
            <a:r>
              <a:rPr lang="en-GB" altLang="zh-CN" sz="1400" dirty="0">
                <a:solidFill>
                  <a:srgbClr val="000080"/>
                </a:solidFill>
                <a:effectLst/>
              </a:rPr>
              <a:t>super</a:t>
            </a:r>
            <a:r>
              <a:rPr lang="en-GB" altLang="zh-CN" sz="1400" dirty="0"/>
              <a:t>(</a:t>
            </a:r>
            <a:r>
              <a:rPr lang="en-GB" altLang="zh-CN" sz="1400" dirty="0" err="1"/>
              <a:t>TextGenerator</a:t>
            </a:r>
            <a:r>
              <a:rPr lang="en-GB" altLang="zh-CN" sz="1400" dirty="0"/>
              <a:t>, </a:t>
            </a:r>
            <a:r>
              <a:rPr lang="en-GB" altLang="zh-CN" sz="1400" dirty="0">
                <a:solidFill>
                  <a:srgbClr val="94558D"/>
                </a:solidFill>
                <a:effectLst/>
              </a:rPr>
              <a:t>self</a:t>
            </a:r>
            <a:r>
              <a:rPr lang="en-GB" altLang="zh-CN" sz="1400" dirty="0"/>
              <a:t>).</a:t>
            </a:r>
            <a:r>
              <a:rPr lang="en-GB" altLang="zh-CN" sz="1400" dirty="0">
                <a:solidFill>
                  <a:srgbClr val="B200B2"/>
                </a:solidFill>
                <a:effectLst/>
              </a:rPr>
              <a:t>__</a:t>
            </a:r>
            <a:r>
              <a:rPr lang="en-GB" altLang="zh-CN" sz="1400" dirty="0" err="1">
                <a:solidFill>
                  <a:srgbClr val="B200B2"/>
                </a:solidFill>
                <a:effectLst/>
              </a:rPr>
              <a:t>init</a:t>
            </a:r>
            <a:r>
              <a:rPr lang="en-GB" altLang="zh-CN" sz="1400" dirty="0">
                <a:solidFill>
                  <a:srgbClr val="B200B2"/>
                </a:solidFill>
                <a:effectLst/>
              </a:rPr>
              <a:t>__</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初始化词嵌入层</a:t>
            </a:r>
            <a:r>
              <a:rPr lang="en-US" altLang="zh-CN" sz="1400" i="1" dirty="0">
                <a:solidFill>
                  <a:srgbClr val="008001"/>
                </a:solidFill>
                <a:effectLst/>
              </a:rPr>
              <a:t>: </a:t>
            </a:r>
            <a:r>
              <a:rPr lang="zh-CN" altLang="en-US" sz="1400" i="1" dirty="0">
                <a:solidFill>
                  <a:srgbClr val="008001"/>
                </a:solidFill>
                <a:effectLst/>
              </a:rPr>
              <a:t>词向量的维度为</a:t>
            </a:r>
            <a:r>
              <a:rPr lang="en-US" altLang="zh-CN" sz="1400" i="1" dirty="0">
                <a:solidFill>
                  <a:srgbClr val="008001"/>
                </a:solidFill>
                <a:effectLst/>
              </a:rPr>
              <a:t>128</a:t>
            </a:r>
            <a:br>
              <a:rPr lang="en-US" altLang="zh-CN" sz="1400" i="1" dirty="0">
                <a:solidFill>
                  <a:srgbClr val="808080"/>
                </a:solidFill>
                <a:effectLst/>
              </a:rPr>
            </a:br>
            <a:r>
              <a:rPr lang="en-US" altLang="zh-CN" sz="1400" i="1" dirty="0">
                <a:solidFill>
                  <a:srgbClr val="808080"/>
                </a:solidFill>
                <a:effectLst/>
              </a:rPr>
              <a:t>        </a:t>
            </a:r>
            <a:r>
              <a:rPr lang="en-GB" altLang="zh-CN" sz="1400" dirty="0" err="1">
                <a:solidFill>
                  <a:srgbClr val="94558D"/>
                </a:solidFill>
                <a:effectLst/>
              </a:rPr>
              <a:t>self</a:t>
            </a:r>
            <a:r>
              <a:rPr lang="en-GB" altLang="zh-CN" sz="1400" dirty="0" err="1"/>
              <a:t>.ebd</a:t>
            </a:r>
            <a:r>
              <a:rPr lang="en-GB" altLang="zh-CN" sz="1400" dirty="0"/>
              <a:t> = </a:t>
            </a:r>
            <a:r>
              <a:rPr lang="en-GB" altLang="zh-CN" sz="1400" dirty="0" err="1"/>
              <a:t>nn.Embedding</a:t>
            </a:r>
            <a:r>
              <a:rPr lang="en-GB" altLang="zh-CN" sz="1400" dirty="0"/>
              <a:t>(</a:t>
            </a:r>
            <a:r>
              <a:rPr lang="en-GB" altLang="zh-CN" sz="1400" dirty="0" err="1"/>
              <a:t>word_count</a:t>
            </a:r>
            <a:r>
              <a:rPr lang="en-GB" altLang="zh-CN" sz="1400" dirty="0"/>
              <a:t>, </a:t>
            </a:r>
            <a:r>
              <a:rPr lang="en-GB" altLang="zh-CN" sz="1400" dirty="0">
                <a:solidFill>
                  <a:srgbClr val="0000FF"/>
                </a:solidFill>
                <a:effectLst/>
              </a:rPr>
              <a:t>128</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循环网络层</a:t>
            </a:r>
            <a:r>
              <a:rPr lang="en-US" altLang="zh-CN" sz="1400" i="1" dirty="0">
                <a:solidFill>
                  <a:srgbClr val="008001"/>
                </a:solidFill>
                <a:effectLst/>
              </a:rPr>
              <a:t>: </a:t>
            </a:r>
            <a:r>
              <a:rPr lang="zh-CN" altLang="en-US" sz="1400" i="1" dirty="0">
                <a:solidFill>
                  <a:srgbClr val="008001"/>
                </a:solidFill>
                <a:effectLst/>
              </a:rPr>
              <a:t>词向量维度 </a:t>
            </a:r>
            <a:r>
              <a:rPr lang="en-US" altLang="zh-CN" sz="1400" i="1" dirty="0">
                <a:solidFill>
                  <a:srgbClr val="008001"/>
                </a:solidFill>
                <a:effectLst/>
              </a:rPr>
              <a:t>128, </a:t>
            </a:r>
            <a:r>
              <a:rPr lang="zh-CN" altLang="en-US" sz="1400" i="1" dirty="0">
                <a:solidFill>
                  <a:srgbClr val="008001"/>
                </a:solidFill>
                <a:effectLst/>
              </a:rPr>
              <a:t>隐藏向量维度 </a:t>
            </a:r>
            <a:r>
              <a:rPr lang="en-US" altLang="zh-CN" sz="1400" i="1" dirty="0">
                <a:solidFill>
                  <a:srgbClr val="008001"/>
                </a:solidFill>
                <a:effectLst/>
              </a:rPr>
              <a:t>128, </a:t>
            </a:r>
            <a:r>
              <a:rPr lang="zh-CN" altLang="en-US" sz="1400" i="1" dirty="0">
                <a:solidFill>
                  <a:srgbClr val="008001"/>
                </a:solidFill>
                <a:effectLst/>
              </a:rPr>
              <a:t>网络层数</a:t>
            </a:r>
            <a:r>
              <a:rPr lang="en-US" altLang="zh-CN" sz="1400" i="1" dirty="0">
                <a:solidFill>
                  <a:srgbClr val="008001"/>
                </a:solidFill>
                <a:effectLst/>
              </a:rPr>
              <a:t>1</a:t>
            </a:r>
            <a:br>
              <a:rPr lang="en-US" altLang="zh-CN" sz="1400" i="1" dirty="0">
                <a:solidFill>
                  <a:srgbClr val="008001"/>
                </a:solidFill>
                <a:effectLst/>
              </a:rPr>
            </a:br>
            <a:r>
              <a:rPr lang="en-US" altLang="zh-CN" sz="1400" i="1" dirty="0">
                <a:solidFill>
                  <a:srgbClr val="808080"/>
                </a:solidFill>
                <a:effectLst/>
              </a:rPr>
              <a:t>        </a:t>
            </a:r>
            <a:r>
              <a:rPr lang="en-GB" altLang="zh-CN" sz="1400" dirty="0" err="1">
                <a:solidFill>
                  <a:srgbClr val="94558D"/>
                </a:solidFill>
                <a:effectLst/>
              </a:rPr>
              <a:t>self</a:t>
            </a:r>
            <a:r>
              <a:rPr lang="en-GB" altLang="zh-CN" sz="1400" dirty="0" err="1"/>
              <a:t>.rnn</a:t>
            </a:r>
            <a:r>
              <a:rPr lang="en-GB" altLang="zh-CN" sz="1400" dirty="0"/>
              <a:t> = </a:t>
            </a:r>
            <a:r>
              <a:rPr lang="en-GB" altLang="zh-CN" sz="1400" dirty="0" err="1"/>
              <a:t>nn.RNN</a:t>
            </a:r>
            <a:r>
              <a:rPr lang="en-GB" altLang="zh-CN" sz="1400" dirty="0"/>
              <a:t>(</a:t>
            </a:r>
            <a:r>
              <a:rPr lang="en-GB" altLang="zh-CN" sz="1400" dirty="0">
                <a:solidFill>
                  <a:srgbClr val="0000FF"/>
                </a:solidFill>
                <a:effectLst/>
              </a:rPr>
              <a:t>128</a:t>
            </a:r>
            <a:r>
              <a:rPr lang="en-GB" altLang="zh-CN" sz="1400" dirty="0"/>
              <a:t>, </a:t>
            </a:r>
            <a:r>
              <a:rPr lang="en-GB" altLang="zh-CN" sz="1400" dirty="0">
                <a:solidFill>
                  <a:srgbClr val="0000FF"/>
                </a:solidFill>
                <a:effectLst/>
              </a:rPr>
              <a:t>128</a:t>
            </a:r>
            <a:r>
              <a:rPr lang="en-GB" altLang="zh-CN" sz="1400" dirty="0"/>
              <a:t>,</a:t>
            </a:r>
            <a:r>
              <a:rPr lang="en-GB" altLang="zh-CN" sz="1400" dirty="0">
                <a:solidFill>
                  <a:srgbClr val="0000FF"/>
                </a:solidFill>
                <a:effectLst/>
              </a:rPr>
              <a:t>1</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输出层</a:t>
            </a:r>
            <a:r>
              <a:rPr lang="en-US" altLang="zh-CN" sz="1400" i="1" dirty="0">
                <a:solidFill>
                  <a:srgbClr val="008001"/>
                </a:solidFill>
                <a:effectLst/>
              </a:rPr>
              <a:t>: </a:t>
            </a:r>
            <a:r>
              <a:rPr lang="zh-CN" altLang="en-US" sz="1400" i="1" dirty="0">
                <a:solidFill>
                  <a:srgbClr val="008001"/>
                </a:solidFill>
                <a:effectLst/>
              </a:rPr>
              <a:t>特征向量维度</a:t>
            </a:r>
            <a:r>
              <a:rPr lang="en-US" altLang="zh-CN" sz="1400" i="1" dirty="0">
                <a:solidFill>
                  <a:srgbClr val="008001"/>
                </a:solidFill>
                <a:effectLst/>
              </a:rPr>
              <a:t>128</a:t>
            </a:r>
            <a:r>
              <a:rPr lang="zh-CN" altLang="en-US" sz="1400" i="1" dirty="0">
                <a:solidFill>
                  <a:srgbClr val="008001"/>
                </a:solidFill>
                <a:effectLst/>
              </a:rPr>
              <a:t>与</a:t>
            </a:r>
            <a:r>
              <a:rPr lang="zh-CN" altLang="en-US" sz="1400" i="1" dirty="0">
                <a:solidFill>
                  <a:srgbClr val="008001"/>
                </a:solidFill>
              </a:rPr>
              <a:t>隐藏向量</a:t>
            </a:r>
            <a:r>
              <a:rPr lang="zh-CN" altLang="en-US" sz="1400" i="1" dirty="0">
                <a:solidFill>
                  <a:srgbClr val="008001"/>
                </a:solidFill>
                <a:effectLst/>
              </a:rPr>
              <a:t>维度相同</a:t>
            </a:r>
            <a:r>
              <a:rPr lang="en-US" altLang="zh-CN" sz="1400" i="1" dirty="0">
                <a:solidFill>
                  <a:srgbClr val="008001"/>
                </a:solidFill>
                <a:effectLst/>
              </a:rPr>
              <a:t>,</a:t>
            </a:r>
            <a:r>
              <a:rPr lang="zh-CN" altLang="en-US" sz="1400" i="1" dirty="0">
                <a:solidFill>
                  <a:srgbClr val="008001"/>
                </a:solidFill>
                <a:effectLst/>
              </a:rPr>
              <a:t>词表中词的个数</a:t>
            </a:r>
            <a:br>
              <a:rPr lang="zh-CN" altLang="en-US" sz="1400" i="1" dirty="0">
                <a:solidFill>
                  <a:srgbClr val="808080"/>
                </a:solidFill>
                <a:effectLst/>
              </a:rPr>
            </a:br>
            <a:r>
              <a:rPr lang="zh-CN" altLang="en-US" sz="1400" i="1" dirty="0">
                <a:solidFill>
                  <a:srgbClr val="808080"/>
                </a:solidFill>
                <a:effectLst/>
              </a:rPr>
              <a:t>        </a:t>
            </a:r>
            <a:r>
              <a:rPr lang="en-GB" altLang="zh-CN" sz="1400" dirty="0" err="1">
                <a:solidFill>
                  <a:srgbClr val="94558D"/>
                </a:solidFill>
                <a:effectLst/>
              </a:rPr>
              <a:t>self</a:t>
            </a:r>
            <a:r>
              <a:rPr lang="en-GB" altLang="zh-CN" sz="1400" dirty="0" err="1"/>
              <a:t>.out</a:t>
            </a:r>
            <a:r>
              <a:rPr lang="en-GB" altLang="zh-CN" sz="1400" dirty="0"/>
              <a:t> = </a:t>
            </a:r>
            <a:r>
              <a:rPr lang="en-GB" altLang="zh-CN" sz="1400" dirty="0" err="1"/>
              <a:t>nn.Linear</a:t>
            </a:r>
            <a:r>
              <a:rPr lang="en-GB" altLang="zh-CN" sz="1400" dirty="0"/>
              <a:t>(</a:t>
            </a:r>
            <a:r>
              <a:rPr lang="en-GB" altLang="zh-CN" sz="1400" dirty="0">
                <a:solidFill>
                  <a:srgbClr val="0000FF"/>
                </a:solidFill>
                <a:effectLst/>
              </a:rPr>
              <a:t>128</a:t>
            </a:r>
            <a:r>
              <a:rPr lang="en-GB" altLang="zh-CN" sz="1400" dirty="0"/>
              <a:t>, </a:t>
            </a:r>
            <a:r>
              <a:rPr lang="en-GB" altLang="zh-CN" sz="1400" dirty="0" err="1"/>
              <a:t>word_count</a:t>
            </a:r>
            <a:r>
              <a:rPr lang="en-GB" altLang="zh-CN" sz="1400" dirty="0"/>
              <a:t>)</a:t>
            </a:r>
            <a:br>
              <a:rPr lang="en-GB" altLang="zh-CN" sz="1400" dirty="0"/>
            </a:br>
            <a:r>
              <a:rPr lang="en-GB" altLang="zh-CN" sz="1400" dirty="0"/>
              <a:t>    </a:t>
            </a:r>
            <a:r>
              <a:rPr lang="en-GB" altLang="zh-CN" sz="1400" b="1" dirty="0">
                <a:solidFill>
                  <a:srgbClr val="000080"/>
                </a:solidFill>
                <a:effectLst/>
              </a:rPr>
              <a:t>def </a:t>
            </a:r>
            <a:r>
              <a:rPr lang="en-GB" altLang="zh-CN" sz="1400" dirty="0"/>
              <a:t>forward(</a:t>
            </a:r>
            <a:r>
              <a:rPr lang="en-GB" altLang="zh-CN" sz="1400" dirty="0">
                <a:solidFill>
                  <a:srgbClr val="94558D"/>
                </a:solidFill>
                <a:effectLst/>
              </a:rPr>
              <a:t>self</a:t>
            </a:r>
            <a:r>
              <a:rPr lang="en-GB" altLang="zh-CN" sz="1400" dirty="0"/>
              <a:t>, inputs, hidden):</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输出维度</a:t>
            </a:r>
            <a:r>
              <a:rPr lang="en-US" altLang="zh-CN" sz="1400" i="1" dirty="0">
                <a:solidFill>
                  <a:srgbClr val="008001"/>
                </a:solidFill>
                <a:effectLst/>
              </a:rPr>
              <a:t>: (</a:t>
            </a:r>
            <a:r>
              <a:rPr lang="en-GB" altLang="zh-CN" sz="1400" i="1" dirty="0">
                <a:solidFill>
                  <a:srgbClr val="008001"/>
                </a:solidFill>
                <a:effectLst/>
              </a:rPr>
              <a:t>batch, </a:t>
            </a:r>
            <a:r>
              <a:rPr lang="en-GB" altLang="zh-CN" sz="1400" i="1" dirty="0" err="1">
                <a:solidFill>
                  <a:srgbClr val="008001"/>
                </a:solidFill>
                <a:effectLst/>
              </a:rPr>
              <a:t>seq_len</a:t>
            </a:r>
            <a:r>
              <a:rPr lang="en-GB" altLang="zh-CN" sz="1400" i="1" dirty="0">
                <a:solidFill>
                  <a:srgbClr val="008001"/>
                </a:solidFill>
                <a:effectLst/>
              </a:rPr>
              <a:t>,</a:t>
            </a:r>
            <a:r>
              <a:rPr lang="zh-CN" altLang="en-US" sz="1400" i="1" dirty="0">
                <a:solidFill>
                  <a:srgbClr val="008001"/>
                </a:solidFill>
                <a:effectLst/>
              </a:rPr>
              <a:t>词向量维度 </a:t>
            </a:r>
            <a:r>
              <a:rPr lang="en-GB" altLang="zh-CN" sz="1400" i="1" dirty="0">
                <a:solidFill>
                  <a:srgbClr val="008001"/>
                </a:solidFill>
                <a:effectLst/>
              </a:rPr>
              <a:t>128)</a:t>
            </a:r>
            <a:br>
              <a:rPr lang="en-GB" altLang="zh-CN" sz="1400" i="1" dirty="0">
                <a:solidFill>
                  <a:srgbClr val="808080"/>
                </a:solidFill>
                <a:effectLst/>
              </a:rPr>
            </a:br>
            <a:r>
              <a:rPr lang="en-GB" altLang="zh-CN" sz="1400" i="1" dirty="0">
                <a:solidFill>
                  <a:srgbClr val="808080"/>
                </a:solidFill>
                <a:effectLst/>
              </a:rPr>
              <a:t>        </a:t>
            </a:r>
            <a:r>
              <a:rPr lang="en-GB" altLang="zh-CN" sz="1400" dirty="0"/>
              <a:t>embed = </a:t>
            </a:r>
            <a:r>
              <a:rPr lang="en-GB" altLang="zh-CN" sz="1400" dirty="0" err="1">
                <a:solidFill>
                  <a:srgbClr val="94558D"/>
                </a:solidFill>
                <a:effectLst/>
              </a:rPr>
              <a:t>self</a:t>
            </a:r>
            <a:r>
              <a:rPr lang="en-GB" altLang="zh-CN" sz="1400" dirty="0" err="1"/>
              <a:t>.ebd</a:t>
            </a:r>
            <a:r>
              <a:rPr lang="en-GB" altLang="zh-CN" sz="1400" dirty="0"/>
              <a:t>(inputs)</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修改维度</a:t>
            </a:r>
            <a:r>
              <a:rPr lang="en-US" altLang="zh-CN" sz="1400" i="1" dirty="0">
                <a:solidFill>
                  <a:srgbClr val="008001"/>
                </a:solidFill>
                <a:effectLst/>
              </a:rPr>
              <a:t>: (</a:t>
            </a:r>
            <a:r>
              <a:rPr lang="en-GB" altLang="zh-CN" sz="1400" i="1" dirty="0" err="1">
                <a:solidFill>
                  <a:srgbClr val="008001"/>
                </a:solidFill>
                <a:effectLst/>
              </a:rPr>
              <a:t>seq_len</a:t>
            </a:r>
            <a:r>
              <a:rPr lang="en-GB" altLang="zh-CN" sz="1400" i="1" dirty="0">
                <a:solidFill>
                  <a:srgbClr val="008001"/>
                </a:solidFill>
                <a:effectLst/>
              </a:rPr>
              <a:t>, batch,</a:t>
            </a:r>
            <a:r>
              <a:rPr lang="zh-CN" altLang="en-US" sz="1400" i="1" dirty="0">
                <a:solidFill>
                  <a:srgbClr val="008001"/>
                </a:solidFill>
                <a:effectLst/>
              </a:rPr>
              <a:t>词向量维度 </a:t>
            </a:r>
            <a:r>
              <a:rPr lang="en-GB" altLang="zh-CN" sz="1400" i="1" dirty="0">
                <a:solidFill>
                  <a:srgbClr val="008001"/>
                </a:solidFill>
                <a:effectLst/>
              </a:rPr>
              <a:t>128)</a:t>
            </a:r>
            <a:br>
              <a:rPr lang="en-GB" altLang="zh-CN" sz="1400" i="1" dirty="0">
                <a:solidFill>
                  <a:srgbClr val="808080"/>
                </a:solidFill>
                <a:effectLst/>
              </a:rPr>
            </a:br>
            <a:r>
              <a:rPr lang="en-GB" altLang="zh-CN" sz="1400" i="1" dirty="0">
                <a:solidFill>
                  <a:srgbClr val="808080"/>
                </a:solidFill>
                <a:effectLst/>
              </a:rPr>
              <a:t>        </a:t>
            </a:r>
            <a:r>
              <a:rPr lang="en-GB" altLang="zh-CN" sz="1400" dirty="0"/>
              <a:t>output, hidden = </a:t>
            </a:r>
            <a:r>
              <a:rPr lang="en-GB" altLang="zh-CN" sz="1400" dirty="0" err="1">
                <a:solidFill>
                  <a:srgbClr val="94558D"/>
                </a:solidFill>
                <a:effectLst/>
              </a:rPr>
              <a:t>self</a:t>
            </a:r>
            <a:r>
              <a:rPr lang="en-GB" altLang="zh-CN" sz="1400" dirty="0" err="1"/>
              <a:t>.rnn</a:t>
            </a:r>
            <a:r>
              <a:rPr lang="en-GB" altLang="zh-CN" sz="1400" dirty="0"/>
              <a:t>(</a:t>
            </a:r>
            <a:r>
              <a:rPr lang="en-GB" altLang="zh-CN" sz="1400" dirty="0" err="1"/>
              <a:t>embed.transpose</a:t>
            </a:r>
            <a:r>
              <a:rPr lang="en-GB" altLang="zh-CN" sz="1400" dirty="0"/>
              <a:t>(</a:t>
            </a:r>
            <a:r>
              <a:rPr lang="en-GB" altLang="zh-CN" sz="1400" dirty="0">
                <a:solidFill>
                  <a:srgbClr val="0000FF"/>
                </a:solidFill>
                <a:effectLst/>
              </a:rPr>
              <a:t>0</a:t>
            </a:r>
            <a:r>
              <a:rPr lang="en-GB" altLang="zh-CN" sz="1400" dirty="0"/>
              <a:t>, </a:t>
            </a:r>
            <a:r>
              <a:rPr lang="en-GB" altLang="zh-CN" sz="1400" dirty="0">
                <a:solidFill>
                  <a:srgbClr val="0000FF"/>
                </a:solidFill>
                <a:effectLst/>
              </a:rPr>
              <a:t>1</a:t>
            </a:r>
            <a:r>
              <a:rPr lang="en-GB" altLang="zh-CN" sz="1400" dirty="0"/>
              <a:t>), hidden)</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输入维度</a:t>
            </a:r>
            <a:r>
              <a:rPr lang="en-US" altLang="zh-CN" sz="1400" i="1" dirty="0">
                <a:solidFill>
                  <a:srgbClr val="008001"/>
                </a:solidFill>
                <a:effectLst/>
              </a:rPr>
              <a:t>: (</a:t>
            </a:r>
            <a:r>
              <a:rPr lang="en-GB" altLang="zh-CN" sz="1400" i="1" dirty="0" err="1">
                <a:solidFill>
                  <a:srgbClr val="008001"/>
                </a:solidFill>
                <a:effectLst/>
              </a:rPr>
              <a:t>seq_len</a:t>
            </a:r>
            <a:r>
              <a:rPr lang="en-GB" altLang="zh-CN" sz="1400" i="1" dirty="0">
                <a:solidFill>
                  <a:srgbClr val="008001"/>
                </a:solidFill>
                <a:effectLst/>
              </a:rPr>
              <a:t>*batch,</a:t>
            </a:r>
            <a:r>
              <a:rPr lang="zh-CN" altLang="en-US" sz="1400" i="1" dirty="0">
                <a:solidFill>
                  <a:srgbClr val="008001"/>
                </a:solidFill>
                <a:effectLst/>
              </a:rPr>
              <a:t>词向量维度 </a:t>
            </a:r>
            <a:r>
              <a:rPr lang="en-GB" altLang="zh-CN" sz="1400" i="1" dirty="0">
                <a:solidFill>
                  <a:srgbClr val="008001"/>
                </a:solidFill>
                <a:effectLst/>
              </a:rPr>
              <a:t>) </a:t>
            </a:r>
            <a:r>
              <a:rPr lang="zh-CN" altLang="en-US" sz="1400" i="1" dirty="0">
                <a:solidFill>
                  <a:srgbClr val="008001"/>
                </a:solidFill>
                <a:effectLst/>
              </a:rPr>
              <a:t>输出维度</a:t>
            </a:r>
            <a:r>
              <a:rPr lang="en-US" altLang="zh-CN" sz="1400" i="1" dirty="0">
                <a:solidFill>
                  <a:srgbClr val="008001"/>
                </a:solidFill>
                <a:effectLst/>
              </a:rPr>
              <a:t>: (</a:t>
            </a:r>
            <a:r>
              <a:rPr lang="en-GB" altLang="zh-CN" sz="1400" i="1" dirty="0" err="1">
                <a:solidFill>
                  <a:srgbClr val="008001"/>
                </a:solidFill>
                <a:effectLst/>
              </a:rPr>
              <a:t>seq_len</a:t>
            </a:r>
            <a:r>
              <a:rPr lang="en-GB" altLang="zh-CN" sz="1400" i="1" dirty="0">
                <a:solidFill>
                  <a:srgbClr val="008001"/>
                </a:solidFill>
                <a:effectLst/>
              </a:rPr>
              <a:t>*batch, </a:t>
            </a:r>
            <a:r>
              <a:rPr lang="en-US" altLang="zh-CN" sz="1400" i="1" dirty="0">
                <a:solidFill>
                  <a:srgbClr val="008001"/>
                </a:solidFill>
              </a:rPr>
              <a:t>128</a:t>
            </a:r>
            <a:r>
              <a:rPr lang="en-GB" altLang="zh-CN" sz="1400" i="1" dirty="0">
                <a:solidFill>
                  <a:srgbClr val="008001"/>
                </a:solidFill>
                <a:effectLst/>
              </a:rPr>
              <a:t>)</a:t>
            </a:r>
            <a:br>
              <a:rPr lang="en-GB" altLang="zh-CN" sz="1400" i="1" dirty="0">
                <a:solidFill>
                  <a:srgbClr val="008001"/>
                </a:solidFill>
                <a:effectLst/>
              </a:rPr>
            </a:br>
            <a:r>
              <a:rPr lang="en-GB" altLang="zh-CN" sz="1400" i="1" dirty="0">
                <a:solidFill>
                  <a:srgbClr val="808080"/>
                </a:solidFill>
                <a:effectLst/>
              </a:rPr>
              <a:t>        </a:t>
            </a:r>
            <a:r>
              <a:rPr lang="en-GB" altLang="zh-CN" sz="1400" dirty="0"/>
              <a:t>output = </a:t>
            </a:r>
            <a:r>
              <a:rPr lang="en-GB" altLang="zh-CN" sz="1400" dirty="0" err="1">
                <a:solidFill>
                  <a:srgbClr val="94558D"/>
                </a:solidFill>
                <a:effectLst/>
              </a:rPr>
              <a:t>self</a:t>
            </a:r>
            <a:r>
              <a:rPr lang="en-GB" altLang="zh-CN" sz="1400" dirty="0" err="1"/>
              <a:t>.out</a:t>
            </a:r>
            <a:r>
              <a:rPr lang="en-GB" altLang="zh-CN" sz="1400" dirty="0"/>
              <a:t>(</a:t>
            </a:r>
            <a:r>
              <a:rPr lang="en-GB" altLang="zh-CN" sz="1400" dirty="0" err="1"/>
              <a:t>output.reshape</a:t>
            </a:r>
            <a:r>
              <a:rPr lang="en-GB" altLang="zh-CN" sz="1400" dirty="0"/>
              <a:t>((-</a:t>
            </a:r>
            <a:r>
              <a:rPr lang="en-GB" altLang="zh-CN" sz="1400" dirty="0">
                <a:solidFill>
                  <a:srgbClr val="0000FF"/>
                </a:solidFill>
                <a:effectLst/>
              </a:rPr>
              <a:t>1</a:t>
            </a:r>
            <a:r>
              <a:rPr lang="en-GB" altLang="zh-CN" sz="1400" dirty="0"/>
              <a:t>,output.shape[-</a:t>
            </a:r>
            <a:r>
              <a:rPr lang="en-GB" altLang="zh-CN" sz="1400" dirty="0">
                <a:solidFill>
                  <a:srgbClr val="0000FF"/>
                </a:solidFill>
                <a:effectLst/>
              </a:rPr>
              <a:t>1</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网络输出结果</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return </a:t>
            </a:r>
            <a:r>
              <a:rPr lang="en-GB" altLang="zh-CN" sz="1400" dirty="0"/>
              <a:t>output, hidden</a:t>
            </a:r>
            <a:br>
              <a:rPr lang="en-GB" altLang="zh-CN" sz="1400" dirty="0"/>
            </a:br>
            <a:r>
              <a:rPr lang="en-GB" altLang="zh-CN" sz="1400" dirty="0"/>
              <a:t>    </a:t>
            </a:r>
            <a:r>
              <a:rPr lang="en-GB" altLang="zh-CN" sz="1400" b="1" dirty="0">
                <a:solidFill>
                  <a:srgbClr val="000080"/>
                </a:solidFill>
                <a:effectLst/>
              </a:rPr>
              <a:t>def </a:t>
            </a:r>
            <a:r>
              <a:rPr lang="en-GB" altLang="zh-CN" sz="1400" dirty="0" err="1"/>
              <a:t>init_hidden</a:t>
            </a:r>
            <a:r>
              <a:rPr lang="en-GB" altLang="zh-CN" sz="1400" dirty="0"/>
              <a:t>(</a:t>
            </a:r>
            <a:r>
              <a:rPr lang="en-GB" altLang="zh-CN" sz="1400" dirty="0">
                <a:solidFill>
                  <a:srgbClr val="94558D"/>
                </a:solidFill>
                <a:effectLst/>
              </a:rPr>
              <a:t>self</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隐藏层的初始化</a:t>
            </a:r>
            <a:r>
              <a:rPr lang="en-US" altLang="zh-CN" sz="1400" i="1" dirty="0">
                <a:solidFill>
                  <a:srgbClr val="008001"/>
                </a:solidFill>
                <a:effectLst/>
              </a:rPr>
              <a:t>:[</a:t>
            </a:r>
            <a:r>
              <a:rPr lang="zh-CN" altLang="en-GB" sz="1400" i="1" dirty="0">
                <a:solidFill>
                  <a:srgbClr val="008001"/>
                </a:solidFill>
              </a:rPr>
              <a:t>网络</a:t>
            </a:r>
            <a:r>
              <a:rPr lang="zh-CN" altLang="en-US" sz="1400" i="1" dirty="0">
                <a:solidFill>
                  <a:srgbClr val="008001"/>
                </a:solidFill>
              </a:rPr>
              <a:t>层数</a:t>
            </a:r>
            <a:r>
              <a:rPr lang="en-GB" altLang="zh-CN" sz="1400" i="1" dirty="0">
                <a:solidFill>
                  <a:srgbClr val="008001"/>
                </a:solidFill>
                <a:effectLst/>
              </a:rPr>
              <a:t>, batch, </a:t>
            </a:r>
            <a:r>
              <a:rPr lang="zh-CN" altLang="en-US" sz="1400" i="1" dirty="0">
                <a:solidFill>
                  <a:srgbClr val="008001"/>
                </a:solidFill>
                <a:effectLst/>
              </a:rPr>
              <a:t>隐藏层向量维度</a:t>
            </a:r>
            <a:r>
              <a:rPr lang="en-US" altLang="zh-CN" sz="1400" i="1" dirty="0">
                <a:solidFill>
                  <a:srgbClr val="008001"/>
                </a:solidFill>
                <a:effectLst/>
              </a:rPr>
              <a:t>]</a:t>
            </a:r>
            <a:br>
              <a:rPr lang="en-US" altLang="zh-CN" sz="1400" i="1" dirty="0">
                <a:solidFill>
                  <a:srgbClr val="008001"/>
                </a:solidFill>
                <a:effectLst/>
              </a:rPr>
            </a:br>
            <a:r>
              <a:rPr lang="en-US" altLang="zh-CN" sz="1400" i="1" dirty="0">
                <a:solidFill>
                  <a:srgbClr val="808080"/>
                </a:solidFill>
                <a:effectLst/>
              </a:rPr>
              <a:t>        </a:t>
            </a:r>
            <a:r>
              <a:rPr lang="en-GB" altLang="zh-CN" sz="1400" b="1" dirty="0">
                <a:solidFill>
                  <a:srgbClr val="000080"/>
                </a:solidFill>
                <a:effectLst/>
              </a:rPr>
              <a:t>return </a:t>
            </a:r>
            <a:r>
              <a:rPr lang="en-GB" altLang="zh-CN" sz="1400" dirty="0" err="1"/>
              <a:t>torch.zeros</a:t>
            </a:r>
            <a:r>
              <a:rPr lang="en-GB" altLang="zh-CN" sz="1400" dirty="0"/>
              <a:t>(</a:t>
            </a:r>
            <a:r>
              <a:rPr lang="en-GB" altLang="zh-CN" sz="1400" dirty="0">
                <a:solidFill>
                  <a:srgbClr val="0000FF"/>
                </a:solidFill>
                <a:effectLst/>
              </a:rPr>
              <a:t>1</a:t>
            </a:r>
            <a:r>
              <a:rPr lang="en-GB" altLang="zh-CN" sz="1400" dirty="0"/>
              <a:t>, </a:t>
            </a:r>
            <a:r>
              <a:rPr lang="en-US" altLang="en-GB" sz="1400" dirty="0"/>
              <a:t>1</a:t>
            </a:r>
            <a:r>
              <a:rPr lang="en-GB" altLang="zh-CN" sz="1400" dirty="0"/>
              <a:t>, </a:t>
            </a:r>
            <a:r>
              <a:rPr lang="en-GB" altLang="zh-CN" sz="1400" dirty="0">
                <a:solidFill>
                  <a:srgbClr val="0000FF"/>
                </a:solidFill>
                <a:effectLst/>
              </a:rPr>
              <a:t>128</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构建训练函数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Helvetica Neue"/>
              </a:rPr>
              <a:t>前面的准备工作完成之后</a:t>
            </a:r>
            <a:r>
              <a:rPr lang="en-US" altLang="zh-CN" b="0" i="0" dirty="0">
                <a:solidFill>
                  <a:srgbClr val="333333"/>
                </a:solidFill>
                <a:effectLst/>
                <a:latin typeface="Helvetica Neue"/>
              </a:rPr>
              <a:t>, </a:t>
            </a:r>
            <a:r>
              <a:rPr lang="zh-CN" altLang="en-US" b="0" i="0" dirty="0">
                <a:solidFill>
                  <a:srgbClr val="333333"/>
                </a:solidFill>
                <a:effectLst/>
                <a:latin typeface="Helvetica Neue"/>
              </a:rPr>
              <a:t>我们就可以编写训练函数。训练函数主要负责编写数据迭代、送入网络、计算损失、反向传播、更新参数，其流程基本较为固定。</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由于我们要实现文本生成，文本生成本质上，输入一串文本，预测下一个文本，也属于分类问题，所以，我们使用多分类交叉熵损失函数。优化方法我们学习过 </a:t>
            </a:r>
            <a:r>
              <a:rPr lang="en-US" altLang="zh-CN" b="0" i="0" dirty="0">
                <a:solidFill>
                  <a:srgbClr val="333333"/>
                </a:solidFill>
                <a:effectLst/>
                <a:latin typeface="Helvetica Neue"/>
              </a:rPr>
              <a:t>SGB</a:t>
            </a:r>
            <a:r>
              <a:rPr lang="zh-CN" altLang="en-US" b="0" i="0" dirty="0">
                <a:solidFill>
                  <a:srgbClr val="333333"/>
                </a:solidFill>
                <a:effectLst/>
                <a:latin typeface="Helvetica Neue"/>
              </a:rPr>
              <a:t>、</a:t>
            </a:r>
            <a:r>
              <a:rPr lang="en-US" altLang="zh-CN" b="0" i="0" dirty="0" err="1">
                <a:solidFill>
                  <a:srgbClr val="333333"/>
                </a:solidFill>
                <a:effectLst/>
                <a:latin typeface="Helvetica Neue"/>
              </a:rPr>
              <a:t>AdaGrad</a:t>
            </a:r>
            <a:r>
              <a:rPr lang="zh-CN" altLang="en-US" b="0" i="0" dirty="0">
                <a:solidFill>
                  <a:srgbClr val="333333"/>
                </a:solidFill>
                <a:effectLst/>
                <a:latin typeface="Helvetica Neue"/>
              </a:rPr>
              <a:t>、</a:t>
            </a:r>
            <a:r>
              <a:rPr lang="en-US" altLang="zh-CN" b="0" i="0" dirty="0">
                <a:solidFill>
                  <a:srgbClr val="333333"/>
                </a:solidFill>
                <a:effectLst/>
                <a:latin typeface="Helvetica Neue"/>
              </a:rPr>
              <a:t>Adam </a:t>
            </a:r>
            <a:r>
              <a:rPr lang="zh-CN" altLang="en-US" b="0" i="0" dirty="0">
                <a:solidFill>
                  <a:srgbClr val="333333"/>
                </a:solidFill>
                <a:effectLst/>
                <a:latin typeface="Helvetica Neue"/>
              </a:rPr>
              <a:t>等，在这里我们选择学习率、梯度自适应的 </a:t>
            </a:r>
            <a:r>
              <a:rPr lang="en-US" altLang="zh-CN" b="0" i="0" dirty="0">
                <a:solidFill>
                  <a:srgbClr val="333333"/>
                </a:solidFill>
                <a:effectLst/>
                <a:latin typeface="Helvetica Neue"/>
              </a:rPr>
              <a:t>Adam </a:t>
            </a:r>
            <a:r>
              <a:rPr lang="zh-CN" altLang="en-US" b="0" i="0" dirty="0">
                <a:solidFill>
                  <a:srgbClr val="333333"/>
                </a:solidFill>
                <a:effectLst/>
                <a:latin typeface="Helvetica Neue"/>
              </a:rPr>
              <a:t>算法作为我们的优化方法。</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训练完成之后，我们使用 </a:t>
            </a:r>
            <a:r>
              <a:rPr lang="en-US" altLang="zh-CN" b="0" i="0" dirty="0" err="1">
                <a:solidFill>
                  <a:srgbClr val="333333"/>
                </a:solidFill>
                <a:effectLst/>
                <a:latin typeface="Helvetica Neue"/>
              </a:rPr>
              <a:t>torch.save</a:t>
            </a:r>
            <a:r>
              <a:rPr lang="en-US" altLang="zh-CN" b="0" i="0" dirty="0">
                <a:solidFill>
                  <a:srgbClr val="333333"/>
                </a:solidFill>
                <a:effectLst/>
                <a:latin typeface="Helvetica Neue"/>
              </a:rPr>
              <a:t> </a:t>
            </a:r>
            <a:r>
              <a:rPr lang="zh-CN" altLang="en-US" b="0" i="0" dirty="0">
                <a:solidFill>
                  <a:srgbClr val="333333"/>
                </a:solidFill>
                <a:effectLst/>
                <a:latin typeface="Helvetica Neue"/>
              </a:rPr>
              <a:t>方法将模型持久化存储。</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构建训练函数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2398574" y="1974461"/>
            <a:ext cx="7323411" cy="3323987"/>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模型训练</a:t>
            </a:r>
            <a:br>
              <a:rPr lang="zh-CN" altLang="en-US" sz="1400" i="1" dirty="0">
                <a:solidFill>
                  <a:srgbClr val="808080"/>
                </a:solidFill>
                <a:effectLst/>
              </a:rPr>
            </a:br>
            <a:r>
              <a:rPr lang="en-GB" altLang="zh-CN" sz="1400" b="1" dirty="0">
                <a:solidFill>
                  <a:srgbClr val="000080"/>
                </a:solidFill>
                <a:effectLst/>
              </a:rPr>
              <a:t>def </a:t>
            </a:r>
            <a:r>
              <a:rPr lang="en-GB" altLang="zh-CN" sz="1400" dirty="0"/>
              <a:t>train():</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构建词典</a:t>
            </a:r>
            <a:br>
              <a:rPr lang="zh-CN" altLang="en-US" sz="1400" i="1" dirty="0">
                <a:solidFill>
                  <a:srgbClr val="808080"/>
                </a:solidFill>
                <a:effectLst/>
              </a:rPr>
            </a:br>
            <a:r>
              <a:rPr lang="zh-CN" altLang="en-US" sz="1400" i="1" dirty="0">
                <a:solidFill>
                  <a:srgbClr val="808080"/>
                </a:solidFill>
                <a:effectLst/>
              </a:rPr>
              <a:t>    </a:t>
            </a:r>
            <a:r>
              <a:rPr lang="en-GB" altLang="zh-CN" sz="1400" dirty="0" err="1"/>
              <a:t>index_to_word</a:t>
            </a:r>
            <a:r>
              <a:rPr lang="en-GB" altLang="zh-CN" sz="1400" dirty="0"/>
              <a:t>, </a:t>
            </a:r>
            <a:r>
              <a:rPr lang="en-GB" altLang="zh-CN" sz="1400" dirty="0" err="1"/>
              <a:t>word_to_index</a:t>
            </a:r>
            <a:r>
              <a:rPr lang="en-GB" altLang="zh-CN" sz="1400" dirty="0"/>
              <a:t>, </a:t>
            </a:r>
            <a:r>
              <a:rPr lang="en-GB" altLang="zh-CN" sz="1400" dirty="0" err="1"/>
              <a:t>word_count</a:t>
            </a:r>
            <a:r>
              <a:rPr lang="en-GB" altLang="zh-CN" sz="1400" dirty="0"/>
              <a:t>, </a:t>
            </a:r>
            <a:r>
              <a:rPr lang="en-GB" altLang="zh-CN" sz="1400" dirty="0" err="1"/>
              <a:t>corpus_idx</a:t>
            </a:r>
            <a:r>
              <a:rPr lang="en-GB" altLang="zh-CN" sz="1400" dirty="0"/>
              <a:t> = </a:t>
            </a:r>
            <a:r>
              <a:rPr lang="en-GB" altLang="zh-CN" sz="1400" dirty="0" err="1"/>
              <a:t>build_vocab</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数据集</a:t>
            </a:r>
            <a:br>
              <a:rPr lang="zh-CN" altLang="en-US" sz="1400" i="1" dirty="0">
                <a:solidFill>
                  <a:srgbClr val="808080"/>
                </a:solidFill>
                <a:effectLst/>
              </a:rPr>
            </a:br>
            <a:r>
              <a:rPr lang="zh-CN" altLang="en-US" sz="1400" i="1" dirty="0">
                <a:solidFill>
                  <a:srgbClr val="808080"/>
                </a:solidFill>
                <a:effectLst/>
              </a:rPr>
              <a:t>    </a:t>
            </a:r>
            <a:r>
              <a:rPr lang="en-GB" altLang="zh-CN" sz="1400" dirty="0"/>
              <a:t>lyrics = </a:t>
            </a:r>
            <a:r>
              <a:rPr lang="en-GB" altLang="zh-CN" sz="1400" dirty="0" err="1"/>
              <a:t>LyricsDataset</a:t>
            </a:r>
            <a:r>
              <a:rPr lang="en-GB" altLang="zh-CN" sz="1400" dirty="0"/>
              <a:t>(</a:t>
            </a:r>
            <a:r>
              <a:rPr lang="en-GB" altLang="zh-CN" sz="1400" dirty="0" err="1"/>
              <a:t>corpus_idx</a:t>
            </a:r>
            <a:r>
              <a:rPr lang="en-GB" altLang="zh-CN" sz="1400" dirty="0"/>
              <a:t>, </a:t>
            </a:r>
            <a:r>
              <a:rPr lang="en-GB" altLang="zh-CN" sz="1400" dirty="0">
                <a:solidFill>
                  <a:srgbClr val="0000FF"/>
                </a:solidFill>
                <a:effectLst/>
              </a:rPr>
              <a:t>32</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初始化模型</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TextGenerator</a:t>
            </a:r>
            <a:r>
              <a:rPr lang="en-GB" altLang="zh-CN" sz="1400" dirty="0"/>
              <a:t>(</a:t>
            </a:r>
            <a:r>
              <a:rPr lang="en-GB" altLang="zh-CN" sz="1400" dirty="0" err="1"/>
              <a:t>word_count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损失函数</a:t>
            </a:r>
            <a:br>
              <a:rPr lang="zh-CN" altLang="en-US" sz="1400" i="1" dirty="0">
                <a:solidFill>
                  <a:srgbClr val="808080"/>
                </a:solidFill>
                <a:effectLst/>
              </a:rPr>
            </a:br>
            <a:r>
              <a:rPr lang="zh-CN" altLang="en-US" sz="1400" i="1" dirty="0">
                <a:solidFill>
                  <a:srgbClr val="808080"/>
                </a:solidFill>
                <a:effectLst/>
              </a:rPr>
              <a:t>    </a:t>
            </a:r>
            <a:r>
              <a:rPr lang="en-GB" altLang="zh-CN" sz="1400" dirty="0"/>
              <a:t>criterion = </a:t>
            </a:r>
            <a:r>
              <a:rPr lang="en-GB" altLang="zh-CN" sz="1400" dirty="0" err="1"/>
              <a:t>nn.CrossEntropyLoss</a:t>
            </a:r>
            <a:r>
              <a:rPr lang="en-GB" altLang="zh-CN" sz="1400" dirty="0"/>
              <a:t>()</a:t>
            </a:r>
            <a:br>
              <a:rPr lang="en-GB" altLang="zh-CN" sz="1400" dirty="0"/>
            </a:br>
            <a:r>
              <a:rPr lang="en-GB" altLang="zh-CN" sz="1400" dirty="0"/>
              <a:t>    </a:t>
            </a:r>
            <a:r>
              <a:rPr lang="en-GB" altLang="zh-CN" sz="1400" i="1" dirty="0">
                <a:solidFill>
                  <a:srgbClr val="808080"/>
                </a:solidFill>
                <a:effectLst/>
              </a:rPr>
              <a:t># </a:t>
            </a:r>
            <a:r>
              <a:rPr lang="zh-CN" altLang="en-US" sz="1400" i="1" dirty="0">
                <a:solidFill>
                  <a:srgbClr val="808080"/>
                </a:solidFill>
                <a:effectLst/>
              </a:rPr>
              <a:t>优化方法</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optim.Adam</a:t>
            </a:r>
            <a:r>
              <a:rPr lang="en-GB" altLang="zh-CN" sz="1400" dirty="0"/>
              <a:t>(</a:t>
            </a:r>
            <a:r>
              <a:rPr lang="en-GB" altLang="zh-CN" sz="1400" dirty="0" err="1"/>
              <a:t>model.parameters</a:t>
            </a:r>
            <a:r>
              <a:rPr lang="en-GB" altLang="zh-CN" sz="1400" dirty="0"/>
              <a:t>(), </a:t>
            </a:r>
            <a:r>
              <a:rPr lang="en-GB" altLang="zh-CN" sz="1400" dirty="0" err="1">
                <a:solidFill>
                  <a:srgbClr val="660099"/>
                </a:solidFill>
                <a:effectLst/>
              </a:rPr>
              <a:t>lr</a:t>
            </a:r>
            <a:r>
              <a:rPr lang="en-GB" altLang="zh-CN" sz="1400" dirty="0"/>
              <a:t>=</a:t>
            </a:r>
            <a:r>
              <a:rPr lang="en-GB" altLang="zh-CN" sz="1400" dirty="0">
                <a:solidFill>
                  <a:srgbClr val="0000FF"/>
                </a:solidFill>
                <a:effectLst/>
              </a:rPr>
              <a:t>1e-3</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训练轮数</a:t>
            </a:r>
            <a:br>
              <a:rPr lang="zh-CN" altLang="en-US" sz="1400" i="1" dirty="0">
                <a:solidFill>
                  <a:srgbClr val="808080"/>
                </a:solidFill>
                <a:effectLst/>
              </a:rPr>
            </a:br>
            <a:r>
              <a:rPr lang="zh-CN" altLang="en-US" sz="1400" i="1" dirty="0">
                <a:solidFill>
                  <a:srgbClr val="808080"/>
                </a:solidFill>
                <a:effectLst/>
              </a:rPr>
              <a:t>    </a:t>
            </a:r>
            <a:r>
              <a:rPr lang="en-GB" altLang="zh-CN" sz="1400" dirty="0"/>
              <a:t>epoch = </a:t>
            </a:r>
            <a:r>
              <a:rPr lang="en-GB" altLang="zh-CN" sz="1400" dirty="0">
                <a:solidFill>
                  <a:srgbClr val="0000FF"/>
                </a:solidFill>
                <a:effectLst/>
              </a:rPr>
              <a:t>10</a:t>
            </a:r>
            <a:br>
              <a:rPr lang="en-GB" altLang="zh-CN" sz="1400" dirty="0">
                <a:solidFill>
                  <a:srgbClr val="0000FF"/>
                </a:solidFill>
                <a:effectLst/>
              </a:rPr>
            </a:b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10880" y="767086"/>
            <a:ext cx="10698800" cy="517190"/>
          </a:xfrm>
        </p:spPr>
        <p:txBody>
          <a:bodyPr/>
          <a:lstStyle/>
          <a:p>
            <a:pPr algn="l"/>
            <a:r>
              <a:rPr lang="zh-CN" altLang="en-US" b="1" i="0" dirty="0">
                <a:solidFill>
                  <a:srgbClr val="333333"/>
                </a:solidFill>
                <a:effectLst/>
                <a:latin typeface="Helvetica Neue"/>
              </a:rPr>
              <a:t>构建训练函数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2383436" y="716833"/>
            <a:ext cx="9026244" cy="590804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zh-CN" altLang="en-US" sz="1400" i="1" dirty="0">
                <a:solidFill>
                  <a:srgbClr val="808080"/>
                </a:solidFill>
                <a:effectLst/>
              </a:rPr>
              <a:t> </a:t>
            </a:r>
            <a:r>
              <a:rPr lang="en-GB" altLang="zh-CN" sz="1400" b="1" dirty="0">
                <a:solidFill>
                  <a:srgbClr val="000080"/>
                </a:solidFill>
                <a:effectLst/>
              </a:rPr>
              <a:t>for </a:t>
            </a:r>
            <a:r>
              <a:rPr lang="en-GB" altLang="zh-CN" sz="1400" dirty="0" err="1"/>
              <a:t>epoch_idx</a:t>
            </a:r>
            <a:r>
              <a:rPr lang="en-GB" altLang="zh-CN" sz="1400" dirty="0"/>
              <a:t> </a:t>
            </a:r>
            <a:r>
              <a:rPr lang="en-GB" altLang="zh-CN" sz="1400" b="1" dirty="0">
                <a:solidFill>
                  <a:srgbClr val="000080"/>
                </a:solidFill>
                <a:effectLst/>
              </a:rPr>
              <a:t>in </a:t>
            </a:r>
            <a:r>
              <a:rPr lang="en-GB" altLang="zh-CN" sz="1400" dirty="0">
                <a:solidFill>
                  <a:srgbClr val="000080"/>
                </a:solidFill>
                <a:effectLst/>
              </a:rPr>
              <a:t>range</a:t>
            </a:r>
            <a:r>
              <a:rPr lang="en-GB" altLang="zh-CN" sz="1400" dirty="0"/>
              <a:t>(epoch):</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数据加载器</a:t>
            </a:r>
            <a:br>
              <a:rPr lang="zh-CN" altLang="en-US" sz="1400" i="1" dirty="0">
                <a:solidFill>
                  <a:srgbClr val="808080"/>
                </a:solidFill>
                <a:effectLst/>
              </a:rPr>
            </a:br>
            <a:r>
              <a:rPr lang="zh-CN" altLang="en-US" sz="1400" i="1" dirty="0">
                <a:solidFill>
                  <a:srgbClr val="808080"/>
                </a:solidFill>
                <a:effectLst/>
              </a:rPr>
              <a:t>        </a:t>
            </a:r>
            <a:r>
              <a:rPr lang="en-GB" altLang="zh-CN" sz="1400" dirty="0" err="1"/>
              <a:t>lyrics_dataloader</a:t>
            </a:r>
            <a:r>
              <a:rPr lang="en-GB" altLang="zh-CN" sz="1400" dirty="0"/>
              <a:t> = </a:t>
            </a:r>
            <a:r>
              <a:rPr lang="en-GB" altLang="zh-CN" sz="1400" dirty="0" err="1"/>
              <a:t>DataLoader</a:t>
            </a:r>
            <a:r>
              <a:rPr lang="en-GB" altLang="zh-CN" sz="1400" dirty="0"/>
              <a:t>(lyrics, </a:t>
            </a:r>
            <a:r>
              <a:rPr lang="en-GB" altLang="zh-CN" sz="1400" dirty="0">
                <a:solidFill>
                  <a:srgbClr val="660099"/>
                </a:solidFill>
                <a:effectLst/>
              </a:rPr>
              <a:t>shuffle</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batch_size</a:t>
            </a:r>
            <a:r>
              <a:rPr lang="en-GB" altLang="zh-CN" sz="1400" dirty="0"/>
              <a:t>=</a:t>
            </a:r>
            <a:r>
              <a:rPr lang="en-US" altLang="en-GB" sz="1400" dirty="0"/>
              <a:t>1</a:t>
            </a:r>
            <a:r>
              <a:rPr lang="en-GB" altLang="zh-CN" sz="1400" dirty="0"/>
              <a:t>)</a:t>
            </a:r>
            <a:br>
              <a:rPr lang="en-GB" altLang="zh-CN" sz="1400" dirty="0"/>
            </a:br>
            <a:r>
              <a:rPr lang="en-GB" altLang="zh-CN" sz="1400" dirty="0"/>
              <a:t>        </a:t>
            </a:r>
            <a:r>
              <a:rPr lang="en-GB" altLang="zh-CN" sz="1400" i="1" dirty="0">
                <a:solidFill>
                  <a:srgbClr val="808080"/>
                </a:solidFill>
                <a:effectLst/>
              </a:rPr>
              <a:t># </a:t>
            </a:r>
            <a:r>
              <a:rPr lang="zh-CN" altLang="en-US" sz="1400" i="1" dirty="0">
                <a:solidFill>
                  <a:srgbClr val="008001"/>
                </a:solidFill>
                <a:effectLst/>
              </a:rPr>
              <a:t>训练时间</a:t>
            </a:r>
            <a:br>
              <a:rPr lang="zh-CN" altLang="en-US" sz="1400" i="1" dirty="0">
                <a:solidFill>
                  <a:srgbClr val="808080"/>
                </a:solidFill>
                <a:effectLst/>
              </a:rPr>
            </a:br>
            <a:r>
              <a:rPr lang="zh-CN" altLang="en-US" sz="1400" i="1" dirty="0">
                <a:solidFill>
                  <a:srgbClr val="808080"/>
                </a:solidFill>
                <a:effectLst/>
              </a:rPr>
              <a:t>        </a:t>
            </a:r>
            <a:r>
              <a:rPr lang="en-GB" altLang="zh-CN" sz="1400" dirty="0"/>
              <a:t>start = </a:t>
            </a:r>
            <a:r>
              <a:rPr lang="en-GB" altLang="zh-CN" sz="1400" dirty="0" err="1"/>
              <a:t>time.time</a:t>
            </a:r>
            <a:r>
              <a:rPr lang="en-GB" altLang="zh-CN" sz="1400" dirty="0"/>
              <a:t>()</a:t>
            </a:r>
            <a:br>
              <a:rPr lang="zh-CN" altLang="en-US" sz="1400" i="1" dirty="0">
                <a:solidFill>
                  <a:srgbClr val="808080"/>
                </a:solidFill>
                <a:effectLst/>
              </a:rPr>
            </a:br>
            <a:r>
              <a:rPr lang="zh-CN" altLang="en-US" sz="1400" i="1" dirty="0">
                <a:solidFill>
                  <a:srgbClr val="808080"/>
                </a:solidFill>
                <a:effectLst/>
              </a:rPr>
              <a:t>        </a:t>
            </a:r>
            <a:r>
              <a:rPr lang="en-GB" altLang="zh-CN" sz="1400" dirty="0" err="1"/>
              <a:t>iter_num</a:t>
            </a:r>
            <a:r>
              <a:rPr lang="en-GB" altLang="zh-CN" sz="1400" dirty="0"/>
              <a:t> = </a:t>
            </a:r>
            <a:r>
              <a:rPr lang="en-GB" altLang="zh-CN" sz="1400" dirty="0">
                <a:solidFill>
                  <a:srgbClr val="0000FF"/>
                </a:solidFill>
                <a:effectLst/>
              </a:rPr>
              <a:t>0</a:t>
            </a:r>
            <a:r>
              <a:rPr lang="zh-CN" altLang="en-US" sz="1400" dirty="0">
                <a:solidFill>
                  <a:srgbClr val="0000FF"/>
                </a:solidFill>
                <a:effectLst/>
              </a:rPr>
              <a:t> </a:t>
            </a:r>
            <a:r>
              <a:rPr lang="en-GB" altLang="zh-CN" sz="1400" dirty="0"/>
              <a:t> </a:t>
            </a:r>
            <a:r>
              <a:rPr lang="en-GB" altLang="zh-CN" sz="1400" i="1" dirty="0">
                <a:solidFill>
                  <a:srgbClr val="808080"/>
                </a:solidFill>
                <a:effectLst/>
              </a:rPr>
              <a:t># </a:t>
            </a:r>
            <a:r>
              <a:rPr lang="zh-CN" altLang="en-US" sz="1400" i="1" dirty="0">
                <a:solidFill>
                  <a:srgbClr val="008001"/>
                </a:solidFill>
                <a:effectLst/>
              </a:rPr>
              <a:t>迭代次数</a:t>
            </a:r>
            <a:br>
              <a:rPr lang="en-GB" altLang="zh-CN" sz="1400" dirty="0">
                <a:solidFill>
                  <a:srgbClr val="0000FF"/>
                </a:solidFill>
                <a:effectLst/>
              </a:rPr>
            </a:br>
            <a:r>
              <a:rPr lang="en-GB" altLang="zh-CN" sz="1400" dirty="0">
                <a:solidFill>
                  <a:srgbClr val="0000FF"/>
                </a:solidFill>
                <a:effectLst/>
              </a:rPr>
              <a:t>        </a:t>
            </a:r>
            <a:r>
              <a:rPr lang="en-GB" altLang="zh-CN" sz="1400" i="1" dirty="0">
                <a:solidFill>
                  <a:srgbClr val="008001"/>
                </a:solidFill>
                <a:effectLst/>
              </a:rPr>
              <a:t># </a:t>
            </a:r>
            <a:r>
              <a:rPr lang="zh-CN" altLang="en-US" sz="1400" i="1" dirty="0">
                <a:solidFill>
                  <a:srgbClr val="008001"/>
                </a:solidFill>
                <a:effectLst/>
              </a:rPr>
              <a:t>训练损失</a:t>
            </a:r>
            <a:br>
              <a:rPr lang="zh-CN" altLang="en-US" sz="1400" i="1" dirty="0">
                <a:solidFill>
                  <a:srgbClr val="808080"/>
                </a:solidFill>
                <a:effectLst/>
              </a:rPr>
            </a:br>
            <a:r>
              <a:rPr lang="zh-CN" altLang="en-US" sz="1400" i="1" dirty="0">
                <a:solidFill>
                  <a:srgbClr val="808080"/>
                </a:solidFill>
                <a:effectLst/>
              </a:rPr>
              <a:t>        </a:t>
            </a:r>
            <a:r>
              <a:rPr lang="en-GB" altLang="zh-CN" sz="1400" dirty="0" err="1"/>
              <a:t>total_loss</a:t>
            </a:r>
            <a:r>
              <a:rPr lang="en-GB" altLang="zh-CN" sz="1400" dirty="0"/>
              <a:t> = </a:t>
            </a:r>
            <a:r>
              <a:rPr lang="en-GB" altLang="zh-CN" sz="1400" dirty="0">
                <a:solidFill>
                  <a:srgbClr val="0000FF"/>
                </a:solidFill>
                <a:effectLst/>
              </a:rPr>
              <a:t>0.0</a:t>
            </a:r>
            <a:br>
              <a:rPr lang="en-GB" altLang="zh-CN" sz="1400" dirty="0">
                <a:solidFill>
                  <a:srgbClr val="0000FF"/>
                </a:solidFill>
                <a:effectLst/>
              </a:rPr>
            </a:br>
            <a:r>
              <a:rPr lang="en-GB" altLang="zh-CN" sz="1400" dirty="0">
                <a:solidFill>
                  <a:srgbClr val="008001"/>
                </a:solidFill>
                <a:effectLst/>
              </a:rPr>
              <a:t>        </a:t>
            </a:r>
            <a:r>
              <a:rPr lang="en-GB" altLang="zh-CN" sz="1400" i="1" dirty="0">
                <a:solidFill>
                  <a:srgbClr val="008001"/>
                </a:solidFill>
                <a:effectLst/>
              </a:rPr>
              <a:t># </a:t>
            </a:r>
            <a:r>
              <a:rPr lang="zh-CN" altLang="en-US" sz="1400" i="1" dirty="0">
                <a:solidFill>
                  <a:srgbClr val="008001"/>
                </a:solidFill>
                <a:effectLst/>
              </a:rPr>
              <a:t>遍历数据集</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x, y </a:t>
            </a:r>
            <a:r>
              <a:rPr lang="en-GB" altLang="zh-CN" sz="1400" b="1" dirty="0">
                <a:solidFill>
                  <a:srgbClr val="000080"/>
                </a:solidFill>
                <a:effectLst/>
              </a:rPr>
              <a:t>in </a:t>
            </a:r>
            <a:r>
              <a:rPr lang="en-GB" altLang="zh-CN" sz="1400" dirty="0" err="1"/>
              <a:t>lyrics_dataloader</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隐藏状态的初始化</a:t>
            </a:r>
            <a:br>
              <a:rPr lang="zh-CN" altLang="en-US" sz="1400" i="1" dirty="0">
                <a:solidFill>
                  <a:srgbClr val="808080"/>
                </a:solidFill>
                <a:effectLst/>
              </a:rPr>
            </a:br>
            <a:r>
              <a:rPr lang="zh-CN" altLang="en-US" sz="1400" i="1" dirty="0">
                <a:solidFill>
                  <a:srgbClr val="808080"/>
                </a:solidFill>
                <a:effectLst/>
              </a:rPr>
              <a:t>            </a:t>
            </a:r>
            <a:r>
              <a:rPr lang="en-GB" altLang="zh-CN" sz="1400" dirty="0"/>
              <a:t>hidden = </a:t>
            </a:r>
            <a:r>
              <a:rPr lang="en-GB" altLang="zh-CN" sz="1400" dirty="0" err="1"/>
              <a:t>model.init_hidden</a:t>
            </a:r>
            <a:r>
              <a:rPr lang="en-GB" altLang="zh-CN" sz="1400" dirty="0"/>
              <a:t>(</a:t>
            </a:r>
            <a:r>
              <a:rPr lang="en-US" altLang="en-GB" sz="1400" dirty="0"/>
              <a:t>bs=1</a:t>
            </a:r>
            <a:r>
              <a:rPr lang="en-GB" altLang="zh-CN" sz="1400" dirty="0"/>
              <a:t>)</a:t>
            </a:r>
            <a:br>
              <a:rPr lang="en-GB" altLang="zh-CN" sz="1400" dirty="0"/>
            </a:br>
            <a:r>
              <a:rPr lang="en-GB" altLang="zh-CN" sz="1400" dirty="0"/>
              <a:t>            </a:t>
            </a:r>
            <a:r>
              <a:rPr lang="en-GB" altLang="zh-CN" sz="1400" i="1" dirty="0">
                <a:solidFill>
                  <a:srgbClr val="808080"/>
                </a:solidFill>
                <a:effectLst/>
              </a:rPr>
              <a:t># </a:t>
            </a:r>
            <a:r>
              <a:rPr lang="zh-CN" altLang="en-US" sz="1400" i="1" dirty="0">
                <a:solidFill>
                  <a:srgbClr val="008001"/>
                </a:solidFill>
                <a:effectLst/>
              </a:rPr>
              <a:t>模型计算</a:t>
            </a:r>
            <a:br>
              <a:rPr lang="zh-CN" altLang="en-US" sz="1400" i="1" dirty="0">
                <a:solidFill>
                  <a:srgbClr val="808080"/>
                </a:solidFill>
                <a:effectLst/>
              </a:rPr>
            </a:br>
            <a:r>
              <a:rPr lang="zh-CN" altLang="en-US" sz="1400" i="1" dirty="0">
                <a:solidFill>
                  <a:srgbClr val="808080"/>
                </a:solidFill>
                <a:effectLst/>
              </a:rPr>
              <a:t>            </a:t>
            </a:r>
            <a:r>
              <a:rPr lang="en-GB" altLang="zh-CN" sz="1400" dirty="0"/>
              <a:t>output, hidden = model(x, hidden)</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计算损失</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en-GB" altLang="zh-CN" sz="1400" i="1" dirty="0">
                <a:solidFill>
                  <a:srgbClr val="008001"/>
                </a:solidFill>
                <a:effectLst/>
              </a:rPr>
              <a:t>y:[</a:t>
            </a:r>
            <a:r>
              <a:rPr lang="en-GB" altLang="zh-CN" sz="1400" i="1" dirty="0" err="1">
                <a:solidFill>
                  <a:srgbClr val="008001"/>
                </a:solidFill>
                <a:effectLst/>
              </a:rPr>
              <a:t>batch,seq_len</a:t>
            </a:r>
            <a:r>
              <a:rPr lang="en-GB" altLang="zh-CN" sz="1400" i="1" dirty="0">
                <a:solidFill>
                  <a:srgbClr val="008001"/>
                </a:solidFill>
                <a:effectLst/>
              </a:rPr>
              <a:t>]-&gt;[</a:t>
            </a:r>
            <a:r>
              <a:rPr lang="en-GB" altLang="zh-CN" sz="1400" i="1" dirty="0" err="1">
                <a:solidFill>
                  <a:srgbClr val="008001"/>
                </a:solidFill>
                <a:effectLst/>
              </a:rPr>
              <a:t>seq_len,batch</a:t>
            </a:r>
            <a:r>
              <a:rPr lang="en-GB" altLang="zh-CN" sz="1400" i="1" dirty="0">
                <a:solidFill>
                  <a:srgbClr val="008001"/>
                </a:solidFill>
                <a:effectLst/>
              </a:rPr>
              <a:t>]-&gt;[</a:t>
            </a:r>
            <a:r>
              <a:rPr lang="en-GB" altLang="zh-CN" sz="1400" i="1" dirty="0" err="1">
                <a:solidFill>
                  <a:srgbClr val="008001"/>
                </a:solidFill>
                <a:effectLst/>
              </a:rPr>
              <a:t>seq_len</a:t>
            </a:r>
            <a:r>
              <a:rPr lang="en-GB" altLang="zh-CN" sz="1400" i="1" dirty="0">
                <a:solidFill>
                  <a:srgbClr val="008001"/>
                </a:solidFill>
                <a:effectLst/>
              </a:rPr>
              <a:t>*batch]</a:t>
            </a:r>
            <a:br>
              <a:rPr lang="en-GB" altLang="zh-CN" sz="1400" i="1" dirty="0">
                <a:solidFill>
                  <a:srgbClr val="808080"/>
                </a:solidFill>
                <a:effectLst/>
              </a:rPr>
            </a:br>
            <a:r>
              <a:rPr lang="en-GB" altLang="zh-CN" sz="1400" i="1" dirty="0">
                <a:solidFill>
                  <a:srgbClr val="808080"/>
                </a:solidFill>
                <a:effectLst/>
              </a:rPr>
              <a:t>            </a:t>
            </a:r>
            <a:r>
              <a:rPr lang="en-GB" altLang="zh-CN" sz="1400" dirty="0"/>
              <a:t>y = </a:t>
            </a:r>
            <a:r>
              <a:rPr lang="en-GB" altLang="zh-CN" sz="1400" dirty="0" err="1"/>
              <a:t>torch.transpose</a:t>
            </a:r>
            <a:r>
              <a:rPr lang="en-GB" altLang="zh-CN" sz="1400" dirty="0"/>
              <a:t>(y, </a:t>
            </a:r>
            <a:r>
              <a:rPr lang="en-GB" altLang="zh-CN" sz="1400" dirty="0">
                <a:solidFill>
                  <a:srgbClr val="0000FF"/>
                </a:solidFill>
                <a:effectLst/>
              </a:rPr>
              <a:t>0</a:t>
            </a:r>
            <a:r>
              <a:rPr lang="en-GB" altLang="zh-CN" sz="1400" dirty="0"/>
              <a:t>, </a:t>
            </a:r>
            <a:r>
              <a:rPr lang="en-GB" altLang="zh-CN" sz="1400" dirty="0">
                <a:solidFill>
                  <a:srgbClr val="0000FF"/>
                </a:solidFill>
                <a:effectLst/>
              </a:rPr>
              <a:t>1</a:t>
            </a:r>
            <a:r>
              <a:rPr lang="en-GB" altLang="zh-CN" sz="1400" dirty="0"/>
              <a:t>).contiguous().view(-</a:t>
            </a:r>
            <a:r>
              <a:rPr lang="en-GB" altLang="zh-CN" sz="1400" dirty="0">
                <a:solidFill>
                  <a:srgbClr val="0000FF"/>
                </a:solidFill>
                <a:effectLst/>
              </a:rPr>
              <a:t>1</a:t>
            </a:r>
            <a:r>
              <a:rPr lang="en-GB" altLang="zh-CN" sz="1400" dirty="0"/>
              <a:t>)</a:t>
            </a:r>
            <a:br>
              <a:rPr lang="en-GB" altLang="zh-CN" sz="1400" dirty="0"/>
            </a:br>
            <a:r>
              <a:rPr lang="en-GB" altLang="zh-CN" sz="1400" dirty="0"/>
              <a:t>            loss = criterion(output, y)</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loss.backward</a:t>
            </a:r>
            <a:r>
              <a:rPr lang="en-GB" altLang="zh-CN" sz="1400" dirty="0"/>
              <a:t>()</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optimizer.step</a:t>
            </a:r>
            <a:r>
              <a:rPr lang="en-GB" altLang="zh-CN" sz="1400" dirty="0"/>
              <a:t>()</a:t>
            </a:r>
            <a:br>
              <a:rPr lang="en-US" altLang="zh-CN" sz="1400" i="1" dirty="0">
                <a:solidFill>
                  <a:srgbClr val="808080"/>
                </a:solidFill>
                <a:effectLst/>
              </a:rPr>
            </a:br>
            <a:r>
              <a:rPr lang="en-US" altLang="zh-CN" sz="1400" i="1" dirty="0">
                <a:solidFill>
                  <a:srgbClr val="808080"/>
                </a:solidFill>
                <a:effectLst/>
              </a:rPr>
              <a:t>            </a:t>
            </a:r>
            <a:r>
              <a:rPr lang="en-GB" altLang="zh-CN" sz="1400" dirty="0" err="1"/>
              <a:t>iter_num</a:t>
            </a:r>
            <a:r>
              <a:rPr lang="en-GB" altLang="zh-CN" sz="1400" dirty="0"/>
              <a:t> += </a:t>
            </a:r>
            <a:r>
              <a:rPr lang="en-GB" altLang="zh-CN" sz="1400" dirty="0">
                <a:solidFill>
                  <a:srgbClr val="0000FF"/>
                </a:solidFill>
                <a:effectLst/>
              </a:rPr>
              <a:t>1</a:t>
            </a:r>
            <a:r>
              <a:rPr lang="zh-CN" altLang="en-US" sz="1400" dirty="0">
                <a:solidFill>
                  <a:srgbClr val="0000FF"/>
                </a:solidFill>
                <a:effectLst/>
              </a:rPr>
              <a:t> </a:t>
            </a:r>
            <a:r>
              <a:rPr lang="en-GB" altLang="zh-CN" sz="1400" dirty="0"/>
              <a:t> </a:t>
            </a:r>
            <a:r>
              <a:rPr lang="en-GB" altLang="zh-CN" sz="1400" i="1" dirty="0">
                <a:solidFill>
                  <a:srgbClr val="808080"/>
                </a:solidFill>
                <a:effectLst/>
              </a:rPr>
              <a:t># </a:t>
            </a:r>
            <a:r>
              <a:rPr lang="zh-CN" altLang="en-US" sz="1400" i="1" dirty="0">
                <a:solidFill>
                  <a:srgbClr val="008001"/>
                </a:solidFill>
                <a:effectLst/>
              </a:rPr>
              <a:t>迭代次数加</a:t>
            </a:r>
            <a:r>
              <a:rPr lang="en-US" altLang="zh-CN" sz="1400" i="1" dirty="0">
                <a:solidFill>
                  <a:srgbClr val="808080"/>
                </a:solidFill>
                <a:effectLst/>
              </a:rPr>
              <a:t>1</a:t>
            </a:r>
            <a:br>
              <a:rPr lang="en-GB" altLang="zh-CN" sz="1400" dirty="0">
                <a:solidFill>
                  <a:srgbClr val="0000FF"/>
                </a:solidFill>
                <a:effectLst/>
              </a:rPr>
            </a:br>
            <a:r>
              <a:rPr lang="en-GB" altLang="zh-CN" sz="1400" dirty="0">
                <a:solidFill>
                  <a:srgbClr val="0000FF"/>
                </a:solidFill>
                <a:effectLst/>
              </a:rPr>
              <a:t>            </a:t>
            </a:r>
            <a:r>
              <a:rPr lang="en-GB" altLang="zh-CN" sz="1400" dirty="0" err="1"/>
              <a:t>total_loss</a:t>
            </a:r>
            <a:r>
              <a:rPr lang="en-GB" altLang="zh-CN" sz="1400" dirty="0"/>
              <a:t> += </a:t>
            </a:r>
            <a:r>
              <a:rPr lang="en-GB" altLang="zh-CN" sz="1400" dirty="0" err="1"/>
              <a:t>loss.item</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打印训练信息</a:t>
            </a:r>
            <a:br>
              <a:rPr lang="zh-CN" altLang="en-US" sz="1400" i="1" dirty="0">
                <a:solidFill>
                  <a:srgbClr val="808080"/>
                </a:solidFill>
                <a:effectLst/>
              </a:rPr>
            </a:br>
            <a:r>
              <a:rPr lang="zh-CN" altLang="en-US" sz="1400" i="1" dirty="0">
                <a:solidFill>
                  <a:srgbClr val="808080"/>
                </a:solidFill>
                <a:effectLst/>
              </a:rPr>
              <a:t>        </a:t>
            </a:r>
            <a:r>
              <a:rPr lang="en-GB" altLang="zh-CN" sz="1400" dirty="0">
                <a:solidFill>
                  <a:srgbClr val="000080"/>
                </a:solidFill>
                <a:effectLst/>
              </a:rPr>
              <a:t>print</a:t>
            </a:r>
            <a:r>
              <a:rPr lang="en-GB" altLang="zh-CN" sz="1400" dirty="0"/>
              <a:t>(</a:t>
            </a:r>
            <a:r>
              <a:rPr lang="en-GB" altLang="zh-CN" sz="1400" b="1" dirty="0">
                <a:solidFill>
                  <a:srgbClr val="008000"/>
                </a:solidFill>
                <a:effectLst/>
              </a:rPr>
              <a:t>'epoch %3s loss: %.5f time %.2f' </a:t>
            </a:r>
            <a:r>
              <a:rPr lang="en-GB" altLang="zh-CN" sz="1400" dirty="0"/>
              <a:t>% (</a:t>
            </a:r>
            <a:r>
              <a:rPr lang="en-GB" altLang="zh-CN" sz="1400" dirty="0" err="1"/>
              <a:t>epoch_idx</a:t>
            </a:r>
            <a:r>
              <a:rPr lang="en-GB" altLang="zh-CN" sz="1400" dirty="0"/>
              <a:t> + </a:t>
            </a:r>
            <a:r>
              <a:rPr lang="en-GB" altLang="zh-CN" sz="1400" dirty="0">
                <a:solidFill>
                  <a:srgbClr val="0000FF"/>
                </a:solidFill>
                <a:effectLst/>
              </a:rPr>
              <a:t>1</a:t>
            </a:r>
            <a:r>
              <a:rPr lang="en-GB" altLang="zh-CN" sz="1400" dirty="0"/>
              <a:t>, </a:t>
            </a:r>
            <a:r>
              <a:rPr lang="en-GB" altLang="zh-CN" sz="1400" dirty="0" err="1"/>
              <a:t>total_loss</a:t>
            </a:r>
            <a:r>
              <a:rPr lang="en-GB" altLang="zh-CN" sz="1400" dirty="0"/>
              <a:t> / </a:t>
            </a:r>
            <a:r>
              <a:rPr lang="en-GB" altLang="zh-CN" sz="1400" dirty="0" err="1"/>
              <a:t>iter_num</a:t>
            </a:r>
            <a:r>
              <a:rPr lang="en-GB" altLang="zh-CN" sz="1400" dirty="0"/>
              <a:t>, </a:t>
            </a:r>
            <a:r>
              <a:rPr lang="en-GB" altLang="zh-CN" sz="1400" dirty="0" err="1"/>
              <a:t>time.time</a:t>
            </a:r>
            <a:r>
              <a:rPr lang="en-GB" altLang="zh-CN" sz="1400" dirty="0"/>
              <a:t>() - start))</a:t>
            </a:r>
            <a:br>
              <a:rPr lang="en-GB" altLang="zh-CN" sz="1400" dirty="0"/>
            </a:br>
            <a:r>
              <a:rPr lang="en-GB" altLang="zh-CN" sz="1400" dirty="0">
                <a:solidFill>
                  <a:srgbClr val="008001"/>
                </a:solidFill>
              </a:rPr>
              <a:t>   </a:t>
            </a:r>
            <a:r>
              <a:rPr lang="en-US" altLang="en-GB"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模型存储</a:t>
            </a:r>
            <a:br>
              <a:rPr lang="zh-CN" altLang="en-US" sz="1400" i="1" dirty="0">
                <a:solidFill>
                  <a:srgbClr val="808080"/>
                </a:solidFill>
                <a:effectLst/>
              </a:rPr>
            </a:br>
            <a:r>
              <a:rPr lang="zh-CN" altLang="en-US" sz="1400" i="1" dirty="0">
                <a:solidFill>
                  <a:srgbClr val="808080"/>
                </a:solidFill>
                <a:effectLst/>
              </a:rPr>
              <a:t>    </a:t>
            </a:r>
            <a:r>
              <a:rPr lang="en-GB" altLang="zh-CN" sz="1400" dirty="0" err="1"/>
              <a:t>torch.save</a:t>
            </a:r>
            <a:r>
              <a:rPr lang="en-GB" altLang="zh-CN" sz="1400" dirty="0"/>
              <a:t>(</a:t>
            </a:r>
            <a:r>
              <a:rPr lang="en-GB" altLang="zh-CN" sz="1400" dirty="0" err="1"/>
              <a:t>model.state_dict</a:t>
            </a:r>
            <a:r>
              <a:rPr lang="en-GB" altLang="zh-CN" sz="1400" dirty="0"/>
              <a:t>(), </a:t>
            </a:r>
            <a:r>
              <a:rPr lang="en-GB" altLang="zh-CN" sz="1400" b="1" dirty="0">
                <a:solidFill>
                  <a:srgbClr val="008000"/>
                </a:solidFill>
                <a:effectLst/>
              </a:rPr>
              <a:t>'data/lyrics_model_%</a:t>
            </a:r>
            <a:r>
              <a:rPr lang="en-GB" altLang="zh-CN" sz="1400" b="1" dirty="0" err="1">
                <a:solidFill>
                  <a:srgbClr val="008000"/>
                </a:solidFill>
                <a:effectLst/>
              </a:rPr>
              <a:t>d.pth</a:t>
            </a:r>
            <a:r>
              <a:rPr lang="en-GB" altLang="zh-CN" sz="1400" b="1" dirty="0">
                <a:solidFill>
                  <a:srgbClr val="008000"/>
                </a:solidFill>
                <a:effectLst/>
              </a:rPr>
              <a:t>' </a:t>
            </a:r>
            <a:r>
              <a:rPr lang="en-GB" altLang="zh-CN" sz="1400" dirty="0"/>
              <a:t>% epoch)</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10880" y="767086"/>
            <a:ext cx="10698800" cy="517190"/>
          </a:xfrm>
        </p:spPr>
        <p:txBody>
          <a:bodyPr/>
          <a:lstStyle/>
          <a:p>
            <a:pPr algn="l"/>
            <a:r>
              <a:rPr lang="zh-CN" altLang="en-US" dirty="0">
                <a:solidFill>
                  <a:srgbClr val="333333"/>
                </a:solidFill>
                <a:latin typeface="Helvetica Neue"/>
              </a:rPr>
              <a:t>调用模型</a:t>
            </a:r>
            <a:r>
              <a:rPr lang="zh-CN" altLang="en-US" b="1" i="0" dirty="0">
                <a:solidFill>
                  <a:srgbClr val="333333"/>
                </a:solidFill>
                <a:effectLst/>
                <a:latin typeface="Helvetica Neue"/>
              </a:rPr>
              <a:t>训练函数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dirty="0">
                <a:solidFill>
                  <a:srgbClr val="333333"/>
                </a:solidFill>
                <a:latin typeface="Helvetica Neue"/>
              </a:rPr>
              <a:t>输出结果为：</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4" name="文本框 3"/>
          <p:cNvSpPr txBox="1"/>
          <p:nvPr/>
        </p:nvSpPr>
        <p:spPr>
          <a:xfrm>
            <a:off x="1271328" y="1457271"/>
            <a:ext cx="9026244" cy="52197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zh-CN" altLang="en-US" sz="1400" i="1" dirty="0">
                <a:solidFill>
                  <a:srgbClr val="808080"/>
                </a:solidFill>
                <a:effectLst/>
              </a:rPr>
              <a:t> </a:t>
            </a: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train()</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2232456" y="3535683"/>
            <a:ext cx="4860324" cy="322463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10880" y="681486"/>
            <a:ext cx="10698800" cy="517190"/>
          </a:xfrm>
        </p:spPr>
        <p:txBody>
          <a:bodyPr/>
          <a:lstStyle/>
          <a:p>
            <a:pPr algn="l"/>
            <a:r>
              <a:rPr lang="zh-CN" altLang="en-US" b="1" i="0" dirty="0">
                <a:solidFill>
                  <a:srgbClr val="333333"/>
                </a:solidFill>
                <a:effectLst/>
                <a:latin typeface="Helvetica Neue"/>
              </a:rPr>
              <a:t>构建预测函数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198676"/>
            <a:ext cx="10698800" cy="5400729"/>
          </a:xfrm>
        </p:spPr>
        <p:txBody>
          <a:bodyPr/>
          <a:lstStyle/>
          <a:p>
            <a:pPr algn="l">
              <a:lnSpc>
                <a:spcPct val="100000"/>
              </a:lnSpc>
            </a:pPr>
            <a:r>
              <a:rPr lang="zh-CN" altLang="en-US" b="0" i="0" dirty="0">
                <a:solidFill>
                  <a:srgbClr val="333333"/>
                </a:solidFill>
                <a:effectLst/>
                <a:latin typeface="Helvetica Neue"/>
              </a:rPr>
              <a:t>从磁盘加载训练好的模型，进行预测。预测函数，输入第一个指定的词，我们将该词输入网路，预测出下一个词，再将预测的出的词再次送入网络，预测出下一个词，以此类推，知道预测出我们指定长度的内容。</a:t>
            </a:r>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5" name="文本框 4"/>
          <p:cNvSpPr txBox="1"/>
          <p:nvPr/>
        </p:nvSpPr>
        <p:spPr>
          <a:xfrm>
            <a:off x="1984769" y="1715866"/>
            <a:ext cx="6695760" cy="526224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predict(</a:t>
            </a:r>
            <a:r>
              <a:rPr lang="en-GB" altLang="zh-CN" sz="1400" dirty="0" err="1"/>
              <a:t>start_word</a:t>
            </a:r>
            <a:r>
              <a:rPr lang="en-GB" altLang="zh-CN" sz="1400" dirty="0"/>
              <a:t>, </a:t>
            </a:r>
            <a:r>
              <a:rPr lang="en-GB" altLang="zh-CN" sz="1400" dirty="0" err="1"/>
              <a:t>sentence_length</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构建词典</a:t>
            </a:r>
            <a:br>
              <a:rPr lang="zh-CN" altLang="en-US" sz="1400" i="1" dirty="0">
                <a:solidFill>
                  <a:srgbClr val="808080"/>
                </a:solidFill>
                <a:effectLst/>
              </a:rPr>
            </a:br>
            <a:r>
              <a:rPr lang="zh-CN" altLang="en-US" sz="1400" i="1" dirty="0">
                <a:solidFill>
                  <a:srgbClr val="808080"/>
                </a:solidFill>
                <a:effectLst/>
              </a:rPr>
              <a:t>    </a:t>
            </a:r>
            <a:r>
              <a:rPr lang="en-GB" altLang="zh-CN" sz="1400" dirty="0" err="1"/>
              <a:t>index_to_word</a:t>
            </a:r>
            <a:r>
              <a:rPr lang="en-GB" altLang="zh-CN" sz="1400" dirty="0"/>
              <a:t>, </a:t>
            </a:r>
            <a:r>
              <a:rPr lang="en-GB" altLang="zh-CN" sz="1400" dirty="0" err="1"/>
              <a:t>word_to_index</a:t>
            </a:r>
            <a:r>
              <a:rPr lang="en-GB" altLang="zh-CN" sz="1400" dirty="0"/>
              <a:t>, </a:t>
            </a:r>
            <a:r>
              <a:rPr lang="en-GB" altLang="zh-CN" sz="1400" dirty="0" err="1"/>
              <a:t>word_count</a:t>
            </a:r>
            <a:r>
              <a:rPr lang="en-GB" altLang="zh-CN" sz="1400" dirty="0"/>
              <a:t>, _ = </a:t>
            </a:r>
            <a:r>
              <a:rPr lang="en-GB" altLang="zh-CN" sz="1400" dirty="0" err="1"/>
              <a:t>build_vocab</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构建模型</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TextGenerator</a:t>
            </a:r>
            <a:r>
              <a:rPr lang="en-GB" altLang="zh-CN" sz="1400" dirty="0"/>
              <a:t>(</a:t>
            </a:r>
            <a:r>
              <a:rPr lang="en-GB" altLang="zh-CN" sz="1400" dirty="0" err="1"/>
              <a:t>word_count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加载参数</a:t>
            </a:r>
            <a:br>
              <a:rPr lang="zh-CN" altLang="en-US" sz="1400" i="1" dirty="0">
                <a:solidFill>
                  <a:srgbClr val="808080"/>
                </a:solidFill>
                <a:effectLst/>
              </a:rPr>
            </a:br>
            <a:r>
              <a:rPr lang="zh-CN" altLang="en-US" sz="1400" i="1" dirty="0">
                <a:solidFill>
                  <a:srgbClr val="808080"/>
                </a:solidFill>
                <a:effectLst/>
              </a:rPr>
              <a:t>    </a:t>
            </a:r>
            <a:r>
              <a:rPr lang="en-GB" altLang="zh-CN" sz="1400" dirty="0" err="1"/>
              <a:t>model.load_state_dict</a:t>
            </a:r>
            <a:r>
              <a:rPr lang="en-GB" altLang="zh-CN" sz="1400" dirty="0"/>
              <a:t>(</a:t>
            </a:r>
            <a:r>
              <a:rPr lang="en-GB" altLang="zh-CN" sz="1400" dirty="0" err="1"/>
              <a:t>torch.load</a:t>
            </a:r>
            <a:r>
              <a:rPr lang="en-GB" altLang="zh-CN" sz="1400" dirty="0"/>
              <a:t>(</a:t>
            </a:r>
            <a:r>
              <a:rPr lang="en-GB" altLang="zh-CN" sz="1400" b="1" dirty="0">
                <a:solidFill>
                  <a:srgbClr val="008000"/>
                </a:solidFill>
                <a:effectLst/>
              </a:rPr>
              <a:t>'data/lyrics_model_10.pth'</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隐藏状态</a:t>
            </a:r>
            <a:br>
              <a:rPr lang="zh-CN" altLang="en-US" sz="1400" i="1" dirty="0">
                <a:solidFill>
                  <a:srgbClr val="808080"/>
                </a:solidFill>
                <a:effectLst/>
              </a:rPr>
            </a:br>
            <a:r>
              <a:rPr lang="zh-CN" altLang="en-US" sz="1400" i="1" dirty="0">
                <a:solidFill>
                  <a:srgbClr val="808080"/>
                </a:solidFill>
                <a:effectLst/>
              </a:rPr>
              <a:t>    </a:t>
            </a:r>
            <a:r>
              <a:rPr lang="en-GB" altLang="zh-CN" sz="1400" dirty="0"/>
              <a:t>hidden = </a:t>
            </a:r>
            <a:r>
              <a:rPr lang="en-GB" altLang="zh-CN" sz="1400" dirty="0" err="1"/>
              <a:t>model.init_hidden</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将起始词转换为索引</a:t>
            </a:r>
            <a:br>
              <a:rPr lang="zh-CN" altLang="en-US" sz="1400" i="1" dirty="0">
                <a:solidFill>
                  <a:srgbClr val="808080"/>
                </a:solidFill>
                <a:effectLst/>
              </a:rPr>
            </a:br>
            <a:r>
              <a:rPr lang="zh-CN" altLang="en-US" sz="1400" i="1" dirty="0">
                <a:solidFill>
                  <a:srgbClr val="808080"/>
                </a:solidFill>
                <a:effectLst/>
              </a:rPr>
              <a:t>    </a:t>
            </a:r>
            <a:r>
              <a:rPr lang="en-GB" altLang="zh-CN" sz="1400" dirty="0" err="1"/>
              <a:t>word_idx</a:t>
            </a:r>
            <a:r>
              <a:rPr lang="en-GB" altLang="zh-CN" sz="1400" dirty="0"/>
              <a:t> = </a:t>
            </a:r>
            <a:r>
              <a:rPr lang="en-GB" altLang="zh-CN" sz="1400" dirty="0" err="1"/>
              <a:t>word_to_index</a:t>
            </a:r>
            <a:r>
              <a:rPr lang="en-GB" altLang="zh-CN" sz="1400" dirty="0"/>
              <a:t>[</a:t>
            </a:r>
            <a:r>
              <a:rPr lang="en-GB" altLang="zh-CN" sz="1400" dirty="0" err="1"/>
              <a:t>start_word</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产生的词的索引存放位置</a:t>
            </a:r>
            <a:br>
              <a:rPr lang="zh-CN" altLang="en-US" sz="1400" i="1" dirty="0">
                <a:solidFill>
                  <a:srgbClr val="808080"/>
                </a:solidFill>
                <a:effectLst/>
              </a:rPr>
            </a:br>
            <a:r>
              <a:rPr lang="zh-CN" altLang="en-US" sz="1400" i="1" dirty="0">
                <a:solidFill>
                  <a:srgbClr val="808080"/>
                </a:solidFill>
                <a:effectLst/>
              </a:rPr>
              <a:t>    </a:t>
            </a:r>
            <a:r>
              <a:rPr lang="en-GB" altLang="zh-CN" sz="1400" dirty="0" err="1"/>
              <a:t>generate_sentence</a:t>
            </a:r>
            <a:r>
              <a:rPr lang="en-GB" altLang="zh-CN" sz="1400" dirty="0"/>
              <a:t> = [</a:t>
            </a:r>
            <a:r>
              <a:rPr lang="en-GB" altLang="zh-CN" sz="1400" dirty="0" err="1"/>
              <a:t>word_idx</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遍历到句子长度，获取每一个词</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_ </a:t>
            </a:r>
            <a:r>
              <a:rPr lang="en-GB" altLang="zh-CN" sz="1400" b="1" dirty="0">
                <a:solidFill>
                  <a:srgbClr val="000080"/>
                </a:solidFill>
                <a:effectLst/>
              </a:rPr>
              <a:t>in </a:t>
            </a:r>
            <a:r>
              <a:rPr lang="en-GB" altLang="zh-CN" sz="1400" dirty="0">
                <a:solidFill>
                  <a:srgbClr val="000080"/>
                </a:solidFill>
                <a:effectLst/>
              </a:rPr>
              <a:t>range</a:t>
            </a:r>
            <a:r>
              <a:rPr lang="en-GB" altLang="zh-CN" sz="1400" dirty="0"/>
              <a:t>(</a:t>
            </a:r>
            <a:r>
              <a:rPr lang="en-GB" altLang="zh-CN" sz="1400" dirty="0" err="1"/>
              <a:t>sentence_length</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模型预测</a:t>
            </a:r>
            <a:br>
              <a:rPr lang="zh-CN" altLang="en-US" sz="1400" i="1" dirty="0">
                <a:solidFill>
                  <a:srgbClr val="808080"/>
                </a:solidFill>
                <a:effectLst/>
              </a:rPr>
            </a:br>
            <a:r>
              <a:rPr lang="zh-CN" altLang="en-US" sz="1400" i="1" dirty="0">
                <a:solidFill>
                  <a:srgbClr val="808080"/>
                </a:solidFill>
                <a:effectLst/>
              </a:rPr>
              <a:t>        </a:t>
            </a:r>
            <a:r>
              <a:rPr lang="en-GB" altLang="zh-CN" sz="1400" dirty="0"/>
              <a:t>output, hidden = model(</a:t>
            </a:r>
            <a:r>
              <a:rPr lang="en-GB" altLang="zh-CN" sz="1400" dirty="0" err="1"/>
              <a:t>torch.tensor</a:t>
            </a:r>
            <a:r>
              <a:rPr lang="en-GB" altLang="zh-CN" sz="1400" dirty="0"/>
              <a:t>([[</a:t>
            </a:r>
            <a:r>
              <a:rPr lang="en-GB" altLang="zh-CN" sz="1400" dirty="0" err="1"/>
              <a:t>word_idx</a:t>
            </a:r>
            <a:r>
              <a:rPr lang="en-GB" altLang="zh-CN" sz="1400" dirty="0"/>
              <a:t>]]), hidden)</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获取预测结果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word_idx</a:t>
            </a:r>
            <a:r>
              <a:rPr lang="en-GB" altLang="zh-CN" sz="1400" dirty="0"/>
              <a:t> = </a:t>
            </a:r>
            <a:r>
              <a:rPr lang="en-GB" altLang="zh-CN" sz="1400" dirty="0" err="1"/>
              <a:t>torch.argmax</a:t>
            </a:r>
            <a:r>
              <a:rPr lang="en-GB" altLang="zh-CN" sz="1400" dirty="0"/>
              <a:t>(output)</a:t>
            </a:r>
            <a:br>
              <a:rPr lang="en-GB" altLang="zh-CN" sz="1400" dirty="0"/>
            </a:br>
            <a:r>
              <a:rPr lang="en-GB" altLang="zh-CN" sz="1400" dirty="0"/>
              <a:t>        </a:t>
            </a:r>
            <a:r>
              <a:rPr lang="en-GB" altLang="zh-CN" sz="1400" dirty="0" err="1"/>
              <a:t>generate_sentence.append</a:t>
            </a:r>
            <a:r>
              <a:rPr lang="en-GB" altLang="zh-CN" sz="1400" dirty="0"/>
              <a:t>(</a:t>
            </a:r>
            <a:r>
              <a:rPr lang="en-GB" altLang="zh-CN" sz="1400" dirty="0" err="1"/>
              <a:t>word_idx</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根据产生的索引获取对应的词，并进行打印</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err="1"/>
              <a:t>idx</a:t>
            </a:r>
            <a:r>
              <a:rPr lang="en-GB" altLang="zh-CN" sz="1400" dirty="0"/>
              <a:t> </a:t>
            </a:r>
            <a:r>
              <a:rPr lang="en-GB" altLang="zh-CN" sz="1400" b="1" dirty="0">
                <a:solidFill>
                  <a:srgbClr val="000080"/>
                </a:solidFill>
                <a:effectLst/>
              </a:rPr>
              <a:t>in </a:t>
            </a:r>
            <a:r>
              <a:rPr lang="en-GB" altLang="zh-CN" sz="1400" dirty="0" err="1"/>
              <a:t>generate_sentence</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err="1"/>
              <a:t>index_to_word</a:t>
            </a:r>
            <a:r>
              <a:rPr lang="en-GB" altLang="zh-CN" sz="1400" dirty="0"/>
              <a:t>[</a:t>
            </a:r>
            <a:r>
              <a:rPr lang="en-GB" altLang="zh-CN" sz="1400" dirty="0" err="1"/>
              <a:t>idx</a:t>
            </a:r>
            <a:r>
              <a:rPr lang="en-GB" altLang="zh-CN" sz="1400" dirty="0"/>
              <a:t>], </a:t>
            </a:r>
            <a:r>
              <a:rPr lang="en-GB" altLang="zh-CN" sz="1400" dirty="0">
                <a:solidFill>
                  <a:srgbClr val="660099"/>
                </a:solidFill>
                <a:effectLst/>
              </a:rPr>
              <a:t>end</a:t>
            </a:r>
            <a:r>
              <a:rPr lang="en-GB" altLang="zh-CN" sz="1400" dirty="0"/>
              <a:t>=</a:t>
            </a:r>
            <a:r>
              <a:rPr lang="en-GB" altLang="zh-CN" sz="1400" b="1" dirty="0">
                <a:solidFill>
                  <a:srgbClr val="008000"/>
                </a:solidFill>
                <a:effectLst/>
              </a:rPr>
              <a:t>''</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构建预测函数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endParaRPr lang="zh-CN" altLang="en-US" dirty="0"/>
          </a:p>
        </p:txBody>
      </p:sp>
      <p:sp>
        <p:nvSpPr>
          <p:cNvPr id="5" name="文本框 4"/>
          <p:cNvSpPr txBox="1"/>
          <p:nvPr/>
        </p:nvSpPr>
        <p:spPr>
          <a:xfrm>
            <a:off x="1310641" y="1672713"/>
            <a:ext cx="6695760" cy="954107"/>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a:t>
            </a:r>
            <a:r>
              <a:rPr lang="zh-CN" altLang="en-US" sz="1400" dirty="0"/>
              <a:t>  </a:t>
            </a:r>
            <a:r>
              <a:rPr lang="en-US" altLang="zh-CN" sz="1400" dirty="0">
                <a:solidFill>
                  <a:srgbClr val="008001"/>
                </a:solidFill>
              </a:rPr>
              <a:t>#</a:t>
            </a:r>
            <a:r>
              <a:rPr lang="zh-CN" altLang="en-US" sz="1400" dirty="0">
                <a:solidFill>
                  <a:srgbClr val="008001"/>
                </a:solidFill>
              </a:rPr>
              <a:t> 调用预测函数</a:t>
            </a:r>
            <a:br>
              <a:rPr lang="en-GB" altLang="zh-CN" sz="1400" i="1" dirty="0">
                <a:solidFill>
                  <a:srgbClr val="808080"/>
                </a:solidFill>
                <a:effectLst/>
              </a:rPr>
            </a:br>
            <a:r>
              <a:rPr lang="en-GB" altLang="zh-CN" sz="1400" i="1" dirty="0">
                <a:solidFill>
                  <a:srgbClr val="808080"/>
                </a:solidFill>
                <a:effectLst/>
              </a:rPr>
              <a:t>    </a:t>
            </a:r>
            <a:r>
              <a:rPr lang="en-GB" altLang="zh-CN" sz="1400" dirty="0"/>
              <a:t>predict(</a:t>
            </a:r>
            <a:r>
              <a:rPr lang="en-GB" altLang="zh-CN" sz="1400" b="1" dirty="0">
                <a:solidFill>
                  <a:srgbClr val="008000"/>
                </a:solidFill>
                <a:effectLst/>
              </a:rPr>
              <a:t>'</a:t>
            </a:r>
            <a:r>
              <a:rPr lang="zh-CN" altLang="en-US" sz="1400" b="1" dirty="0">
                <a:solidFill>
                  <a:srgbClr val="008000"/>
                </a:solidFill>
                <a:effectLst/>
              </a:rPr>
              <a:t>分手</a:t>
            </a:r>
            <a:r>
              <a:rPr lang="en-US" altLang="zh-CN" sz="1400" b="1" dirty="0">
                <a:solidFill>
                  <a:srgbClr val="008000"/>
                </a:solidFill>
                <a:effectLst/>
              </a:rPr>
              <a:t>'</a:t>
            </a:r>
            <a:r>
              <a:rPr lang="en-US" altLang="zh-CN" sz="1400" dirty="0"/>
              <a:t>, </a:t>
            </a:r>
            <a:r>
              <a:rPr lang="en-US" altLang="zh-CN" sz="1400" dirty="0">
                <a:solidFill>
                  <a:srgbClr val="0000FF"/>
                </a:solidFill>
                <a:effectLst/>
              </a:rPr>
              <a:t>50</a:t>
            </a:r>
            <a:r>
              <a:rPr lang="en-US" altLang="zh-CN" sz="1400" dirty="0"/>
              <a:t>)</a:t>
            </a:r>
            <a:br>
              <a:rPr lang="en-US"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6" name="文本框 5"/>
          <p:cNvSpPr txBox="1"/>
          <p:nvPr/>
        </p:nvSpPr>
        <p:spPr>
          <a:xfrm>
            <a:off x="1310641" y="3123184"/>
            <a:ext cx="4785359" cy="2062103"/>
          </a:xfrm>
          <a:prstGeom prst="rect">
            <a:avLst/>
          </a:prstGeom>
          <a:noFill/>
        </p:spPr>
        <p:txBody>
          <a:bodyPr wrap="square">
            <a:spAutoFit/>
          </a:bodyPr>
          <a:lstStyle/>
          <a:p>
            <a:r>
              <a:rPr lang="zh-CN" altLang="en-US" sz="1600" dirty="0">
                <a:latin typeface="Alibaba PuHuiTi" pitchFamily="18" charset="-122"/>
                <a:ea typeface="Alibaba PuHuiTi" pitchFamily="18" charset="-122"/>
                <a:cs typeface="Alibaba PuHuiTi" pitchFamily="18" charset="-122"/>
              </a:rPr>
              <a:t>输出结果</a:t>
            </a:r>
            <a:r>
              <a:rPr lang="en-US" altLang="zh-CN" sz="1600" dirty="0">
                <a:latin typeface="Alibaba PuHuiTi" pitchFamily="18" charset="-122"/>
                <a:ea typeface="Alibaba PuHuiTi" pitchFamily="18" charset="-122"/>
                <a:cs typeface="Alibaba PuHuiTi" pitchFamily="18" charset="-122"/>
              </a:rPr>
              <a:t>:</a:t>
            </a:r>
            <a:endParaRPr lang="en-US" altLang="zh-CN" sz="1600" dirty="0">
              <a:latin typeface="Alibaba PuHuiTi" pitchFamily="18" charset="-122"/>
              <a:ea typeface="Alibaba PuHuiTi" pitchFamily="18" charset="-122"/>
              <a:cs typeface="Alibaba PuHuiTi" pitchFamily="18" charset="-122"/>
            </a:endParaRPr>
          </a:p>
          <a:p>
            <a:endParaRPr lang="en-US" altLang="zh-CN"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分手的话像语言暴力</a:t>
            </a:r>
            <a:endParaRPr lang="zh-CN" altLang="en-US"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 我已无能为力再提起 决定中断熟悉</a:t>
            </a:r>
            <a:endParaRPr lang="zh-CN" altLang="en-US"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 然后在这里 不限日期</a:t>
            </a:r>
            <a:endParaRPr lang="zh-CN" altLang="en-US"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 然后将过去 慢慢温习</a:t>
            </a:r>
            <a:endParaRPr lang="zh-CN" altLang="en-US"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 让我爱上你 那场悲剧</a:t>
            </a:r>
            <a:endParaRPr lang="zh-CN" altLang="en-US" sz="1600" dirty="0">
              <a:latin typeface="Alibaba PuHuiTi" pitchFamily="18" charset="-122"/>
              <a:ea typeface="Alibaba PuHuiTi" pitchFamily="18" charset="-122"/>
              <a:cs typeface="Alibaba PuHuiTi" pitchFamily="18" charset="-122"/>
            </a:endParaRPr>
          </a:p>
          <a:p>
            <a:r>
              <a:rPr lang="zh-CN" altLang="en-US" sz="1600" dirty="0">
                <a:latin typeface="Alibaba PuHuiTi" pitchFamily="18" charset="-122"/>
                <a:ea typeface="Alibaba PuHuiTi" pitchFamily="18" charset="-122"/>
                <a:cs typeface="Alibaba PuHuiTi" pitchFamily="18" charset="-122"/>
              </a:rPr>
              <a:t> 是你完美演出的一场戏</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463040"/>
            <a:ext cx="6648856" cy="4511040"/>
          </a:xfrm>
        </p:spPr>
        <p:txBody>
          <a:bodyPr/>
          <a:lstStyle/>
          <a:p>
            <a:pPr marL="0" indent="0" algn="l">
              <a:buNone/>
            </a:pPr>
            <a:r>
              <a:rPr lang="zh-CN" altLang="en-US" b="0" i="0" dirty="0">
                <a:solidFill>
                  <a:srgbClr val="333333"/>
                </a:solidFill>
                <a:effectLst/>
                <a:latin typeface="Helvetica Neue"/>
              </a:rPr>
              <a:t>构建了一个</a:t>
            </a:r>
            <a:r>
              <a:rPr lang="en-US" altLang="zh-CN" b="0" i="0" dirty="0">
                <a:solidFill>
                  <a:srgbClr val="333333"/>
                </a:solidFill>
                <a:effectLst/>
                <a:latin typeface="Helvetica Neue"/>
              </a:rPr>
              <a:t>《</a:t>
            </a:r>
            <a:r>
              <a:rPr lang="zh-CN" altLang="en-US" b="0" i="0" dirty="0">
                <a:solidFill>
                  <a:srgbClr val="333333"/>
                </a:solidFill>
                <a:effectLst/>
                <a:latin typeface="Helvetica Neue"/>
              </a:rPr>
              <a:t>歌词生成</a:t>
            </a:r>
            <a:r>
              <a:rPr lang="en-US" altLang="zh-CN" b="0" i="0" dirty="0">
                <a:solidFill>
                  <a:srgbClr val="333333"/>
                </a:solidFill>
                <a:effectLst/>
                <a:latin typeface="Helvetica Neue"/>
              </a:rPr>
              <a:t>》</a:t>
            </a:r>
            <a:r>
              <a:rPr lang="zh-CN" altLang="en-US" b="0" i="0" dirty="0">
                <a:solidFill>
                  <a:srgbClr val="333333"/>
                </a:solidFill>
                <a:effectLst/>
                <a:latin typeface="Helvetica Neue"/>
              </a:rPr>
              <a:t>的项目，该项目的实现流程如下</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构建词汇表</a:t>
            </a:r>
            <a:endParaRPr lang="zh-CN" altLang="en-US"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构建数据对象</a:t>
            </a:r>
            <a:endParaRPr lang="zh-CN" altLang="en-US"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编写网络模型</a:t>
            </a:r>
            <a:endParaRPr lang="zh-CN" altLang="en-US"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编写训练函数</a:t>
            </a:r>
            <a:endParaRPr lang="zh-CN" altLang="en-US" b="0" i="0" dirty="0">
              <a:solidFill>
                <a:srgbClr val="333333"/>
              </a:solidFill>
              <a:effectLst/>
              <a:latin typeface="Helvetica Neue"/>
            </a:endParaRPr>
          </a:p>
          <a:p>
            <a:pPr algn="l">
              <a:buFont typeface="+mj-lt"/>
              <a:buAutoNum type="arabicPeriod"/>
            </a:pPr>
            <a:r>
              <a:rPr lang="zh-CN" altLang="en-US" b="0" i="0" dirty="0">
                <a:solidFill>
                  <a:srgbClr val="333333"/>
                </a:solidFill>
                <a:effectLst/>
                <a:latin typeface="Helvetica Neue"/>
              </a:rPr>
              <a:t>编写预测函数</a:t>
            </a:r>
            <a:endParaRPr lang="zh-CN" altLang="en-US" b="0" i="0" dirty="0">
              <a:solidFill>
                <a:srgbClr val="333333"/>
              </a:solidFill>
              <a:effectLst/>
              <a:latin typeface="Helvetica Neue"/>
            </a:endParaRPr>
          </a:p>
          <a:p>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COMMONDATA" val="eyJoZGlkIjoiNDA0ZTUxM2YxNWFkZDlkNTZiNWZhYzlkMjQxNWY2ZTMifQ=="/>
  <p:tag name="KSO_WPP_MARK_KEY" val="a19b803a-04f7-49ad-a517-4f4615f57881"/>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11660</Words>
  <Application>WPS 演示</Application>
  <PresentationFormat>宽屏</PresentationFormat>
  <Paragraphs>515</Paragraphs>
  <Slides>50</Slides>
  <Notes>5</Notes>
  <HiddenSlides>0</HiddenSlides>
  <MMClips>0</MMClips>
  <ScaleCrop>false</ScaleCrop>
  <HeadingPairs>
    <vt:vector size="6" baseType="variant">
      <vt:variant>
        <vt:lpstr>已用的字体</vt:lpstr>
      </vt:variant>
      <vt:variant>
        <vt:i4>24</vt:i4>
      </vt:variant>
      <vt:variant>
        <vt:lpstr>主题</vt:lpstr>
      </vt:variant>
      <vt:variant>
        <vt:i4>11</vt:i4>
      </vt:variant>
      <vt:variant>
        <vt:lpstr>幻灯片标题</vt:lpstr>
      </vt:variant>
      <vt:variant>
        <vt:i4>50</vt:i4>
      </vt:variant>
    </vt:vector>
  </HeadingPairs>
  <TitlesOfParts>
    <vt:vector size="85" baseType="lpstr">
      <vt:lpstr>Arial</vt:lpstr>
      <vt:lpstr>宋体</vt:lpstr>
      <vt:lpstr>Wingdings</vt:lpstr>
      <vt:lpstr>Calibri</vt:lpstr>
      <vt:lpstr>黑体</vt:lpstr>
      <vt:lpstr>阿里巴巴普惠体 B</vt:lpstr>
      <vt:lpstr>阿里巴巴普惠体 R</vt:lpstr>
      <vt:lpstr>Segoe UI</vt:lpstr>
      <vt:lpstr>微软雅黑</vt:lpstr>
      <vt:lpstr>Verdana</vt:lpstr>
      <vt:lpstr>阿里巴巴普惠体</vt:lpstr>
      <vt:lpstr>阿里巴巴普惠体 M</vt:lpstr>
      <vt:lpstr>Segoe UI Light</vt:lpstr>
      <vt:lpstr>微软雅黑 Light</vt:lpstr>
      <vt:lpstr>华文楷体</vt:lpstr>
      <vt:lpstr>Wingdings</vt:lpstr>
      <vt:lpstr>Alibaba PuHuiTi</vt:lpstr>
      <vt:lpstr>Helvetica Neue</vt:lpstr>
      <vt:lpstr>Open Sans</vt:lpstr>
      <vt:lpstr>阿里巴巴普惠体</vt:lpstr>
      <vt:lpstr>Arial Unicode MS</vt:lpstr>
      <vt:lpstr>等线</vt:lpstr>
      <vt:lpstr>Roboto</vt:lpstr>
      <vt:lpstr>Segoe Print</vt:lpstr>
      <vt:lpstr>封面2</vt:lpstr>
      <vt:lpstr>目录</vt:lpstr>
      <vt:lpstr>学习目标</vt:lpstr>
      <vt:lpstr>章节页版式（一级+二级标题）</vt:lpstr>
      <vt:lpstr>章节页版式（一级标题）</vt:lpstr>
      <vt:lpstr>正文设计方案</vt:lpstr>
      <vt:lpstr>1_自定义设计方案</vt:lpstr>
      <vt:lpstr>自定义设计方案</vt:lpstr>
      <vt:lpstr>5_结束页设计方案</vt:lpstr>
      <vt:lpstr>1_正文设计方案</vt:lpstr>
      <vt:lpstr>45_学习目标</vt:lpstr>
      <vt:lpstr>循环神经网络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老酒</cp:lastModifiedBy>
  <cp:revision>2064</cp:revision>
  <dcterms:created xsi:type="dcterms:W3CDTF">2022-09-27T09:38:00Z</dcterms:created>
  <dcterms:modified xsi:type="dcterms:W3CDTF">2025-05-04T15:34:47Z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8F3BE0D789E24AA8A6562930946781AC</vt:lpwstr>
  </property>
  <property fmtid="{D5CDD505-2E9C-101B-9397-08002B2CF9AE}" pid="3" name="KSOProductBuildVer">
    <vt:lpwstr>2052-12.1.0.20784</vt:lpwstr>
  </property>
  <property fmtid="{D5CDD505-2E9C-101B-9397-08002B2CF9AE}" pid="4" name="commondata">
    <vt:lpwstr>eyJoZGlkIjoiMDAzZmIwZjU2YjM3ZmIyZjYxNWQ1NTViMjdhYzBlM2EifQ==</vt:lpwstr>
  </property>
</Properties>
</file>