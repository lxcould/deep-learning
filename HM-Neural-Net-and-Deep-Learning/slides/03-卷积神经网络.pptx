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89" r:id="rId8"/>
    <p:sldMasterId id="2147483701" r:id="rId9"/>
    <p:sldMasterId id="2147483713" r:id="rId10"/>
    <p:sldMasterId id="2147483715" r:id="rId11"/>
    <p:sldMasterId id="2147483734" r:id="rId12"/>
  </p:sldMasterIdLst>
  <p:notesMasterIdLst>
    <p:notesMasterId r:id="rId14"/>
  </p:notesMasterIdLst>
  <p:handoutMasterIdLst>
    <p:handoutMasterId r:id="rId67"/>
  </p:handoutMasterIdLst>
  <p:sldIdLst>
    <p:sldId id="462" r:id="rId13"/>
    <p:sldId id="479" r:id="rId15"/>
    <p:sldId id="1568" r:id="rId16"/>
    <p:sldId id="1794" r:id="rId17"/>
    <p:sldId id="1795" r:id="rId18"/>
    <p:sldId id="1796" r:id="rId19"/>
    <p:sldId id="1839" r:id="rId20"/>
    <p:sldId id="1797" r:id="rId21"/>
    <p:sldId id="1798" r:id="rId22"/>
    <p:sldId id="1661" r:id="rId23"/>
    <p:sldId id="1885" r:id="rId24"/>
    <p:sldId id="1840" r:id="rId25"/>
    <p:sldId id="1800" r:id="rId26"/>
    <p:sldId id="1801" r:id="rId27"/>
    <p:sldId id="1662" r:id="rId28"/>
    <p:sldId id="1802" r:id="rId29"/>
    <p:sldId id="1804" r:id="rId30"/>
    <p:sldId id="1805" r:id="rId31"/>
    <p:sldId id="1806" r:id="rId32"/>
    <p:sldId id="1807" r:id="rId33"/>
    <p:sldId id="1808" r:id="rId34"/>
    <p:sldId id="1809" r:id="rId35"/>
    <p:sldId id="1810" r:id="rId36"/>
    <p:sldId id="1811" r:id="rId37"/>
    <p:sldId id="1812" r:id="rId38"/>
    <p:sldId id="1841" r:id="rId39"/>
    <p:sldId id="1816" r:id="rId40"/>
    <p:sldId id="1817" r:id="rId41"/>
    <p:sldId id="1675" r:id="rId42"/>
    <p:sldId id="1819" r:id="rId43"/>
    <p:sldId id="1818" r:id="rId44"/>
    <p:sldId id="1820" r:id="rId45"/>
    <p:sldId id="1821" r:id="rId46"/>
    <p:sldId id="1822" r:id="rId47"/>
    <p:sldId id="1842" r:id="rId48"/>
    <p:sldId id="1843" r:id="rId49"/>
    <p:sldId id="1826" r:id="rId50"/>
    <p:sldId id="1827" r:id="rId51"/>
    <p:sldId id="1828" r:id="rId52"/>
    <p:sldId id="1845" r:id="rId53"/>
    <p:sldId id="1844" r:id="rId54"/>
    <p:sldId id="1829" r:id="rId55"/>
    <p:sldId id="1831" r:id="rId56"/>
    <p:sldId id="1833" r:id="rId57"/>
    <p:sldId id="1832" r:id="rId58"/>
    <p:sldId id="1834" r:id="rId59"/>
    <p:sldId id="1846" r:id="rId60"/>
    <p:sldId id="1848" r:id="rId61"/>
    <p:sldId id="1835" r:id="rId62"/>
    <p:sldId id="1836" r:id="rId63"/>
    <p:sldId id="1849" r:id="rId64"/>
    <p:sldId id="1837" r:id="rId65"/>
    <p:sldId id="264" r:id="rId66"/>
  </p:sldIdLst>
  <p:sldSz cx="12192000" cy="6858000"/>
  <p:notesSz cx="6858000" cy="9144000"/>
  <p:custDataLst>
    <p:tags r:id="rId7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1"/>
    <a:srgbClr val="FFFFFF"/>
    <a:srgbClr val="AD2A26"/>
    <a:srgbClr val="AD2B26"/>
    <a:srgbClr val="49504F"/>
    <a:srgbClr val="B60206"/>
    <a:srgbClr val="B70006"/>
    <a:srgbClr val="FFFFE4"/>
    <a:srgbClr val="919191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21" autoAdjust="0"/>
    <p:restoredTop sz="95344" autoAdjust="0"/>
  </p:normalViewPr>
  <p:slideViewPr>
    <p:cSldViewPr snapToGrid="0" showGuides="1">
      <p:cViewPr varScale="1">
        <p:scale>
          <a:sx n="108" d="100"/>
          <a:sy n="108" d="100"/>
        </p:scale>
        <p:origin x="240" y="528"/>
      </p:cViewPr>
      <p:guideLst>
        <p:guide orient="horz" pos="592"/>
        <p:guide pos="3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2" Type="http://schemas.openxmlformats.org/officeDocument/2006/relationships/tags" Target="tags/tag1.xml"/><Relationship Id="rId71" Type="http://schemas.openxmlformats.org/officeDocument/2006/relationships/commentAuthors" Target="commentAuthors.xml"/><Relationship Id="rId70" Type="http://schemas.openxmlformats.org/officeDocument/2006/relationships/tableStyles" Target="tableStyles.xml"/><Relationship Id="rId7" Type="http://schemas.openxmlformats.org/officeDocument/2006/relationships/slideMaster" Target="slideMasters/slideMaster6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53.xml"/><Relationship Id="rId65" Type="http://schemas.openxmlformats.org/officeDocument/2006/relationships/slide" Target="slides/slide52.xml"/><Relationship Id="rId64" Type="http://schemas.openxmlformats.org/officeDocument/2006/relationships/slide" Target="slides/slide51.xml"/><Relationship Id="rId63" Type="http://schemas.openxmlformats.org/officeDocument/2006/relationships/slide" Target="slides/slide50.xml"/><Relationship Id="rId62" Type="http://schemas.openxmlformats.org/officeDocument/2006/relationships/slide" Target="slides/slide49.xml"/><Relationship Id="rId61" Type="http://schemas.openxmlformats.org/officeDocument/2006/relationships/slide" Target="slides/slide48.xml"/><Relationship Id="rId60" Type="http://schemas.openxmlformats.org/officeDocument/2006/relationships/slide" Target="slides/slide4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6.xml"/><Relationship Id="rId58" Type="http://schemas.openxmlformats.org/officeDocument/2006/relationships/slide" Target="slides/slide45.xml"/><Relationship Id="rId57" Type="http://schemas.openxmlformats.org/officeDocument/2006/relationships/slide" Target="slides/slide44.xml"/><Relationship Id="rId56" Type="http://schemas.openxmlformats.org/officeDocument/2006/relationships/slide" Target="slides/slide43.xml"/><Relationship Id="rId55" Type="http://schemas.openxmlformats.org/officeDocument/2006/relationships/slide" Target="slides/slide42.xml"/><Relationship Id="rId54" Type="http://schemas.openxmlformats.org/officeDocument/2006/relationships/slide" Target="slides/slide41.xml"/><Relationship Id="rId53" Type="http://schemas.openxmlformats.org/officeDocument/2006/relationships/slide" Target="slides/slide40.xml"/><Relationship Id="rId52" Type="http://schemas.openxmlformats.org/officeDocument/2006/relationships/slide" Target="slides/slide39.xml"/><Relationship Id="rId51" Type="http://schemas.openxmlformats.org/officeDocument/2006/relationships/slide" Target="slides/slide38.xml"/><Relationship Id="rId50" Type="http://schemas.openxmlformats.org/officeDocument/2006/relationships/slide" Target="slides/slide3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6.xml"/><Relationship Id="rId48" Type="http://schemas.openxmlformats.org/officeDocument/2006/relationships/slide" Target="slides/slide35.xml"/><Relationship Id="rId47" Type="http://schemas.openxmlformats.org/officeDocument/2006/relationships/slide" Target="slides/slide34.xml"/><Relationship Id="rId46" Type="http://schemas.openxmlformats.org/officeDocument/2006/relationships/slide" Target="slides/slide33.xml"/><Relationship Id="rId45" Type="http://schemas.openxmlformats.org/officeDocument/2006/relationships/slide" Target="slides/slide32.xml"/><Relationship Id="rId44" Type="http://schemas.openxmlformats.org/officeDocument/2006/relationships/slide" Target="slides/slide31.xml"/><Relationship Id="rId43" Type="http://schemas.openxmlformats.org/officeDocument/2006/relationships/slide" Target="slides/slide30.xml"/><Relationship Id="rId42" Type="http://schemas.openxmlformats.org/officeDocument/2006/relationships/slide" Target="slides/slide29.xml"/><Relationship Id="rId41" Type="http://schemas.openxmlformats.org/officeDocument/2006/relationships/slide" Target="slides/slide28.xml"/><Relationship Id="rId40" Type="http://schemas.openxmlformats.org/officeDocument/2006/relationships/slide" Target="slides/slide2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6.xml"/><Relationship Id="rId38" Type="http://schemas.openxmlformats.org/officeDocument/2006/relationships/slide" Target="slides/slide25.xml"/><Relationship Id="rId37" Type="http://schemas.openxmlformats.org/officeDocument/2006/relationships/slide" Target="slides/slide24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1" Type="http://schemas.openxmlformats.org/officeDocument/2006/relationships/theme" Target="../theme/theme6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0" Type="http://schemas.openxmlformats.org/officeDocument/2006/relationships/theme" Target="../theme/theme10.xml"/><Relationship Id="rId2" Type="http://schemas.openxmlformats.org/officeDocument/2006/relationships/slideLayout" Target="../slideLayouts/slideLayout6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6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3.xml"/><Relationship Id="rId1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zh-CN" altLang="en-US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卷积神经网络</a:t>
            </a:r>
            <a:r>
              <a:rPr lang="en-US" altLang="zh-CN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CNN</a:t>
            </a:r>
            <a:endParaRPr lang="zh-CN" altLang="en-US" sz="6600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207" y="1278385"/>
            <a:ext cx="5973445" cy="2885242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图像基础知识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卷积神经网络</a:t>
            </a:r>
            <a:r>
              <a:rPr kumimoji="1" lang="en-US" altLang="zh-CN" sz="1600" dirty="0">
                <a:sym typeface="+mn-ea"/>
              </a:rPr>
              <a:t>(CNN)</a:t>
            </a:r>
            <a:r>
              <a:rPr kumimoji="1" lang="zh-CN" altLang="en-US" sz="1600" dirty="0">
                <a:sym typeface="+mn-ea"/>
              </a:rPr>
              <a:t>概述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卷积层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池化层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图像分类案例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8369" y="1536564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知道图像的基本概念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掌握使用</a:t>
            </a:r>
            <a:r>
              <a:rPr lang="en-US" altLang="zh-CN" dirty="0">
                <a:solidFill>
                  <a:schemeClr val="tx1"/>
                </a:solidFill>
              </a:rPr>
              <a:t>matplotlib</a:t>
            </a:r>
            <a:r>
              <a:rPr lang="zh-CN" altLang="en-US" dirty="0">
                <a:solidFill>
                  <a:schemeClr val="tx1"/>
                </a:solidFill>
              </a:rPr>
              <a:t>加载图片方法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图像基本概念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effectLst/>
                <a:latin typeface="Roboto" panose="02000000000000000000" pitchFamily="2" charset="0"/>
              </a:rPr>
              <a:t>图像是由像素点组成的，每个像素点的取值范围为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: [0, 255]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。像素值越接近于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0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，颜色越暗，接近于黑色；像素值越接近于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255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，颜色越亮，接近于白色。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zh-CN" altLang="en-US" b="0" i="0" dirty="0">
                <a:effectLst/>
                <a:latin typeface="Roboto" panose="02000000000000000000" pitchFamily="2" charset="0"/>
              </a:rPr>
              <a:t>在深度学习中，我们使用的图像大多是彩色图，彩色图由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RGB3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个通道组成，如下图所示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003" y="3145118"/>
            <a:ext cx="6458997" cy="3233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图像的加载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使用 </a:t>
            </a:r>
            <a:r>
              <a:rPr lang="en-US" altLang="zh-CN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matplotlib </a:t>
            </a: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库来实际理解下上面讲解的图像知识。</a:t>
            </a:r>
            <a:endParaRPr lang="zh-CN" altLang="en-US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30577" y="1974461"/>
            <a:ext cx="5529703" cy="444224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numpy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np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matplotlib.pyplot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像素值的理解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test01():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数组是黑色的图像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np.zeros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([200, 200, 3])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展示图像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plt.imshow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255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数组是白色的图像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np.full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([200, 200, 3], 255)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展示图像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plt.imshow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507605" y="2267946"/>
            <a:ext cx="5133015" cy="4148757"/>
            <a:chOff x="6507605" y="2267946"/>
            <a:chExt cx="5133015" cy="414875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07605" y="2267946"/>
              <a:ext cx="4973515" cy="3779378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6507605" y="5198724"/>
              <a:ext cx="5133015" cy="12179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图像的加载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zh-CN" altLang="en-US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10880" y="2274115"/>
            <a:ext cx="4641936" cy="317009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图像的加载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test02():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读取图像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plt.imread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("data/img.jpg")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图像形状 高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宽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通道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图像的形状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(H, W, C):\n",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img.shape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展示图像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plt.imshow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img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plt.axis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("off")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186" y="2952748"/>
            <a:ext cx="3201178" cy="31700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186" y="1512798"/>
            <a:ext cx="3319608" cy="1181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</a:t>
            </a:r>
            <a:r>
              <a:rPr kumimoji="1" lang="zh-CN" altLang="en-US" dirty="0"/>
              <a:t>、图像的构成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由像素点构成，</a:t>
            </a:r>
            <a:r>
              <a:rPr kumimoji="1" lang="en-US" altLang="zh-CN" dirty="0"/>
              <a:t>【0-255】</a:t>
            </a:r>
            <a:r>
              <a:rPr kumimoji="1" lang="zh-CN" altLang="en-US" dirty="0"/>
              <a:t>，</a:t>
            </a:r>
            <a:r>
              <a:rPr kumimoji="1" lang="en-US" altLang="zh-CN" dirty="0"/>
              <a:t>RGB</a:t>
            </a:r>
            <a:r>
              <a:rPr kumimoji="1" lang="zh-CN" altLang="en-US" dirty="0"/>
              <a:t>，</a:t>
            </a:r>
            <a:r>
              <a:rPr kumimoji="1" lang="en-US" altLang="zh-CN" dirty="0"/>
              <a:t>【HWC】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</a:t>
            </a:r>
            <a:r>
              <a:rPr kumimoji="1" lang="zh-CN" altLang="en-US" dirty="0"/>
              <a:t>、图像的加载方法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 err="1"/>
              <a:t>Plt.imread</a:t>
            </a:r>
            <a:r>
              <a:rPr kumimoji="1" lang="en-US" altLang="zh-CN" dirty="0"/>
              <a:t>()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 err="1"/>
              <a:t>Plt.imshow</a:t>
            </a:r>
            <a:r>
              <a:rPr kumimoji="1" lang="en-US" altLang="zh-CN" dirty="0"/>
              <a:t>()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207" y="1278385"/>
            <a:ext cx="5973445" cy="2885242"/>
          </a:xfrm>
        </p:spPr>
        <p:txBody>
          <a:bodyPr/>
          <a:lstStyle/>
          <a:p>
            <a:r>
              <a:rPr kumimoji="1" lang="zh-CN" altLang="en-US" sz="1600" dirty="0">
                <a:sym typeface="+mn-ea"/>
              </a:rPr>
              <a:t>图像基础知识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卷积神经网络（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CNN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）概述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卷积层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池化层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图像分类案例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9191" y="2050272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知道什么是卷积神经网络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知道卷积神经网络组成部分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CNN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卷积神经网络（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Convolutional Neural Network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）是含有卷积层的神经网络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 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卷积层的作用就是用来自动学习、提取图像的特征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CNN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网络主要由三部分构成：卷积层、池化层和全连接层构成：</a:t>
            </a:r>
            <a:endParaRPr lang="zh-CN" altLang="en-US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卷积层负责提取图像中的局部特征；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池化层用来大幅降低参数量级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降维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全连接层用来输出想要的结果。</a:t>
            </a:r>
            <a:endParaRPr lang="zh-CN" altLang="en-US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CNN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457325"/>
            <a:ext cx="10926445" cy="540067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/>
              <a:t>图中</a:t>
            </a:r>
            <a:r>
              <a:rPr lang="en-US" altLang="zh-CN"/>
              <a:t>CNN</a:t>
            </a:r>
            <a:r>
              <a:rPr lang="zh-CN" altLang="en-US"/>
              <a:t>要做的事情是：给定一张图片，是车还是马未知，是什么车也未知，现在需要模型判断这张图片里具体是一个什么东西，总之输出一个结果：如果是车</a:t>
            </a:r>
            <a:r>
              <a:rPr lang="en-US" altLang="zh-CN"/>
              <a:t> </a:t>
            </a:r>
            <a:r>
              <a:rPr lang="zh-CN" altLang="en-US"/>
              <a:t>那是什么车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zh-CN" altLang="en-US"/>
              <a:t>最左边是</a:t>
            </a:r>
            <a:endParaRPr lang="zh-CN" altLang="en-US"/>
          </a:p>
          <a:p>
            <a:pPr>
              <a:spcBef>
                <a:spcPct val="0"/>
              </a:spcBef>
            </a:pPr>
            <a:r>
              <a:rPr lang="zh-CN" altLang="en-US"/>
              <a:t>数据输入层：对数据做一些处理，比如去均值（各维度都减对应维度的均值，使得输入数据各个维度都中心化为</a:t>
            </a:r>
            <a:r>
              <a:rPr lang="en-US" altLang="zh-CN"/>
              <a:t>0</a:t>
            </a:r>
            <a:r>
              <a:rPr lang="zh-CN" altLang="en-US"/>
              <a:t>，避免数据过多偏差，影响训练效果）、归一化（把所有的数据都归一到同样的范围）、</a:t>
            </a:r>
            <a:r>
              <a:rPr lang="en-US" altLang="zh-CN"/>
              <a:t>PCA</a:t>
            </a:r>
            <a:r>
              <a:rPr lang="zh-CN" altLang="en-US"/>
              <a:t>等等。</a:t>
            </a:r>
            <a:r>
              <a:rPr lang="en-US" altLang="zh-CN"/>
              <a:t>CNN</a:t>
            </a:r>
            <a:r>
              <a:rPr lang="zh-CN" altLang="en-US"/>
              <a:t>只对训练集做</a:t>
            </a:r>
            <a:r>
              <a:rPr lang="en-US" altLang="zh-CN"/>
              <a:t>“</a:t>
            </a:r>
            <a:r>
              <a:rPr lang="zh-CN" altLang="en-US"/>
              <a:t>去均值</a:t>
            </a:r>
            <a:r>
              <a:rPr lang="en-US" altLang="zh-CN"/>
              <a:t>”</a:t>
            </a:r>
            <a:r>
              <a:rPr lang="zh-CN" altLang="en-US"/>
              <a:t>这一步。</a:t>
            </a:r>
            <a:endParaRPr lang="zh-CN" altLang="en-US"/>
          </a:p>
          <a:p>
            <a:pPr>
              <a:spcBef>
                <a:spcPct val="0"/>
              </a:spcBef>
            </a:pPr>
            <a:r>
              <a:rPr lang="zh-CN" altLang="en-US"/>
              <a:t>中间是</a:t>
            </a:r>
            <a:endParaRPr lang="zh-CN" altLang="en-US"/>
          </a:p>
          <a:p>
            <a:pPr>
              <a:spcBef>
                <a:spcPct val="0"/>
              </a:spcBef>
            </a:pPr>
            <a:r>
              <a:rPr lang="zh-CN" altLang="en-US"/>
              <a:t>卷积层</a:t>
            </a:r>
            <a:r>
              <a:rPr lang="en-US" altLang="zh-CN"/>
              <a:t>(CONV)</a:t>
            </a:r>
            <a:r>
              <a:rPr lang="zh-CN" altLang="en-US"/>
              <a:t>：线性乘积求和，提取图像中的局部特征</a:t>
            </a:r>
            <a:endParaRPr lang="zh-CN" altLang="en-US"/>
          </a:p>
          <a:p>
            <a:pPr>
              <a:spcBef>
                <a:spcPct val="0"/>
              </a:spcBef>
            </a:pPr>
            <a:r>
              <a:rPr lang="zh-CN" altLang="en-US"/>
              <a:t>激励层</a:t>
            </a:r>
            <a:r>
              <a:rPr lang="en-US" altLang="zh-CN"/>
              <a:t>(RELU)</a:t>
            </a:r>
            <a:r>
              <a:rPr lang="zh-CN" altLang="en-US"/>
              <a:t>：</a:t>
            </a:r>
            <a:r>
              <a:rPr lang="en-US" altLang="zh-CN"/>
              <a:t>ReLU</a:t>
            </a:r>
            <a:r>
              <a:rPr lang="zh-CN" altLang="en-US"/>
              <a:t>激活函数</a:t>
            </a:r>
            <a:r>
              <a:rPr lang="en-US" altLang="zh-CN"/>
              <a:t>,</a:t>
            </a:r>
            <a:r>
              <a:rPr lang="zh-CN" altLang="en-US"/>
              <a:t>输入数据转换成输出数据</a:t>
            </a:r>
            <a:endParaRPr lang="zh-CN" altLang="en-US"/>
          </a:p>
          <a:p>
            <a:pPr>
              <a:spcBef>
                <a:spcPct val="0"/>
              </a:spcBef>
            </a:pPr>
            <a:r>
              <a:rPr lang="zh-CN" altLang="en-US"/>
              <a:t>池化层</a:t>
            </a:r>
            <a:r>
              <a:rPr lang="en-US" altLang="zh-CN"/>
              <a:t>(POOL)</a:t>
            </a:r>
            <a:r>
              <a:rPr lang="zh-CN" altLang="en-US"/>
              <a:t>：取区域平均值或最大值，大幅降低参数量级</a:t>
            </a:r>
            <a:r>
              <a:rPr lang="en-US" altLang="zh-CN"/>
              <a:t>(</a:t>
            </a:r>
            <a:r>
              <a:rPr lang="zh-CN" altLang="en-US"/>
              <a:t>降维</a:t>
            </a:r>
            <a:r>
              <a:rPr lang="en-US" altLang="zh-CN"/>
              <a:t>)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zh-CN" altLang="en-US"/>
              <a:t>最右边是</a:t>
            </a:r>
            <a:endParaRPr lang="zh-CN" altLang="en-US"/>
          </a:p>
          <a:p>
            <a:pPr>
              <a:spcBef>
                <a:spcPct val="0"/>
              </a:spcBef>
            </a:pPr>
            <a:r>
              <a:rPr lang="zh-CN" altLang="en-US"/>
              <a:t>全连接层</a:t>
            </a:r>
            <a:r>
              <a:rPr lang="en-US" altLang="zh-CN"/>
              <a:t>(FC)</a:t>
            </a:r>
            <a:r>
              <a:rPr lang="zh-CN" altLang="en-US"/>
              <a:t>：输出</a:t>
            </a:r>
            <a:r>
              <a:rPr lang="en-US" altLang="zh-CN"/>
              <a:t>CNN</a:t>
            </a:r>
            <a:r>
              <a:rPr lang="zh-CN" altLang="en-US"/>
              <a:t>模型预测结果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2866" y="3933583"/>
            <a:ext cx="6215787" cy="25959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什么是卷积神经网络？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包含卷积层的神经网络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卷积神经网络的构成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卷积层：特征提取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池化层：降维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全连接层：输出结果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207" y="1278385"/>
            <a:ext cx="5973445" cy="2885242"/>
          </a:xfrm>
        </p:spPr>
        <p:txBody>
          <a:bodyPr/>
          <a:lstStyle/>
          <a:p>
            <a:r>
              <a:rPr kumimoji="1" lang="zh-CN" altLang="en-US" sz="1600" dirty="0">
                <a:sym typeface="+mn-ea"/>
              </a:rPr>
              <a:t>图像基础知识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卷积神经网络</a:t>
            </a:r>
            <a:r>
              <a:rPr kumimoji="1" lang="en-US" altLang="zh-CN" sz="1600" dirty="0">
                <a:sym typeface="+mn-ea"/>
              </a:rPr>
              <a:t>(CNN)</a:t>
            </a:r>
            <a:r>
              <a:rPr kumimoji="1" lang="zh-CN" altLang="en-US" sz="1600" dirty="0">
                <a:sym typeface="+mn-ea"/>
              </a:rPr>
              <a:t>概述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卷积层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池化层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图像分类案例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5997" y="2618266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掌握卷积层计算过程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掌握特征图大小计算方法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zh-CN" altLang="en-US" dirty="0">
                <a:solidFill>
                  <a:schemeClr val="tx1"/>
                </a:solidFill>
              </a:rPr>
              <a:t>卷积层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卷积计算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input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表示输入的图像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filter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表示卷积核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也叫做卷积核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滤波矩阵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input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经过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filter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得到输出为最右侧的图像，该图叫做特征图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86" y="1974461"/>
            <a:ext cx="5753599" cy="2126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卷积计算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卷积运算本质上就是在卷积核和输入数据的局部区域间做点积。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最终的特征图结果为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: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0102" y="1828258"/>
            <a:ext cx="6180356" cy="227857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102" y="4662657"/>
            <a:ext cx="5806944" cy="21579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Padding</a:t>
            </a:r>
            <a:r>
              <a:rPr dirty="0"/>
              <a:t>（</a:t>
            </a:r>
            <a:r>
              <a:rPr dirty="0"/>
              <a:t>填充）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通过上面的卷积计算过程，最终的特征图比原始图像小很多，如果想要保持经过卷积后的图像大小不变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可以在原图周围添加 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padding 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来实现。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/>
              <a:t>padding</a:t>
            </a:r>
            <a:r>
              <a:rPr lang="zh-CN" altLang="en-US"/>
              <a:t>（填充）操作用于处理卷积时图像边缘的像素。</a:t>
            </a:r>
            <a:endParaRPr lang="zh-CN" altLang="en-US"/>
          </a:p>
          <a:p>
            <a:r>
              <a:rPr lang="zh-CN" altLang="en-US"/>
              <a:t>其目的是在输入图像的边界周围添加额外的像素（通常是零），从而解决卷积操作时边缘信息丢失的问题。</a:t>
            </a:r>
            <a:endParaRPr lang="zh-CN" altLang="en-US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6089" y="3428770"/>
            <a:ext cx="5118551" cy="31736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Stride</a:t>
            </a:r>
            <a:r>
              <a:rPr dirty="0"/>
              <a:t>（</a:t>
            </a:r>
            <a:r>
              <a:rPr dirty="0"/>
              <a:t>步长）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457325"/>
            <a:ext cx="10699115" cy="5956935"/>
          </a:xfrm>
        </p:spPr>
        <p:txBody>
          <a:bodyPr/>
          <a:lstStyle/>
          <a:p>
            <a:pPr algn="l"/>
            <a:r>
              <a:rPr lang="en-US" altLang="zh-CN"/>
              <a:t>stride</a:t>
            </a:r>
            <a:r>
              <a:rPr lang="zh-CN" altLang="en-US"/>
              <a:t>（步长）指的是卷积核在图像上滑动时的步伐大小，即每次卷积时卷积核在图像中向右（或向下）移动的像素数。步长直接影响卷积操作后输出特征图的尺寸，以及计算量和模型的特征提取能力。</a:t>
            </a:r>
            <a:endParaRPr lang="zh-CN" altLang="en-US"/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按照步长为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来移动卷积核，计算特征图如下所示：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如果把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Stride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增大为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，也是可以提取特征图的，如下图所示：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97" y="2682972"/>
            <a:ext cx="10948086" cy="168969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05" y="4867599"/>
            <a:ext cx="8996680" cy="17759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多通道卷积计算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实际中的图像都是多个通道组成的，我们怎么计算卷积呢？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</a:rPr>
              <a:t>如下图所示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257" y="1974461"/>
            <a:ext cx="4800998" cy="184753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4174490"/>
            <a:ext cx="5655310" cy="26835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多卷积核卷积计算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当使用多个卷积核时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应该怎么进行特征提取呢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?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108" y="2285296"/>
            <a:ext cx="8144692" cy="32075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多卷积核卷积计算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819" y="1457270"/>
            <a:ext cx="6451181" cy="51759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特征图大小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输出特征图的大小与以下参数息息相关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size: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卷积核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过滤器大小，一般会选择为奇数，比如有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*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3*3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5*5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Padding: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零填充的方式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Stride: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步长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那计算方法如下图所示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输入图像大小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W x W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卷积核大小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F x F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Stride: S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Padding: P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输出图像大小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N x N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42" y="5557209"/>
            <a:ext cx="2284492" cy="72141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特征图大小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以下图为例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图像大小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5 x 5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卷积核大小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3 x 3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Stride: 1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Padding: 1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(5 - 3 + 2) / 1 + 1 = 5,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即得到的特征图大小为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5 x 5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9696" y="4104687"/>
            <a:ext cx="4061168" cy="25920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lang="zh-CN" altLang="en-US" dirty="0"/>
              <a:t>卷积层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b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82320" y="2333168"/>
            <a:ext cx="6967886" cy="285206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conv = nn.Conv2d(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in_channels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out_channels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kernel_size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stride, padding)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"""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参数说明：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in_channels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输入通道数，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out_channels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输出通道，也可以理解为卷积核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kernel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的数量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kernel_size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：卷积核的高和宽设置，一般为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3,5,7...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stride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：卷积核移动的步长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padding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：在四周加入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padding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的数量，默认补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"""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242" y="2709834"/>
            <a:ext cx="2319033" cy="21669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lang="zh-CN" altLang="en-US" dirty="0"/>
              <a:t>卷积层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b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752279" y="1457271"/>
            <a:ext cx="8149036" cy="526297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GB" altLang="zh-CN" sz="1400" dirty="0"/>
              <a:t>torch</a:t>
            </a:r>
            <a:br>
              <a:rPr lang="en-GB" altLang="zh-CN" sz="1400" dirty="0"/>
            </a:br>
            <a:r>
              <a:rPr lang="en-GB" altLang="zh-CN" sz="1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GB" altLang="zh-CN" sz="1400" dirty="0" err="1"/>
              <a:t>torch.nn</a:t>
            </a:r>
            <a:r>
              <a:rPr lang="en-GB" altLang="zh-CN" sz="1400" dirty="0"/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as </a:t>
            </a:r>
            <a:r>
              <a:rPr lang="en-GB" altLang="zh-CN" sz="1400" dirty="0" err="1"/>
              <a:t>nn</a:t>
            </a:r>
            <a:br>
              <a:rPr lang="en-GB" altLang="zh-CN" sz="1400" dirty="0"/>
            </a:br>
            <a:r>
              <a:rPr lang="en-GB" altLang="zh-CN" sz="14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GB" altLang="zh-CN" sz="1400" dirty="0" err="1"/>
              <a:t>matplotlib.pyplot</a:t>
            </a:r>
            <a:r>
              <a:rPr lang="en-GB" altLang="zh-CN" sz="1400" dirty="0"/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as </a:t>
            </a:r>
            <a:r>
              <a:rPr lang="en-GB" altLang="zh-CN" sz="1400" dirty="0" err="1"/>
              <a:t>plt</a:t>
            </a:r>
            <a:br>
              <a:rPr lang="en-GB" altLang="zh-CN" sz="1400" dirty="0"/>
            </a:br>
            <a:r>
              <a:rPr lang="en-GB" altLang="zh-CN" sz="14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400" dirty="0"/>
              <a:t>test():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读取图像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,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形状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: (640, 640, 3)</a:t>
            </a:r>
            <a:br>
              <a:rPr lang="en-US" altLang="zh-CN" sz="1400" i="1" dirty="0">
                <a:solidFill>
                  <a:srgbClr val="808080"/>
                </a:solidFill>
                <a:effectLst/>
              </a:rPr>
            </a:br>
            <a:r>
              <a:rPr lang="en-US" altLang="zh-CN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img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plt.imread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'data/</a:t>
            </a:r>
            <a:r>
              <a:rPr lang="en-GB" altLang="zh-CN" sz="1400" b="1" dirty="0" err="1">
                <a:solidFill>
                  <a:srgbClr val="008000"/>
                </a:solidFill>
                <a:effectLst/>
              </a:rPr>
              <a:t>img.jpg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plt.imshow</a:t>
            </a:r>
            <a:r>
              <a:rPr lang="en-GB" altLang="zh-CN" sz="1400" dirty="0"/>
              <a:t>(</a:t>
            </a:r>
            <a:r>
              <a:rPr lang="en-GB" altLang="zh-CN" sz="1400" dirty="0" err="1"/>
              <a:t>img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plt.axis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'off'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plt.show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构建卷积层</a:t>
            </a:r>
            <a:br>
              <a:rPr lang="zh-CN" altLang="en-US" sz="1400" i="1" dirty="0">
                <a:solidFill>
                  <a:srgbClr val="008001"/>
                </a:solidFill>
                <a:effectLst/>
              </a:rPr>
            </a:br>
            <a:r>
              <a:rPr lang="zh-CN" altLang="en-US" sz="1400" i="1" dirty="0">
                <a:solidFill>
                  <a:srgbClr val="008001"/>
                </a:solidFill>
                <a:effectLst/>
              </a:rPr>
              <a:t>    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en-GB" altLang="zh-CN" sz="1400" i="1" dirty="0" err="1">
                <a:solidFill>
                  <a:srgbClr val="008001"/>
                </a:solidFill>
                <a:effectLst/>
              </a:rPr>
              <a:t>out_channels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表示卷积核个数</a:t>
            </a:r>
            <a:br>
              <a:rPr lang="zh-CN" altLang="en-US" sz="1400" i="1" dirty="0">
                <a:solidFill>
                  <a:srgbClr val="008001"/>
                </a:solidFill>
                <a:effectLst/>
              </a:rPr>
            </a:br>
            <a:r>
              <a:rPr lang="zh-CN" altLang="en-US" sz="1400" i="1" dirty="0">
                <a:solidFill>
                  <a:srgbClr val="008001"/>
                </a:solidFill>
                <a:effectLst/>
              </a:rPr>
              <a:t>    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修改</a:t>
            </a:r>
            <a:r>
              <a:rPr lang="en-GB" altLang="zh-CN" sz="1400" i="1" dirty="0" err="1">
                <a:solidFill>
                  <a:srgbClr val="008001"/>
                </a:solidFill>
                <a:effectLst/>
              </a:rPr>
              <a:t>out_channels</a:t>
            </a:r>
            <a:r>
              <a:rPr lang="zh-CN" altLang="en-GB" sz="1400" i="1" dirty="0">
                <a:solidFill>
                  <a:srgbClr val="008001"/>
                </a:solidFill>
                <a:effectLst/>
              </a:rPr>
              <a:t>，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stride</a:t>
            </a:r>
            <a:r>
              <a:rPr lang="zh-CN" altLang="en-GB" sz="1400" i="1" dirty="0">
                <a:solidFill>
                  <a:srgbClr val="008001"/>
                </a:solidFill>
                <a:effectLst/>
              </a:rPr>
              <a:t>，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padding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观察特征图的变化情况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conv = nn.Conv2d(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in_channels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3</a:t>
            </a:r>
            <a:r>
              <a:rPr lang="en-GB" altLang="zh-CN" sz="1400" dirty="0"/>
              <a:t>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out_channels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3</a:t>
            </a:r>
            <a:r>
              <a:rPr lang="en-GB" altLang="zh-CN" sz="1400" dirty="0"/>
              <a:t>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kernel_size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3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stride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padding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输入形状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: (</a:t>
            </a:r>
            <a:r>
              <a:rPr lang="en-GB" altLang="zh-CN" sz="1400" i="1" dirty="0" err="1">
                <a:solidFill>
                  <a:srgbClr val="008001"/>
                </a:solidFill>
                <a:effectLst/>
              </a:rPr>
              <a:t>BatchSize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, Channel, Height, Width)</a:t>
            </a:r>
            <a:br>
              <a:rPr lang="en-GB" altLang="zh-CN" sz="1400" i="1" dirty="0">
                <a:solidFill>
                  <a:srgbClr val="008001"/>
                </a:solidFill>
                <a:effectLst/>
              </a:rPr>
            </a:br>
            <a:r>
              <a:rPr lang="en-GB" altLang="zh-CN" sz="1400" i="1" dirty="0">
                <a:solidFill>
                  <a:srgbClr val="008001"/>
                </a:solidFill>
                <a:effectLst/>
              </a:rPr>
              <a:t>    # mg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形状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: </a:t>
            </a:r>
            <a:r>
              <a:rPr lang="en-GB" altLang="zh-CN" sz="1400" i="1" dirty="0" err="1">
                <a:solidFill>
                  <a:srgbClr val="008001"/>
                </a:solidFill>
                <a:effectLst/>
              </a:rPr>
              <a:t>torch.Size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([3, 640, 640])</a:t>
            </a:r>
            <a:br>
              <a:rPr lang="en-GB" altLang="zh-CN" sz="1400" i="1" dirty="0">
                <a:solidFill>
                  <a:srgbClr val="808080"/>
                </a:solidFill>
                <a:effectLst/>
              </a:rPr>
            </a:br>
            <a:r>
              <a:rPr lang="en-GB" altLang="zh-CN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img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torch.tensor</a:t>
            </a:r>
            <a:r>
              <a:rPr lang="en-GB" altLang="zh-CN" sz="1400" dirty="0"/>
              <a:t>(</a:t>
            </a:r>
            <a:r>
              <a:rPr lang="en-GB" altLang="zh-CN" sz="1400" dirty="0" err="1"/>
              <a:t>img</a:t>
            </a:r>
            <a:r>
              <a:rPr lang="en-GB" altLang="zh-CN" sz="1400" dirty="0"/>
              <a:t>).permute(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en-GB" altLang="zh-CN" sz="1400" i="1" dirty="0" err="1">
                <a:solidFill>
                  <a:srgbClr val="008001"/>
                </a:solidFill>
                <a:effectLst/>
              </a:rPr>
              <a:t>img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形状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: </a:t>
            </a:r>
            <a:r>
              <a:rPr lang="en-GB" altLang="zh-CN" sz="1400" i="1" dirty="0" err="1">
                <a:solidFill>
                  <a:srgbClr val="008001"/>
                </a:solidFill>
                <a:effectLst/>
              </a:rPr>
              <a:t>torch.Size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([1, 3, 640, 640])</a:t>
            </a:r>
            <a:br>
              <a:rPr lang="en-GB" altLang="zh-CN" sz="1400" i="1" dirty="0">
                <a:solidFill>
                  <a:srgbClr val="808080"/>
                </a:solidFill>
                <a:effectLst/>
              </a:rPr>
            </a:br>
            <a:r>
              <a:rPr lang="en-GB" altLang="zh-CN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img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img.unsqueeze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将图像送入卷积层中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feature_map_img</a:t>
            </a:r>
            <a:r>
              <a:rPr lang="en-GB" altLang="zh-CN" sz="1400" dirty="0"/>
              <a:t> = conv(</a:t>
            </a:r>
            <a:r>
              <a:rPr lang="en-GB" altLang="zh-CN" sz="1400" dirty="0" err="1"/>
              <a:t>img.to</a:t>
            </a:r>
            <a:r>
              <a:rPr lang="en-GB" altLang="zh-CN" sz="1400" dirty="0"/>
              <a:t>(torch.float32))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打印特征图的形状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feature_map_img.shape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test()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tx1"/>
                </a:solidFill>
              </a:rPr>
              <a:t>卷积层计算过程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卷积运算本质上就是在卷积核和输入数据的局部区域间做点积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tx1"/>
                </a:solidFill>
              </a:rPr>
              <a:t>特征图大小计算方法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zh-CN" altLang="en-US" dirty="0">
                <a:solidFill>
                  <a:schemeClr val="tx1"/>
                </a:solidFill>
              </a:rPr>
              <a:t>卷积层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1864" y="4111367"/>
            <a:ext cx="2082800" cy="711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5542280"/>
            <a:ext cx="6972300" cy="43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207" y="1278385"/>
            <a:ext cx="5973445" cy="2885242"/>
          </a:xfrm>
        </p:spPr>
        <p:txBody>
          <a:bodyPr/>
          <a:lstStyle/>
          <a:p>
            <a:r>
              <a:rPr kumimoji="1" lang="zh-CN" altLang="en-US" sz="1600" dirty="0">
                <a:sym typeface="+mn-ea"/>
              </a:rPr>
              <a:t>图像基础知识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卷积神经网络</a:t>
            </a:r>
            <a:r>
              <a:rPr kumimoji="1" lang="en-US" altLang="zh-CN" sz="1600" dirty="0">
                <a:sym typeface="+mn-ea"/>
              </a:rPr>
              <a:t>(CNN)</a:t>
            </a:r>
            <a:r>
              <a:rPr kumimoji="1" lang="zh-CN" altLang="en-US" sz="1600" dirty="0">
                <a:sym typeface="+mn-ea"/>
              </a:rPr>
              <a:t>概述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卷积层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池化层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图像分类案例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5997" y="322389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掌握池化层计算过程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zh-CN" altLang="en-US" dirty="0">
                <a:solidFill>
                  <a:schemeClr val="tx1"/>
                </a:solidFill>
              </a:rPr>
              <a:t>池化层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池化层计算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池化层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(Pooling)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降低维度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1" dirty="0">
                <a:solidFill>
                  <a:srgbClr val="333333"/>
                </a:solidFill>
                <a:effectLst/>
                <a:latin typeface="Helvetica Neue"/>
              </a:rPr>
              <a:t>从而减少计算量、减少内存消耗，并提高模型的鲁棒性。</a:t>
            </a:r>
            <a:endParaRPr lang="zh-CN" altLang="en-US"/>
          </a:p>
          <a:p>
            <a:pPr algn="l"/>
            <a:r>
              <a:rPr lang="zh-CN" altLang="en-US"/>
              <a:t>池化层通常位于卷积层之后，它通过对卷积层输出的特征图进行下采样，保留最重要的特征信息，同时丢弃一些不重要的细节。</a:t>
            </a:r>
            <a:endParaRPr lang="zh-CN" altLang="en-US"/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790" y="2392680"/>
            <a:ext cx="4700270" cy="4465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Padding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9482" y="1457271"/>
            <a:ext cx="5776461" cy="496867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Stride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4624" y="1457271"/>
            <a:ext cx="5715495" cy="499915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多通道池化层计算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7305" y="1987550"/>
            <a:ext cx="4227195" cy="47237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14705" y="1457325"/>
            <a:ext cx="994727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在处理多通道输入数据时，池化层对每个输入通道分别池化，而不是像卷积层那样将各个通道的输入相加。这意味着池化层的输出和输入的通道数是相等。</a:t>
            </a:r>
            <a:endParaRPr lang="zh-CN" altLang="en-US" sz="1600" b="0" i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 err="1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池化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API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56415" y="1925092"/>
            <a:ext cx="6186860" cy="1261884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最大池化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nn.MaxPool2d(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kernel_size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=2, stride=2, padding=1)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平均池化</a:t>
            </a:r>
            <a:endParaRPr lang="zh-CN" altLang="en-US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nn.AvgPool2d(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kernel_size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=2, stride=1, padding=0)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 err="1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池化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API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层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39724" y="1778546"/>
            <a:ext cx="6701974" cy="449353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GB" altLang="zh-CN" sz="1600" dirty="0"/>
              <a:t>torch</a:t>
            </a:r>
            <a:br>
              <a:rPr lang="en-GB" altLang="zh-CN" sz="1600" dirty="0"/>
            </a:br>
            <a:r>
              <a:rPr lang="en-GB" altLang="zh-CN" sz="1600" b="1" dirty="0">
                <a:solidFill>
                  <a:srgbClr val="000080"/>
                </a:solidFill>
                <a:effectLst/>
              </a:rPr>
              <a:t>import </a:t>
            </a:r>
            <a:r>
              <a:rPr lang="en-GB" altLang="zh-CN" sz="1600" dirty="0" err="1"/>
              <a:t>torch.nn</a:t>
            </a:r>
            <a:r>
              <a:rPr lang="en-GB" altLang="zh-CN" sz="1600" dirty="0"/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as </a:t>
            </a:r>
            <a:r>
              <a:rPr lang="en-GB" altLang="zh-CN" sz="1600" dirty="0" err="1"/>
              <a:t>nn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i="1" dirty="0">
                <a:solidFill>
                  <a:srgbClr val="008001"/>
                </a:solidFill>
                <a:effectLst/>
              </a:rPr>
              <a:t># 1. </a:t>
            </a:r>
            <a:r>
              <a:rPr lang="zh-CN" altLang="en-GB" sz="1600" i="1" dirty="0">
                <a:solidFill>
                  <a:srgbClr val="008001"/>
                </a:solidFill>
              </a:rPr>
              <a:t>单通道</a:t>
            </a:r>
            <a:r>
              <a:rPr lang="zh-CN" altLang="en-US" sz="1600" i="1" dirty="0">
                <a:solidFill>
                  <a:srgbClr val="008001"/>
                </a:solidFill>
              </a:rPr>
              <a:t>池化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600" dirty="0"/>
              <a:t>test01():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定义输入输数据 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【1</a:t>
            </a:r>
            <a:r>
              <a:rPr lang="en-US" altLang="zh-CN" sz="1600" i="1" dirty="0">
                <a:solidFill>
                  <a:srgbClr val="008001"/>
                </a:solidFill>
              </a:rPr>
              <a:t>,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3,3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 </a:t>
            </a:r>
            <a:r>
              <a:rPr lang="en-US" altLang="zh-CN" sz="1600" i="1" dirty="0">
                <a:solidFill>
                  <a:srgbClr val="008001"/>
                </a:solidFill>
              </a:rPr>
              <a:t>】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/>
              <a:t>inputs = </a:t>
            </a:r>
            <a:r>
              <a:rPr lang="en-GB" altLang="zh-CN" sz="1600" dirty="0" err="1"/>
              <a:t>torch.tensor</a:t>
            </a:r>
            <a:r>
              <a:rPr lang="en-GB" altLang="zh-CN" sz="1600" dirty="0"/>
              <a:t>([[[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3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4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5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6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7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8</a:t>
            </a:r>
            <a:r>
              <a:rPr lang="en-GB" altLang="zh-CN" sz="1600" dirty="0"/>
              <a:t>]]]).float()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8001"/>
                </a:solidFill>
              </a:rPr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修改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stride</a:t>
            </a:r>
            <a:r>
              <a:rPr lang="zh-CN" altLang="en-GB" sz="1600" i="1" dirty="0">
                <a:solidFill>
                  <a:srgbClr val="008001"/>
                </a:solidFill>
                <a:effectLst/>
              </a:rPr>
              <a:t>，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padding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观察效果</a:t>
            </a:r>
            <a:br>
              <a:rPr lang="zh-CN" altLang="en-US" sz="1600" i="1" dirty="0">
                <a:solidFill>
                  <a:srgbClr val="008001"/>
                </a:solidFill>
                <a:effectLst/>
              </a:rPr>
            </a:br>
            <a:r>
              <a:rPr lang="zh-CN" altLang="en-US" sz="1600" i="1" dirty="0">
                <a:solidFill>
                  <a:srgbClr val="008001"/>
                </a:solidFill>
                <a:effectLst/>
              </a:rPr>
              <a:t>    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# 1.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最大池化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/>
              <a:t>polling = nn.MaxPool2d(</a:t>
            </a:r>
            <a:r>
              <a:rPr lang="en-GB" altLang="zh-CN" sz="1600" dirty="0" err="1">
                <a:solidFill>
                  <a:srgbClr val="660099"/>
                </a:solidFill>
                <a:effectLst/>
              </a:rPr>
              <a:t>kernel_size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stride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padding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output = polling(inputs)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zh-CN" altLang="en-US" sz="1600" b="1" dirty="0">
                <a:solidFill>
                  <a:srgbClr val="008000"/>
                </a:solidFill>
                <a:effectLst/>
              </a:rPr>
              <a:t>最大池化：</a:t>
            </a:r>
            <a:r>
              <a:rPr lang="en-US" altLang="zh-CN" sz="1600" b="1" dirty="0">
                <a:solidFill>
                  <a:srgbClr val="000080"/>
                </a:solidFill>
                <a:effectLst/>
              </a:rPr>
              <a:t>\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n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en-GB" altLang="zh-CN" sz="1600" dirty="0"/>
              <a:t>, output)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2.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平均池化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/>
              <a:t>polling = nn.AvgPool2d(</a:t>
            </a:r>
            <a:r>
              <a:rPr lang="en-GB" altLang="zh-CN" sz="1600" dirty="0" err="1">
                <a:solidFill>
                  <a:srgbClr val="660099"/>
                </a:solidFill>
                <a:effectLst/>
              </a:rPr>
              <a:t>kernel_size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stride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padding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output = polling(inputs)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zh-CN" altLang="en-US" sz="1600" b="1" dirty="0">
                <a:solidFill>
                  <a:srgbClr val="008000"/>
                </a:solidFill>
                <a:effectLst/>
              </a:rPr>
              <a:t>平均池化：</a:t>
            </a:r>
            <a:r>
              <a:rPr lang="en-US" altLang="zh-CN" sz="1600" b="1" dirty="0">
                <a:solidFill>
                  <a:srgbClr val="000080"/>
                </a:solidFill>
                <a:effectLst/>
              </a:rPr>
              <a:t>\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n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en-GB" altLang="zh-CN" sz="1600" dirty="0"/>
              <a:t>, output)</a:t>
            </a:r>
            <a:br>
              <a:rPr lang="en-GB" altLang="zh-CN" sz="1400" dirty="0"/>
            </a:b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661" y="4429031"/>
            <a:ext cx="23495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 err="1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池化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API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层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67875" y="2082840"/>
            <a:ext cx="6701974" cy="413446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600" i="1" dirty="0">
                <a:solidFill>
                  <a:srgbClr val="008001"/>
                </a:solidFill>
                <a:effectLst/>
              </a:rPr>
              <a:t># 2.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多通道池化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600" dirty="0"/>
              <a:t>test02():</a:t>
            </a:r>
            <a:endParaRPr lang="en-GB" altLang="zh-CN" sz="1600" dirty="0"/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600" dirty="0"/>
              <a:t>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定义输入输数据 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【3</a:t>
            </a:r>
            <a:r>
              <a:rPr lang="en-US" altLang="zh-CN" sz="1600" i="1" dirty="0">
                <a:solidFill>
                  <a:srgbClr val="008001"/>
                </a:solidFill>
              </a:rPr>
              <a:t>,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3,3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 </a:t>
            </a:r>
            <a:r>
              <a:rPr lang="en-US" altLang="zh-CN" sz="1600" i="1" dirty="0">
                <a:solidFill>
                  <a:srgbClr val="008001"/>
                </a:solidFill>
              </a:rPr>
              <a:t>】</a:t>
            </a:r>
            <a:br>
              <a:rPr lang="en-GB" altLang="zh-CN" sz="1600" dirty="0"/>
            </a:br>
            <a:r>
              <a:rPr lang="en-GB" altLang="zh-CN" sz="1600" dirty="0"/>
              <a:t>    inputs = </a:t>
            </a:r>
            <a:r>
              <a:rPr lang="en-GB" altLang="zh-CN" sz="1600" dirty="0" err="1"/>
              <a:t>torch.tensor</a:t>
            </a:r>
            <a:r>
              <a:rPr lang="en-GB" altLang="zh-CN" sz="1600" dirty="0"/>
              <a:t>([[[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3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4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5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6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7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8</a:t>
            </a:r>
            <a:r>
              <a:rPr lang="en-GB" altLang="zh-CN" sz="1600" dirty="0"/>
              <a:t>]],</a:t>
            </a:r>
            <a:br>
              <a:rPr lang="en-GB" altLang="zh-CN" sz="1600" dirty="0"/>
            </a:br>
            <a:r>
              <a:rPr lang="en-GB" altLang="zh-CN" sz="1600" dirty="0"/>
              <a:t>                           [[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30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40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50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60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70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80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90</a:t>
            </a:r>
            <a:r>
              <a:rPr lang="en-GB" altLang="zh-CN" sz="1600" dirty="0"/>
              <a:t>]],</a:t>
            </a:r>
            <a:br>
              <a:rPr lang="en-GB" altLang="zh-CN" sz="1600" dirty="0"/>
            </a:br>
            <a:r>
              <a:rPr lang="en-GB" altLang="zh-CN" sz="1600" dirty="0"/>
              <a:t>                           [[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22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33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44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55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66</a:t>
            </a:r>
            <a:r>
              <a:rPr lang="en-GB" altLang="zh-CN" sz="1600" dirty="0"/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77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88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99</a:t>
            </a:r>
            <a:r>
              <a:rPr lang="en-GB" altLang="zh-CN" sz="1600" dirty="0"/>
              <a:t>]]]).float()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>
                <a:solidFill>
                  <a:srgbClr val="008001"/>
                </a:solidFill>
              </a:rPr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最大池化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/>
              <a:t>polling = nn.MaxPool2d(</a:t>
            </a:r>
            <a:r>
              <a:rPr lang="en-GB" altLang="zh-CN" sz="1600" dirty="0" err="1">
                <a:solidFill>
                  <a:srgbClr val="660099"/>
                </a:solidFill>
                <a:effectLst/>
              </a:rPr>
              <a:t>kernel_size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stride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padding</a:t>
            </a:r>
            <a:r>
              <a:rPr lang="en-GB" altLang="zh-CN" sz="1600" dirty="0"/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output = polling(inputs)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zh-CN" altLang="en-US" sz="1600" b="1" dirty="0">
                <a:solidFill>
                  <a:srgbClr val="008000"/>
                </a:solidFill>
                <a:effectLst/>
              </a:rPr>
              <a:t>多通道池化：</a:t>
            </a:r>
            <a:r>
              <a:rPr lang="en-US" altLang="zh-CN" sz="1600" b="1" dirty="0">
                <a:solidFill>
                  <a:srgbClr val="000080"/>
                </a:solidFill>
                <a:effectLst/>
              </a:rPr>
              <a:t>\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n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en-GB" altLang="zh-CN" sz="1600" dirty="0"/>
              <a:t>, output)</a:t>
            </a:r>
            <a:br>
              <a:rPr lang="en-GB" altLang="zh-CN" sz="1600" dirty="0"/>
            </a:b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sz="1600" dirty="0"/>
              <a:t>__name__ == 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'__main__'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test01()</a:t>
            </a:r>
            <a:br>
              <a:rPr lang="en-GB" altLang="zh-CN" sz="1600" dirty="0"/>
            </a:br>
            <a:r>
              <a:rPr lang="en-GB" altLang="zh-CN" sz="1600" dirty="0"/>
              <a:t>    test02()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8580" y="3944953"/>
            <a:ext cx="24511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池化的作用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>
                <a:latin typeface="Roboto" panose="02000000000000000000" pitchFamily="2" charset="0"/>
              </a:rPr>
              <a:t>降维，减小数据的大小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2.</a:t>
            </a:r>
            <a:r>
              <a:rPr kumimoji="1" lang="zh-CN" altLang="en-US" dirty="0"/>
              <a:t>池化的分类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最大池化和平均池化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3.</a:t>
            </a:r>
            <a:r>
              <a:rPr kumimoji="1" lang="zh-CN" altLang="en-US" dirty="0"/>
              <a:t>池化的</a:t>
            </a:r>
            <a:r>
              <a:rPr kumimoji="1" lang="en-US" altLang="zh-CN" dirty="0"/>
              <a:t>API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726" y="4573991"/>
            <a:ext cx="5130800" cy="1054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207" y="1278385"/>
            <a:ext cx="5973445" cy="2885242"/>
          </a:xfrm>
        </p:spPr>
        <p:txBody>
          <a:bodyPr/>
          <a:lstStyle/>
          <a:p>
            <a:r>
              <a:rPr kumimoji="1" lang="zh-CN" altLang="en-US" sz="1600" dirty="0">
                <a:sym typeface="+mn-ea"/>
              </a:rPr>
              <a:t>图像基础知识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卷积神经网络</a:t>
            </a:r>
            <a:r>
              <a:rPr kumimoji="1" lang="en-US" altLang="zh-CN" sz="1600" dirty="0">
                <a:sym typeface="+mn-ea"/>
              </a:rPr>
              <a:t>(CNN)</a:t>
            </a:r>
            <a:r>
              <a:rPr kumimoji="1" lang="zh-CN" altLang="en-US" sz="1600" dirty="0">
                <a:sym typeface="+mn-ea"/>
              </a:rPr>
              <a:t>概述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卷积层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ym typeface="+mn-ea"/>
              </a:rPr>
              <a:t>池化层</a:t>
            </a:r>
            <a:endParaRPr kumimoji="1" lang="zh-CN" altLang="en-US" sz="1600" dirty="0">
              <a:sym typeface="+mn-ea"/>
            </a:endParaRPr>
          </a:p>
          <a:p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图像分类案例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0611" y="3498936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了解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CIFAR10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数据集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掌握分类网络搭建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掌握模型构建流程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卷积神经网络案例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982846"/>
            <a:ext cx="10698800" cy="2892307"/>
          </a:xfrm>
        </p:spPr>
        <p:txBody>
          <a:bodyPr/>
          <a:lstStyle/>
          <a:p>
            <a:pPr algn="l"/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咱们使用前面学习到的知识来构建一个卷积神经网络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并训练该网络实现图像分类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 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要完成这个案例，咱们需要学习的内容如下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endParaRPr lang="en-US" altLang="zh-CN" sz="18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了解 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CIFAR10 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</a:t>
            </a:r>
            <a:endParaRPr lang="en-US" altLang="zh-CN" sz="18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搭建卷积神经网络</a:t>
            </a:r>
            <a:endParaRPr lang="en-US" altLang="zh-CN" sz="18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编写训练函数</a:t>
            </a:r>
            <a:endParaRPr lang="en-US" altLang="zh-CN" sz="18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编写预测函数</a:t>
            </a:r>
            <a:endParaRPr lang="en-US" altLang="zh-CN" sz="18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卷积神经网络案例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13865" y="2263393"/>
            <a:ext cx="8521688" cy="38766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torch.nn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torchvision.datasets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CIFAR10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torchvision.transforms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ToTensor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torch.optim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optim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torch.utils.data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DataLoader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matplotlib.pyplot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</a:t>
            </a:r>
            <a:endParaRPr lang="en-GB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torchsummary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summary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BATCH_SIZE =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endParaRPr lang="en-US" altLang="zh-CN" sz="1600" b="1" dirty="0">
              <a:solidFill>
                <a:srgbClr val="0000F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0880" y="1675666"/>
            <a:ext cx="612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首先我们导入一下工具包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CIFAR10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数据集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CIFAR-10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数据集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万张训练图像、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万张测试图像、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个类别、每个类别有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6k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个图像，图像大小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32×32×3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。下图列举了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个类，每一类随机展示了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张图片：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794" y="2328820"/>
            <a:ext cx="5463061" cy="428204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CIFAR10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数据集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PyTorch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中的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torchvision.datasets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计算机视觉模块封装了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CIFAR10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数据集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使用方法如下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600" y="1886046"/>
            <a:ext cx="7062870" cy="53232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1.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数据集基本信息</a:t>
            </a:r>
            <a:b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create_dataset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加载数据集</a:t>
            </a:r>
            <a:r>
              <a:rPr lang="en-US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训练集数据和测试数据</a:t>
            </a:r>
            <a:endParaRPr lang="zh-CN" altLang="en-US" sz="1400" i="1" dirty="0">
              <a:solidFill>
                <a:srgbClr val="808080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# ToTensor: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</a:t>
            </a:r>
            <a:r>
              <a:rPr lang="en-US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image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（一个</a:t>
            </a:r>
            <a:r>
              <a:rPr lang="en-US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PIL.Image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对象）转换为一个</a:t>
            </a:r>
            <a:r>
              <a:rPr lang="en-US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，并自动将其像素值归一化到</a:t>
            </a:r>
            <a:r>
              <a:rPr lang="en-US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[0.0, 1.0]</a:t>
            </a:r>
            <a:b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 = CIFAR10(</a:t>
            </a:r>
            <a:r>
              <a:rPr lang="en-GB" altLang="zh-CN" sz="14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root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'data'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True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transform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ToTensor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valid = CIFAR10(</a:t>
            </a:r>
            <a:r>
              <a:rPr lang="en-GB" altLang="zh-CN" sz="14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root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'data'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False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transform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ToTensor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返回数据集结果</a:t>
            </a:r>
            <a:b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train, valid</a:t>
            </a:r>
            <a:endParaRPr lang="en-GB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__name__ == </a:t>
            </a:r>
            <a:r>
              <a:rPr lang="en-GB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'__main__'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数据集加载</a:t>
            </a:r>
            <a:b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train_dataset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valid_dataset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create_dataset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数据集类别</a:t>
            </a:r>
            <a:b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数据集类别</a:t>
            </a:r>
            <a:r>
              <a:rPr lang="en-US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:"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train_dataset.class_to_idx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数据集中的图像数据</a:t>
            </a:r>
            <a:b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训练集数据集</a:t>
            </a:r>
            <a:r>
              <a:rPr lang="en-US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:"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train_dataset.data.shape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测试集数据集</a:t>
            </a:r>
            <a:r>
              <a:rPr lang="en-US" altLang="zh-CN" sz="14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:"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valid_dataset.data.shape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图像展示</a:t>
            </a:r>
            <a:b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plt.figure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figsize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=(</a:t>
            </a:r>
            <a:r>
              <a:rPr lang="en-GB" altLang="zh-CN" sz="14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plt.imshow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train_dataset.data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en-GB" altLang="zh-CN" sz="14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plt.title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train_dataset.targets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en-GB" altLang="zh-CN" sz="14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plt.show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GB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82465" y="2554258"/>
            <a:ext cx="39376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数据集类别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{'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airplane':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'automobile':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'bird':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'cat':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'deer':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'dog':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'frog':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'horse':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'ship':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8,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'truck':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9}</a:t>
            </a:r>
            <a:r>
              <a:rPr lang="en-GB" altLang="zh-CN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训练集数据集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(50000,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32,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32,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3)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US" altLang="zh-CN" sz="1600" b="0" i="0" dirty="0">
              <a:solidFill>
                <a:srgbClr val="36464E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测试集数据集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(10000,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32,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32,</a:t>
            </a:r>
            <a:r>
              <a:rPr lang="zh-CN" altLang="en-US" sz="1600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3)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6358" y="4157732"/>
            <a:ext cx="2652790" cy="269992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搭建图像分类网络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我们要搭建的网络结构如下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182" y="1942593"/>
            <a:ext cx="7008365" cy="462721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搭建图像分类网络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我们要搭建的网络结构如下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输入形状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32x32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第一个卷积层输入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3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Channel,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6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Channel, Kernel Size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3x3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第一个池化层输入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30x30,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15x15, Kernel Size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2x2, Stride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2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第二个卷积层输入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6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Channel,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16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Channel, Kernel Size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3x3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第二个池化层输入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13x13,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6x6, Kernel Size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2x2, Stride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2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第一个全连接层输入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576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120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维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第二个全连接层输入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120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84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维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最后的输出层输入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84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维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我们在每个卷积计算之后应用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relu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激活函数来给网络增加非线性因素。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搭建图像分类网络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构建网络代码实现如下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95530" y="1457271"/>
            <a:ext cx="7606567" cy="5223481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US" altLang="zh-CN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模型构建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class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ImageClassification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nn.Module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定义网络结构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super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ImageClassification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).</a:t>
            </a:r>
            <a:r>
              <a:rPr lang="en-GB" altLang="zh-CN" sz="16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定义网络层：卷积层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池化层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.conv1 = nn.Conv2d(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stride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kernel_size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.pool1 = nn.MaxPool2d(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kernel_size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stride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.conv2 = nn.Conv2d(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16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stride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kernel_size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.pool2 = nn.MaxPool2d(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kernel_size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stride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全连接层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.linear1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nn.Linear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576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120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.linear2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nn.Linear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120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84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.out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nn.Linear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84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搭建图像分类网络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构建网络代码实现如下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42666" y="1703833"/>
            <a:ext cx="6755031" cy="446276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i="1" dirty="0">
                <a:solidFill>
                  <a:srgbClr val="808080"/>
                </a:solidFill>
                <a:effectLst/>
              </a:rPr>
              <a:t>  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定义前向传播</a:t>
            </a:r>
            <a:b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forward(</a:t>
            </a:r>
            <a:r>
              <a:rPr lang="en-GB" altLang="zh-CN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x):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卷积</a:t>
            </a:r>
            <a:r>
              <a:rPr lang="en-US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en-GB" altLang="zh-CN" i="1" dirty="0" err="1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池化</a:t>
            </a:r>
            <a:b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torch.relu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.conv1(x))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x = </a:t>
            </a:r>
            <a:r>
              <a:rPr lang="en-GB" altLang="zh-CN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.pool1(x)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卷积</a:t>
            </a:r>
            <a:r>
              <a:rPr lang="en-US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en-GB" altLang="zh-CN" i="1" dirty="0" err="1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池化</a:t>
            </a:r>
            <a:b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torch.relu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.conv2(x))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x = </a:t>
            </a:r>
            <a:r>
              <a:rPr lang="en-GB" altLang="zh-CN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.pool2(x)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将特征图做成以为向量的形式：相当于特征向量</a:t>
            </a:r>
            <a:b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x.reshape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x.size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), -</a:t>
            </a:r>
            <a:r>
              <a:rPr lang="en-GB" altLang="zh-CN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全连接层</a:t>
            </a:r>
            <a:b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torch.relu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.linear1(x))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x = 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torch.relu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.linear2(x))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返回输出结果</a:t>
            </a:r>
            <a:b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.out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(x)</a:t>
            </a:r>
            <a:br>
              <a:rPr lang="en-GB" altLang="zh-CN" sz="1400" dirty="0"/>
            </a:b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搭建图像分类网络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模型结构为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82764" y="1457271"/>
            <a:ext cx="6755031" cy="120032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i="1" dirty="0">
                <a:solidFill>
                  <a:srgbClr val="808080"/>
                </a:solidFill>
                <a:effectLst/>
              </a:rPr>
              <a:t>  </a:t>
            </a:r>
            <a:r>
              <a:rPr lang="en-GB" altLang="zh-CN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dirty="0"/>
              <a:t>__name__ == </a:t>
            </a:r>
            <a:r>
              <a:rPr lang="en-GB" altLang="zh-CN" b="1" dirty="0">
                <a:solidFill>
                  <a:srgbClr val="008000"/>
                </a:solidFill>
                <a:effectLst/>
              </a:rPr>
              <a:t>'__main__'</a:t>
            </a:r>
            <a:r>
              <a:rPr lang="en-GB" altLang="zh-CN" dirty="0"/>
              <a:t>:</a:t>
            </a:r>
            <a:br>
              <a:rPr lang="en-GB" altLang="zh-CN" dirty="0"/>
            </a:br>
            <a:r>
              <a:rPr lang="en-GB" altLang="zh-CN" dirty="0"/>
              <a:t>    </a:t>
            </a:r>
            <a:r>
              <a:rPr lang="en-GB" altLang="zh-CN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i="1" dirty="0">
                <a:solidFill>
                  <a:srgbClr val="808080"/>
                </a:solidFill>
                <a:effectLst/>
              </a:rPr>
              <a:t>模型实例化</a:t>
            </a:r>
            <a:br>
              <a:rPr lang="zh-CN" altLang="en-US" i="1" dirty="0">
                <a:solidFill>
                  <a:srgbClr val="808080"/>
                </a:solidFill>
                <a:effectLst/>
              </a:rPr>
            </a:br>
            <a:r>
              <a:rPr lang="zh-CN" altLang="en-US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dirty="0"/>
              <a:t>model = </a:t>
            </a:r>
            <a:r>
              <a:rPr lang="en-GB" altLang="zh-CN" dirty="0" err="1"/>
              <a:t>ImageClassification</a:t>
            </a:r>
            <a:r>
              <a:rPr lang="en-GB" altLang="zh-CN" dirty="0"/>
              <a:t>()</a:t>
            </a:r>
            <a:br>
              <a:rPr lang="en-GB" altLang="zh-CN" dirty="0"/>
            </a:br>
            <a:r>
              <a:rPr lang="en-GB" altLang="zh-CN" dirty="0"/>
              <a:t>    summary(</a:t>
            </a:r>
            <a:r>
              <a:rPr lang="en-GB" altLang="zh-CN" dirty="0" err="1"/>
              <a:t>model,</a:t>
            </a:r>
            <a:r>
              <a:rPr lang="en-GB" altLang="zh-CN" dirty="0" err="1">
                <a:solidFill>
                  <a:srgbClr val="660099"/>
                </a:solidFill>
                <a:effectLst/>
              </a:rPr>
              <a:t>input_size</a:t>
            </a:r>
            <a:r>
              <a:rPr lang="en-GB" altLang="zh-CN" dirty="0"/>
              <a:t>=(</a:t>
            </a:r>
            <a:r>
              <a:rPr lang="en-GB" altLang="zh-CN" dirty="0">
                <a:solidFill>
                  <a:srgbClr val="0000FF"/>
                </a:solidFill>
                <a:effectLst/>
              </a:rPr>
              <a:t>3</a:t>
            </a:r>
            <a:r>
              <a:rPr lang="en-GB" altLang="zh-CN" dirty="0"/>
              <a:t>,</a:t>
            </a:r>
            <a:r>
              <a:rPr lang="en-GB" altLang="zh-CN" dirty="0">
                <a:solidFill>
                  <a:srgbClr val="0000FF"/>
                </a:solidFill>
                <a:effectLst/>
              </a:rPr>
              <a:t>32</a:t>
            </a:r>
            <a:r>
              <a:rPr lang="en-GB" altLang="zh-CN" dirty="0"/>
              <a:t>,</a:t>
            </a:r>
            <a:r>
              <a:rPr lang="en-GB" altLang="zh-CN" dirty="0">
                <a:solidFill>
                  <a:srgbClr val="0000FF"/>
                </a:solidFill>
                <a:effectLst/>
              </a:rPr>
              <a:t>32</a:t>
            </a:r>
            <a:r>
              <a:rPr lang="en-GB" altLang="zh-CN" dirty="0"/>
              <a:t>),</a:t>
            </a:r>
            <a:r>
              <a:rPr lang="en-GB" altLang="zh-CN" dirty="0" err="1">
                <a:solidFill>
                  <a:srgbClr val="660099"/>
                </a:solidFill>
                <a:effectLst/>
              </a:rPr>
              <a:t>batch_size</a:t>
            </a:r>
            <a:r>
              <a:rPr lang="en-GB" altLang="zh-CN" dirty="0"/>
              <a:t>=</a:t>
            </a:r>
            <a:r>
              <a:rPr lang="en-GB" altLang="zh-CN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dirty="0"/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2244" y="2897659"/>
            <a:ext cx="4606133" cy="396034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编写训练函数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202704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在训练时，使用多分类交叉熵损失函数，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Adam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优化器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具体实现代码如下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10980" y="1719894"/>
            <a:ext cx="7858557" cy="535432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400" dirty="0"/>
              <a:t>train(</a:t>
            </a:r>
            <a:r>
              <a:rPr lang="en-GB" altLang="zh-CN" sz="1400" dirty="0" err="1"/>
              <a:t>model,train_dataset</a:t>
            </a:r>
            <a:r>
              <a:rPr lang="en-GB" altLang="zh-CN" sz="1400" dirty="0"/>
              <a:t>):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criterion = </a:t>
            </a:r>
            <a:r>
              <a:rPr lang="en-GB" altLang="zh-CN" sz="1400" dirty="0" err="1"/>
              <a:t>nn.CrossEntropyLoss</a:t>
            </a:r>
            <a:r>
              <a:rPr lang="en-GB" altLang="zh-CN" sz="1400" dirty="0"/>
              <a:t>()</a:t>
            </a:r>
            <a:r>
              <a:rPr lang="zh-CN" altLang="en-US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构建损失函数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optimizer = </a:t>
            </a:r>
            <a:r>
              <a:rPr lang="en-GB" altLang="zh-CN" sz="1400" dirty="0" err="1"/>
              <a:t>optim.Adam</a:t>
            </a:r>
            <a:r>
              <a:rPr lang="en-GB" altLang="zh-CN" sz="1400" dirty="0"/>
              <a:t>(</a:t>
            </a:r>
            <a:r>
              <a:rPr lang="en-GB" altLang="zh-CN" sz="1400" dirty="0" err="1"/>
              <a:t>model.parameters</a:t>
            </a:r>
            <a:r>
              <a:rPr lang="en-GB" altLang="zh-CN" sz="1400" dirty="0"/>
              <a:t>(),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lr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1e-3</a:t>
            </a:r>
            <a:r>
              <a:rPr lang="en-GB" altLang="zh-CN" sz="1400" dirty="0"/>
              <a:t>)</a:t>
            </a:r>
            <a:r>
              <a:rPr lang="zh-CN" altLang="en-US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构建优化方法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epoch =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10</a:t>
            </a:r>
            <a:r>
              <a:rPr lang="en-US" altLang="zh-CN" sz="1400" dirty="0">
                <a:solidFill>
                  <a:srgbClr val="0000FF"/>
                </a:solidFill>
                <a:effectLst/>
              </a:rPr>
              <a:t>0</a:t>
            </a:r>
            <a:r>
              <a:rPr lang="zh-CN" altLang="en-US" sz="1400" dirty="0">
                <a:solidFill>
                  <a:srgbClr val="0000FF"/>
                </a:solidFill>
                <a:effectLst/>
              </a:rPr>
              <a:t>  </a:t>
            </a:r>
            <a:r>
              <a:rPr lang="en-GB" altLang="zh-CN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训练轮数</a:t>
            </a:r>
            <a:br>
              <a:rPr lang="en-GB" altLang="zh-CN" sz="1400" dirty="0">
                <a:solidFill>
                  <a:srgbClr val="0000FF"/>
                </a:solidFill>
                <a:effectLst/>
              </a:rPr>
            </a:br>
            <a:r>
              <a:rPr lang="en-GB" altLang="zh-CN" sz="1400" dirty="0">
                <a:solidFill>
                  <a:srgbClr val="0000FF"/>
                </a:solidFill>
                <a:effectLst/>
              </a:rPr>
              <a:t>   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for </a:t>
            </a:r>
            <a:r>
              <a:rPr lang="en-GB" altLang="zh-CN" sz="1400" dirty="0" err="1"/>
              <a:t>epoch_idx</a:t>
            </a:r>
            <a:r>
              <a:rPr lang="en-GB" altLang="zh-CN" sz="1400" dirty="0"/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(epoch):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构建数据加载器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(</a:t>
            </a:r>
            <a:r>
              <a:rPr lang="en-GB" altLang="zh-CN" sz="1400" dirty="0" err="1"/>
              <a:t>train_dataset</a:t>
            </a:r>
            <a:r>
              <a:rPr lang="en-GB" altLang="zh-CN" sz="1400" dirty="0"/>
              <a:t>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batch_size</a:t>
            </a:r>
            <a:r>
              <a:rPr lang="en-GB" altLang="zh-CN" sz="1400" dirty="0"/>
              <a:t>=BATCH_SIZE, 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shuffle</a:t>
            </a:r>
            <a:r>
              <a:rPr lang="en-GB" altLang="zh-CN" sz="1400" dirty="0"/>
              <a:t>=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True</a:t>
            </a:r>
            <a:r>
              <a:rPr lang="en-GB" altLang="zh-CN" sz="1400" dirty="0"/>
              <a:t>)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sam_num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</a:t>
            </a:r>
            <a:r>
              <a:rPr lang="zh-CN" altLang="en-US" sz="1400" dirty="0">
                <a:solidFill>
                  <a:srgbClr val="0000FF"/>
                </a:solidFill>
                <a:effectLst/>
              </a:rPr>
              <a:t>  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样本数量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total_loss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0.0</a:t>
            </a:r>
            <a:r>
              <a:rPr lang="zh-CN" altLang="en-US" sz="1400" dirty="0">
                <a:solidFill>
                  <a:srgbClr val="0000FF"/>
                </a:solidFill>
                <a:effectLst/>
              </a:rPr>
              <a:t>  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损失总和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/>
              <a:t>start = </a:t>
            </a:r>
            <a:r>
              <a:rPr lang="en-GB" altLang="zh-CN" sz="1400" dirty="0" err="1"/>
              <a:t>time.time</a:t>
            </a:r>
            <a:r>
              <a:rPr lang="en-GB" altLang="zh-CN" sz="1400" dirty="0"/>
              <a:t>()</a:t>
            </a:r>
            <a:r>
              <a:rPr lang="zh-CN" altLang="en-US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开始时间</a:t>
            </a:r>
            <a:br>
              <a:rPr lang="en-GB" altLang="zh-CN" sz="1400" dirty="0">
                <a:solidFill>
                  <a:srgbClr val="0000FF"/>
                </a:solidFill>
                <a:effectLst/>
              </a:rPr>
            </a:br>
            <a:r>
              <a:rPr lang="en-GB" altLang="zh-CN" sz="1400" dirty="0">
                <a:solidFill>
                  <a:srgbClr val="0000FF"/>
                </a:solidFill>
                <a:effectLst/>
              </a:rPr>
              <a:t>       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遍历数据进行网络训练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for </a:t>
            </a:r>
            <a:r>
              <a:rPr lang="en-GB" altLang="zh-CN" sz="1400" dirty="0"/>
              <a:t>x, y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in </a:t>
            </a:r>
            <a:r>
              <a:rPr lang="en-GB" altLang="zh-CN" sz="1400" dirty="0" err="1"/>
              <a:t>dataloader</a:t>
            </a:r>
            <a:r>
              <a:rPr lang="en-US" altLang="zh-CN" sz="1400" dirty="0"/>
              <a:t>: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    </a:t>
            </a:r>
            <a:r>
              <a:rPr lang="en-GB" altLang="zh-CN" sz="1400" dirty="0"/>
              <a:t>output = model(x)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    </a:t>
            </a:r>
            <a:r>
              <a:rPr lang="en-GB" altLang="zh-CN" sz="1400" dirty="0"/>
              <a:t>loss = criterion(output, y)</a:t>
            </a:r>
            <a:r>
              <a:rPr lang="zh-CN" altLang="en-US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计算损失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    </a:t>
            </a:r>
            <a:r>
              <a:rPr lang="en-GB" altLang="zh-CN" sz="1400" dirty="0" err="1"/>
              <a:t>optimizer.zero_grad</a:t>
            </a:r>
            <a:r>
              <a:rPr lang="en-GB" altLang="zh-CN" sz="1400" dirty="0"/>
              <a:t>()</a:t>
            </a:r>
            <a:r>
              <a:rPr lang="zh-CN" altLang="en-US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梯度清零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    </a:t>
            </a:r>
            <a:r>
              <a:rPr lang="en-GB" altLang="zh-CN" sz="1400" dirty="0" err="1"/>
              <a:t>loss.backward</a:t>
            </a:r>
            <a:r>
              <a:rPr lang="en-GB" altLang="zh-CN" sz="1400" dirty="0"/>
              <a:t>()</a:t>
            </a:r>
            <a:r>
              <a:rPr lang="zh-CN" altLang="en-US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反向传播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    </a:t>
            </a:r>
            <a:r>
              <a:rPr lang="en-GB" altLang="zh-CN" sz="1400" dirty="0" err="1"/>
              <a:t>optimizer.step</a:t>
            </a:r>
            <a:r>
              <a:rPr lang="en-GB" altLang="zh-CN" sz="1400" dirty="0"/>
              <a:t>()</a:t>
            </a:r>
            <a:r>
              <a:rPr lang="zh-CN" altLang="en-US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参数更新</a:t>
            </a:r>
            <a:endParaRPr lang="zh-CN" altLang="en-US" sz="1400" i="1" dirty="0">
              <a:solidFill>
                <a:srgbClr val="808080"/>
              </a:solidFill>
              <a:effectLst/>
            </a:endParaRPr>
          </a:p>
          <a:p>
            <a:pPr indent="457200">
              <a:spcBef>
                <a:spcPts val="360"/>
              </a:spcBef>
              <a:spcAft>
                <a:spcPts val="360"/>
              </a:spcAft>
            </a:pPr>
            <a:r>
              <a:rPr lang="en-US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计算每次训练模型的总损失值</a:t>
            </a:r>
            <a:r>
              <a:rPr lang="en-US" altLang="zh-CN" sz="1400" i="1" dirty="0">
                <a:solidFill>
                  <a:srgbClr val="808080"/>
                </a:solidFill>
                <a:effectLst/>
              </a:rPr>
              <a:t> loss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是每批样本平均损失值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    </a:t>
            </a:r>
            <a:r>
              <a:rPr lang="en-GB" altLang="zh-CN" sz="1400" dirty="0" err="1"/>
              <a:t>total_loss</a:t>
            </a:r>
            <a:r>
              <a:rPr lang="en-GB" altLang="zh-CN" sz="1400" dirty="0"/>
              <a:t> += </a:t>
            </a:r>
            <a:r>
              <a:rPr lang="en-GB" altLang="zh-CN" sz="1400" dirty="0" err="1"/>
              <a:t>loss.item</a:t>
            </a:r>
            <a:r>
              <a:rPr lang="en-GB" altLang="zh-CN" sz="1400" dirty="0"/>
              <a:t>()</a:t>
            </a:r>
            <a:r>
              <a:rPr lang="en-US" altLang="en-GB" sz="1400" dirty="0"/>
              <a:t>*len(y)</a:t>
            </a:r>
            <a:r>
              <a:rPr lang="zh-CN" altLang="en-US" sz="1400" dirty="0"/>
              <a:t> </a:t>
            </a:r>
            <a:r>
              <a:rPr lang="en-US" altLang="zh-CN" sz="1400" dirty="0"/>
              <a:t>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统计损失和</a:t>
            </a:r>
            <a:br>
              <a:rPr lang="en-GB" altLang="zh-CN" sz="1400" dirty="0"/>
            </a:br>
            <a:r>
              <a:rPr lang="en-GB" altLang="zh-CN" sz="1400" dirty="0"/>
              <a:t>            </a:t>
            </a:r>
            <a:r>
              <a:rPr lang="en-GB" altLang="zh-CN" sz="1400" dirty="0" err="1"/>
              <a:t>sam_num</a:t>
            </a:r>
            <a:r>
              <a:rPr lang="en-GB" altLang="zh-CN" sz="1400" dirty="0"/>
              <a:t> += </a:t>
            </a:r>
            <a:r>
              <a:rPr lang="en-US" altLang="en-GB" sz="1400" dirty="0"/>
              <a:t>len(y)</a:t>
            </a:r>
            <a:br>
              <a:rPr lang="en-GB" altLang="zh-CN" sz="1400" dirty="0">
                <a:solidFill>
                  <a:srgbClr val="0000FF"/>
                </a:solidFill>
                <a:effectLst/>
              </a:rPr>
            </a:br>
            <a:r>
              <a:rPr lang="en-GB" altLang="zh-CN" sz="1400" dirty="0">
                <a:solidFill>
                  <a:srgbClr val="0000FF"/>
                </a:solidFill>
                <a:effectLst/>
              </a:rPr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'epoch:%2s loss:%.5f time:%.2fs' </a:t>
            </a:r>
            <a:r>
              <a:rPr lang="en-GB" altLang="zh-CN" sz="1400" dirty="0"/>
              <a:t>%(</a:t>
            </a:r>
            <a:r>
              <a:rPr lang="en-GB" altLang="zh-CN" sz="1400" dirty="0" err="1"/>
              <a:t>epoch_idx</a:t>
            </a:r>
            <a:r>
              <a:rPr lang="en-GB" altLang="zh-CN" sz="1400" dirty="0"/>
              <a:t> +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400" dirty="0"/>
              <a:t>,total_loss / </a:t>
            </a:r>
            <a:r>
              <a:rPr lang="en-GB" altLang="zh-CN" sz="1400" dirty="0" err="1"/>
              <a:t>sam_num,time.time</a:t>
            </a:r>
            <a:r>
              <a:rPr lang="en-GB" altLang="zh-CN" sz="1400" dirty="0"/>
              <a:t>() - start))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模型保存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torch.save</a:t>
            </a:r>
            <a:r>
              <a:rPr lang="en-GB" altLang="zh-CN" sz="1400" dirty="0"/>
              <a:t>(</a:t>
            </a:r>
            <a:r>
              <a:rPr lang="en-GB" altLang="zh-CN" sz="1400" dirty="0" err="1"/>
              <a:t>model.state_dict</a:t>
            </a:r>
            <a:r>
              <a:rPr lang="en-GB" altLang="zh-CN" sz="1400" dirty="0"/>
              <a:t>(), 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en-US" altLang="en-GB" sz="1400" b="1" dirty="0">
                <a:solidFill>
                  <a:srgbClr val="008000"/>
                </a:solidFill>
                <a:effectLst/>
              </a:rPr>
              <a:t>model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/</a:t>
            </a:r>
            <a:r>
              <a:rPr lang="en-GB" altLang="zh-CN" sz="1400" b="1" dirty="0" err="1">
                <a:solidFill>
                  <a:srgbClr val="008000"/>
                </a:solidFill>
                <a:effectLst/>
              </a:rPr>
              <a:t>image_classification.pth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编写训练函数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调用训练方法进行模型训练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29337" y="1962316"/>
            <a:ext cx="6755031" cy="160043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‘__main__’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数据集加载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train_dataset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valid_dataset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create_dataset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zh-CN" altLang="en-US" sz="1400" dirty="0"/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模型实例化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model = </a:t>
            </a:r>
            <a:r>
              <a:rPr lang="en-GB" altLang="zh-CN" sz="1400" dirty="0" err="1"/>
              <a:t>ImageClassification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zh-CN" altLang="en-US" sz="1400" dirty="0"/>
              <a:t>    </a:t>
            </a:r>
            <a:r>
              <a:rPr lang="en-GB" altLang="zh-CN" sz="14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08080"/>
                </a:solidFill>
                <a:effectLst/>
              </a:rPr>
              <a:t>模型训练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i="1" dirty="0">
                <a:effectLst/>
              </a:rPr>
              <a:t>train(</a:t>
            </a:r>
            <a:r>
              <a:rPr lang="en-GB" altLang="zh-CN" sz="1400" i="1" dirty="0" err="1">
                <a:effectLst/>
              </a:rPr>
              <a:t>model,train_dataset</a:t>
            </a:r>
            <a:r>
              <a:rPr lang="en-GB" altLang="zh-CN" sz="1400" i="1" dirty="0">
                <a:effectLst/>
              </a:rPr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82900" y="3810000"/>
            <a:ext cx="5242560" cy="279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</a:rPr>
              <a:t>: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1 loss:1.59926 acc:0.41 time:28.97s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2 loss:1.32861 acc:0.52 time:29.98s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3 loss:1.22957 acc:0.56 time:29.44s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4 loss:1.15541 acc:0.59 time:30.45s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5 loss:1.09832 acc:0.61 time:29.69s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6 loss:1.05423 acc:0.63 time:29.70s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7 loss:1.01612 acc:0.64 time:30.09s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8 loss:0.98208 acc:0.65 time:30.45s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 9 loss:0.95528 acc:0.66 time:29.26s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epoch:10 loss:0.92802 acc:0.67 time:29.05s</a:t>
            </a:r>
            <a:endParaRPr lang="en-US" altLang="zh-CN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编写预测函数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加载训练好的模型，对测试集中的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万条样本进行预测，查看模型在测试集上的准确率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61368" y="2010520"/>
            <a:ext cx="6755031" cy="452310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600" dirty="0"/>
              <a:t>test(</a:t>
            </a:r>
            <a:r>
              <a:rPr lang="en-GB" altLang="zh-CN" sz="1600" dirty="0" err="1"/>
              <a:t>valid_dataset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</a:rPr>
              <a:t>构建数据加载器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 err="1"/>
              <a:t>dataloader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DataLoader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valid_dataset</a:t>
            </a:r>
            <a:r>
              <a:rPr lang="en-GB" altLang="zh-CN" sz="1600" dirty="0"/>
              <a:t>, </a:t>
            </a:r>
            <a:r>
              <a:rPr lang="en-GB" altLang="zh-CN" sz="1600" dirty="0" err="1">
                <a:solidFill>
                  <a:srgbClr val="660099"/>
                </a:solidFill>
                <a:effectLst/>
              </a:rPr>
              <a:t>batch_size</a:t>
            </a:r>
            <a:r>
              <a:rPr lang="en-GB" altLang="zh-CN" sz="1600" dirty="0"/>
              <a:t>=BATCH_SIZE,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shuffle</a:t>
            </a:r>
            <a:r>
              <a:rPr lang="en-GB" altLang="zh-CN" sz="1600" dirty="0"/>
              <a:t>=</a:t>
            </a:r>
            <a:r>
              <a:rPr lang="en-US" altLang="zh-CN" sz="1600" b="1" dirty="0">
                <a:solidFill>
                  <a:srgbClr val="000080"/>
                </a:solidFill>
              </a:rPr>
              <a:t>False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</a:rPr>
              <a:t>加载模型并加载训练好的权重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/>
              <a:t>model = </a:t>
            </a:r>
            <a:r>
              <a:rPr lang="en-GB" altLang="zh-CN" sz="1600" dirty="0" err="1"/>
              <a:t>ImageClassification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 err="1"/>
              <a:t>model.load_state_dict</a:t>
            </a:r>
            <a:r>
              <a:rPr lang="en-GB" altLang="zh-CN" sz="1600" dirty="0"/>
              <a:t>(</a:t>
            </a:r>
            <a:r>
              <a:rPr lang="en-GB" altLang="zh-CN" sz="1600" dirty="0" err="1"/>
              <a:t>torch.load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'</a:t>
            </a:r>
            <a:r>
              <a:rPr lang="en-US" altLang="en-GB" sz="1600" b="1" dirty="0">
                <a:solidFill>
                  <a:srgbClr val="008000"/>
                </a:solidFill>
                <a:effectLst/>
              </a:rPr>
              <a:t>model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/</a:t>
            </a:r>
            <a:r>
              <a:rPr lang="en-GB" altLang="zh-CN" sz="1600" b="1" dirty="0" err="1">
                <a:solidFill>
                  <a:srgbClr val="008000"/>
                </a:solidFill>
                <a:effectLst/>
              </a:rPr>
              <a:t>image_classification.pth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'</a:t>
            </a:r>
            <a:r>
              <a:rPr lang="en-GB" altLang="zh-CN" sz="1600" dirty="0"/>
              <a:t>))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 err="1"/>
              <a:t>model.eval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</a:rPr>
              <a:t>计算精度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 err="1"/>
              <a:t>total_correct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br>
              <a:rPr lang="en-GB" altLang="zh-CN" sz="1600" dirty="0">
                <a:solidFill>
                  <a:srgbClr val="0000FF"/>
                </a:solidFill>
                <a:effectLst/>
              </a:rPr>
            </a:br>
            <a:r>
              <a:rPr lang="en-GB" altLang="zh-CN" sz="1600" dirty="0">
                <a:solidFill>
                  <a:srgbClr val="0000FF"/>
                </a:solidFill>
                <a:effectLst/>
              </a:rPr>
              <a:t>    </a:t>
            </a:r>
            <a:r>
              <a:rPr lang="en-GB" altLang="zh-CN" sz="1600" dirty="0" err="1"/>
              <a:t>total_samples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br>
              <a:rPr lang="en-GB" altLang="zh-CN" sz="1600" dirty="0">
                <a:solidFill>
                  <a:srgbClr val="0000FF"/>
                </a:solidFill>
                <a:effectLst/>
              </a:rPr>
            </a:br>
            <a:r>
              <a:rPr lang="en-GB" altLang="zh-CN" sz="1600" dirty="0">
                <a:solidFill>
                  <a:srgbClr val="0000FF"/>
                </a:solidFill>
                <a:effectLst/>
              </a:rPr>
              <a:t>    </a:t>
            </a:r>
            <a:r>
              <a:rPr lang="en-GB" altLang="zh-CN" sz="16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</a:rPr>
              <a:t>遍历每个</a:t>
            </a:r>
            <a:r>
              <a:rPr lang="en-GB" altLang="zh-CN" sz="1600" i="1" dirty="0">
                <a:solidFill>
                  <a:srgbClr val="808080"/>
                </a:solidFill>
                <a:effectLst/>
              </a:rPr>
              <a:t>batch</a:t>
            </a:r>
            <a:r>
              <a:rPr lang="zh-CN" altLang="en-US" sz="1600" i="1" dirty="0">
                <a:solidFill>
                  <a:srgbClr val="808080"/>
                </a:solidFill>
                <a:effectLst/>
              </a:rPr>
              <a:t>的数据，获取预测结果，计算精度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for </a:t>
            </a:r>
            <a:r>
              <a:rPr lang="en-GB" altLang="zh-CN" sz="1600" dirty="0"/>
              <a:t>x, y 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in </a:t>
            </a:r>
            <a:r>
              <a:rPr lang="en-GB" altLang="zh-CN" sz="1600" dirty="0" err="1"/>
              <a:t>dataloader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output = model(x)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/>
              <a:t>total_correct</a:t>
            </a:r>
            <a:r>
              <a:rPr lang="en-GB" altLang="zh-CN" sz="1600" dirty="0"/>
              <a:t> += (</a:t>
            </a:r>
            <a:r>
              <a:rPr lang="en-GB" altLang="zh-CN" sz="1600" dirty="0" err="1"/>
              <a:t>torch.argmax</a:t>
            </a:r>
            <a:r>
              <a:rPr lang="en-GB" altLang="zh-CN" sz="1600" dirty="0"/>
              <a:t>(output, </a:t>
            </a:r>
            <a:r>
              <a:rPr lang="en-GB" altLang="zh-CN" sz="1600" dirty="0">
                <a:solidFill>
                  <a:srgbClr val="660099"/>
                </a:solidFill>
                <a:effectLst/>
              </a:rPr>
              <a:t>dim</a:t>
            </a:r>
            <a:r>
              <a:rPr lang="en-GB" altLang="zh-CN" sz="1600" dirty="0"/>
              <a:t>=-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600" dirty="0"/>
              <a:t>) == y).sum()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/>
              <a:t>total_samples</a:t>
            </a:r>
            <a:r>
              <a:rPr lang="en-GB" altLang="zh-CN" sz="1600" dirty="0"/>
              <a:t> += </a:t>
            </a:r>
            <a:r>
              <a:rPr lang="en-GB" altLang="zh-CN" sz="1600" dirty="0" err="1">
                <a:solidFill>
                  <a:srgbClr val="000080"/>
                </a:solidFill>
                <a:effectLst/>
              </a:rPr>
              <a:t>len</a:t>
            </a:r>
            <a:r>
              <a:rPr lang="en-GB" altLang="zh-CN" sz="1600" dirty="0"/>
              <a:t>(y)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</a:rPr>
              <a:t>打印精度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'Acc: %.2f' </a:t>
            </a:r>
            <a:r>
              <a:rPr lang="en-GB" altLang="zh-CN" sz="1600" dirty="0"/>
              <a:t>% (</a:t>
            </a:r>
            <a:r>
              <a:rPr lang="en-GB" altLang="zh-CN" sz="1600" dirty="0" err="1"/>
              <a:t>total_correct</a:t>
            </a:r>
            <a:r>
              <a:rPr lang="en-GB" altLang="zh-CN" sz="1600" dirty="0"/>
              <a:t> / </a:t>
            </a:r>
            <a:r>
              <a:rPr lang="en-GB" altLang="zh-CN" sz="1600" dirty="0" err="1"/>
              <a:t>total_samples</a:t>
            </a:r>
            <a:r>
              <a:rPr lang="en-GB" altLang="zh-CN" sz="1600" dirty="0"/>
              <a:t>))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90111" y="4149567"/>
            <a:ext cx="2246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</a:rPr>
              <a:t>: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/>
              <a:t>Acc: 0.57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掌握模型构建流程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加载数据集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模型构建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模型训练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模型测试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从程序的运行结果来看，网络模型在测试集上的准确率并不高。我们可以从以下几个方面来进行优化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增加卷积核输出通道数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增加全连接层的参数量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调整学习率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调整优化方法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修改激活函数</a:t>
            </a:r>
            <a:endParaRPr lang="zh-CN" altLang="en-US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等等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...</a:t>
            </a:r>
            <a:endParaRPr lang="en-US" altLang="zh-CN" sz="16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algn="l">
              <a:buNone/>
            </a:pP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9902</Words>
  <Application>WPS 演示</Application>
  <PresentationFormat>宽屏</PresentationFormat>
  <Paragraphs>512</Paragraphs>
  <Slides>53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53</vt:i4>
      </vt:variant>
    </vt:vector>
  </HeadingPairs>
  <TitlesOfParts>
    <vt:vector size="89" baseType="lpstr">
      <vt:lpstr>Arial</vt:lpstr>
      <vt:lpstr>宋体</vt:lpstr>
      <vt:lpstr>Wingdings</vt:lpstr>
      <vt:lpstr>Calibri</vt:lpstr>
      <vt:lpstr>黑体</vt:lpstr>
      <vt:lpstr>阿里巴巴普惠体 B</vt:lpstr>
      <vt:lpstr>阿里巴巴普惠体 R</vt:lpstr>
      <vt:lpstr>Segoe UI</vt:lpstr>
      <vt:lpstr>微软雅黑</vt:lpstr>
      <vt:lpstr>Verdana</vt:lpstr>
      <vt:lpstr>阿里巴巴普惠体</vt:lpstr>
      <vt:lpstr>阿里巴巴普惠体 M</vt:lpstr>
      <vt:lpstr>Segoe UI Light</vt:lpstr>
      <vt:lpstr>微软雅黑 Light</vt:lpstr>
      <vt:lpstr>华文楷体</vt:lpstr>
      <vt:lpstr>Roboto</vt:lpstr>
      <vt:lpstr>Times New Roman</vt:lpstr>
      <vt:lpstr>Open Sans</vt:lpstr>
      <vt:lpstr>Helvetica Neue</vt:lpstr>
      <vt:lpstr>Segoe Print</vt:lpstr>
      <vt:lpstr>阿里巴巴普惠体</vt:lpstr>
      <vt:lpstr>阿里巴巴普惠体 2.0 105 Heavy</vt:lpstr>
      <vt:lpstr>Alibaba PuHuiTi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卷积神经网络CNN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空白格</cp:lastModifiedBy>
  <cp:revision>2034</cp:revision>
  <dcterms:created xsi:type="dcterms:W3CDTF">2022-09-27T09:38:00Z</dcterms:created>
  <dcterms:modified xsi:type="dcterms:W3CDTF">2024-12-26T15:33:39Z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2052-12.1.0.19302</vt:lpwstr>
  </property>
  <property fmtid="{D5CDD505-2E9C-101B-9397-08002B2CF9AE}" pid="4" name="commondata">
    <vt:lpwstr>eyJoZGlkIjoiMDAzZmIwZjU2YjM3ZmIyZjYxNWQ1NTViMjdhYzBlM2EifQ==</vt:lpwstr>
  </property>
</Properties>
</file>